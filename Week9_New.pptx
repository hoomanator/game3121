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397" r:id="rId2"/>
    <p:sldId id="398" r:id="rId3"/>
    <p:sldId id="320" r:id="rId4"/>
    <p:sldId id="399" r:id="rId5"/>
    <p:sldId id="401" r:id="rId6"/>
    <p:sldId id="402" r:id="rId7"/>
    <p:sldId id="403" r:id="rId8"/>
    <p:sldId id="321" r:id="rId9"/>
    <p:sldId id="298" r:id="rId10"/>
    <p:sldId id="299" r:id="rId11"/>
    <p:sldId id="323" r:id="rId12"/>
    <p:sldId id="405" r:id="rId13"/>
    <p:sldId id="406" r:id="rId14"/>
    <p:sldId id="300" r:id="rId15"/>
    <p:sldId id="301" r:id="rId16"/>
    <p:sldId id="407" r:id="rId17"/>
    <p:sldId id="408" r:id="rId18"/>
    <p:sldId id="409" r:id="rId19"/>
    <p:sldId id="410" r:id="rId20"/>
    <p:sldId id="411" r:id="rId21"/>
    <p:sldId id="412" r:id="rId22"/>
    <p:sldId id="413" r:id="rId23"/>
    <p:sldId id="414" r:id="rId24"/>
    <p:sldId id="415" r:id="rId25"/>
    <p:sldId id="416" r:id="rId26"/>
    <p:sldId id="417" r:id="rId27"/>
    <p:sldId id="418" r:id="rId28"/>
    <p:sldId id="419" r:id="rId29"/>
    <p:sldId id="420" r:id="rId30"/>
    <p:sldId id="421" r:id="rId31"/>
    <p:sldId id="422" r:id="rId32"/>
    <p:sldId id="423" r:id="rId33"/>
    <p:sldId id="424" r:id="rId34"/>
    <p:sldId id="425" r:id="rId35"/>
    <p:sldId id="426" r:id="rId36"/>
    <p:sldId id="427" r:id="rId37"/>
    <p:sldId id="429" r:id="rId38"/>
    <p:sldId id="428" r:id="rId39"/>
  </p:sldIdLst>
  <p:sldSz cx="12192000" cy="6858000"/>
  <p:notesSz cx="6858000" cy="9144000"/>
  <p:embeddedFontLst>
    <p:embeddedFont>
      <p:font typeface="Quattrocento Sans" panose="020B0502050000020003"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1" roundtripDataSignature="AMtx7miTxcueKrpZyVcEX48scNkCJ54u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50"/>
    <p:restoredTop sz="94645"/>
  </p:normalViewPr>
  <p:slideViewPr>
    <p:cSldViewPr snapToGrid="0">
      <p:cViewPr varScale="1">
        <p:scale>
          <a:sx n="118" d="100"/>
          <a:sy n="118" d="100"/>
        </p:scale>
        <p:origin x="29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12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12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8" Type="http://schemas.openxmlformats.org/officeDocument/2006/relationships/slide" Target="slides/slide7.xml"/><Relationship Id="rId12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124"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a:t>https://en.wikipedia.org/wiki/Human_interface_device</a:t>
            </a:r>
          </a:p>
          <a:p>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3</a:t>
            </a:fld>
            <a:endParaRPr lang="en-CA"/>
          </a:p>
        </p:txBody>
      </p:sp>
    </p:spTree>
    <p:extLst>
      <p:ext uri="{BB962C8B-B14F-4D97-AF65-F5344CB8AC3E}">
        <p14:creationId xmlns:p14="http://schemas.microsoft.com/office/powerpoint/2010/main" val="3446238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195FCB9-FB9C-4B06-A318-450E48AC1CCB}" type="slidenum">
              <a:rPr lang="en-CA" smtClean="0"/>
              <a:t>4</a:t>
            </a:fld>
            <a:endParaRPr lang="en-CA"/>
          </a:p>
        </p:txBody>
      </p:sp>
    </p:spTree>
    <p:extLst>
      <p:ext uri="{BB962C8B-B14F-4D97-AF65-F5344CB8AC3E}">
        <p14:creationId xmlns:p14="http://schemas.microsoft.com/office/powerpoint/2010/main" val="2419015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7</a:t>
            </a:fld>
            <a:endParaRPr lang="en-CA"/>
          </a:p>
        </p:txBody>
      </p:sp>
    </p:spTree>
    <p:extLst>
      <p:ext uri="{BB962C8B-B14F-4D97-AF65-F5344CB8AC3E}">
        <p14:creationId xmlns:p14="http://schemas.microsoft.com/office/powerpoint/2010/main" val="626269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F195FCB9-FB9C-4B06-A318-450E48AC1CCB}" type="slidenum">
              <a:rPr lang="en-CA" smtClean="0"/>
              <a:t>8</a:t>
            </a:fld>
            <a:endParaRPr lang="en-CA"/>
          </a:p>
        </p:txBody>
      </p:sp>
    </p:spTree>
    <p:extLst>
      <p:ext uri="{BB962C8B-B14F-4D97-AF65-F5344CB8AC3E}">
        <p14:creationId xmlns:p14="http://schemas.microsoft.com/office/powerpoint/2010/main" val="508368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195FCB9-FB9C-4B06-A318-450E48AC1CCB}" type="slidenum">
              <a:rPr lang="en-CA" smtClean="0"/>
              <a:t>9</a:t>
            </a:fld>
            <a:endParaRPr lang="en-CA"/>
          </a:p>
        </p:txBody>
      </p:sp>
    </p:spTree>
    <p:extLst>
      <p:ext uri="{BB962C8B-B14F-4D97-AF65-F5344CB8AC3E}">
        <p14:creationId xmlns:p14="http://schemas.microsoft.com/office/powerpoint/2010/main" val="390026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195FCB9-FB9C-4B06-A318-450E48AC1CCB}" type="slidenum">
              <a:rPr lang="en-CA" smtClean="0"/>
              <a:t>10</a:t>
            </a:fld>
            <a:endParaRPr lang="en-CA"/>
          </a:p>
        </p:txBody>
      </p:sp>
    </p:spTree>
    <p:extLst>
      <p:ext uri="{BB962C8B-B14F-4D97-AF65-F5344CB8AC3E}">
        <p14:creationId xmlns:p14="http://schemas.microsoft.com/office/powerpoint/2010/main" val="2838604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195FCB9-FB9C-4B06-A318-450E48AC1CCB}" type="slidenum">
              <a:rPr lang="en-CA" smtClean="0"/>
              <a:t>15</a:t>
            </a:fld>
            <a:endParaRPr lang="en-CA"/>
          </a:p>
        </p:txBody>
      </p:sp>
    </p:spTree>
    <p:extLst>
      <p:ext uri="{BB962C8B-B14F-4D97-AF65-F5344CB8AC3E}">
        <p14:creationId xmlns:p14="http://schemas.microsoft.com/office/powerpoint/2010/main" val="34823060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62"/>
          <p:cNvSpPr/>
          <p:nvPr/>
        </p:nvSpPr>
        <p:spPr>
          <a:xfrm>
            <a:off x="254950" y="262784"/>
            <a:ext cx="11682101" cy="633243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9" name="Google Shape;19;p62"/>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2"/>
          <p:cNvSpPr txBox="1">
            <a:spLocks noGrp="1"/>
          </p:cNvSpPr>
          <p:nvPr>
            <p:ph type="subTitle" idx="1"/>
          </p:nvPr>
        </p:nvSpPr>
        <p:spPr>
          <a:xfrm>
            <a:off x="1524000" y="3128009"/>
            <a:ext cx="9144000" cy="1287675"/>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2400"/>
              <a:buNone/>
              <a:defRPr sz="2400">
                <a:solidFill>
                  <a:schemeClr val="lt1"/>
                </a:solidFill>
                <a:latin typeface="Quattrocento Sans"/>
                <a:ea typeface="Quattrocento Sans"/>
                <a:cs typeface="Quattrocento Sans"/>
                <a:sym typeface="Quattrocento Sans"/>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pic>
        <p:nvPicPr>
          <p:cNvPr id="21" name="Google Shape;21;p62"/>
          <p:cNvPicPr preferRelativeResize="0"/>
          <p:nvPr/>
        </p:nvPicPr>
        <p:blipFill rotWithShape="1">
          <a:blip r:embed="rId2">
            <a:alphaModFix/>
          </a:blip>
          <a:srcRect l="1648" r="13926" b="71478"/>
          <a:stretch/>
        </p:blipFill>
        <p:spPr>
          <a:xfrm>
            <a:off x="342899" y="4546601"/>
            <a:ext cx="11715751" cy="2025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4"/>
        <p:cNvGrpSpPr/>
        <p:nvPr/>
      </p:nvGrpSpPr>
      <p:grpSpPr>
        <a:xfrm>
          <a:off x="0" y="0"/>
          <a:ext cx="0" cy="0"/>
          <a:chOff x="0" y="0"/>
          <a:chExt cx="0" cy="0"/>
        </a:xfrm>
      </p:grpSpPr>
      <p:sp>
        <p:nvSpPr>
          <p:cNvPr id="35" name="Google Shape;35;p66"/>
          <p:cNvSpPr/>
          <p:nvPr/>
        </p:nvSpPr>
        <p:spPr>
          <a:xfrm>
            <a:off x="254951" y="262784"/>
            <a:ext cx="11683049" cy="6332433"/>
          </a:xfrm>
          <a:prstGeom prst="rect">
            <a:avLst/>
          </a:prstGeom>
          <a:solidFill>
            <a:srgbClr val="F5F5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6" name="Google Shape;36;p66"/>
          <p:cNvSpPr/>
          <p:nvPr/>
        </p:nvSpPr>
        <p:spPr>
          <a:xfrm>
            <a:off x="254950" y="262784"/>
            <a:ext cx="11682101" cy="207264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7" name="Google Shape;37;p66"/>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6"/>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3F3F3F"/>
              </a:buClr>
              <a:buSzPts val="2400"/>
              <a:buChar char="•"/>
              <a:defRPr sz="2400">
                <a:solidFill>
                  <a:srgbClr val="3F3F3F"/>
                </a:solidFill>
                <a:latin typeface="Quattrocento Sans"/>
                <a:ea typeface="Quattrocento Sans"/>
                <a:cs typeface="Quattrocento Sans"/>
                <a:sym typeface="Quattrocento Sans"/>
              </a:defRPr>
            </a:lvl1pPr>
            <a:lvl2pPr marL="914400" lvl="1" indent="-304800" algn="l">
              <a:lnSpc>
                <a:spcPct val="90000"/>
              </a:lnSpc>
              <a:spcBef>
                <a:spcPts val="500"/>
              </a:spcBef>
              <a:spcAft>
                <a:spcPts val="0"/>
              </a:spcAft>
              <a:buClr>
                <a:srgbClr val="3F3F3F"/>
              </a:buClr>
              <a:buSzPts val="1200"/>
              <a:buChar char="•"/>
              <a:defRPr sz="1200">
                <a:solidFill>
                  <a:srgbClr val="3F3F3F"/>
                </a:solidFill>
              </a:defRPr>
            </a:lvl2pPr>
            <a:lvl3pPr marL="1371600" lvl="2" indent="-304800" algn="l">
              <a:lnSpc>
                <a:spcPct val="90000"/>
              </a:lnSpc>
              <a:spcBef>
                <a:spcPts val="500"/>
              </a:spcBef>
              <a:spcAft>
                <a:spcPts val="0"/>
              </a:spcAft>
              <a:buClr>
                <a:srgbClr val="3F3F3F"/>
              </a:buClr>
              <a:buSzPts val="1200"/>
              <a:buChar char="•"/>
              <a:defRPr sz="1200">
                <a:solidFill>
                  <a:srgbClr val="3F3F3F"/>
                </a:solidFill>
              </a:defRPr>
            </a:lvl3pPr>
            <a:lvl4pPr marL="1828800" lvl="3" indent="-304800" algn="l">
              <a:lnSpc>
                <a:spcPct val="90000"/>
              </a:lnSpc>
              <a:spcBef>
                <a:spcPts val="500"/>
              </a:spcBef>
              <a:spcAft>
                <a:spcPts val="0"/>
              </a:spcAft>
              <a:buClr>
                <a:srgbClr val="3F3F3F"/>
              </a:buClr>
              <a:buSzPts val="1200"/>
              <a:buChar char="•"/>
              <a:defRPr sz="1200">
                <a:solidFill>
                  <a:srgbClr val="3F3F3F"/>
                </a:solidFill>
              </a:defRPr>
            </a:lvl4pPr>
            <a:lvl5pPr marL="2286000" lvl="4" indent="-304800" algn="l">
              <a:lnSpc>
                <a:spcPct val="90000"/>
              </a:lnSpc>
              <a:spcBef>
                <a:spcPts val="500"/>
              </a:spcBef>
              <a:spcAft>
                <a:spcPts val="0"/>
              </a:spcAft>
              <a:buClr>
                <a:srgbClr val="3F3F3F"/>
              </a:buClr>
              <a:buSzPts val="1200"/>
              <a:buChar char="•"/>
              <a:defRPr sz="12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3"/>
        <p:cNvGrpSpPr/>
        <p:nvPr/>
      </p:nvGrpSpPr>
      <p:grpSpPr>
        <a:xfrm>
          <a:off x="0" y="0"/>
          <a:ext cx="0" cy="0"/>
          <a:chOff x="0" y="0"/>
          <a:chExt cx="0" cy="0"/>
        </a:xfrm>
      </p:grpSpPr>
      <p:sp>
        <p:nvSpPr>
          <p:cNvPr id="44" name="Google Shape;44;p68"/>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5" name="Google Shape;45;p68"/>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
        <p:nvSpPr>
          <p:cNvPr id="46" name="Google Shape;46;p6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tandard">
  <p:cSld name="Standard">
    <p:spTree>
      <p:nvGrpSpPr>
        <p:cNvPr id="1" name="Shape 47"/>
        <p:cNvGrpSpPr/>
        <p:nvPr/>
      </p:nvGrpSpPr>
      <p:grpSpPr>
        <a:xfrm>
          <a:off x="0" y="0"/>
          <a:ext cx="0" cy="0"/>
          <a:chOff x="0" y="0"/>
          <a:chExt cx="0" cy="0"/>
        </a:xfrm>
      </p:grpSpPr>
      <p:sp>
        <p:nvSpPr>
          <p:cNvPr id="48" name="Google Shape;48;p69"/>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9" name="Google Shape;49;p69"/>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pic>
        <p:nvPicPr>
          <p:cNvPr id="50" name="Google Shape;50;p69"/>
          <p:cNvPicPr preferRelativeResize="0"/>
          <p:nvPr/>
        </p:nvPicPr>
        <p:blipFill rotWithShape="1">
          <a:blip r:embed="rId2">
            <a:alphaModFix/>
          </a:blip>
          <a:srcRect l="-41783" t="-3"/>
          <a:stretch/>
        </p:blipFill>
        <p:spPr>
          <a:xfrm>
            <a:off x="269032" y="4801396"/>
            <a:ext cx="11653936" cy="1786228"/>
          </a:xfrm>
          <a:prstGeom prst="rect">
            <a:avLst/>
          </a:prstGeom>
          <a:noFill/>
          <a:ln>
            <a:noFill/>
          </a:ln>
        </p:spPr>
      </p:pic>
      <p:sp>
        <p:nvSpPr>
          <p:cNvPr id="51" name="Google Shape;51;p6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0BBF1F5-97F3-44B9-A0F3-F228633C71DF}" type="slidenum">
              <a:rPr lang="en-US" smtClean="0"/>
              <a:pPr>
                <a:defRPr/>
              </a:pPr>
              <a:t>‹#›</a:t>
            </a:fld>
            <a:endParaRPr lang="en-US"/>
          </a:p>
        </p:txBody>
      </p:sp>
    </p:spTree>
    <p:extLst>
      <p:ext uri="{BB962C8B-B14F-4D97-AF65-F5344CB8AC3E}">
        <p14:creationId xmlns:p14="http://schemas.microsoft.com/office/powerpoint/2010/main" val="2764516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AED1A403-6694-4813-8CB4-D3558F1C1F3B}" type="slidenum">
              <a:rPr lang="en-US" smtClean="0"/>
              <a:pPr>
                <a:defRPr/>
              </a:pPr>
              <a:t>‹#›</a:t>
            </a:fld>
            <a:endParaRPr lang="en-US"/>
          </a:p>
        </p:txBody>
      </p:sp>
      <p:sp>
        <p:nvSpPr>
          <p:cNvPr id="9" name="Content Placeholder 8"/>
          <p:cNvSpPr>
            <a:spLocks noGrp="1"/>
          </p:cNvSpPr>
          <p:nvPr>
            <p:ph sz="quarter" idx="13"/>
          </p:nvPr>
        </p:nvSpPr>
        <p:spPr>
          <a:xfrm>
            <a:off x="487680" y="1600200"/>
            <a:ext cx="5388864"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263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1" name="Google Shape;11;p61"/>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3A3838"/>
              </a:buClr>
              <a:buSzPts val="2800"/>
              <a:buFont typeface="Quattrocento Sans"/>
              <a:buNone/>
              <a:defRPr sz="2800" b="0" i="0" u="none" strike="noStrike" cap="none">
                <a:solidFill>
                  <a:srgbClr val="3A3838"/>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5" name="Google Shape;15;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1pPr>
            <a:lvl2pPr marL="0" marR="0" lvl="1"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2pPr>
            <a:lvl3pPr marL="0" marR="0" lvl="2"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3pPr>
            <a:lvl4pPr marL="0" marR="0" lvl="3"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4pPr>
            <a:lvl5pPr marL="0" marR="0" lvl="4"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5pPr>
            <a:lvl6pPr marL="0" marR="0" lvl="5"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6pPr>
            <a:lvl7pPr marL="0" marR="0" lvl="6"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7pPr>
            <a:lvl8pPr marL="0" marR="0" lvl="7"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8pPr>
            <a:lvl9pPr marL="0" marR="0" lvl="8"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cxnSp>
        <p:nvCxnSpPr>
          <p:cNvPr id="16" name="Google Shape;16;p61"/>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3" r:id="rId2"/>
    <p:sldLayoutId id="2147483655" r:id="rId3"/>
    <p:sldLayoutId id="2147483656" r:id="rId4"/>
    <p:sldLayoutId id="2147483657" r:id="rId5"/>
    <p:sldLayoutId id="2147483658"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autodesk.com/products/maya/features"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hyperlink" Target="https://www.blender.org/" TargetMode="External"/><Relationship Id="rId4" Type="http://schemas.openxmlformats.org/officeDocument/2006/relationships/hyperlink" Target="https://www.autodesk.com/products/3ds-max/overview"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a:spLocks noGrp="1"/>
          </p:cNvSpPr>
          <p:nvPr>
            <p:ph type="ctrTitle"/>
          </p:nvPr>
        </p:nvSpPr>
        <p:spPr>
          <a:xfrm>
            <a:off x="2667000" y="1857376"/>
            <a:ext cx="7924800" cy="1343025"/>
          </a:xfrm>
          <a:prstGeom prst="rect">
            <a:avLst/>
          </a:prstGeom>
          <a:noFill/>
          <a:ln>
            <a:noFill/>
          </a:ln>
        </p:spPr>
        <p:txBody>
          <a:bodyPr spcFirstLastPara="1" vert="horz" wrap="square" lIns="68569" tIns="0" rIns="68569" bIns="0" rtlCol="0" anchor="t" anchorCtr="0">
            <a:noAutofit/>
          </a:bodyPr>
          <a:lstStyle/>
          <a:p>
            <a:r>
              <a:rPr lang="en-US" sz="4000" dirty="0"/>
              <a:t>Week 9</a:t>
            </a:r>
            <a:br>
              <a:rPr lang="en-US" sz="4000" dirty="0"/>
            </a:br>
            <a:r>
              <a:rPr lang="en-US" sz="4000" dirty="0"/>
              <a:t>Game Engine Development Unity</a:t>
            </a:r>
            <a:br>
              <a:rPr lang="en-US" sz="4000" dirty="0"/>
            </a:br>
            <a:r>
              <a:rPr lang="en-US" sz="4000" dirty="0"/>
              <a:t>Animation</a:t>
            </a:r>
            <a:endParaRPr sz="4000" dirty="0"/>
          </a:p>
        </p:txBody>
      </p:sp>
      <p:sp>
        <p:nvSpPr>
          <p:cNvPr id="58" name="Google Shape;58;p1"/>
          <p:cNvSpPr txBox="1"/>
          <p:nvPr/>
        </p:nvSpPr>
        <p:spPr>
          <a:xfrm>
            <a:off x="7582323" y="4798945"/>
            <a:ext cx="1835523" cy="371424"/>
          </a:xfrm>
          <a:prstGeom prst="rect">
            <a:avLst/>
          </a:prstGeom>
          <a:noFill/>
          <a:ln>
            <a:noFill/>
          </a:ln>
        </p:spPr>
        <p:txBody>
          <a:bodyPr spcFirstLastPara="1" wrap="square" lIns="68569" tIns="34275" rIns="68569" bIns="34275" anchor="t" anchorCtr="0">
            <a:normAutofit/>
          </a:bodyPr>
          <a:lstStyle/>
          <a:p>
            <a:pPr>
              <a:lnSpc>
                <a:spcPct val="90000"/>
              </a:lnSpc>
              <a:buClr>
                <a:schemeClr val="lt1"/>
              </a:buClr>
              <a:buSzPts val="1800"/>
            </a:pPr>
            <a:r>
              <a:rPr lang="en-US" sz="1350">
                <a:solidFill>
                  <a:schemeClr val="lt1"/>
                </a:solidFill>
                <a:latin typeface="Quattrocento Sans"/>
                <a:ea typeface="Quattrocento Sans"/>
                <a:cs typeface="Quattrocento Sans"/>
                <a:sym typeface="Quattrocento Sans"/>
              </a:rPr>
              <a:t>Hooman Salamat</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1928622" y="857250"/>
            <a:ext cx="5157216" cy="480060"/>
          </a:xfrm>
          <a:prstGeom prst="rect">
            <a:avLst/>
          </a:prstGeom>
          <a:noFill/>
          <a:ln>
            <a:noFill/>
          </a:ln>
        </p:spPr>
        <p:txBody>
          <a:bodyPr spcFirstLastPara="1" vert="horz" wrap="square" lIns="68569" tIns="34275" rIns="68569" bIns="34275" rtlCol="0" anchor="ctr" anchorCtr="0">
            <a:normAutofit fontScale="90000"/>
          </a:bodyPr>
          <a:lstStyle/>
          <a:p>
            <a:r>
              <a:rPr lang="en-US" dirty="0"/>
              <a:t>Objective &amp; Concept</a:t>
            </a:r>
            <a:endParaRPr dirty="0"/>
          </a:p>
        </p:txBody>
      </p:sp>
      <p:sp>
        <p:nvSpPr>
          <p:cNvPr id="87" name="Google Shape;87;p5"/>
          <p:cNvSpPr txBox="1">
            <a:spLocks noGrp="1"/>
          </p:cNvSpPr>
          <p:nvPr>
            <p:ph type="body" idx="1"/>
          </p:nvPr>
        </p:nvSpPr>
        <p:spPr>
          <a:xfrm>
            <a:off x="1928622" y="2777490"/>
            <a:ext cx="7084314" cy="3623310"/>
          </a:xfrm>
          <a:prstGeom prst="rect">
            <a:avLst/>
          </a:prstGeom>
          <a:noFill/>
          <a:ln>
            <a:noFill/>
          </a:ln>
        </p:spPr>
        <p:txBody>
          <a:bodyPr spcFirstLastPara="1" vert="horz" wrap="square" lIns="68569" tIns="34275" rIns="68569" bIns="34275" rtlCol="0" anchor="t" anchorCtr="0">
            <a:normAutofit/>
          </a:bodyPr>
          <a:lstStyle/>
          <a:p>
            <a:pPr marL="0" indent="0">
              <a:spcBef>
                <a:spcPts val="0"/>
              </a:spcBef>
              <a:buSzPts val="1500"/>
              <a:buNone/>
            </a:pPr>
            <a:r>
              <a:rPr lang="en-US" sz="1125" b="1" dirty="0"/>
              <a:t>Objective</a:t>
            </a:r>
            <a:endParaRPr sz="1125" dirty="0"/>
          </a:p>
          <a:p>
            <a:r>
              <a:rPr lang="en-CA" sz="1200" dirty="0"/>
              <a:t>To learn how to implement animation in Unity.</a:t>
            </a:r>
          </a:p>
          <a:p>
            <a:r>
              <a:rPr lang="en-CA" sz="1200" dirty="0"/>
              <a:t> To bring motion and the illusion of life to characters and environments by creating and configuring animations in the Unity Editor.</a:t>
            </a:r>
          </a:p>
          <a:p>
            <a:pPr marL="0" indent="0">
              <a:buSzPts val="1500"/>
              <a:buNone/>
            </a:pPr>
            <a:r>
              <a:rPr lang="en-US" sz="1125" b="1" dirty="0"/>
              <a:t>Concepts </a:t>
            </a:r>
            <a:endParaRPr dirty="0"/>
          </a:p>
          <a:p>
            <a:r>
              <a:rPr lang="en-CA" sz="1300" dirty="0"/>
              <a:t>The goal of this learning experience is to introduce you to the most common ways that animation is used in Unity for various interactive experiences. You’ll be able to use what you learn here to apply animation to your own projects.</a:t>
            </a:r>
          </a:p>
          <a:p>
            <a:r>
              <a:rPr lang="en-CA" sz="1300" dirty="0"/>
              <a:t>There are two major types of animation that you’ll work with in Unity: animations that you import from another program, and animations that you create within the Editor itself. In this project you’ll learn about both, and how they can be applied to your own personal projects.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BC568-1E4B-4F8F-8DDA-A1F8FC28A1DD}"/>
              </a:ext>
            </a:extLst>
          </p:cNvPr>
          <p:cNvSpPr>
            <a:spLocks noGrp="1"/>
          </p:cNvSpPr>
          <p:nvPr>
            <p:ph type="title"/>
          </p:nvPr>
        </p:nvSpPr>
        <p:spPr/>
        <p:txBody>
          <a:bodyPr/>
          <a:lstStyle/>
          <a:p>
            <a:r>
              <a:rPr lang="en-CA" b="1" dirty="0"/>
              <a:t>What does an animator do in Unity?</a:t>
            </a:r>
          </a:p>
        </p:txBody>
      </p:sp>
      <p:sp>
        <p:nvSpPr>
          <p:cNvPr id="3" name="Content Placeholder 2">
            <a:extLst>
              <a:ext uri="{FF2B5EF4-FFF2-40B4-BE49-F238E27FC236}">
                <a16:creationId xmlns:a16="http://schemas.microsoft.com/office/drawing/2014/main" id="{5C1C79E8-AB7E-4D2F-9D45-47F3D1714FA2}"/>
              </a:ext>
            </a:extLst>
          </p:cNvPr>
          <p:cNvSpPr>
            <a:spLocks noGrp="1"/>
          </p:cNvSpPr>
          <p:nvPr>
            <p:ph idx="1"/>
          </p:nvPr>
        </p:nvSpPr>
        <p:spPr/>
        <p:txBody>
          <a:bodyPr>
            <a:normAutofit/>
          </a:bodyPr>
          <a:lstStyle/>
          <a:p>
            <a:r>
              <a:rPr lang="en-CA" sz="1800" dirty="0"/>
              <a:t>Unity animators are responsible for animating objects for the interactive experience, ranging from characters and set pieces to cutscenes and even interfaces. Practically anything in Unity can be animated!</a:t>
            </a:r>
          </a:p>
          <a:p>
            <a:r>
              <a:rPr lang="en-CA" sz="1800" dirty="0"/>
              <a:t>Typically, highly complicated objects or in-depth animations are created in external </a:t>
            </a:r>
            <a:r>
              <a:rPr lang="en-CA" sz="1800" b="1" dirty="0"/>
              <a:t>Digital Content Creation</a:t>
            </a:r>
            <a:r>
              <a:rPr lang="en-CA" sz="1800" dirty="0"/>
              <a:t> (DCC) applications, like Autodesk Maya or Blender. </a:t>
            </a:r>
          </a:p>
          <a:p>
            <a:r>
              <a:rPr lang="en-CA" sz="1800" dirty="0"/>
              <a:t>These DCCs have robust suites of animation tools to help simplify the creation process for the animator. </a:t>
            </a:r>
          </a:p>
          <a:p>
            <a:r>
              <a:rPr lang="en-CA" sz="1800" dirty="0"/>
              <a:t>These generally include tools for creating </a:t>
            </a:r>
            <a:r>
              <a:rPr lang="en-CA" sz="1800" b="1" dirty="0"/>
              <a:t>rigs</a:t>
            </a:r>
            <a:r>
              <a:rPr lang="en-CA" sz="1800" dirty="0"/>
              <a:t> (the underlying skeletal-like structure for animating characters), dynamics such as hair and fur, saved poses, and more.</a:t>
            </a:r>
          </a:p>
          <a:p>
            <a:r>
              <a:rPr lang="en-CA" sz="1800" dirty="0"/>
              <a:t>It’s for this reason that in-editor animation is saved for more simple objects, or when the animation is tied to a specific scene; for example, a platform moving between two points in a game level. It’s extremely common for both externally and internally created animations to be used in the same project.</a:t>
            </a:r>
          </a:p>
        </p:txBody>
      </p:sp>
    </p:spTree>
    <p:extLst>
      <p:ext uri="{BB962C8B-B14F-4D97-AF65-F5344CB8AC3E}">
        <p14:creationId xmlns:p14="http://schemas.microsoft.com/office/powerpoint/2010/main" val="1771698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Tools</a:t>
            </a:r>
          </a:p>
        </p:txBody>
      </p:sp>
      <p:sp>
        <p:nvSpPr>
          <p:cNvPr id="3" name="Content Placeholder 2"/>
          <p:cNvSpPr>
            <a:spLocks noGrp="1"/>
          </p:cNvSpPr>
          <p:nvPr>
            <p:ph idx="1"/>
          </p:nvPr>
        </p:nvSpPr>
        <p:spPr>
          <a:xfrm>
            <a:off x="604434" y="1729293"/>
            <a:ext cx="9606366" cy="4525963"/>
          </a:xfrm>
        </p:spPr>
        <p:txBody>
          <a:bodyPr>
            <a:normAutofit fontScale="70000" lnSpcReduction="20000"/>
          </a:bodyPr>
          <a:lstStyle/>
          <a:p>
            <a:pPr marL="50800" indent="0">
              <a:buNone/>
            </a:pPr>
            <a:r>
              <a:rPr lang="en-CA" dirty="0"/>
              <a:t>In addition to Unity, animators often other software to produce animations, which may include:</a:t>
            </a:r>
            <a:br>
              <a:rPr lang="en-CA" dirty="0"/>
            </a:br>
            <a:endParaRPr lang="en-CA" dirty="0"/>
          </a:p>
          <a:p>
            <a:pPr lvl="0"/>
            <a:r>
              <a:rPr lang="en-CA" u="sng" dirty="0">
                <a:hlinkClick r:id="rId3"/>
              </a:rPr>
              <a:t>Autodesk Maya</a:t>
            </a:r>
            <a:r>
              <a:rPr lang="en-CA" dirty="0"/>
              <a:t>: Long considered the industry standard for animation creation in film, TV, animated features, and games. Maya is a robust digital art creation tool that can be used for many purposes outside of animation as well, including model generation and visual effects.</a:t>
            </a:r>
          </a:p>
          <a:p>
            <a:pPr lvl="0"/>
            <a:r>
              <a:rPr lang="en-CA" u="sng" dirty="0">
                <a:hlinkClick r:id="rId4"/>
              </a:rPr>
              <a:t>Autodesk 3ds Max</a:t>
            </a:r>
            <a:r>
              <a:rPr lang="en-CA" dirty="0"/>
              <a:t>: Similar to Maya, 3ds Max is a multifunctional digital art creation tool and was historically the software of choice for the games industry.</a:t>
            </a:r>
          </a:p>
          <a:p>
            <a:pPr lvl="0"/>
            <a:r>
              <a:rPr lang="en-CA" u="sng" dirty="0">
                <a:hlinkClick r:id="rId5"/>
              </a:rPr>
              <a:t>Blender</a:t>
            </a:r>
            <a:r>
              <a:rPr lang="en-CA" dirty="0"/>
              <a:t>: Completely free and open source, Blender has long been a popular choice for creators in the indie community, but is beginning to gain serious traction in professional markets as well. Like Max and Maya, Blender is a multipurpose tool that features a robust collection of animation tools.</a:t>
            </a:r>
          </a:p>
          <a:p>
            <a:pPr marL="50800" indent="0">
              <a:buNone/>
            </a:pPr>
            <a:br>
              <a:rPr lang="en-CA" dirty="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Why is animation important?</a:t>
            </a:r>
          </a:p>
        </p:txBody>
      </p:sp>
      <p:sp>
        <p:nvSpPr>
          <p:cNvPr id="3" name="Content Placeholder 2"/>
          <p:cNvSpPr>
            <a:spLocks noGrp="1"/>
          </p:cNvSpPr>
          <p:nvPr>
            <p:ph idx="1"/>
          </p:nvPr>
        </p:nvSpPr>
        <p:spPr/>
        <p:txBody>
          <a:bodyPr>
            <a:normAutofit/>
          </a:bodyPr>
          <a:lstStyle/>
          <a:p>
            <a:r>
              <a:rPr lang="en-CA" sz="1900" dirty="0"/>
              <a:t>Animation is sometimes referred to as the illusion of life. There’s an energy to living things, and this is often translated into some form of controlled motion. </a:t>
            </a:r>
          </a:p>
          <a:p>
            <a:r>
              <a:rPr lang="en-CA" sz="1900" dirty="0"/>
              <a:t>Birds fly, people dance, cheetahs run—and recreating all of these actions digitally can be accomplished through the use of animation.</a:t>
            </a:r>
          </a:p>
          <a:p>
            <a:r>
              <a:rPr lang="en-CA" sz="1900" dirty="0"/>
              <a:t>Animation isn’t necessarily just movement, as movement can be accomplished through other methods, like using physics. </a:t>
            </a:r>
          </a:p>
          <a:p>
            <a:r>
              <a:rPr lang="en-CA" sz="1900" dirty="0"/>
              <a:t>A rock falling to the ground doesn’t need animation to get from point A to point B—a physics system can mathematically calculate gravitational force to accomplish that goal. </a:t>
            </a:r>
          </a:p>
          <a:p>
            <a:r>
              <a:rPr lang="en-CA" sz="1900" dirty="0"/>
              <a:t>Instead, it’s movement with intention where animation comes into play: physics can’t simulate the process of a person walking.</a:t>
            </a:r>
          </a:p>
          <a:p>
            <a:pPr marL="5080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Animation Clip</a:t>
            </a:r>
          </a:p>
        </p:txBody>
      </p:sp>
      <p:sp>
        <p:nvSpPr>
          <p:cNvPr id="3" name="Content Placeholder 2"/>
          <p:cNvSpPr>
            <a:spLocks noGrp="1"/>
          </p:cNvSpPr>
          <p:nvPr>
            <p:ph idx="1"/>
          </p:nvPr>
        </p:nvSpPr>
        <p:spPr>
          <a:xfrm>
            <a:off x="604434" y="1757980"/>
            <a:ext cx="9181439" cy="3048001"/>
          </a:xfrm>
        </p:spPr>
        <p:txBody>
          <a:bodyPr>
            <a:normAutofit/>
          </a:bodyPr>
          <a:lstStyle/>
          <a:p>
            <a:r>
              <a:rPr lang="en-CA" sz="1800" dirty="0"/>
              <a:t>In Unity, individual animations are stored in an asset called an </a:t>
            </a:r>
            <a:r>
              <a:rPr lang="en-CA" sz="1800" b="1" dirty="0"/>
              <a:t>Animation Clip</a:t>
            </a:r>
            <a:r>
              <a:rPr lang="en-CA" sz="1800" dirty="0"/>
              <a:t>. </a:t>
            </a:r>
          </a:p>
          <a:p>
            <a:r>
              <a:rPr lang="en-CA" sz="1800" dirty="0"/>
              <a:t>They are associated with the object selected at the time of the clip’s creation, and store all data that goes into creating a specific animation. </a:t>
            </a:r>
          </a:p>
          <a:p>
            <a:r>
              <a:rPr lang="en-CA" sz="1800" dirty="0"/>
              <a:t>Animation clips can be any length of time, and a single </a:t>
            </a:r>
            <a:r>
              <a:rPr lang="en-CA" sz="1800" dirty="0" err="1"/>
              <a:t>GameObject</a:t>
            </a:r>
            <a:r>
              <a:rPr lang="en-CA" sz="1800" dirty="0"/>
              <a:t> can have multiple Animation Clips associated with it.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Animation Editor</a:t>
            </a:r>
          </a:p>
        </p:txBody>
      </p:sp>
      <p:sp>
        <p:nvSpPr>
          <p:cNvPr id="3" name="Content Placeholder 2"/>
          <p:cNvSpPr>
            <a:spLocks noGrp="1"/>
          </p:cNvSpPr>
          <p:nvPr>
            <p:ph sz="half" idx="2"/>
          </p:nvPr>
        </p:nvSpPr>
        <p:spPr/>
        <p:txBody>
          <a:bodyPr>
            <a:normAutofit fontScale="77500" lnSpcReduction="20000"/>
          </a:bodyPr>
          <a:lstStyle/>
          <a:p>
            <a:r>
              <a:rPr lang="en-CA" dirty="0"/>
              <a:t>Open the Animation editor by navigating to the Window drop down and going to </a:t>
            </a:r>
            <a:r>
              <a:rPr lang="en-CA" b="1" dirty="0"/>
              <a:t>Animation</a:t>
            </a:r>
            <a:r>
              <a:rPr lang="en-CA" dirty="0"/>
              <a:t> &gt; </a:t>
            </a:r>
            <a:r>
              <a:rPr lang="en-CA" b="1" dirty="0"/>
              <a:t>Animation.</a:t>
            </a:r>
            <a:endParaRPr lang="en-CA" dirty="0"/>
          </a:p>
          <a:p>
            <a:r>
              <a:rPr lang="en-CA" dirty="0"/>
              <a:t>When you save the new Animation Clip, the appearance of the Animation window changes. </a:t>
            </a:r>
          </a:p>
          <a:p>
            <a:r>
              <a:rPr lang="en-CA" dirty="0"/>
              <a:t>The left side of the window now features an </a:t>
            </a:r>
            <a:r>
              <a:rPr lang="en-CA" b="1" dirty="0"/>
              <a:t>Add Property</a:t>
            </a:r>
            <a:r>
              <a:rPr lang="en-CA" dirty="0"/>
              <a:t> button where you can add and view the properties you wish to animate. </a:t>
            </a:r>
          </a:p>
          <a:p>
            <a:r>
              <a:rPr lang="en-CA" dirty="0"/>
              <a:t>Directly above this button is the name of your current Animation Clip in a dropdown menu. </a:t>
            </a:r>
          </a:p>
          <a:p>
            <a:r>
              <a:rPr lang="en-CA" dirty="0"/>
              <a:t>If you choose to have multiple animations on the same </a:t>
            </a:r>
            <a:r>
              <a:rPr lang="en-CA" dirty="0" err="1"/>
              <a:t>GameObject</a:t>
            </a:r>
            <a:r>
              <a:rPr lang="en-CA" dirty="0"/>
              <a:t>, you can select the one you wish to view from this menu.</a:t>
            </a:r>
          </a:p>
          <a:p>
            <a:pPr marL="50800" indent="0">
              <a:buNone/>
            </a:pPr>
            <a:br>
              <a:rPr lang="en-CA" dirty="0"/>
            </a:br>
            <a:endParaRPr lang="en-US" dirty="0"/>
          </a:p>
        </p:txBody>
      </p:sp>
      <p:pic>
        <p:nvPicPr>
          <p:cNvPr id="5" name="Content Placeholder 4">
            <a:extLst>
              <a:ext uri="{FF2B5EF4-FFF2-40B4-BE49-F238E27FC236}">
                <a16:creationId xmlns:a16="http://schemas.microsoft.com/office/drawing/2014/main" id="{F27EDBE5-E075-3EFA-BB9D-56AC0DB6783E}"/>
              </a:ext>
            </a:extLst>
          </p:cNvPr>
          <p:cNvPicPr>
            <a:picLocks noGrp="1" noChangeAspect="1"/>
          </p:cNvPicPr>
          <p:nvPr>
            <p:ph sz="quarter" idx="13"/>
          </p:nvPr>
        </p:nvPicPr>
        <p:blipFill>
          <a:blip r:embed="rId3"/>
          <a:stretch>
            <a:fillRect/>
          </a:stretch>
        </p:blipFill>
        <p:spPr>
          <a:xfrm>
            <a:off x="487363" y="2888267"/>
            <a:ext cx="5389562" cy="19498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6215C-EB31-43F9-B7ED-6789D112E528}"/>
              </a:ext>
            </a:extLst>
          </p:cNvPr>
          <p:cNvSpPr>
            <a:spLocks noGrp="1"/>
          </p:cNvSpPr>
          <p:nvPr>
            <p:ph type="title"/>
          </p:nvPr>
        </p:nvSpPr>
        <p:spPr/>
        <p:txBody>
          <a:bodyPr/>
          <a:lstStyle/>
          <a:p>
            <a:r>
              <a:rPr lang="en-CA" b="1" dirty="0"/>
              <a:t>Animation keyframes</a:t>
            </a:r>
          </a:p>
        </p:txBody>
      </p:sp>
      <p:sp>
        <p:nvSpPr>
          <p:cNvPr id="3" name="Content Placeholder 2">
            <a:extLst>
              <a:ext uri="{FF2B5EF4-FFF2-40B4-BE49-F238E27FC236}">
                <a16:creationId xmlns:a16="http://schemas.microsoft.com/office/drawing/2014/main" id="{A45977F2-79DC-47B9-959A-2D4F80CB5C44}"/>
              </a:ext>
            </a:extLst>
          </p:cNvPr>
          <p:cNvSpPr>
            <a:spLocks noGrp="1"/>
          </p:cNvSpPr>
          <p:nvPr>
            <p:ph idx="1"/>
          </p:nvPr>
        </p:nvSpPr>
        <p:spPr/>
        <p:txBody>
          <a:bodyPr>
            <a:normAutofit/>
          </a:bodyPr>
          <a:lstStyle/>
          <a:p>
            <a:r>
              <a:rPr lang="en-CA" dirty="0"/>
              <a:t>Just as an animation is contained within an Animation Clip, the specific poses within an animation are defined by its </a:t>
            </a:r>
            <a:r>
              <a:rPr lang="en-CA" b="1" dirty="0"/>
              <a:t>keyframes</a:t>
            </a:r>
            <a:r>
              <a:rPr lang="en-CA" dirty="0"/>
              <a:t>. </a:t>
            </a:r>
          </a:p>
          <a:p>
            <a:r>
              <a:rPr lang="en-CA" dirty="0"/>
              <a:t>In traditional hand-drawn animation, keyframes are the poses that lead animators draw, and are important (or key) drawings that define the animation sequence. </a:t>
            </a:r>
          </a:p>
          <a:p>
            <a:r>
              <a:rPr lang="en-CA" dirty="0"/>
              <a:t>Once the lead animators finish these key poses, other animators draw the frames between them to complete the animation. </a:t>
            </a:r>
          </a:p>
          <a:p>
            <a:r>
              <a:rPr lang="en-CA" dirty="0"/>
              <a:t>These frames are referred to as in-between frames, also known as </a:t>
            </a:r>
            <a:r>
              <a:rPr lang="en-CA" b="1" dirty="0"/>
              <a:t>tweens</a:t>
            </a:r>
            <a:r>
              <a:rPr lang="en-CA" dirty="0"/>
              <a:t>.</a:t>
            </a:r>
          </a:p>
        </p:txBody>
      </p:sp>
    </p:spTree>
    <p:extLst>
      <p:ext uri="{BB962C8B-B14F-4D97-AF65-F5344CB8AC3E}">
        <p14:creationId xmlns:p14="http://schemas.microsoft.com/office/powerpoint/2010/main" val="3308625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Tweening</a:t>
            </a:r>
            <a:endParaRPr lang="en-US" dirty="0"/>
          </a:p>
        </p:txBody>
      </p:sp>
      <p:sp>
        <p:nvSpPr>
          <p:cNvPr id="3" name="Content Placeholder 2"/>
          <p:cNvSpPr>
            <a:spLocks noGrp="1"/>
          </p:cNvSpPr>
          <p:nvPr>
            <p:ph sz="half" idx="2"/>
          </p:nvPr>
        </p:nvSpPr>
        <p:spPr/>
        <p:txBody>
          <a:bodyPr>
            <a:normAutofit/>
          </a:bodyPr>
          <a:lstStyle/>
          <a:p>
            <a:pPr marL="0" indent="0">
              <a:buNone/>
            </a:pPr>
            <a:r>
              <a:rPr lang="en-CA" dirty="0"/>
              <a:t>In digital animation, </a:t>
            </a:r>
            <a:r>
              <a:rPr lang="en-CA" dirty="0" err="1"/>
              <a:t>tweening</a:t>
            </a:r>
            <a:r>
              <a:rPr lang="en-CA" dirty="0"/>
              <a:t> is generally handled by whatever tool the animator is working with, meaning they only need to worry about setting up keyframes. </a:t>
            </a:r>
          </a:p>
          <a:p>
            <a:pPr marL="0" indent="0">
              <a:buNone/>
            </a:pPr>
            <a:r>
              <a:rPr lang="en-CA" dirty="0"/>
              <a:t>Digital keyframes record all the data related to the </a:t>
            </a:r>
            <a:r>
              <a:rPr lang="en-CA" dirty="0" err="1"/>
              <a:t>GameObject</a:t>
            </a:r>
            <a:r>
              <a:rPr lang="en-CA" dirty="0"/>
              <a:t> being animated at a defined time stamp.</a:t>
            </a:r>
            <a:endParaRPr lang="en-US" dirty="0"/>
          </a:p>
        </p:txBody>
      </p:sp>
      <p:pic>
        <p:nvPicPr>
          <p:cNvPr id="5" name="Content Placeholder 4">
            <a:extLst>
              <a:ext uri="{FF2B5EF4-FFF2-40B4-BE49-F238E27FC236}">
                <a16:creationId xmlns:a16="http://schemas.microsoft.com/office/drawing/2014/main" id="{DFD4FB7C-83B4-5964-FC47-75E4BA5A0CDA}"/>
              </a:ext>
            </a:extLst>
          </p:cNvPr>
          <p:cNvPicPr>
            <a:picLocks noGrp="1" noChangeAspect="1"/>
          </p:cNvPicPr>
          <p:nvPr>
            <p:ph sz="quarter" idx="13"/>
          </p:nvPr>
        </p:nvPicPr>
        <p:blipFill>
          <a:blip r:embed="rId3"/>
          <a:stretch>
            <a:fillRect/>
          </a:stretch>
        </p:blipFill>
        <p:spPr>
          <a:xfrm>
            <a:off x="487363" y="2263321"/>
            <a:ext cx="5389562" cy="31997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Keyframes</a:t>
            </a:r>
          </a:p>
        </p:txBody>
      </p:sp>
      <p:sp>
        <p:nvSpPr>
          <p:cNvPr id="3" name="Content Placeholder 2"/>
          <p:cNvSpPr>
            <a:spLocks noGrp="1"/>
          </p:cNvSpPr>
          <p:nvPr>
            <p:ph sz="half" idx="2"/>
          </p:nvPr>
        </p:nvSpPr>
        <p:spPr/>
        <p:txBody>
          <a:bodyPr/>
          <a:lstStyle/>
          <a:p>
            <a:r>
              <a:rPr lang="en-CA" dirty="0"/>
              <a:t>When a new property is added to an animation, the Animation editor records the relevant data (in this case, the ball’s current scale) about the selected object and generates initial keyframes for it.</a:t>
            </a:r>
          </a:p>
          <a:p>
            <a:r>
              <a:rPr lang="en-CA" dirty="0"/>
              <a:t>Two diamond icons will appear at the start of the timeline. </a:t>
            </a:r>
          </a:p>
          <a:p>
            <a:r>
              <a:rPr lang="en-CA" dirty="0"/>
              <a:t>These icons represent keyframes.</a:t>
            </a:r>
            <a:endParaRPr lang="en-US" dirty="0"/>
          </a:p>
        </p:txBody>
      </p:sp>
      <p:sp>
        <p:nvSpPr>
          <p:cNvPr id="5" name="Content Placeholder 4">
            <a:extLst>
              <a:ext uri="{FF2B5EF4-FFF2-40B4-BE49-F238E27FC236}">
                <a16:creationId xmlns:a16="http://schemas.microsoft.com/office/drawing/2014/main" id="{1AE7E635-93A4-3E80-7A78-C6C298FD95A1}"/>
              </a:ext>
            </a:extLst>
          </p:cNvPr>
          <p:cNvSpPr>
            <a:spLocks noGrp="1"/>
          </p:cNvSpPr>
          <p:nvPr>
            <p:ph sz="quarter" idx="13"/>
          </p:nvPr>
        </p:nvSpPr>
        <p:spPr/>
        <p:txBody>
          <a:bodyPr/>
          <a:lstStyle/>
          <a:p>
            <a:pPr marL="50800" indent="0">
              <a:buNone/>
            </a:pPr>
            <a:r>
              <a:rPr lang="en-US" dirty="0"/>
              <a:t> </a:t>
            </a:r>
          </a:p>
        </p:txBody>
      </p:sp>
      <p:pic>
        <p:nvPicPr>
          <p:cNvPr id="4" name="Picture 3">
            <a:extLst>
              <a:ext uri="{FF2B5EF4-FFF2-40B4-BE49-F238E27FC236}">
                <a16:creationId xmlns:a16="http://schemas.microsoft.com/office/drawing/2014/main" id="{647D01B6-4F7A-B8EB-6FEE-9C4E88C7F1AE}"/>
              </a:ext>
            </a:extLst>
          </p:cNvPr>
          <p:cNvPicPr>
            <a:picLocks noChangeAspect="1"/>
          </p:cNvPicPr>
          <p:nvPr/>
        </p:nvPicPr>
        <p:blipFill>
          <a:blip r:embed="rId3"/>
          <a:stretch>
            <a:fillRect/>
          </a:stretch>
        </p:blipFill>
        <p:spPr>
          <a:xfrm>
            <a:off x="604434" y="2305050"/>
            <a:ext cx="5168900" cy="2247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14839F-D052-4D40-9AC3-A927ACD1C5F2}"/>
              </a:ext>
            </a:extLst>
          </p:cNvPr>
          <p:cNvSpPr>
            <a:spLocks noGrp="1"/>
          </p:cNvSpPr>
          <p:nvPr>
            <p:ph type="title"/>
          </p:nvPr>
        </p:nvSpPr>
        <p:spPr/>
        <p:txBody>
          <a:bodyPr/>
          <a:lstStyle/>
          <a:p>
            <a:r>
              <a:rPr lang="en-CA" b="1" dirty="0"/>
              <a:t>Record </a:t>
            </a:r>
            <a:r>
              <a:rPr lang="en-CA" dirty="0"/>
              <a:t>button </a:t>
            </a:r>
          </a:p>
        </p:txBody>
      </p:sp>
      <p:pic>
        <p:nvPicPr>
          <p:cNvPr id="2" name="Content Placeholder 1">
            <a:extLst>
              <a:ext uri="{FF2B5EF4-FFF2-40B4-BE49-F238E27FC236}">
                <a16:creationId xmlns:a16="http://schemas.microsoft.com/office/drawing/2014/main" id="{04903E79-7A9F-6F2A-6D60-434B7E6F43A8}"/>
              </a:ext>
            </a:extLst>
          </p:cNvPr>
          <p:cNvPicPr>
            <a:picLocks noGrp="1" noChangeAspect="1"/>
          </p:cNvPicPr>
          <p:nvPr>
            <p:ph sz="half" idx="2"/>
          </p:nvPr>
        </p:nvPicPr>
        <p:blipFill>
          <a:blip r:embed="rId2"/>
          <a:stretch>
            <a:fillRect/>
          </a:stretch>
        </p:blipFill>
        <p:spPr>
          <a:xfrm>
            <a:off x="7385050" y="3120231"/>
            <a:ext cx="3009900" cy="1485900"/>
          </a:xfrm>
          <a:prstGeom prst="rect">
            <a:avLst/>
          </a:prstGeom>
        </p:spPr>
      </p:pic>
      <p:sp>
        <p:nvSpPr>
          <p:cNvPr id="6" name="Content Placeholder 5">
            <a:extLst>
              <a:ext uri="{FF2B5EF4-FFF2-40B4-BE49-F238E27FC236}">
                <a16:creationId xmlns:a16="http://schemas.microsoft.com/office/drawing/2014/main" id="{CAF41E59-46DD-4386-9ADD-ED58C58E3009}"/>
              </a:ext>
            </a:extLst>
          </p:cNvPr>
          <p:cNvSpPr>
            <a:spLocks noGrp="1"/>
          </p:cNvSpPr>
          <p:nvPr>
            <p:ph sz="quarter" idx="13"/>
          </p:nvPr>
        </p:nvSpPr>
        <p:spPr/>
        <p:txBody>
          <a:bodyPr>
            <a:normAutofit/>
          </a:bodyPr>
          <a:lstStyle/>
          <a:p>
            <a:r>
              <a:rPr lang="en-CA" dirty="0"/>
              <a:t>Once the </a:t>
            </a:r>
            <a:r>
              <a:rPr lang="en-CA" b="1" dirty="0"/>
              <a:t>Record</a:t>
            </a:r>
            <a:r>
              <a:rPr lang="en-CA" dirty="0"/>
              <a:t> button is pressed, both it and the timeline will be highlighted in red. </a:t>
            </a:r>
          </a:p>
          <a:p>
            <a:r>
              <a:rPr lang="en-CA" dirty="0"/>
              <a:t>So long as the </a:t>
            </a:r>
            <a:r>
              <a:rPr lang="en-CA" b="1" dirty="0"/>
              <a:t>Record</a:t>
            </a:r>
            <a:r>
              <a:rPr lang="en-CA" dirty="0"/>
              <a:t> button is active, Unity will automatically add keyframes for any property that is changed in the Inspector.</a:t>
            </a:r>
          </a:p>
        </p:txBody>
      </p:sp>
    </p:spTree>
    <p:extLst>
      <p:ext uri="{BB962C8B-B14F-4D97-AF65-F5344CB8AC3E}">
        <p14:creationId xmlns:p14="http://schemas.microsoft.com/office/powerpoint/2010/main" val="816032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26827-8DA0-E5C4-2848-B0AE741D1FA1}"/>
              </a:ext>
            </a:extLst>
          </p:cNvPr>
          <p:cNvSpPr>
            <a:spLocks noGrp="1"/>
          </p:cNvSpPr>
          <p:nvPr>
            <p:ph type="title"/>
          </p:nvPr>
        </p:nvSpPr>
        <p:spPr/>
        <p:txBody>
          <a:bodyPr/>
          <a:lstStyle/>
          <a:p>
            <a:r>
              <a:rPr lang="en-US" dirty="0" err="1"/>
              <a:t>Playhead</a:t>
            </a:r>
            <a:endParaRPr lang="en-US" dirty="0"/>
          </a:p>
        </p:txBody>
      </p:sp>
      <p:pic>
        <p:nvPicPr>
          <p:cNvPr id="5" name="Content Placeholder 4">
            <a:extLst>
              <a:ext uri="{FF2B5EF4-FFF2-40B4-BE49-F238E27FC236}">
                <a16:creationId xmlns:a16="http://schemas.microsoft.com/office/drawing/2014/main" id="{3831E5E1-4FA4-AD35-5BCF-5F77C940B51C}"/>
              </a:ext>
            </a:extLst>
          </p:cNvPr>
          <p:cNvPicPr>
            <a:picLocks noGrp="1" noChangeAspect="1"/>
          </p:cNvPicPr>
          <p:nvPr>
            <p:ph sz="half" idx="2"/>
          </p:nvPr>
        </p:nvPicPr>
        <p:blipFill>
          <a:blip r:embed="rId2"/>
          <a:stretch>
            <a:fillRect/>
          </a:stretch>
        </p:blipFill>
        <p:spPr>
          <a:xfrm>
            <a:off x="6197600" y="2690795"/>
            <a:ext cx="5384800" cy="2344773"/>
          </a:xfrm>
          <a:prstGeom prst="rect">
            <a:avLst/>
          </a:prstGeom>
        </p:spPr>
      </p:pic>
      <p:sp>
        <p:nvSpPr>
          <p:cNvPr id="4" name="Content Placeholder 3">
            <a:extLst>
              <a:ext uri="{FF2B5EF4-FFF2-40B4-BE49-F238E27FC236}">
                <a16:creationId xmlns:a16="http://schemas.microsoft.com/office/drawing/2014/main" id="{C5E38107-483E-94EB-0E18-DB2A3059C3C3}"/>
              </a:ext>
            </a:extLst>
          </p:cNvPr>
          <p:cNvSpPr>
            <a:spLocks noGrp="1"/>
          </p:cNvSpPr>
          <p:nvPr>
            <p:ph sz="quarter" idx="13"/>
          </p:nvPr>
        </p:nvSpPr>
        <p:spPr/>
        <p:txBody>
          <a:bodyPr/>
          <a:lstStyle/>
          <a:p>
            <a:r>
              <a:rPr lang="en-CA" dirty="0"/>
              <a:t>The white vertical line is called the </a:t>
            </a:r>
            <a:r>
              <a:rPr lang="en-CA" b="1" dirty="0" err="1"/>
              <a:t>Playhead</a:t>
            </a:r>
            <a:r>
              <a:rPr lang="en-CA" dirty="0"/>
              <a:t>.</a:t>
            </a:r>
          </a:p>
          <a:p>
            <a:r>
              <a:rPr lang="en-CA" dirty="0"/>
              <a:t>The </a:t>
            </a:r>
            <a:r>
              <a:rPr lang="en-CA" dirty="0" err="1"/>
              <a:t>Playhead</a:t>
            </a:r>
            <a:r>
              <a:rPr lang="en-CA" dirty="0"/>
              <a:t> indicates which frame is currently active and where new keyframes will be created.</a:t>
            </a:r>
            <a:endParaRPr lang="en-US" dirty="0"/>
          </a:p>
        </p:txBody>
      </p:sp>
    </p:spTree>
    <p:extLst>
      <p:ext uri="{BB962C8B-B14F-4D97-AF65-F5344CB8AC3E}">
        <p14:creationId xmlns:p14="http://schemas.microsoft.com/office/powerpoint/2010/main" val="14695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2F432-DC1B-405C-0F40-3CD289C43D23}"/>
              </a:ext>
            </a:extLst>
          </p:cNvPr>
          <p:cNvSpPr>
            <a:spLocks noGrp="1"/>
          </p:cNvSpPr>
          <p:nvPr>
            <p:ph type="title"/>
          </p:nvPr>
        </p:nvSpPr>
        <p:spPr/>
        <p:txBody>
          <a:bodyPr/>
          <a:lstStyle/>
          <a:p>
            <a:r>
              <a:rPr lang="en-US" dirty="0"/>
              <a:t>Animation Clips</a:t>
            </a:r>
          </a:p>
        </p:txBody>
      </p:sp>
      <p:pic>
        <p:nvPicPr>
          <p:cNvPr id="5" name="Content Placeholder 4">
            <a:extLst>
              <a:ext uri="{FF2B5EF4-FFF2-40B4-BE49-F238E27FC236}">
                <a16:creationId xmlns:a16="http://schemas.microsoft.com/office/drawing/2014/main" id="{5DD99ACD-8FC4-BE03-CD91-D77C3B8B39C9}"/>
              </a:ext>
            </a:extLst>
          </p:cNvPr>
          <p:cNvPicPr>
            <a:picLocks noGrp="1" noChangeAspect="1"/>
          </p:cNvPicPr>
          <p:nvPr>
            <p:ph sz="half" idx="2"/>
          </p:nvPr>
        </p:nvPicPr>
        <p:blipFill>
          <a:blip r:embed="rId2"/>
          <a:stretch>
            <a:fillRect/>
          </a:stretch>
        </p:blipFill>
        <p:spPr>
          <a:xfrm>
            <a:off x="6197600" y="2690795"/>
            <a:ext cx="5384800" cy="2344773"/>
          </a:xfrm>
          <a:prstGeom prst="rect">
            <a:avLst/>
          </a:prstGeom>
        </p:spPr>
      </p:pic>
      <p:sp>
        <p:nvSpPr>
          <p:cNvPr id="4" name="Content Placeholder 3">
            <a:extLst>
              <a:ext uri="{FF2B5EF4-FFF2-40B4-BE49-F238E27FC236}">
                <a16:creationId xmlns:a16="http://schemas.microsoft.com/office/drawing/2014/main" id="{BB043B77-E660-750B-8E34-5FE4FE5148CA}"/>
              </a:ext>
            </a:extLst>
          </p:cNvPr>
          <p:cNvSpPr>
            <a:spLocks noGrp="1"/>
          </p:cNvSpPr>
          <p:nvPr>
            <p:ph sz="quarter" idx="13"/>
          </p:nvPr>
        </p:nvSpPr>
        <p:spPr/>
        <p:txBody>
          <a:bodyPr/>
          <a:lstStyle/>
          <a:p>
            <a:r>
              <a:rPr lang="en-CA" dirty="0"/>
              <a:t>A single object can have an infinite number of Animation Clips. </a:t>
            </a:r>
          </a:p>
          <a:p>
            <a:r>
              <a:rPr lang="en-CA" dirty="0"/>
              <a:t>Example: There are three major points to create keyframes for: the ball falling, the ball striking the ground, and the ball bouncing back up.</a:t>
            </a:r>
            <a:endParaRPr lang="en-US" dirty="0"/>
          </a:p>
        </p:txBody>
      </p:sp>
    </p:spTree>
    <p:extLst>
      <p:ext uri="{BB962C8B-B14F-4D97-AF65-F5344CB8AC3E}">
        <p14:creationId xmlns:p14="http://schemas.microsoft.com/office/powerpoint/2010/main" val="518443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Rate</a:t>
            </a:r>
          </a:p>
        </p:txBody>
      </p:sp>
      <p:sp>
        <p:nvSpPr>
          <p:cNvPr id="3" name="Content Placeholder 2"/>
          <p:cNvSpPr>
            <a:spLocks noGrp="1"/>
          </p:cNvSpPr>
          <p:nvPr>
            <p:ph sz="half" idx="2"/>
          </p:nvPr>
        </p:nvSpPr>
        <p:spPr/>
        <p:txBody>
          <a:bodyPr>
            <a:normAutofit fontScale="85000" lnSpcReduction="20000"/>
          </a:bodyPr>
          <a:lstStyle/>
          <a:p>
            <a:r>
              <a:rPr lang="en-CA" dirty="0"/>
              <a:t>By default, Unity animations have a frame rate (FPS) of 60. This means that for every second of animation, 60 frames are rendered on the screen. This produces very smooth animation; however, the more common frame rate for animation is 24 FPS. This is also the frame rate for most movies. The frame rate that you choose to animate in ultimately comes down to personal preference, but make sure you use the same rate consistently across all animations in your project. This is especially important to keep in mind if you intend to use imported animations from a DCC or the Unity Asset Store, which are often at 24 FPS.</a:t>
            </a:r>
          </a:p>
          <a:p>
            <a:r>
              <a:rPr lang="en-CA" dirty="0"/>
              <a:t>Click on the same three vertical ellipsis button from the previous step, and go to </a:t>
            </a:r>
            <a:r>
              <a:rPr lang="en-CA" b="1" dirty="0"/>
              <a:t>Set Sample Rate &gt; 24.</a:t>
            </a:r>
            <a:endParaRPr lang="en-CA" dirty="0"/>
          </a:p>
        </p:txBody>
      </p:sp>
      <p:pic>
        <p:nvPicPr>
          <p:cNvPr id="5" name="Content Placeholder 4">
            <a:extLst>
              <a:ext uri="{FF2B5EF4-FFF2-40B4-BE49-F238E27FC236}">
                <a16:creationId xmlns:a16="http://schemas.microsoft.com/office/drawing/2014/main" id="{0F16F8EC-1E16-1274-97F3-9FB2595C167E}"/>
              </a:ext>
            </a:extLst>
          </p:cNvPr>
          <p:cNvPicPr>
            <a:picLocks noGrp="1" noChangeAspect="1"/>
          </p:cNvPicPr>
          <p:nvPr>
            <p:ph sz="quarter" idx="13"/>
          </p:nvPr>
        </p:nvPicPr>
        <p:blipFill>
          <a:blip r:embed="rId2"/>
          <a:stretch>
            <a:fillRect/>
          </a:stretch>
        </p:blipFill>
        <p:spPr>
          <a:xfrm>
            <a:off x="1004094" y="2770981"/>
            <a:ext cx="4356100" cy="2184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Curve Editor</a:t>
            </a:r>
          </a:p>
        </p:txBody>
      </p:sp>
      <p:sp>
        <p:nvSpPr>
          <p:cNvPr id="3" name="Content Placeholder 2"/>
          <p:cNvSpPr>
            <a:spLocks noGrp="1"/>
          </p:cNvSpPr>
          <p:nvPr>
            <p:ph sz="half" idx="2"/>
          </p:nvPr>
        </p:nvSpPr>
        <p:spPr>
          <a:xfrm>
            <a:off x="5492462" y="1600201"/>
            <a:ext cx="4865052" cy="4525963"/>
          </a:xfrm>
        </p:spPr>
        <p:txBody>
          <a:bodyPr>
            <a:normAutofit fontScale="92500" lnSpcReduction="10000"/>
          </a:bodyPr>
          <a:lstStyle/>
          <a:p>
            <a:r>
              <a:rPr lang="en-CA" dirty="0"/>
              <a:t>The curve shown in the editor is a visual representation of the tweens occurring between the set keyframes, specifically their transition rate.</a:t>
            </a:r>
          </a:p>
          <a:p>
            <a:r>
              <a:rPr lang="en-CA" dirty="0"/>
              <a:t>In cases like the bounce animation, an animator must modify the tweens themselves, and in Unity this is done through the </a:t>
            </a:r>
            <a:r>
              <a:rPr lang="en-CA" b="1" dirty="0"/>
              <a:t>Curves editor</a:t>
            </a:r>
            <a:r>
              <a:rPr lang="en-CA" dirty="0"/>
              <a:t>. </a:t>
            </a:r>
          </a:p>
          <a:p>
            <a:r>
              <a:rPr lang="en-CA" dirty="0"/>
              <a:t>Until this point you have been working in a section of the Animation editor called the </a:t>
            </a:r>
            <a:r>
              <a:rPr lang="en-CA" b="1" dirty="0" err="1"/>
              <a:t>Dopesheet</a:t>
            </a:r>
            <a:r>
              <a:rPr lang="en-CA" dirty="0"/>
              <a:t>, which is where all keyframes are set.</a:t>
            </a:r>
            <a:endParaRPr lang="en-US" dirty="0"/>
          </a:p>
        </p:txBody>
      </p:sp>
      <p:pic>
        <p:nvPicPr>
          <p:cNvPr id="7" name="Content Placeholder 6">
            <a:extLst>
              <a:ext uri="{FF2B5EF4-FFF2-40B4-BE49-F238E27FC236}">
                <a16:creationId xmlns:a16="http://schemas.microsoft.com/office/drawing/2014/main" id="{74C5CF2C-2677-D176-104E-190F90D3F781}"/>
              </a:ext>
            </a:extLst>
          </p:cNvPr>
          <p:cNvPicPr>
            <a:picLocks noGrp="1" noChangeAspect="1"/>
          </p:cNvPicPr>
          <p:nvPr>
            <p:ph sz="quarter" idx="13"/>
          </p:nvPr>
        </p:nvPicPr>
        <p:blipFill>
          <a:blip r:embed="rId3"/>
          <a:stretch>
            <a:fillRect/>
          </a:stretch>
        </p:blipFill>
        <p:spPr>
          <a:xfrm>
            <a:off x="1747044" y="1951831"/>
            <a:ext cx="2870200" cy="38227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7A60F-A0DD-13BB-7215-D75EB023DE0F}"/>
              </a:ext>
            </a:extLst>
          </p:cNvPr>
          <p:cNvSpPr>
            <a:spLocks noGrp="1"/>
          </p:cNvSpPr>
          <p:nvPr>
            <p:ph type="title"/>
          </p:nvPr>
        </p:nvSpPr>
        <p:spPr/>
        <p:txBody>
          <a:bodyPr/>
          <a:lstStyle/>
          <a:p>
            <a:r>
              <a:rPr lang="en-US" dirty="0"/>
              <a:t>Easing</a:t>
            </a:r>
          </a:p>
        </p:txBody>
      </p:sp>
      <p:pic>
        <p:nvPicPr>
          <p:cNvPr id="5" name="Content Placeholder 4">
            <a:extLst>
              <a:ext uri="{FF2B5EF4-FFF2-40B4-BE49-F238E27FC236}">
                <a16:creationId xmlns:a16="http://schemas.microsoft.com/office/drawing/2014/main" id="{89C39EC9-E011-3EF2-23D2-30C07DCC8679}"/>
              </a:ext>
            </a:extLst>
          </p:cNvPr>
          <p:cNvPicPr>
            <a:picLocks noGrp="1" noChangeAspect="1"/>
          </p:cNvPicPr>
          <p:nvPr>
            <p:ph sz="half" idx="2"/>
          </p:nvPr>
        </p:nvPicPr>
        <p:blipFill>
          <a:blip r:embed="rId2"/>
          <a:stretch>
            <a:fillRect/>
          </a:stretch>
        </p:blipFill>
        <p:spPr>
          <a:xfrm>
            <a:off x="6197600" y="3033149"/>
            <a:ext cx="5384800" cy="1660065"/>
          </a:xfrm>
          <a:prstGeom prst="rect">
            <a:avLst/>
          </a:prstGeom>
        </p:spPr>
      </p:pic>
      <p:sp>
        <p:nvSpPr>
          <p:cNvPr id="4" name="Content Placeholder 3">
            <a:extLst>
              <a:ext uri="{FF2B5EF4-FFF2-40B4-BE49-F238E27FC236}">
                <a16:creationId xmlns:a16="http://schemas.microsoft.com/office/drawing/2014/main" id="{4C61FAC4-B3BC-6126-C3A3-3114E4695ADC}"/>
              </a:ext>
            </a:extLst>
          </p:cNvPr>
          <p:cNvSpPr>
            <a:spLocks noGrp="1"/>
          </p:cNvSpPr>
          <p:nvPr>
            <p:ph sz="quarter" idx="13"/>
          </p:nvPr>
        </p:nvSpPr>
        <p:spPr>
          <a:xfrm>
            <a:off x="487680" y="1600200"/>
            <a:ext cx="5388864" cy="4809172"/>
          </a:xfrm>
        </p:spPr>
        <p:txBody>
          <a:bodyPr>
            <a:normAutofit fontScale="70000" lnSpcReduction="20000"/>
          </a:bodyPr>
          <a:lstStyle/>
          <a:p>
            <a:r>
              <a:rPr lang="en-CA" dirty="0"/>
              <a:t>The curve shown in the editor is a visual representation of the tweens occurring between the set keyframes, specifically their transition rate. If you preview the animation, you can see this relationship in action. For the first few frames of the animation, the ball slowly descends from its full height, picks up speed in the middle of the drop, then slows down for the landing. It repeats this process in reverse to return to the starting point. This type of transition is referred to as</a:t>
            </a:r>
            <a:r>
              <a:rPr lang="en-CA" b="1" dirty="0"/>
              <a:t> easing</a:t>
            </a:r>
            <a:r>
              <a:rPr lang="en-CA" dirty="0"/>
              <a:t>. </a:t>
            </a:r>
          </a:p>
          <a:p>
            <a:r>
              <a:rPr lang="en-CA" dirty="0"/>
              <a:t>Let’s explore how the animation changes when no easing is applied.</a:t>
            </a:r>
          </a:p>
          <a:p>
            <a:pPr lvl="1"/>
            <a:r>
              <a:rPr lang="en-CA" dirty="0"/>
              <a:t>Right-click the first keyframe of the animation in the Curve editor and from the list select </a:t>
            </a:r>
            <a:r>
              <a:rPr lang="en-CA" b="1" dirty="0"/>
              <a:t>Right Tangent</a:t>
            </a:r>
            <a:r>
              <a:rPr lang="en-CA" dirty="0"/>
              <a:t> &gt; </a:t>
            </a:r>
            <a:r>
              <a:rPr lang="en-CA" b="1" dirty="0"/>
              <a:t>Linear</a:t>
            </a:r>
            <a:r>
              <a:rPr lang="en-CA" dirty="0"/>
              <a:t>.</a:t>
            </a:r>
          </a:p>
          <a:p>
            <a:pPr lvl="1"/>
            <a:r>
              <a:rPr lang="en-CA" dirty="0"/>
              <a:t>Right-click the middle keyframe, and from the list select</a:t>
            </a:r>
            <a:r>
              <a:rPr lang="en-CA" b="1" dirty="0"/>
              <a:t> Left Tangent </a:t>
            </a:r>
            <a:r>
              <a:rPr lang="en-CA" dirty="0"/>
              <a:t>&gt; </a:t>
            </a:r>
            <a:r>
              <a:rPr lang="en-CA" b="1" dirty="0"/>
              <a:t>Linear</a:t>
            </a:r>
            <a:r>
              <a:rPr lang="en-CA" dirty="0"/>
              <a:t>.</a:t>
            </a:r>
          </a:p>
          <a:p>
            <a:endParaRPr lang="en-US" dirty="0"/>
          </a:p>
        </p:txBody>
      </p:sp>
    </p:spTree>
    <p:extLst>
      <p:ext uri="{BB962C8B-B14F-4D97-AF65-F5344CB8AC3E}">
        <p14:creationId xmlns:p14="http://schemas.microsoft.com/office/powerpoint/2010/main" val="1677721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A7BEB-DA05-2D05-604C-5422036DB4A1}"/>
              </a:ext>
            </a:extLst>
          </p:cNvPr>
          <p:cNvSpPr>
            <a:spLocks noGrp="1"/>
          </p:cNvSpPr>
          <p:nvPr>
            <p:ph type="title"/>
          </p:nvPr>
        </p:nvSpPr>
        <p:spPr/>
        <p:txBody>
          <a:bodyPr>
            <a:normAutofit/>
          </a:bodyPr>
          <a:lstStyle/>
          <a:p>
            <a:r>
              <a:rPr lang="en-CA" b="1" dirty="0"/>
              <a:t>Adjust the easing of the ball</a:t>
            </a:r>
            <a:endParaRPr lang="en-US" dirty="0"/>
          </a:p>
        </p:txBody>
      </p:sp>
      <p:pic>
        <p:nvPicPr>
          <p:cNvPr id="5" name="Content Placeholder 4">
            <a:extLst>
              <a:ext uri="{FF2B5EF4-FFF2-40B4-BE49-F238E27FC236}">
                <a16:creationId xmlns:a16="http://schemas.microsoft.com/office/drawing/2014/main" id="{A9CF8EF7-C4DB-65F7-FE07-FF3FC890ED0D}"/>
              </a:ext>
            </a:extLst>
          </p:cNvPr>
          <p:cNvPicPr>
            <a:picLocks noGrp="1" noChangeAspect="1"/>
          </p:cNvPicPr>
          <p:nvPr>
            <p:ph sz="half" idx="2"/>
          </p:nvPr>
        </p:nvPicPr>
        <p:blipFill>
          <a:blip r:embed="rId2"/>
          <a:stretch>
            <a:fillRect/>
          </a:stretch>
        </p:blipFill>
        <p:spPr>
          <a:xfrm>
            <a:off x="6197600" y="2227175"/>
            <a:ext cx="5384800" cy="3272013"/>
          </a:xfrm>
          <a:prstGeom prst="rect">
            <a:avLst/>
          </a:prstGeom>
        </p:spPr>
      </p:pic>
      <p:sp>
        <p:nvSpPr>
          <p:cNvPr id="4" name="Content Placeholder 3">
            <a:extLst>
              <a:ext uri="{FF2B5EF4-FFF2-40B4-BE49-F238E27FC236}">
                <a16:creationId xmlns:a16="http://schemas.microsoft.com/office/drawing/2014/main" id="{D54F4E29-EA0D-CFC0-F810-D66292FA28C9}"/>
              </a:ext>
            </a:extLst>
          </p:cNvPr>
          <p:cNvSpPr>
            <a:spLocks noGrp="1"/>
          </p:cNvSpPr>
          <p:nvPr>
            <p:ph sz="quarter" idx="13"/>
          </p:nvPr>
        </p:nvSpPr>
        <p:spPr/>
        <p:txBody>
          <a:bodyPr/>
          <a:lstStyle/>
          <a:p>
            <a:r>
              <a:rPr lang="en-CA" dirty="0"/>
              <a:t>Right-click the middle keyframe and from the list, go to </a:t>
            </a:r>
            <a:r>
              <a:rPr lang="en-CA" b="1" dirty="0"/>
              <a:t>Both Tangents</a:t>
            </a:r>
            <a:r>
              <a:rPr lang="en-CA" dirty="0"/>
              <a:t> &gt; </a:t>
            </a:r>
            <a:r>
              <a:rPr lang="en-CA" b="1" dirty="0"/>
              <a:t>Free</a:t>
            </a:r>
            <a:r>
              <a:rPr lang="en-CA" dirty="0"/>
              <a:t>. This will keep the tangents in the same position, but give you access to the tangent handles.</a:t>
            </a:r>
          </a:p>
          <a:p>
            <a:r>
              <a:rPr lang="en-CA" dirty="0"/>
              <a:t>Adjust the tangent handles of the middle keyframe to form a sharper V shape.</a:t>
            </a:r>
          </a:p>
          <a:p>
            <a:endParaRPr lang="en-US" dirty="0"/>
          </a:p>
        </p:txBody>
      </p:sp>
    </p:spTree>
    <p:extLst>
      <p:ext uri="{BB962C8B-B14F-4D97-AF65-F5344CB8AC3E}">
        <p14:creationId xmlns:p14="http://schemas.microsoft.com/office/powerpoint/2010/main" val="3657036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37183-9CC1-6868-88A7-45BB35525AA1}"/>
              </a:ext>
            </a:extLst>
          </p:cNvPr>
          <p:cNvSpPr>
            <a:spLocks noGrp="1"/>
          </p:cNvSpPr>
          <p:nvPr>
            <p:ph type="title"/>
          </p:nvPr>
        </p:nvSpPr>
        <p:spPr/>
        <p:txBody>
          <a:bodyPr>
            <a:normAutofit/>
          </a:bodyPr>
          <a:lstStyle/>
          <a:p>
            <a:r>
              <a:rPr lang="en-CA" b="1" dirty="0"/>
              <a:t>Create squash keyframes</a:t>
            </a:r>
            <a:endParaRPr lang="en-US" dirty="0"/>
          </a:p>
        </p:txBody>
      </p:sp>
      <p:sp>
        <p:nvSpPr>
          <p:cNvPr id="4" name="Content Placeholder 3">
            <a:extLst>
              <a:ext uri="{FF2B5EF4-FFF2-40B4-BE49-F238E27FC236}">
                <a16:creationId xmlns:a16="http://schemas.microsoft.com/office/drawing/2014/main" id="{8DC30781-61F5-1BA6-FD3D-4D6D6D2113F3}"/>
              </a:ext>
            </a:extLst>
          </p:cNvPr>
          <p:cNvSpPr>
            <a:spLocks noGrp="1"/>
          </p:cNvSpPr>
          <p:nvPr>
            <p:ph idx="1"/>
          </p:nvPr>
        </p:nvSpPr>
        <p:spPr/>
        <p:txBody>
          <a:bodyPr>
            <a:normAutofit/>
          </a:bodyPr>
          <a:lstStyle/>
          <a:p>
            <a:r>
              <a:rPr lang="en-CA" dirty="0"/>
              <a:t>When an object strikes a surface with sufficient force, deformation of either the object or the surface will occur. The deformed object will then return to its original form (or as close as possible) once the energy of the strike has dissipated.</a:t>
            </a:r>
          </a:p>
          <a:p>
            <a:r>
              <a:rPr lang="en-CA" dirty="0"/>
              <a:t>In animation, this process is encapsulated in a technique called squash and stretch. </a:t>
            </a:r>
          </a:p>
          <a:p>
            <a:r>
              <a:rPr lang="en-CA" dirty="0"/>
              <a:t>In traditional animation this process is often overemphasized to give impacts a bigger presence.</a:t>
            </a:r>
            <a:endParaRPr lang="en-US" dirty="0"/>
          </a:p>
        </p:txBody>
      </p:sp>
    </p:spTree>
    <p:extLst>
      <p:ext uri="{BB962C8B-B14F-4D97-AF65-F5344CB8AC3E}">
        <p14:creationId xmlns:p14="http://schemas.microsoft.com/office/powerpoint/2010/main" val="3164422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1B1E-4D81-29F1-2CBF-ADDA98B3E484}"/>
              </a:ext>
            </a:extLst>
          </p:cNvPr>
          <p:cNvSpPr>
            <a:spLocks noGrp="1"/>
          </p:cNvSpPr>
          <p:nvPr>
            <p:ph type="title"/>
          </p:nvPr>
        </p:nvSpPr>
        <p:spPr/>
        <p:txBody>
          <a:bodyPr/>
          <a:lstStyle/>
          <a:p>
            <a:r>
              <a:rPr lang="en-CA" b="1" dirty="0"/>
              <a:t>Create squash keyframes in Unity</a:t>
            </a:r>
            <a:endParaRPr lang="en-US" dirty="0"/>
          </a:p>
        </p:txBody>
      </p:sp>
      <p:sp>
        <p:nvSpPr>
          <p:cNvPr id="3" name="Content Placeholder 2">
            <a:extLst>
              <a:ext uri="{FF2B5EF4-FFF2-40B4-BE49-F238E27FC236}">
                <a16:creationId xmlns:a16="http://schemas.microsoft.com/office/drawing/2014/main" id="{C3AB411E-0E6B-90A6-858C-82FEC3B6BF29}"/>
              </a:ext>
            </a:extLst>
          </p:cNvPr>
          <p:cNvSpPr>
            <a:spLocks noGrp="1"/>
          </p:cNvSpPr>
          <p:nvPr>
            <p:ph idx="1"/>
          </p:nvPr>
        </p:nvSpPr>
        <p:spPr/>
        <p:txBody>
          <a:bodyPr>
            <a:normAutofit fontScale="85000" lnSpcReduction="20000"/>
          </a:bodyPr>
          <a:lstStyle/>
          <a:p>
            <a:r>
              <a:rPr lang="en-CA" dirty="0"/>
              <a:t>Return to the </a:t>
            </a:r>
            <a:r>
              <a:rPr lang="en-CA" dirty="0" err="1"/>
              <a:t>Dopesheet</a:t>
            </a:r>
            <a:r>
              <a:rPr lang="en-CA" dirty="0"/>
              <a:t> by clicking on the </a:t>
            </a:r>
            <a:r>
              <a:rPr lang="en-CA" dirty="0" err="1"/>
              <a:t>Dopesheet</a:t>
            </a:r>
            <a:r>
              <a:rPr lang="en-CA" dirty="0"/>
              <a:t> button on the bottom of the Animation editor.</a:t>
            </a:r>
          </a:p>
          <a:p>
            <a:r>
              <a:rPr lang="en-CA" dirty="0"/>
              <a:t>Set the </a:t>
            </a:r>
            <a:r>
              <a:rPr lang="en-CA" dirty="0" err="1"/>
              <a:t>Playhead</a:t>
            </a:r>
            <a:r>
              <a:rPr lang="en-CA" dirty="0"/>
              <a:t> to the first keyframe at 0:00 and turn on keyframe recording.</a:t>
            </a:r>
          </a:p>
          <a:p>
            <a:r>
              <a:rPr lang="en-CA" dirty="0"/>
              <a:t>Click Add Property and go to </a:t>
            </a:r>
            <a:r>
              <a:rPr lang="en-CA" b="1" dirty="0"/>
              <a:t>Transform</a:t>
            </a:r>
            <a:r>
              <a:rPr lang="en-CA" dirty="0"/>
              <a:t> &gt; </a:t>
            </a:r>
            <a:r>
              <a:rPr lang="en-CA" b="1" dirty="0"/>
              <a:t>Scale</a:t>
            </a:r>
            <a:r>
              <a:rPr lang="en-CA" dirty="0"/>
              <a:t>, and create a keyframe in the 1:10 mark.</a:t>
            </a:r>
          </a:p>
          <a:p>
            <a:r>
              <a:rPr lang="en-CA" dirty="0"/>
              <a:t>Advance the </a:t>
            </a:r>
            <a:r>
              <a:rPr lang="en-CA" dirty="0" err="1"/>
              <a:t>Playhead</a:t>
            </a:r>
            <a:r>
              <a:rPr lang="en-CA" dirty="0"/>
              <a:t> to the second keyframe, which is the moment the sphere strikes the ground.</a:t>
            </a:r>
          </a:p>
          <a:p>
            <a:r>
              <a:rPr lang="en-CA" dirty="0"/>
              <a:t>Press R on your keyboard to enable the Scale Tool. Scale the sphere down to 0.8 in Y.</a:t>
            </a:r>
          </a:p>
          <a:p>
            <a:r>
              <a:rPr lang="en-CA" dirty="0"/>
              <a:t>Press W on your keyboard to enable the Move Tool. Drag the sphere down so it appears to be resting on the surface of the ground again.</a:t>
            </a:r>
          </a:p>
          <a:p>
            <a:endParaRPr lang="en-US" dirty="0"/>
          </a:p>
        </p:txBody>
      </p:sp>
    </p:spTree>
    <p:extLst>
      <p:ext uri="{BB962C8B-B14F-4D97-AF65-F5344CB8AC3E}">
        <p14:creationId xmlns:p14="http://schemas.microsoft.com/office/powerpoint/2010/main" val="748070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944A-DFB8-262E-8929-E3EA08E7E35B}"/>
              </a:ext>
            </a:extLst>
          </p:cNvPr>
          <p:cNvSpPr>
            <a:spLocks noGrp="1"/>
          </p:cNvSpPr>
          <p:nvPr>
            <p:ph type="title"/>
          </p:nvPr>
        </p:nvSpPr>
        <p:spPr/>
        <p:txBody>
          <a:bodyPr>
            <a:normAutofit/>
          </a:bodyPr>
          <a:lstStyle/>
          <a:p>
            <a:r>
              <a:rPr lang="en-CA" b="1" dirty="0"/>
              <a:t>Create stretch keyframes</a:t>
            </a:r>
            <a:endParaRPr lang="en-US" dirty="0"/>
          </a:p>
        </p:txBody>
      </p:sp>
      <p:sp>
        <p:nvSpPr>
          <p:cNvPr id="3" name="Content Placeholder 2">
            <a:extLst>
              <a:ext uri="{FF2B5EF4-FFF2-40B4-BE49-F238E27FC236}">
                <a16:creationId xmlns:a16="http://schemas.microsoft.com/office/drawing/2014/main" id="{0A92E845-1D18-EC49-0A08-924CD0E5D44A}"/>
              </a:ext>
            </a:extLst>
          </p:cNvPr>
          <p:cNvSpPr>
            <a:spLocks noGrp="1"/>
          </p:cNvSpPr>
          <p:nvPr>
            <p:ph idx="1"/>
          </p:nvPr>
        </p:nvSpPr>
        <p:spPr/>
        <p:txBody>
          <a:bodyPr>
            <a:normAutofit fontScale="85000" lnSpcReduction="10000"/>
          </a:bodyPr>
          <a:lstStyle/>
          <a:p>
            <a:r>
              <a:rPr lang="en-CA" dirty="0"/>
              <a:t>With the squash impact of the ball complete, you can move on to the stretch. For a rubber ball, this occurs right after the impact with the ground, when the energy from the fall launches the ball back into the air.</a:t>
            </a:r>
          </a:p>
          <a:p>
            <a:r>
              <a:rPr lang="en-CA" dirty="0"/>
              <a:t>Advance the </a:t>
            </a:r>
            <a:r>
              <a:rPr lang="en-CA" dirty="0" err="1"/>
              <a:t>Playhead</a:t>
            </a:r>
            <a:r>
              <a:rPr lang="en-CA" dirty="0"/>
              <a:t> to the frame immediately after the impact frame.</a:t>
            </a:r>
          </a:p>
          <a:p>
            <a:r>
              <a:rPr lang="en-CA" dirty="0"/>
              <a:t>In the Inspector, set the Y scale value to 1.2.</a:t>
            </a:r>
          </a:p>
          <a:p>
            <a:r>
              <a:rPr lang="en-CA" dirty="0"/>
              <a:t>Preview the animation by pressing play in the Animation editor. The sphere will now squash and stretch as it hits and bounces back up into the air.</a:t>
            </a:r>
          </a:p>
          <a:p>
            <a:r>
              <a:rPr lang="en-CA" dirty="0"/>
              <a:t>Adjust the squash and stretch keyframes to your personal preferences.</a:t>
            </a:r>
          </a:p>
          <a:p>
            <a:r>
              <a:rPr lang="en-CA" dirty="0"/>
              <a:t>Click the record button to exit record mode once you’re finished editing.</a:t>
            </a:r>
          </a:p>
          <a:p>
            <a:pPr marL="50800" indent="0">
              <a:buNone/>
            </a:pPr>
            <a:br>
              <a:rPr lang="en-CA" dirty="0"/>
            </a:br>
            <a:endParaRPr lang="en-CA" dirty="0"/>
          </a:p>
          <a:p>
            <a:endParaRPr lang="en-US" dirty="0"/>
          </a:p>
        </p:txBody>
      </p:sp>
    </p:spTree>
    <p:extLst>
      <p:ext uri="{BB962C8B-B14F-4D97-AF65-F5344CB8AC3E}">
        <p14:creationId xmlns:p14="http://schemas.microsoft.com/office/powerpoint/2010/main" val="991135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EF9DF-4010-A38C-A1BD-0642D5F139D1}"/>
              </a:ext>
            </a:extLst>
          </p:cNvPr>
          <p:cNvSpPr>
            <a:spLocks noGrp="1"/>
          </p:cNvSpPr>
          <p:nvPr>
            <p:ph type="title"/>
          </p:nvPr>
        </p:nvSpPr>
        <p:spPr/>
        <p:txBody>
          <a:bodyPr/>
          <a:lstStyle/>
          <a:p>
            <a:r>
              <a:rPr lang="en-US" dirty="0"/>
              <a:t>Door Animation</a:t>
            </a:r>
          </a:p>
        </p:txBody>
      </p:sp>
      <p:pic>
        <p:nvPicPr>
          <p:cNvPr id="6" name="Content Placeholder 5">
            <a:extLst>
              <a:ext uri="{FF2B5EF4-FFF2-40B4-BE49-F238E27FC236}">
                <a16:creationId xmlns:a16="http://schemas.microsoft.com/office/drawing/2014/main" id="{31918532-866A-D28E-F3D9-2D17D7D1C92E}"/>
              </a:ext>
            </a:extLst>
          </p:cNvPr>
          <p:cNvPicPr>
            <a:picLocks noGrp="1" noChangeAspect="1"/>
          </p:cNvPicPr>
          <p:nvPr>
            <p:ph sz="half" idx="2"/>
          </p:nvPr>
        </p:nvPicPr>
        <p:blipFill>
          <a:blip r:embed="rId2"/>
          <a:stretch>
            <a:fillRect/>
          </a:stretch>
        </p:blipFill>
        <p:spPr>
          <a:xfrm>
            <a:off x="6197600" y="1899771"/>
            <a:ext cx="5384800" cy="3926821"/>
          </a:xfrm>
          <a:prstGeom prst="rect">
            <a:avLst/>
          </a:prstGeom>
        </p:spPr>
      </p:pic>
      <p:sp>
        <p:nvSpPr>
          <p:cNvPr id="5" name="Content Placeholder 4">
            <a:extLst>
              <a:ext uri="{FF2B5EF4-FFF2-40B4-BE49-F238E27FC236}">
                <a16:creationId xmlns:a16="http://schemas.microsoft.com/office/drawing/2014/main" id="{3F46A867-2D02-DEE8-1C33-92FD62E17166}"/>
              </a:ext>
            </a:extLst>
          </p:cNvPr>
          <p:cNvSpPr>
            <a:spLocks noGrp="1"/>
          </p:cNvSpPr>
          <p:nvPr>
            <p:ph sz="quarter" idx="13"/>
          </p:nvPr>
        </p:nvSpPr>
        <p:spPr/>
        <p:txBody>
          <a:bodyPr>
            <a:normAutofit fontScale="77500" lnSpcReduction="20000"/>
          </a:bodyPr>
          <a:lstStyle/>
          <a:p>
            <a:r>
              <a:rPr lang="en-CA" dirty="0"/>
              <a:t>Before you begin animating, it’s important to check where the door’s </a:t>
            </a:r>
            <a:r>
              <a:rPr lang="en-CA" b="1" dirty="0"/>
              <a:t>pivot point</a:t>
            </a:r>
            <a:r>
              <a:rPr lang="en-CA" dirty="0"/>
              <a:t> is. </a:t>
            </a:r>
          </a:p>
          <a:p>
            <a:r>
              <a:rPr lang="en-CA" dirty="0"/>
              <a:t>A pivot point is the point on an object where movement occurs. In previous animation exercises, the location of the pivot point didn’t matter, but doors are different because they move in a very specific way. </a:t>
            </a:r>
          </a:p>
          <a:p>
            <a:r>
              <a:rPr lang="en-CA" dirty="0"/>
              <a:t>It’s important to replicate the proper kind of movement so the animation doesn’t look odd! For doors, the pivot point is where the door would attach to its frame on a wall.</a:t>
            </a:r>
            <a:endParaRPr lang="en-US" dirty="0"/>
          </a:p>
        </p:txBody>
      </p:sp>
    </p:spTree>
    <p:extLst>
      <p:ext uri="{BB962C8B-B14F-4D97-AF65-F5344CB8AC3E}">
        <p14:creationId xmlns:p14="http://schemas.microsoft.com/office/powerpoint/2010/main" val="49101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BDC22-89E6-6130-AA15-B559F333F272}"/>
              </a:ext>
            </a:extLst>
          </p:cNvPr>
          <p:cNvSpPr>
            <a:spLocks noGrp="1"/>
          </p:cNvSpPr>
          <p:nvPr>
            <p:ph type="title"/>
          </p:nvPr>
        </p:nvSpPr>
        <p:spPr/>
        <p:txBody>
          <a:bodyPr>
            <a:normAutofit/>
          </a:bodyPr>
          <a:lstStyle/>
          <a:p>
            <a:r>
              <a:rPr lang="en-CA" b="1" dirty="0"/>
              <a:t>Animator Controller</a:t>
            </a:r>
            <a:endParaRPr lang="en-US" dirty="0"/>
          </a:p>
        </p:txBody>
      </p:sp>
      <p:pic>
        <p:nvPicPr>
          <p:cNvPr id="5" name="Content Placeholder 4">
            <a:extLst>
              <a:ext uri="{FF2B5EF4-FFF2-40B4-BE49-F238E27FC236}">
                <a16:creationId xmlns:a16="http://schemas.microsoft.com/office/drawing/2014/main" id="{6582C26B-57CB-B35E-61B7-834FB7B7671D}"/>
              </a:ext>
            </a:extLst>
          </p:cNvPr>
          <p:cNvPicPr>
            <a:picLocks noGrp="1" noChangeAspect="1"/>
          </p:cNvPicPr>
          <p:nvPr>
            <p:ph sz="half" idx="2"/>
          </p:nvPr>
        </p:nvPicPr>
        <p:blipFill>
          <a:blip r:embed="rId2"/>
          <a:stretch>
            <a:fillRect/>
          </a:stretch>
        </p:blipFill>
        <p:spPr>
          <a:xfrm>
            <a:off x="6197600" y="2260977"/>
            <a:ext cx="5384800" cy="3204408"/>
          </a:xfrm>
          <a:prstGeom prst="rect">
            <a:avLst/>
          </a:prstGeom>
        </p:spPr>
      </p:pic>
      <p:sp>
        <p:nvSpPr>
          <p:cNvPr id="4" name="Content Placeholder 3">
            <a:extLst>
              <a:ext uri="{FF2B5EF4-FFF2-40B4-BE49-F238E27FC236}">
                <a16:creationId xmlns:a16="http://schemas.microsoft.com/office/drawing/2014/main" id="{3CB28796-F6F5-1773-6F6B-926F15F6B7E6}"/>
              </a:ext>
            </a:extLst>
          </p:cNvPr>
          <p:cNvSpPr>
            <a:spLocks noGrp="1"/>
          </p:cNvSpPr>
          <p:nvPr>
            <p:ph sz="quarter" idx="13"/>
          </p:nvPr>
        </p:nvSpPr>
        <p:spPr/>
        <p:txBody>
          <a:bodyPr>
            <a:normAutofit fontScale="92500" lnSpcReduction="10000"/>
          </a:bodyPr>
          <a:lstStyle/>
          <a:p>
            <a:r>
              <a:rPr lang="en-CA" dirty="0"/>
              <a:t>Animator components are automatically created whenever the first Animation Clip is created for a selected </a:t>
            </a:r>
            <a:r>
              <a:rPr lang="en-CA" dirty="0" err="1"/>
              <a:t>GameObject</a:t>
            </a:r>
            <a:r>
              <a:rPr lang="en-CA" dirty="0"/>
              <a:t>. </a:t>
            </a:r>
          </a:p>
          <a:p>
            <a:r>
              <a:rPr lang="en-CA" dirty="0"/>
              <a:t>The Animator is responsible for assigning animation; however, it doesn’t control the actual Animation Clips. </a:t>
            </a:r>
          </a:p>
          <a:p>
            <a:r>
              <a:rPr lang="en-CA" dirty="0"/>
              <a:t>This task falls to the Animator Controller, which is also automatically created with the first Animation Clip.</a:t>
            </a:r>
            <a:endParaRPr lang="en-US" dirty="0"/>
          </a:p>
        </p:txBody>
      </p:sp>
    </p:spTree>
    <p:extLst>
      <p:ext uri="{BB962C8B-B14F-4D97-AF65-F5344CB8AC3E}">
        <p14:creationId xmlns:p14="http://schemas.microsoft.com/office/powerpoint/2010/main" val="2632765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8EC77-7782-9011-9537-851597DD5E85}"/>
              </a:ext>
            </a:extLst>
          </p:cNvPr>
          <p:cNvSpPr>
            <a:spLocks noGrp="1"/>
          </p:cNvSpPr>
          <p:nvPr>
            <p:ph type="title"/>
          </p:nvPr>
        </p:nvSpPr>
        <p:spPr/>
        <p:txBody>
          <a:bodyPr>
            <a:normAutofit/>
          </a:bodyPr>
          <a:lstStyle/>
          <a:p>
            <a:r>
              <a:rPr lang="en-CA" b="1" dirty="0"/>
              <a:t>State Machine</a:t>
            </a:r>
            <a:endParaRPr lang="en-US" dirty="0"/>
          </a:p>
        </p:txBody>
      </p:sp>
      <p:pic>
        <p:nvPicPr>
          <p:cNvPr id="5" name="Content Placeholder 4">
            <a:extLst>
              <a:ext uri="{FF2B5EF4-FFF2-40B4-BE49-F238E27FC236}">
                <a16:creationId xmlns:a16="http://schemas.microsoft.com/office/drawing/2014/main" id="{7C8BDDB3-38E2-44B9-A679-971BC95ADB8A}"/>
              </a:ext>
            </a:extLst>
          </p:cNvPr>
          <p:cNvPicPr>
            <a:picLocks noGrp="1" noChangeAspect="1"/>
          </p:cNvPicPr>
          <p:nvPr>
            <p:ph sz="half" idx="2"/>
          </p:nvPr>
        </p:nvPicPr>
        <p:blipFill>
          <a:blip r:embed="rId2"/>
          <a:stretch>
            <a:fillRect/>
          </a:stretch>
        </p:blipFill>
        <p:spPr>
          <a:xfrm>
            <a:off x="2220686" y="4992915"/>
            <a:ext cx="7242628" cy="1294274"/>
          </a:xfrm>
          <a:prstGeom prst="rect">
            <a:avLst/>
          </a:prstGeom>
        </p:spPr>
      </p:pic>
      <p:sp>
        <p:nvSpPr>
          <p:cNvPr id="4" name="Content Placeholder 3">
            <a:extLst>
              <a:ext uri="{FF2B5EF4-FFF2-40B4-BE49-F238E27FC236}">
                <a16:creationId xmlns:a16="http://schemas.microsoft.com/office/drawing/2014/main" id="{62685DC5-FE7C-07E7-07C0-07C36401FBB0}"/>
              </a:ext>
            </a:extLst>
          </p:cNvPr>
          <p:cNvSpPr>
            <a:spLocks noGrp="1"/>
          </p:cNvSpPr>
          <p:nvPr>
            <p:ph sz="quarter" idx="13"/>
          </p:nvPr>
        </p:nvSpPr>
        <p:spPr>
          <a:xfrm>
            <a:off x="609600" y="1426029"/>
            <a:ext cx="10977966" cy="3465285"/>
          </a:xfrm>
        </p:spPr>
        <p:txBody>
          <a:bodyPr>
            <a:normAutofit fontScale="92500"/>
          </a:bodyPr>
          <a:lstStyle/>
          <a:p>
            <a:r>
              <a:rPr lang="en-CA" dirty="0"/>
              <a:t>Animation Controllers run on a special type of system called a </a:t>
            </a:r>
            <a:r>
              <a:rPr lang="en-CA" b="1" dirty="0"/>
              <a:t>State Machine</a:t>
            </a:r>
            <a:r>
              <a:rPr lang="en-CA" dirty="0"/>
              <a:t>. </a:t>
            </a:r>
          </a:p>
          <a:p>
            <a:r>
              <a:rPr lang="en-CA" dirty="0"/>
              <a:t>A State Machine keeps track of all of the possible actions an object can perform, and selects the appropriate one based on what the current situation (or state) calls for.</a:t>
            </a:r>
          </a:p>
          <a:p>
            <a:r>
              <a:rPr lang="en-CA" dirty="0"/>
              <a:t> The logic that communicates the current state is controlled externally, usually via a script, but the process of moving from one action to another is handled directly by a State Machine and is called a </a:t>
            </a:r>
            <a:r>
              <a:rPr lang="en-CA" b="1" dirty="0"/>
              <a:t>Transition.</a:t>
            </a:r>
            <a:endParaRPr lang="en-US" dirty="0"/>
          </a:p>
        </p:txBody>
      </p:sp>
    </p:spTree>
    <p:extLst>
      <p:ext uri="{BB962C8B-B14F-4D97-AF65-F5344CB8AC3E}">
        <p14:creationId xmlns:p14="http://schemas.microsoft.com/office/powerpoint/2010/main" val="1056406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B8B44-B62A-AE68-5FB9-EDA9F19AE04E}"/>
              </a:ext>
            </a:extLst>
          </p:cNvPr>
          <p:cNvSpPr>
            <a:spLocks noGrp="1"/>
          </p:cNvSpPr>
          <p:nvPr>
            <p:ph type="title"/>
          </p:nvPr>
        </p:nvSpPr>
        <p:spPr/>
        <p:txBody>
          <a:bodyPr>
            <a:normAutofit/>
          </a:bodyPr>
          <a:lstStyle/>
          <a:p>
            <a:r>
              <a:rPr lang="en-CA" b="1" dirty="0"/>
              <a:t>Create the default state</a:t>
            </a:r>
            <a:endParaRPr lang="en-US" dirty="0"/>
          </a:p>
        </p:txBody>
      </p:sp>
      <p:pic>
        <p:nvPicPr>
          <p:cNvPr id="5" name="Content Placeholder 4">
            <a:extLst>
              <a:ext uri="{FF2B5EF4-FFF2-40B4-BE49-F238E27FC236}">
                <a16:creationId xmlns:a16="http://schemas.microsoft.com/office/drawing/2014/main" id="{0091EC87-F957-D21C-B8C4-4FF8889F4C2E}"/>
              </a:ext>
            </a:extLst>
          </p:cNvPr>
          <p:cNvPicPr>
            <a:picLocks noGrp="1" noChangeAspect="1"/>
          </p:cNvPicPr>
          <p:nvPr>
            <p:ph sz="half" idx="2"/>
          </p:nvPr>
        </p:nvPicPr>
        <p:blipFill>
          <a:blip r:embed="rId2"/>
          <a:stretch>
            <a:fillRect/>
          </a:stretch>
        </p:blipFill>
        <p:spPr>
          <a:xfrm>
            <a:off x="6197600" y="3136336"/>
            <a:ext cx="5384800" cy="1453691"/>
          </a:xfrm>
          <a:prstGeom prst="rect">
            <a:avLst/>
          </a:prstGeom>
        </p:spPr>
      </p:pic>
      <p:sp>
        <p:nvSpPr>
          <p:cNvPr id="4" name="Content Placeholder 3">
            <a:extLst>
              <a:ext uri="{FF2B5EF4-FFF2-40B4-BE49-F238E27FC236}">
                <a16:creationId xmlns:a16="http://schemas.microsoft.com/office/drawing/2014/main" id="{36A1C3B7-A7D3-5250-AC37-DCCA3F9E00F6}"/>
              </a:ext>
            </a:extLst>
          </p:cNvPr>
          <p:cNvSpPr>
            <a:spLocks noGrp="1"/>
          </p:cNvSpPr>
          <p:nvPr>
            <p:ph sz="quarter" idx="13"/>
          </p:nvPr>
        </p:nvSpPr>
        <p:spPr/>
        <p:txBody>
          <a:bodyPr>
            <a:normAutofit fontScale="62500" lnSpcReduction="20000"/>
          </a:bodyPr>
          <a:lstStyle/>
          <a:p>
            <a:r>
              <a:rPr lang="en-CA" dirty="0"/>
              <a:t>Currently, the </a:t>
            </a:r>
            <a:r>
              <a:rPr lang="en-CA" dirty="0" err="1"/>
              <a:t>Door_Open</a:t>
            </a:r>
            <a:r>
              <a:rPr lang="en-CA" dirty="0"/>
              <a:t> animation plays automatically as soon as the scene is run. </a:t>
            </a:r>
          </a:p>
          <a:p>
            <a:r>
              <a:rPr lang="en-CA" dirty="0"/>
              <a:t>This is because it’s currently the only animation associated with the door, and was automatically added as the Controller’s default state. </a:t>
            </a:r>
          </a:p>
          <a:p>
            <a:r>
              <a:rPr lang="en-CA" dirty="0"/>
              <a:t>However, the starting state of the door should actually be the Closed state, which doesn’t have any associated animation. </a:t>
            </a:r>
          </a:p>
          <a:p>
            <a:r>
              <a:rPr lang="en-CA" dirty="0"/>
              <a:t>To account for this, add a Closed node to the Controller and set it as the default state.</a:t>
            </a:r>
          </a:p>
          <a:p>
            <a:pPr marL="50800" indent="0">
              <a:buNone/>
            </a:pPr>
            <a:endParaRPr lang="en-CA" dirty="0"/>
          </a:p>
          <a:p>
            <a:pPr marL="508000" lvl="1" indent="0">
              <a:buNone/>
            </a:pPr>
            <a:r>
              <a:rPr lang="en-CA" b="1" dirty="0"/>
              <a:t>1.</a:t>
            </a:r>
            <a:r>
              <a:rPr lang="en-CA" dirty="0"/>
              <a:t> In the gridded Animator work area, right-click and select </a:t>
            </a:r>
            <a:r>
              <a:rPr lang="en-CA" b="1" dirty="0"/>
              <a:t>Create State</a:t>
            </a:r>
            <a:r>
              <a:rPr lang="en-CA" dirty="0"/>
              <a:t> &gt; </a:t>
            </a:r>
            <a:r>
              <a:rPr lang="en-CA" b="1" dirty="0"/>
              <a:t>Empty.</a:t>
            </a:r>
            <a:endParaRPr lang="en-CA" dirty="0"/>
          </a:p>
          <a:p>
            <a:pPr marL="508000" lvl="1" indent="0">
              <a:buNone/>
            </a:pPr>
            <a:r>
              <a:rPr lang="en-CA" b="1" dirty="0"/>
              <a:t>2. </a:t>
            </a:r>
            <a:r>
              <a:rPr lang="en-CA" dirty="0"/>
              <a:t>Select the new state node, and in the Inspector, change the name from New State 0 to Closed.</a:t>
            </a:r>
          </a:p>
          <a:p>
            <a:pPr marL="508000" lvl="1" indent="0">
              <a:buNone/>
            </a:pPr>
            <a:r>
              <a:rPr lang="en-CA" b="1" dirty="0"/>
              <a:t>3.</a:t>
            </a:r>
            <a:r>
              <a:rPr lang="en-CA" dirty="0"/>
              <a:t> Right-click the Closed state and select Set as Layer Default State.</a:t>
            </a:r>
          </a:p>
          <a:p>
            <a:endParaRPr lang="en-US" dirty="0"/>
          </a:p>
        </p:txBody>
      </p:sp>
    </p:spTree>
    <p:extLst>
      <p:ext uri="{BB962C8B-B14F-4D97-AF65-F5344CB8AC3E}">
        <p14:creationId xmlns:p14="http://schemas.microsoft.com/office/powerpoint/2010/main" val="257618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E1F02-EC4A-0E54-F462-CB47C61A1AF9}"/>
              </a:ext>
            </a:extLst>
          </p:cNvPr>
          <p:cNvSpPr>
            <a:spLocks noGrp="1"/>
          </p:cNvSpPr>
          <p:nvPr>
            <p:ph type="title"/>
          </p:nvPr>
        </p:nvSpPr>
        <p:spPr/>
        <p:txBody>
          <a:bodyPr/>
          <a:lstStyle/>
          <a:p>
            <a:r>
              <a:rPr lang="en-US" dirty="0"/>
              <a:t>Open the door</a:t>
            </a:r>
          </a:p>
        </p:txBody>
      </p:sp>
      <p:pic>
        <p:nvPicPr>
          <p:cNvPr id="6" name="Content Placeholder 5">
            <a:extLst>
              <a:ext uri="{FF2B5EF4-FFF2-40B4-BE49-F238E27FC236}">
                <a16:creationId xmlns:a16="http://schemas.microsoft.com/office/drawing/2014/main" id="{36E50893-48D8-A669-8781-87C4955C8E52}"/>
              </a:ext>
            </a:extLst>
          </p:cNvPr>
          <p:cNvPicPr>
            <a:picLocks noGrp="1" noChangeAspect="1"/>
          </p:cNvPicPr>
          <p:nvPr>
            <p:ph sz="half" idx="2"/>
          </p:nvPr>
        </p:nvPicPr>
        <p:blipFill>
          <a:blip r:embed="rId2"/>
          <a:stretch>
            <a:fillRect/>
          </a:stretch>
        </p:blipFill>
        <p:spPr>
          <a:xfrm>
            <a:off x="6197600" y="1866126"/>
            <a:ext cx="5384800" cy="3994111"/>
          </a:xfrm>
          <a:prstGeom prst="rect">
            <a:avLst/>
          </a:prstGeom>
        </p:spPr>
      </p:pic>
      <p:sp>
        <p:nvSpPr>
          <p:cNvPr id="4" name="Content Placeholder 3">
            <a:extLst>
              <a:ext uri="{FF2B5EF4-FFF2-40B4-BE49-F238E27FC236}">
                <a16:creationId xmlns:a16="http://schemas.microsoft.com/office/drawing/2014/main" id="{1ADBA1F4-E720-337F-321E-322196BC4FDD}"/>
              </a:ext>
            </a:extLst>
          </p:cNvPr>
          <p:cNvSpPr>
            <a:spLocks noGrp="1"/>
          </p:cNvSpPr>
          <p:nvPr>
            <p:ph sz="quarter" idx="13"/>
          </p:nvPr>
        </p:nvSpPr>
        <p:spPr/>
        <p:txBody>
          <a:bodyPr>
            <a:normAutofit fontScale="92500" lnSpcReduction="20000"/>
          </a:bodyPr>
          <a:lstStyle/>
          <a:p>
            <a:r>
              <a:rPr lang="en-CA" dirty="0"/>
              <a:t>The Animation Controller will run through the Closed node once. When finished, it will immediately transition to the </a:t>
            </a:r>
            <a:r>
              <a:rPr lang="en-CA" dirty="0" err="1"/>
              <a:t>Door_Open</a:t>
            </a:r>
            <a:r>
              <a:rPr lang="en-CA" dirty="0"/>
              <a:t> animation, then sit idle at the end of the animation.</a:t>
            </a:r>
          </a:p>
          <a:p>
            <a:r>
              <a:rPr lang="en-CA" dirty="0"/>
              <a:t> In order to prevent one node immediately transitioning into another, some kind of logic gate must be placed on the transition.</a:t>
            </a:r>
          </a:p>
          <a:p>
            <a:r>
              <a:rPr lang="en-CA" dirty="0"/>
              <a:t> This is what the script you’ll use will check for in the final version. This will be accomplished through the use of </a:t>
            </a:r>
            <a:r>
              <a:rPr lang="en-CA" b="1" dirty="0"/>
              <a:t>Parameters</a:t>
            </a:r>
            <a:r>
              <a:rPr lang="en-CA" dirty="0"/>
              <a:t>.</a:t>
            </a:r>
            <a:endParaRPr lang="en-US" dirty="0"/>
          </a:p>
        </p:txBody>
      </p:sp>
    </p:spTree>
    <p:extLst>
      <p:ext uri="{BB962C8B-B14F-4D97-AF65-F5344CB8AC3E}">
        <p14:creationId xmlns:p14="http://schemas.microsoft.com/office/powerpoint/2010/main" val="1171441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8E94A-59E4-C931-DDBC-F2CDD9D0E3A5}"/>
              </a:ext>
            </a:extLst>
          </p:cNvPr>
          <p:cNvSpPr>
            <a:spLocks noGrp="1"/>
          </p:cNvSpPr>
          <p:nvPr>
            <p:ph type="title"/>
          </p:nvPr>
        </p:nvSpPr>
        <p:spPr/>
        <p:txBody>
          <a:bodyPr/>
          <a:lstStyle/>
          <a:p>
            <a:r>
              <a:rPr lang="en-US" dirty="0"/>
              <a:t>Parameters</a:t>
            </a:r>
          </a:p>
        </p:txBody>
      </p:sp>
      <p:pic>
        <p:nvPicPr>
          <p:cNvPr id="5" name="Content Placeholder 4">
            <a:extLst>
              <a:ext uri="{FF2B5EF4-FFF2-40B4-BE49-F238E27FC236}">
                <a16:creationId xmlns:a16="http://schemas.microsoft.com/office/drawing/2014/main" id="{FEC8AE89-A226-E2B0-1802-BEBA1E4F7010}"/>
              </a:ext>
            </a:extLst>
          </p:cNvPr>
          <p:cNvPicPr>
            <a:picLocks noGrp="1" noChangeAspect="1"/>
          </p:cNvPicPr>
          <p:nvPr>
            <p:ph sz="half" idx="2"/>
          </p:nvPr>
        </p:nvPicPr>
        <p:blipFill>
          <a:blip r:embed="rId2"/>
          <a:stretch>
            <a:fillRect/>
          </a:stretch>
        </p:blipFill>
        <p:spPr>
          <a:xfrm>
            <a:off x="6315458" y="1535096"/>
            <a:ext cx="3619500" cy="2705100"/>
          </a:xfrm>
          <a:prstGeom prst="rect">
            <a:avLst/>
          </a:prstGeom>
        </p:spPr>
      </p:pic>
      <p:sp>
        <p:nvSpPr>
          <p:cNvPr id="4" name="Content Placeholder 3">
            <a:extLst>
              <a:ext uri="{FF2B5EF4-FFF2-40B4-BE49-F238E27FC236}">
                <a16:creationId xmlns:a16="http://schemas.microsoft.com/office/drawing/2014/main" id="{6646B365-0C19-400B-226F-D1C3F7E79996}"/>
              </a:ext>
            </a:extLst>
          </p:cNvPr>
          <p:cNvSpPr>
            <a:spLocks noGrp="1"/>
          </p:cNvSpPr>
          <p:nvPr>
            <p:ph sz="quarter" idx="13"/>
          </p:nvPr>
        </p:nvSpPr>
        <p:spPr>
          <a:xfrm>
            <a:off x="487680" y="1600200"/>
            <a:ext cx="3474720" cy="4526280"/>
          </a:xfrm>
        </p:spPr>
        <p:txBody>
          <a:bodyPr>
            <a:normAutofit fontScale="40000" lnSpcReduction="20000"/>
          </a:bodyPr>
          <a:lstStyle/>
          <a:p>
            <a:r>
              <a:rPr lang="en-CA" dirty="0"/>
              <a:t>Parameters are variables that are created directly within the Animator, and can be found on the Parameters tab on the left side of the Animator editor.</a:t>
            </a:r>
          </a:p>
          <a:p>
            <a:r>
              <a:rPr lang="en-CA" dirty="0"/>
              <a:t>Select the Parameters tab to access the currently empty Parameter list.</a:t>
            </a:r>
          </a:p>
          <a:p>
            <a:r>
              <a:rPr lang="en-CA" dirty="0"/>
              <a:t>At the top of the Parameters list, click the </a:t>
            </a:r>
            <a:r>
              <a:rPr lang="en-CA" b="1" dirty="0"/>
              <a:t>+</a:t>
            </a:r>
            <a:r>
              <a:rPr lang="en-CA" dirty="0"/>
              <a:t> and select Trigger.</a:t>
            </a:r>
          </a:p>
          <a:p>
            <a:r>
              <a:rPr lang="en-CA" dirty="0"/>
              <a:t>A Trigger Parameter will immediately transition as soon as it’s called via script.</a:t>
            </a:r>
          </a:p>
          <a:p>
            <a:r>
              <a:rPr lang="en-CA" dirty="0"/>
              <a:t>Name the Trigger </a:t>
            </a:r>
            <a:r>
              <a:rPr lang="en-CA" dirty="0" err="1"/>
              <a:t>PlayerProximity</a:t>
            </a:r>
            <a:r>
              <a:rPr lang="en-CA" dirty="0"/>
              <a:t>, taking care to spell and case it exactly as written here. It will be referenced in the script later.</a:t>
            </a:r>
          </a:p>
          <a:p>
            <a:r>
              <a:rPr lang="en-CA" dirty="0"/>
              <a:t>Select the Transition between Closed and </a:t>
            </a:r>
            <a:r>
              <a:rPr lang="en-CA" dirty="0" err="1"/>
              <a:t>Door_Open</a:t>
            </a:r>
            <a:r>
              <a:rPr lang="en-CA" dirty="0"/>
              <a:t> by clicking on the white arrow. In the Inspector, locate the Conditions section.</a:t>
            </a:r>
          </a:p>
          <a:p>
            <a:r>
              <a:rPr lang="en-CA" dirty="0"/>
              <a:t>Select the </a:t>
            </a:r>
            <a:r>
              <a:rPr lang="en-CA" b="1" dirty="0"/>
              <a:t>+</a:t>
            </a:r>
            <a:r>
              <a:rPr lang="en-CA" dirty="0"/>
              <a:t> at the bottom of the Conditions list. Since it’s the only parameter, </a:t>
            </a:r>
            <a:r>
              <a:rPr lang="en-CA" dirty="0" err="1"/>
              <a:t>PlayerProximity</a:t>
            </a:r>
            <a:r>
              <a:rPr lang="en-CA" dirty="0"/>
              <a:t> will auto populate in the list.</a:t>
            </a:r>
          </a:p>
          <a:p>
            <a:r>
              <a:rPr lang="en-CA" dirty="0"/>
              <a:t>Play the scene.</a:t>
            </a:r>
          </a:p>
          <a:p>
            <a:r>
              <a:rPr lang="en-CA" dirty="0"/>
              <a:t>Select the </a:t>
            </a:r>
            <a:r>
              <a:rPr lang="en-CA" b="1" dirty="0"/>
              <a:t>radio</a:t>
            </a:r>
            <a:r>
              <a:rPr lang="en-CA" dirty="0"/>
              <a:t> button next to </a:t>
            </a:r>
            <a:r>
              <a:rPr lang="en-CA" dirty="0" err="1"/>
              <a:t>PlayerProximity</a:t>
            </a:r>
            <a:r>
              <a:rPr lang="en-CA" dirty="0"/>
              <a:t> in the parameters list to trigger it</a:t>
            </a:r>
          </a:p>
          <a:p>
            <a:endParaRPr lang="en-CA" dirty="0"/>
          </a:p>
          <a:p>
            <a:endParaRPr lang="en-US" dirty="0"/>
          </a:p>
        </p:txBody>
      </p:sp>
      <p:pic>
        <p:nvPicPr>
          <p:cNvPr id="8" name="Picture 7">
            <a:extLst>
              <a:ext uri="{FF2B5EF4-FFF2-40B4-BE49-F238E27FC236}">
                <a16:creationId xmlns:a16="http://schemas.microsoft.com/office/drawing/2014/main" id="{0ABBD8D2-AD22-2BC8-F702-1DBA69545B91}"/>
              </a:ext>
            </a:extLst>
          </p:cNvPr>
          <p:cNvPicPr>
            <a:picLocks noChangeAspect="1"/>
          </p:cNvPicPr>
          <p:nvPr/>
        </p:nvPicPr>
        <p:blipFill>
          <a:blip r:embed="rId3"/>
          <a:stretch>
            <a:fillRect/>
          </a:stretch>
        </p:blipFill>
        <p:spPr>
          <a:xfrm>
            <a:off x="4044406" y="3291455"/>
            <a:ext cx="7772400" cy="3284570"/>
          </a:xfrm>
          <a:prstGeom prst="rect">
            <a:avLst/>
          </a:prstGeom>
        </p:spPr>
      </p:pic>
    </p:spTree>
    <p:extLst>
      <p:ext uri="{BB962C8B-B14F-4D97-AF65-F5344CB8AC3E}">
        <p14:creationId xmlns:p14="http://schemas.microsoft.com/office/powerpoint/2010/main" val="5182813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95608-4375-CFEE-4746-5EE133C426B9}"/>
              </a:ext>
            </a:extLst>
          </p:cNvPr>
          <p:cNvSpPr>
            <a:spLocks noGrp="1"/>
          </p:cNvSpPr>
          <p:nvPr>
            <p:ph type="title"/>
          </p:nvPr>
        </p:nvSpPr>
        <p:spPr/>
        <p:txBody>
          <a:bodyPr/>
          <a:lstStyle/>
          <a:p>
            <a:r>
              <a:rPr lang="en-US" dirty="0"/>
              <a:t>Close the door</a:t>
            </a:r>
          </a:p>
        </p:txBody>
      </p:sp>
      <p:pic>
        <p:nvPicPr>
          <p:cNvPr id="5" name="Content Placeholder 4">
            <a:extLst>
              <a:ext uri="{FF2B5EF4-FFF2-40B4-BE49-F238E27FC236}">
                <a16:creationId xmlns:a16="http://schemas.microsoft.com/office/drawing/2014/main" id="{991DF913-31F3-EE04-CE65-E462B034B027}"/>
              </a:ext>
            </a:extLst>
          </p:cNvPr>
          <p:cNvPicPr>
            <a:picLocks noGrp="1" noChangeAspect="1"/>
          </p:cNvPicPr>
          <p:nvPr>
            <p:ph sz="half" idx="2"/>
          </p:nvPr>
        </p:nvPicPr>
        <p:blipFill>
          <a:blip r:embed="rId2"/>
          <a:stretch>
            <a:fillRect/>
          </a:stretch>
        </p:blipFill>
        <p:spPr>
          <a:xfrm>
            <a:off x="6197600" y="2725389"/>
            <a:ext cx="5384800" cy="2275584"/>
          </a:xfrm>
          <a:prstGeom prst="rect">
            <a:avLst/>
          </a:prstGeom>
        </p:spPr>
      </p:pic>
      <p:sp>
        <p:nvSpPr>
          <p:cNvPr id="4" name="Content Placeholder 3">
            <a:extLst>
              <a:ext uri="{FF2B5EF4-FFF2-40B4-BE49-F238E27FC236}">
                <a16:creationId xmlns:a16="http://schemas.microsoft.com/office/drawing/2014/main" id="{509CE9D3-0525-643D-D9A6-6BBECCAA711E}"/>
              </a:ext>
            </a:extLst>
          </p:cNvPr>
          <p:cNvSpPr>
            <a:spLocks noGrp="1"/>
          </p:cNvSpPr>
          <p:nvPr>
            <p:ph sz="quarter" idx="13"/>
          </p:nvPr>
        </p:nvSpPr>
        <p:spPr/>
        <p:txBody>
          <a:bodyPr>
            <a:normAutofit fontScale="70000" lnSpcReduction="20000"/>
          </a:bodyPr>
          <a:lstStyle/>
          <a:p>
            <a:r>
              <a:rPr lang="en-CA" dirty="0"/>
              <a:t>Select the </a:t>
            </a:r>
            <a:r>
              <a:rPr lang="en-CA" dirty="0" err="1"/>
              <a:t>Door_Open</a:t>
            </a:r>
            <a:r>
              <a:rPr lang="en-CA" dirty="0"/>
              <a:t> node in the Animator and press </a:t>
            </a:r>
            <a:r>
              <a:rPr lang="en-CA" b="1" dirty="0"/>
              <a:t>Ctrl</a:t>
            </a:r>
            <a:r>
              <a:rPr lang="en-CA" dirty="0"/>
              <a:t>/</a:t>
            </a:r>
            <a:r>
              <a:rPr lang="en-CA" b="1" dirty="0" err="1"/>
              <a:t>Cmd</a:t>
            </a:r>
            <a:r>
              <a:rPr lang="en-CA" dirty="0" err="1"/>
              <a:t>+</a:t>
            </a:r>
            <a:r>
              <a:rPr lang="en-CA" b="1" dirty="0" err="1"/>
              <a:t>D</a:t>
            </a:r>
            <a:r>
              <a:rPr lang="en-CA" dirty="0"/>
              <a:t> on the keyboard to duplicate it.</a:t>
            </a:r>
          </a:p>
          <a:p>
            <a:r>
              <a:rPr lang="en-CA" dirty="0"/>
              <a:t>In the Inspector, rename the new node to </a:t>
            </a:r>
            <a:r>
              <a:rPr lang="en-CA" dirty="0" err="1"/>
              <a:t>Door_Close</a:t>
            </a:r>
            <a:endParaRPr lang="en-CA" dirty="0"/>
          </a:p>
          <a:p>
            <a:r>
              <a:rPr lang="en-CA" dirty="0"/>
              <a:t>Still in the Inspector, locate the Speed parameter and set it to -1. This will reverse the animation.</a:t>
            </a:r>
          </a:p>
          <a:p>
            <a:r>
              <a:rPr lang="en-CA" dirty="0"/>
              <a:t>Right-click the </a:t>
            </a:r>
            <a:r>
              <a:rPr lang="en-CA" dirty="0" err="1"/>
              <a:t>Door_Open</a:t>
            </a:r>
            <a:r>
              <a:rPr lang="en-CA" dirty="0"/>
              <a:t> node and select Make Transition.</a:t>
            </a:r>
          </a:p>
          <a:p>
            <a:r>
              <a:rPr lang="en-CA" dirty="0"/>
              <a:t>Select the </a:t>
            </a:r>
            <a:r>
              <a:rPr lang="en-CA" dirty="0" err="1"/>
              <a:t>Door_Close</a:t>
            </a:r>
            <a:r>
              <a:rPr lang="en-CA" dirty="0"/>
              <a:t> node to connect the Transition between the two nodes.</a:t>
            </a:r>
          </a:p>
          <a:p>
            <a:r>
              <a:rPr lang="en-CA" dirty="0"/>
              <a:t>Select the new Transition and in the Inspector, click the </a:t>
            </a:r>
            <a:r>
              <a:rPr lang="en-CA" b="1" dirty="0"/>
              <a:t>+</a:t>
            </a:r>
            <a:r>
              <a:rPr lang="en-CA" dirty="0"/>
              <a:t> button in the Conditions list. </a:t>
            </a:r>
            <a:r>
              <a:rPr lang="en-CA" dirty="0" err="1"/>
              <a:t>PlayerProximity</a:t>
            </a:r>
            <a:r>
              <a:rPr lang="en-CA" dirty="0"/>
              <a:t> will auto populate.</a:t>
            </a:r>
          </a:p>
          <a:p>
            <a:endParaRPr lang="en-US" dirty="0"/>
          </a:p>
        </p:txBody>
      </p:sp>
    </p:spTree>
    <p:extLst>
      <p:ext uri="{BB962C8B-B14F-4D97-AF65-F5344CB8AC3E}">
        <p14:creationId xmlns:p14="http://schemas.microsoft.com/office/powerpoint/2010/main" val="3016802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45EF3-0557-00B7-B880-8514E5339229}"/>
              </a:ext>
            </a:extLst>
          </p:cNvPr>
          <p:cNvSpPr>
            <a:spLocks noGrp="1"/>
          </p:cNvSpPr>
          <p:nvPr>
            <p:ph type="title"/>
          </p:nvPr>
        </p:nvSpPr>
        <p:spPr/>
        <p:txBody>
          <a:bodyPr>
            <a:normAutofit/>
          </a:bodyPr>
          <a:lstStyle/>
          <a:p>
            <a:r>
              <a:rPr lang="en-CA" b="1" dirty="0"/>
              <a:t>Reset the State Machine</a:t>
            </a:r>
            <a:endParaRPr lang="en-US" dirty="0"/>
          </a:p>
        </p:txBody>
      </p:sp>
      <p:sp>
        <p:nvSpPr>
          <p:cNvPr id="3" name="Content Placeholder 2">
            <a:extLst>
              <a:ext uri="{FF2B5EF4-FFF2-40B4-BE49-F238E27FC236}">
                <a16:creationId xmlns:a16="http://schemas.microsoft.com/office/drawing/2014/main" id="{5806C56F-D040-C524-CBA0-6F76DDB51B4F}"/>
              </a:ext>
            </a:extLst>
          </p:cNvPr>
          <p:cNvSpPr>
            <a:spLocks noGrp="1"/>
          </p:cNvSpPr>
          <p:nvPr>
            <p:ph sz="half" idx="2"/>
          </p:nvPr>
        </p:nvSpPr>
        <p:spPr/>
        <p:txBody>
          <a:bodyPr>
            <a:normAutofit fontScale="85000" lnSpcReduction="20000"/>
          </a:bodyPr>
          <a:lstStyle/>
          <a:p>
            <a:r>
              <a:rPr lang="en-CA" dirty="0"/>
              <a:t>Now when you press </a:t>
            </a:r>
            <a:r>
              <a:rPr lang="en-CA" dirty="0" err="1"/>
              <a:t>PlayerProximity</a:t>
            </a:r>
            <a:r>
              <a:rPr lang="en-CA" dirty="0"/>
              <a:t> to close the door, the </a:t>
            </a:r>
            <a:r>
              <a:rPr lang="en-CA" dirty="0" err="1"/>
              <a:t>Door_Close</a:t>
            </a:r>
            <a:r>
              <a:rPr lang="en-CA" dirty="0"/>
              <a:t> animation will play and automatically transition to Exit, and will loop back to the Closed state! </a:t>
            </a:r>
          </a:p>
          <a:p>
            <a:r>
              <a:rPr lang="en-CA" dirty="0"/>
              <a:t>You may have noticed that sometimes there’s a slight delay between the time that you press </a:t>
            </a:r>
            <a:r>
              <a:rPr lang="en-CA" dirty="0" err="1"/>
              <a:t>PlayerProximity</a:t>
            </a:r>
            <a:r>
              <a:rPr lang="en-CA" dirty="0"/>
              <a:t> and when the door opens. </a:t>
            </a:r>
          </a:p>
          <a:p>
            <a:r>
              <a:rPr lang="en-CA" dirty="0"/>
              <a:t>This is because, by default, a state node will complete its active play time (represented by the progress bar) before making a transition. This can be disabled, making the transition to the </a:t>
            </a:r>
            <a:r>
              <a:rPr lang="en-CA" dirty="0" err="1"/>
              <a:t>Door_Open</a:t>
            </a:r>
            <a:r>
              <a:rPr lang="en-CA" dirty="0"/>
              <a:t> state immediate.</a:t>
            </a:r>
          </a:p>
          <a:p>
            <a:pPr marL="50800" indent="0">
              <a:buNone/>
            </a:pPr>
            <a:endParaRPr lang="en-CA" dirty="0"/>
          </a:p>
          <a:p>
            <a:pPr marL="508000" lvl="1" indent="0">
              <a:buNone/>
            </a:pPr>
            <a:r>
              <a:rPr lang="en-CA" b="1" dirty="0"/>
              <a:t>4.</a:t>
            </a:r>
            <a:r>
              <a:rPr lang="en-CA" dirty="0"/>
              <a:t> Select the transition between the Closed and </a:t>
            </a:r>
            <a:r>
              <a:rPr lang="en-CA" dirty="0" err="1"/>
              <a:t>Door_Open</a:t>
            </a:r>
            <a:r>
              <a:rPr lang="en-CA" dirty="0"/>
              <a:t> nodes.</a:t>
            </a:r>
          </a:p>
          <a:p>
            <a:pPr marL="508000" lvl="1" indent="0">
              <a:buNone/>
            </a:pPr>
            <a:r>
              <a:rPr lang="en-CA" b="1" dirty="0"/>
              <a:t>5.</a:t>
            </a:r>
            <a:r>
              <a:rPr lang="en-CA" dirty="0"/>
              <a:t> In the Inspector, disable Has Exit Time.</a:t>
            </a:r>
          </a:p>
          <a:p>
            <a:endParaRPr lang="en-US" dirty="0"/>
          </a:p>
        </p:txBody>
      </p:sp>
      <p:sp>
        <p:nvSpPr>
          <p:cNvPr id="4" name="Content Placeholder 3">
            <a:extLst>
              <a:ext uri="{FF2B5EF4-FFF2-40B4-BE49-F238E27FC236}">
                <a16:creationId xmlns:a16="http://schemas.microsoft.com/office/drawing/2014/main" id="{D40027D2-93C8-C6E7-1A1A-79CC338CE406}"/>
              </a:ext>
            </a:extLst>
          </p:cNvPr>
          <p:cNvSpPr>
            <a:spLocks noGrp="1"/>
          </p:cNvSpPr>
          <p:nvPr>
            <p:ph sz="quarter" idx="13"/>
          </p:nvPr>
        </p:nvSpPr>
        <p:spPr/>
        <p:txBody>
          <a:bodyPr>
            <a:normAutofit fontScale="62500" lnSpcReduction="20000"/>
          </a:bodyPr>
          <a:lstStyle/>
          <a:p>
            <a:r>
              <a:rPr lang="en-CA" dirty="0"/>
              <a:t>The progression through the various door states is now complete; however, as it is right now, the door can only be interacted with once. </a:t>
            </a:r>
          </a:p>
          <a:p>
            <a:r>
              <a:rPr lang="en-CA" dirty="0"/>
              <a:t>In order to reuse the door infinitely, the State Machine must be reset back to its original state once the door close animation is complete. </a:t>
            </a:r>
          </a:p>
          <a:p>
            <a:r>
              <a:rPr lang="en-CA" dirty="0"/>
              <a:t>You’ll be able to accomplish this by making use of the </a:t>
            </a:r>
            <a:r>
              <a:rPr lang="en-CA" b="1" dirty="0"/>
              <a:t>Exit node</a:t>
            </a:r>
            <a:r>
              <a:rPr lang="en-CA" dirty="0"/>
              <a:t>. </a:t>
            </a:r>
          </a:p>
          <a:p>
            <a:r>
              <a:rPr lang="en-CA" dirty="0"/>
              <a:t>When transitioned to, the Exit node will automatically transition to the Entry node, which pushes back to the default state. This will allow you to restart the Door’s State Machine infinitely.</a:t>
            </a:r>
          </a:p>
          <a:p>
            <a:pPr marL="50800" indent="0">
              <a:buNone/>
            </a:pPr>
            <a:endParaRPr lang="en-CA" dirty="0"/>
          </a:p>
          <a:p>
            <a:pPr marL="508000" lvl="1" indent="0">
              <a:buNone/>
            </a:pPr>
            <a:r>
              <a:rPr lang="en-CA" b="1" dirty="0"/>
              <a:t>1.</a:t>
            </a:r>
            <a:r>
              <a:rPr lang="en-CA" dirty="0"/>
              <a:t> Right-click the </a:t>
            </a:r>
            <a:r>
              <a:rPr lang="en-CA" dirty="0" err="1"/>
              <a:t>Door_Close</a:t>
            </a:r>
            <a:r>
              <a:rPr lang="en-CA" dirty="0"/>
              <a:t> node and select Make Transition.</a:t>
            </a:r>
          </a:p>
          <a:p>
            <a:pPr marL="508000" lvl="1" indent="0">
              <a:buNone/>
            </a:pPr>
            <a:r>
              <a:rPr lang="en-CA" b="1" dirty="0"/>
              <a:t>2.</a:t>
            </a:r>
            <a:r>
              <a:rPr lang="en-CA" dirty="0"/>
              <a:t> Click the Exit node to connect the transition between the two nodes.</a:t>
            </a:r>
          </a:p>
          <a:p>
            <a:pPr marL="508000" lvl="1" indent="0">
              <a:buNone/>
            </a:pPr>
            <a:r>
              <a:rPr lang="en-CA" b="1" dirty="0"/>
              <a:t>3.</a:t>
            </a:r>
            <a:r>
              <a:rPr lang="en-CA" dirty="0"/>
              <a:t> Playtest the scene.</a:t>
            </a:r>
          </a:p>
          <a:p>
            <a:endParaRPr lang="en-US" dirty="0"/>
          </a:p>
        </p:txBody>
      </p:sp>
    </p:spTree>
    <p:extLst>
      <p:ext uri="{BB962C8B-B14F-4D97-AF65-F5344CB8AC3E}">
        <p14:creationId xmlns:p14="http://schemas.microsoft.com/office/powerpoint/2010/main" val="2431839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36FB-323E-B7F0-718A-424F62C620B5}"/>
              </a:ext>
            </a:extLst>
          </p:cNvPr>
          <p:cNvSpPr>
            <a:spLocks noGrp="1"/>
          </p:cNvSpPr>
          <p:nvPr>
            <p:ph type="title"/>
          </p:nvPr>
        </p:nvSpPr>
        <p:spPr/>
        <p:txBody>
          <a:bodyPr/>
          <a:lstStyle/>
          <a:p>
            <a:r>
              <a:rPr lang="en-CA" b="1" dirty="0"/>
              <a:t>Create the proximity trigger</a:t>
            </a:r>
            <a:r>
              <a:rPr lang="en-CA" dirty="0"/>
              <a:t> </a:t>
            </a:r>
            <a:endParaRPr lang="en-US" dirty="0"/>
          </a:p>
        </p:txBody>
      </p:sp>
      <p:pic>
        <p:nvPicPr>
          <p:cNvPr id="5" name="Content Placeholder 4">
            <a:extLst>
              <a:ext uri="{FF2B5EF4-FFF2-40B4-BE49-F238E27FC236}">
                <a16:creationId xmlns:a16="http://schemas.microsoft.com/office/drawing/2014/main" id="{4CED2170-E737-D7AA-5DCF-26BA6516D6FB}"/>
              </a:ext>
            </a:extLst>
          </p:cNvPr>
          <p:cNvPicPr>
            <a:picLocks noGrp="1" noChangeAspect="1"/>
          </p:cNvPicPr>
          <p:nvPr>
            <p:ph sz="half" idx="2"/>
          </p:nvPr>
        </p:nvPicPr>
        <p:blipFill>
          <a:blip r:embed="rId2"/>
          <a:stretch>
            <a:fillRect/>
          </a:stretch>
        </p:blipFill>
        <p:spPr>
          <a:xfrm>
            <a:off x="6197600" y="2725389"/>
            <a:ext cx="5384800" cy="2275584"/>
          </a:xfrm>
          <a:prstGeom prst="rect">
            <a:avLst/>
          </a:prstGeom>
        </p:spPr>
      </p:pic>
      <p:sp>
        <p:nvSpPr>
          <p:cNvPr id="4" name="Content Placeholder 3">
            <a:extLst>
              <a:ext uri="{FF2B5EF4-FFF2-40B4-BE49-F238E27FC236}">
                <a16:creationId xmlns:a16="http://schemas.microsoft.com/office/drawing/2014/main" id="{FAA0331F-58BB-C6BE-E460-0B5F04A859B4}"/>
              </a:ext>
            </a:extLst>
          </p:cNvPr>
          <p:cNvSpPr>
            <a:spLocks noGrp="1"/>
          </p:cNvSpPr>
          <p:nvPr>
            <p:ph sz="quarter" idx="13"/>
          </p:nvPr>
        </p:nvSpPr>
        <p:spPr/>
        <p:txBody>
          <a:bodyPr>
            <a:normAutofit fontScale="55000" lnSpcReduction="20000"/>
          </a:bodyPr>
          <a:lstStyle/>
          <a:p>
            <a:pPr marL="50800" indent="0">
              <a:buNone/>
            </a:pPr>
            <a:r>
              <a:rPr lang="en-CA" b="1" dirty="0"/>
              <a:t>1.</a:t>
            </a:r>
            <a:r>
              <a:rPr lang="en-CA" dirty="0"/>
              <a:t> In the Hierarchy right-click and select Create Empty.</a:t>
            </a:r>
          </a:p>
          <a:p>
            <a:pPr marL="50800" indent="0">
              <a:buNone/>
            </a:pPr>
            <a:r>
              <a:rPr lang="en-CA" b="1" dirty="0"/>
              <a:t>2.</a:t>
            </a:r>
            <a:r>
              <a:rPr lang="en-CA" dirty="0"/>
              <a:t> Rename the Empty </a:t>
            </a:r>
            <a:r>
              <a:rPr lang="en-CA" dirty="0" err="1"/>
              <a:t>GameObject</a:t>
            </a:r>
            <a:r>
              <a:rPr lang="en-CA" dirty="0"/>
              <a:t> to Door Trigger.</a:t>
            </a:r>
          </a:p>
          <a:p>
            <a:pPr marL="50800" indent="0">
              <a:buNone/>
            </a:pPr>
            <a:r>
              <a:rPr lang="en-CA" b="1" dirty="0"/>
              <a:t>3.</a:t>
            </a:r>
            <a:r>
              <a:rPr lang="en-CA" dirty="0"/>
              <a:t> With Door Trigger selected, click the </a:t>
            </a:r>
            <a:r>
              <a:rPr lang="en-CA" b="1" dirty="0"/>
              <a:t>Add Component</a:t>
            </a:r>
            <a:r>
              <a:rPr lang="en-CA" dirty="0"/>
              <a:t> button in the Inspector and search for Box Collider and add it.</a:t>
            </a:r>
          </a:p>
          <a:p>
            <a:pPr marL="50800" indent="0">
              <a:buNone/>
            </a:pPr>
            <a:r>
              <a:rPr lang="en-CA" b="1" dirty="0"/>
              <a:t>4.</a:t>
            </a:r>
            <a:r>
              <a:rPr lang="en-CA" dirty="0"/>
              <a:t> In the Box Collider component, enable</a:t>
            </a:r>
            <a:r>
              <a:rPr lang="en-CA" b="1" dirty="0"/>
              <a:t> Is Trigger</a:t>
            </a:r>
            <a:r>
              <a:rPr lang="en-CA" dirty="0"/>
              <a:t>. This will change the Box Collider to a Trigger.</a:t>
            </a:r>
          </a:p>
          <a:p>
            <a:pPr marL="50800" indent="0">
              <a:buNone/>
            </a:pPr>
            <a:r>
              <a:rPr lang="en-CA" b="1" dirty="0"/>
              <a:t>5.</a:t>
            </a:r>
            <a:r>
              <a:rPr lang="en-CA" dirty="0"/>
              <a:t> Increase the Box Collider size to 3 in the Z axis.</a:t>
            </a:r>
          </a:p>
          <a:p>
            <a:pPr marL="50800" indent="0">
              <a:buNone/>
            </a:pPr>
            <a:r>
              <a:rPr lang="en-CA" b="1" dirty="0"/>
              <a:t>6. </a:t>
            </a:r>
            <a:r>
              <a:rPr lang="en-CA" dirty="0"/>
              <a:t>Arrange the Door Trigger so that it overlaps the door mesh, with half of the trigger arranged on either side of the door. This will create a good-sized zone for the player controller to enter to trigger the door to open.</a:t>
            </a:r>
          </a:p>
          <a:p>
            <a:pPr marL="50800" indent="0">
              <a:buNone/>
            </a:pPr>
            <a:r>
              <a:rPr lang="en-CA" b="1" dirty="0"/>
              <a:t>7. </a:t>
            </a:r>
            <a:r>
              <a:rPr lang="en-CA" dirty="0"/>
              <a:t>Locate the </a:t>
            </a:r>
            <a:r>
              <a:rPr lang="en-CA" dirty="0" err="1"/>
              <a:t>DoorTrigger</a:t>
            </a:r>
            <a:r>
              <a:rPr lang="en-CA" dirty="0"/>
              <a:t> script in the Project Script’s folder, and add it to the Door Trigger </a:t>
            </a:r>
            <a:r>
              <a:rPr lang="en-CA" dirty="0" err="1"/>
              <a:t>GameObject</a:t>
            </a:r>
            <a:r>
              <a:rPr lang="en-CA" dirty="0"/>
              <a:t>.</a:t>
            </a:r>
          </a:p>
          <a:p>
            <a:pPr marL="50800" indent="0">
              <a:buNone/>
            </a:pPr>
            <a:r>
              <a:rPr lang="en-CA" b="1" dirty="0"/>
              <a:t>8.</a:t>
            </a:r>
            <a:r>
              <a:rPr lang="en-CA" dirty="0"/>
              <a:t> Drag the Door </a:t>
            </a:r>
            <a:r>
              <a:rPr lang="en-CA" dirty="0" err="1"/>
              <a:t>GameObject</a:t>
            </a:r>
            <a:r>
              <a:rPr lang="en-CA" dirty="0"/>
              <a:t> into the Anim parameter of the </a:t>
            </a:r>
            <a:r>
              <a:rPr lang="en-CA" dirty="0" err="1"/>
              <a:t>DoorTrigger</a:t>
            </a:r>
            <a:r>
              <a:rPr lang="en-CA" dirty="0"/>
              <a:t> script. This will automatically assign the Door’s animator to the parameter.</a:t>
            </a:r>
          </a:p>
          <a:p>
            <a:endParaRPr lang="en-US" dirty="0"/>
          </a:p>
        </p:txBody>
      </p:sp>
    </p:spTree>
    <p:extLst>
      <p:ext uri="{BB962C8B-B14F-4D97-AF65-F5344CB8AC3E}">
        <p14:creationId xmlns:p14="http://schemas.microsoft.com/office/powerpoint/2010/main" val="830743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978400-5888-FFCD-6B5F-C8CB01F15869}"/>
              </a:ext>
            </a:extLst>
          </p:cNvPr>
          <p:cNvSpPr>
            <a:spLocks noGrp="1"/>
          </p:cNvSpPr>
          <p:nvPr>
            <p:ph type="title"/>
          </p:nvPr>
        </p:nvSpPr>
        <p:spPr/>
        <p:txBody>
          <a:bodyPr/>
          <a:lstStyle/>
          <a:p>
            <a:r>
              <a:rPr lang="en-US" dirty="0" err="1"/>
              <a:t>DoorTrigger</a:t>
            </a:r>
            <a:r>
              <a:rPr lang="en-US" dirty="0"/>
              <a:t> Script</a:t>
            </a:r>
          </a:p>
        </p:txBody>
      </p:sp>
      <p:sp>
        <p:nvSpPr>
          <p:cNvPr id="6" name="Content Placeholder 5">
            <a:extLst>
              <a:ext uri="{FF2B5EF4-FFF2-40B4-BE49-F238E27FC236}">
                <a16:creationId xmlns:a16="http://schemas.microsoft.com/office/drawing/2014/main" id="{6C20C1C5-6613-EF30-9CFA-12E41E7877D0}"/>
              </a:ext>
            </a:extLst>
          </p:cNvPr>
          <p:cNvSpPr>
            <a:spLocks noGrp="1"/>
          </p:cNvSpPr>
          <p:nvPr>
            <p:ph idx="1"/>
          </p:nvPr>
        </p:nvSpPr>
        <p:spPr/>
        <p:txBody>
          <a:bodyPr>
            <a:normAutofit fontScale="25000" lnSpcReduction="20000"/>
          </a:bodyPr>
          <a:lstStyle/>
          <a:p>
            <a:pPr marL="50800" indent="0">
              <a:buNone/>
            </a:pPr>
            <a:r>
              <a:rPr lang="en-CA" dirty="0"/>
              <a:t>using </a:t>
            </a:r>
            <a:r>
              <a:rPr lang="en-CA" dirty="0" err="1"/>
              <a:t>System.Collections</a:t>
            </a:r>
            <a:r>
              <a:rPr lang="en-CA" dirty="0"/>
              <a:t>;</a:t>
            </a:r>
          </a:p>
          <a:p>
            <a:pPr marL="50800" indent="0">
              <a:buNone/>
            </a:pPr>
            <a:r>
              <a:rPr lang="en-CA" dirty="0"/>
              <a:t>using </a:t>
            </a:r>
            <a:r>
              <a:rPr lang="en-CA" dirty="0" err="1"/>
              <a:t>System.Collections.Generic</a:t>
            </a:r>
            <a:r>
              <a:rPr lang="en-CA" dirty="0"/>
              <a:t>;</a:t>
            </a:r>
          </a:p>
          <a:p>
            <a:pPr marL="50800" indent="0">
              <a:buNone/>
            </a:pPr>
            <a:r>
              <a:rPr lang="en-CA" dirty="0"/>
              <a:t>using </a:t>
            </a:r>
            <a:r>
              <a:rPr lang="en-CA" dirty="0" err="1"/>
              <a:t>UnityEngine</a:t>
            </a:r>
            <a:r>
              <a:rPr lang="en-CA" dirty="0"/>
              <a:t>;</a:t>
            </a:r>
          </a:p>
          <a:p>
            <a:pPr marL="50800" indent="0">
              <a:buNone/>
            </a:pPr>
            <a:br>
              <a:rPr lang="en-CA" dirty="0"/>
            </a:br>
            <a:endParaRPr lang="en-CA" dirty="0"/>
          </a:p>
          <a:p>
            <a:pPr marL="50800" indent="0">
              <a:buNone/>
            </a:pPr>
            <a:r>
              <a:rPr lang="en-CA" dirty="0"/>
              <a:t>public class </a:t>
            </a:r>
            <a:r>
              <a:rPr lang="en-CA" dirty="0" err="1"/>
              <a:t>DoorTrigger</a:t>
            </a:r>
            <a:r>
              <a:rPr lang="en-CA" dirty="0"/>
              <a:t> : </a:t>
            </a:r>
            <a:r>
              <a:rPr lang="en-CA" dirty="0" err="1"/>
              <a:t>MonoBehaviour</a:t>
            </a:r>
            <a:endParaRPr lang="en-CA" dirty="0"/>
          </a:p>
          <a:p>
            <a:pPr marL="50800" indent="0">
              <a:buNone/>
            </a:pPr>
            <a:r>
              <a:rPr lang="en-CA" dirty="0"/>
              <a:t>{</a:t>
            </a:r>
          </a:p>
          <a:p>
            <a:pPr marL="50800" indent="0">
              <a:buNone/>
            </a:pPr>
            <a:r>
              <a:rPr lang="en-CA" dirty="0"/>
              <a:t>public Animator </a:t>
            </a:r>
            <a:r>
              <a:rPr lang="en-CA" dirty="0" err="1"/>
              <a:t>anim</a:t>
            </a:r>
            <a:r>
              <a:rPr lang="en-CA" dirty="0"/>
              <a:t>;</a:t>
            </a:r>
          </a:p>
          <a:p>
            <a:pPr marL="50800" indent="0">
              <a:buNone/>
            </a:pPr>
            <a:br>
              <a:rPr lang="en-CA" dirty="0"/>
            </a:br>
            <a:endParaRPr lang="en-CA" dirty="0"/>
          </a:p>
          <a:p>
            <a:pPr marL="50800" indent="0">
              <a:buNone/>
            </a:pPr>
            <a:r>
              <a:rPr lang="en-CA" dirty="0"/>
              <a:t>private void </a:t>
            </a:r>
            <a:r>
              <a:rPr lang="en-CA" dirty="0" err="1"/>
              <a:t>OnTriggerEnter</a:t>
            </a:r>
            <a:r>
              <a:rPr lang="en-CA" dirty="0"/>
              <a:t>(Collider other)</a:t>
            </a:r>
          </a:p>
          <a:p>
            <a:pPr marL="50800" indent="0">
              <a:buNone/>
            </a:pPr>
            <a:r>
              <a:rPr lang="en-CA" dirty="0"/>
              <a:t>{</a:t>
            </a:r>
          </a:p>
          <a:p>
            <a:pPr marL="50800" indent="0">
              <a:buNone/>
            </a:pPr>
            <a:r>
              <a:rPr lang="en-CA" dirty="0" err="1"/>
              <a:t>anim.SetTrigger</a:t>
            </a:r>
            <a:r>
              <a:rPr lang="en-CA" dirty="0"/>
              <a:t>("</a:t>
            </a:r>
            <a:r>
              <a:rPr lang="en-CA" dirty="0" err="1"/>
              <a:t>PlayerProximity</a:t>
            </a:r>
            <a:r>
              <a:rPr lang="en-CA" dirty="0"/>
              <a:t>");</a:t>
            </a:r>
          </a:p>
          <a:p>
            <a:pPr marL="50800" indent="0">
              <a:buNone/>
            </a:pPr>
            <a:r>
              <a:rPr lang="en-CA" dirty="0"/>
              <a:t>}</a:t>
            </a:r>
          </a:p>
          <a:p>
            <a:pPr marL="50800" indent="0">
              <a:buNone/>
            </a:pPr>
            <a:br>
              <a:rPr lang="en-CA" dirty="0"/>
            </a:br>
            <a:endParaRPr lang="en-CA" dirty="0"/>
          </a:p>
          <a:p>
            <a:pPr marL="50800" indent="0">
              <a:buNone/>
            </a:pPr>
            <a:r>
              <a:rPr lang="en-CA" dirty="0"/>
              <a:t>private void </a:t>
            </a:r>
            <a:r>
              <a:rPr lang="en-CA" dirty="0" err="1"/>
              <a:t>OnTriggerExit</a:t>
            </a:r>
            <a:r>
              <a:rPr lang="en-CA" dirty="0"/>
              <a:t>(Collider other)</a:t>
            </a:r>
          </a:p>
          <a:p>
            <a:pPr marL="50800" indent="0">
              <a:buNone/>
            </a:pPr>
            <a:r>
              <a:rPr lang="en-CA" dirty="0"/>
              <a:t>{</a:t>
            </a:r>
          </a:p>
          <a:p>
            <a:pPr marL="50800" indent="0">
              <a:buNone/>
            </a:pPr>
            <a:r>
              <a:rPr lang="en-CA" dirty="0" err="1"/>
              <a:t>anim.SetTrigger</a:t>
            </a:r>
            <a:r>
              <a:rPr lang="en-CA" dirty="0"/>
              <a:t>("</a:t>
            </a:r>
            <a:r>
              <a:rPr lang="en-CA" dirty="0" err="1"/>
              <a:t>PlayerProximity</a:t>
            </a:r>
            <a:r>
              <a:rPr lang="en-CA" dirty="0"/>
              <a:t>");</a:t>
            </a:r>
          </a:p>
          <a:p>
            <a:pPr marL="50800" indent="0">
              <a:buNone/>
            </a:pPr>
            <a:r>
              <a:rPr lang="en-CA" dirty="0"/>
              <a:t>}</a:t>
            </a:r>
          </a:p>
          <a:p>
            <a:pPr marL="50800" indent="0">
              <a:buNone/>
            </a:pPr>
            <a:r>
              <a:rPr lang="en-CA" dirty="0"/>
              <a:t>}</a:t>
            </a:r>
          </a:p>
          <a:p>
            <a:endParaRPr lang="en-US" dirty="0"/>
          </a:p>
        </p:txBody>
      </p:sp>
    </p:spTree>
    <p:extLst>
      <p:ext uri="{BB962C8B-B14F-4D97-AF65-F5344CB8AC3E}">
        <p14:creationId xmlns:p14="http://schemas.microsoft.com/office/powerpoint/2010/main" val="2946157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B85D-35AE-9F79-DE4F-EB661EF044E1}"/>
              </a:ext>
            </a:extLst>
          </p:cNvPr>
          <p:cNvSpPr>
            <a:spLocks noGrp="1"/>
          </p:cNvSpPr>
          <p:nvPr>
            <p:ph type="title"/>
          </p:nvPr>
        </p:nvSpPr>
        <p:spPr/>
        <p:txBody>
          <a:bodyPr/>
          <a:lstStyle/>
          <a:p>
            <a:r>
              <a:rPr lang="en-CA" b="1" dirty="0"/>
              <a:t>Humanoid Animation System</a:t>
            </a:r>
            <a:endParaRPr lang="en-US" dirty="0"/>
          </a:p>
        </p:txBody>
      </p:sp>
      <p:sp>
        <p:nvSpPr>
          <p:cNvPr id="3" name="Content Placeholder 2">
            <a:extLst>
              <a:ext uri="{FF2B5EF4-FFF2-40B4-BE49-F238E27FC236}">
                <a16:creationId xmlns:a16="http://schemas.microsoft.com/office/drawing/2014/main" id="{FF50907B-6221-B21F-4CB5-297D5EBCDE32}"/>
              </a:ext>
            </a:extLst>
          </p:cNvPr>
          <p:cNvSpPr>
            <a:spLocks noGrp="1"/>
          </p:cNvSpPr>
          <p:nvPr>
            <p:ph idx="1"/>
          </p:nvPr>
        </p:nvSpPr>
        <p:spPr/>
        <p:txBody>
          <a:bodyPr>
            <a:normAutofit fontScale="92500" lnSpcReduction="20000"/>
          </a:bodyPr>
          <a:lstStyle/>
          <a:p>
            <a:r>
              <a:rPr lang="en-CA" dirty="0"/>
              <a:t>Animating can be a very time intensive task. Often, animators have to decide where best to spend their time on a project, and may opt to use pre-built animations for background characters, or for animation sets that don’t need to be unique. This allows them to work on what the user will see the most in the interactive experience. </a:t>
            </a:r>
          </a:p>
          <a:p>
            <a:r>
              <a:rPr lang="en-CA" dirty="0"/>
              <a:t>Not all character types can easily make use of animation built for another rig, but in Unity, any character that follows a basic humanoid shape (a head, two legs, two arms) can make use of the </a:t>
            </a:r>
            <a:r>
              <a:rPr lang="en-CA" b="1" dirty="0"/>
              <a:t>Humanoid Animation System</a:t>
            </a:r>
            <a:r>
              <a:rPr lang="en-CA" dirty="0"/>
              <a:t>. </a:t>
            </a:r>
          </a:p>
          <a:p>
            <a:r>
              <a:rPr lang="en-CA" dirty="0"/>
              <a:t>In this system, Unity translates existing animation from one humanoid character to another based on the joints in the rig. This means that even drastically different looking characters can share the same animation set!</a:t>
            </a:r>
            <a:endParaRPr lang="en-US" dirty="0"/>
          </a:p>
        </p:txBody>
      </p:sp>
    </p:spTree>
    <p:extLst>
      <p:ext uri="{BB962C8B-B14F-4D97-AF65-F5344CB8AC3E}">
        <p14:creationId xmlns:p14="http://schemas.microsoft.com/office/powerpoint/2010/main" val="4384343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3BBD8-CB5C-96E8-18F7-F5F14E4259EE}"/>
              </a:ext>
            </a:extLst>
          </p:cNvPr>
          <p:cNvSpPr>
            <a:spLocks noGrp="1"/>
          </p:cNvSpPr>
          <p:nvPr>
            <p:ph type="title"/>
          </p:nvPr>
        </p:nvSpPr>
        <p:spPr/>
        <p:txBody>
          <a:bodyPr>
            <a:normAutofit/>
          </a:bodyPr>
          <a:lstStyle/>
          <a:p>
            <a:r>
              <a:rPr lang="en-CA" b="1" dirty="0"/>
              <a:t>Configure the animation type</a:t>
            </a:r>
            <a:endParaRPr lang="en-US" dirty="0"/>
          </a:p>
        </p:txBody>
      </p:sp>
      <p:sp>
        <p:nvSpPr>
          <p:cNvPr id="3" name="Content Placeholder 2">
            <a:extLst>
              <a:ext uri="{FF2B5EF4-FFF2-40B4-BE49-F238E27FC236}">
                <a16:creationId xmlns:a16="http://schemas.microsoft.com/office/drawing/2014/main" id="{EF60D964-4E56-B3F5-C6B6-34E7C8358405}"/>
              </a:ext>
            </a:extLst>
          </p:cNvPr>
          <p:cNvSpPr>
            <a:spLocks noGrp="1"/>
          </p:cNvSpPr>
          <p:nvPr>
            <p:ph idx="1"/>
          </p:nvPr>
        </p:nvSpPr>
        <p:spPr/>
        <p:txBody>
          <a:bodyPr/>
          <a:lstStyle/>
          <a:p>
            <a:r>
              <a:rPr lang="en-CA" dirty="0"/>
              <a:t>When preparing animation for import into Unity, an animator is able to create different files for each individual animation, or animate everything together in one file. </a:t>
            </a:r>
          </a:p>
          <a:p>
            <a:r>
              <a:rPr lang="en-CA" dirty="0"/>
              <a:t>When a single file containing multiple animations is imported into Unity, it can be split up in the import settings in the Clips section. </a:t>
            </a:r>
            <a:endParaRPr lang="en-US" dirty="0"/>
          </a:p>
        </p:txBody>
      </p:sp>
    </p:spTree>
    <p:extLst>
      <p:ext uri="{BB962C8B-B14F-4D97-AF65-F5344CB8AC3E}">
        <p14:creationId xmlns:p14="http://schemas.microsoft.com/office/powerpoint/2010/main" val="65567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364E16-1344-9230-F6B7-121A021D8BF8}"/>
              </a:ext>
            </a:extLst>
          </p:cNvPr>
          <p:cNvSpPr>
            <a:spLocks noGrp="1"/>
          </p:cNvSpPr>
          <p:nvPr>
            <p:ph type="title"/>
          </p:nvPr>
        </p:nvSpPr>
        <p:spPr/>
        <p:txBody>
          <a:bodyPr/>
          <a:lstStyle/>
          <a:p>
            <a:r>
              <a:rPr lang="en-CA" b="1" dirty="0"/>
              <a:t>Rig</a:t>
            </a:r>
            <a:r>
              <a:rPr lang="en-CA" dirty="0"/>
              <a:t> tab</a:t>
            </a:r>
            <a:endParaRPr lang="en-US" dirty="0"/>
          </a:p>
        </p:txBody>
      </p:sp>
      <p:pic>
        <p:nvPicPr>
          <p:cNvPr id="7" name="Content Placeholder 6">
            <a:extLst>
              <a:ext uri="{FF2B5EF4-FFF2-40B4-BE49-F238E27FC236}">
                <a16:creationId xmlns:a16="http://schemas.microsoft.com/office/drawing/2014/main" id="{6321B694-AF29-0020-620F-0AB45B86EFBD}"/>
              </a:ext>
            </a:extLst>
          </p:cNvPr>
          <p:cNvPicPr>
            <a:picLocks noGrp="1" noChangeAspect="1"/>
          </p:cNvPicPr>
          <p:nvPr>
            <p:ph sz="half" idx="2"/>
          </p:nvPr>
        </p:nvPicPr>
        <p:blipFill>
          <a:blip r:embed="rId2"/>
          <a:stretch>
            <a:fillRect/>
          </a:stretch>
        </p:blipFill>
        <p:spPr>
          <a:xfrm>
            <a:off x="6584950" y="2777331"/>
            <a:ext cx="4610100" cy="2171700"/>
          </a:xfrm>
          <a:prstGeom prst="rect">
            <a:avLst/>
          </a:prstGeom>
        </p:spPr>
      </p:pic>
      <p:sp>
        <p:nvSpPr>
          <p:cNvPr id="6" name="Content Placeholder 5">
            <a:extLst>
              <a:ext uri="{FF2B5EF4-FFF2-40B4-BE49-F238E27FC236}">
                <a16:creationId xmlns:a16="http://schemas.microsoft.com/office/drawing/2014/main" id="{48C00D15-4F98-F0B8-4C1B-3E888F7E57CF}"/>
              </a:ext>
            </a:extLst>
          </p:cNvPr>
          <p:cNvSpPr>
            <a:spLocks noGrp="1"/>
          </p:cNvSpPr>
          <p:nvPr>
            <p:ph sz="quarter" idx="13"/>
          </p:nvPr>
        </p:nvSpPr>
        <p:spPr/>
        <p:txBody>
          <a:bodyPr>
            <a:normAutofit fontScale="77500" lnSpcReduction="20000"/>
          </a:bodyPr>
          <a:lstStyle/>
          <a:p>
            <a:r>
              <a:rPr lang="en-CA" dirty="0"/>
              <a:t>By default, even rigs that are compatible with the Humanoid Animation system will have an </a:t>
            </a:r>
            <a:r>
              <a:rPr lang="en-CA" b="1" dirty="0"/>
              <a:t>Animation Type</a:t>
            </a:r>
            <a:r>
              <a:rPr lang="en-CA" dirty="0"/>
              <a:t> set to </a:t>
            </a:r>
            <a:r>
              <a:rPr lang="en-CA" b="1" dirty="0"/>
              <a:t>Generic</a:t>
            </a:r>
            <a:r>
              <a:rPr lang="en-CA" dirty="0"/>
              <a:t>. </a:t>
            </a:r>
          </a:p>
          <a:p>
            <a:r>
              <a:rPr lang="en-CA" dirty="0"/>
              <a:t>The Generic rig is useful when working with custom characters that have non-standard bone structures, as it prevents you from sharing the animations with other humanoid rigs.</a:t>
            </a:r>
          </a:p>
          <a:p>
            <a:r>
              <a:rPr lang="en-CA" dirty="0"/>
              <a:t> The </a:t>
            </a:r>
            <a:r>
              <a:rPr lang="en-CA" b="1" dirty="0"/>
              <a:t>Humanoid </a:t>
            </a:r>
            <a:r>
              <a:rPr lang="en-CA" dirty="0"/>
              <a:t>rig type, on the other hand, is ideal for humanoid characters with standard bone structures; </a:t>
            </a:r>
          </a:p>
          <a:p>
            <a:r>
              <a:rPr lang="en-CA" dirty="0"/>
              <a:t>it allows you to take advantage of the animation retargeting and sharing capabilities provided by Unity's Humanoid Animation System.</a:t>
            </a:r>
            <a:endParaRPr lang="en-US" dirty="0"/>
          </a:p>
        </p:txBody>
      </p:sp>
    </p:spTree>
    <p:extLst>
      <p:ext uri="{BB962C8B-B14F-4D97-AF65-F5344CB8AC3E}">
        <p14:creationId xmlns:p14="http://schemas.microsoft.com/office/powerpoint/2010/main" val="215893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6A4D9-96BA-9A29-1E11-319FB5668422}"/>
              </a:ext>
            </a:extLst>
          </p:cNvPr>
          <p:cNvSpPr>
            <a:spLocks noGrp="1"/>
          </p:cNvSpPr>
          <p:nvPr>
            <p:ph type="title"/>
          </p:nvPr>
        </p:nvSpPr>
        <p:spPr/>
        <p:txBody>
          <a:bodyPr>
            <a:normAutofit fontScale="90000"/>
          </a:bodyPr>
          <a:lstStyle/>
          <a:p>
            <a:r>
              <a:rPr lang="en-CA" b="1" dirty="0"/>
              <a:t>Configure the Animation Clip</a:t>
            </a:r>
            <a:br>
              <a:rPr lang="en-CA" b="1" dirty="0"/>
            </a:br>
            <a:endParaRPr lang="en-US" dirty="0"/>
          </a:p>
        </p:txBody>
      </p:sp>
      <p:pic>
        <p:nvPicPr>
          <p:cNvPr id="5" name="Content Placeholder 4">
            <a:extLst>
              <a:ext uri="{FF2B5EF4-FFF2-40B4-BE49-F238E27FC236}">
                <a16:creationId xmlns:a16="http://schemas.microsoft.com/office/drawing/2014/main" id="{AB1710A5-1ECF-6271-77B5-B808A7A69F46}"/>
              </a:ext>
            </a:extLst>
          </p:cNvPr>
          <p:cNvPicPr>
            <a:picLocks noGrp="1" noChangeAspect="1"/>
          </p:cNvPicPr>
          <p:nvPr>
            <p:ph sz="half" idx="2"/>
          </p:nvPr>
        </p:nvPicPr>
        <p:blipFill>
          <a:blip r:embed="rId2"/>
          <a:stretch>
            <a:fillRect/>
          </a:stretch>
        </p:blipFill>
        <p:spPr>
          <a:xfrm>
            <a:off x="6197600" y="2395702"/>
            <a:ext cx="5384800" cy="2934958"/>
          </a:xfrm>
          <a:prstGeom prst="rect">
            <a:avLst/>
          </a:prstGeom>
        </p:spPr>
      </p:pic>
      <p:sp>
        <p:nvSpPr>
          <p:cNvPr id="4" name="Content Placeholder 3">
            <a:extLst>
              <a:ext uri="{FF2B5EF4-FFF2-40B4-BE49-F238E27FC236}">
                <a16:creationId xmlns:a16="http://schemas.microsoft.com/office/drawing/2014/main" id="{8B72413E-BE7D-EFE7-DC9A-6A2E6228A261}"/>
              </a:ext>
            </a:extLst>
          </p:cNvPr>
          <p:cNvSpPr>
            <a:spLocks noGrp="1"/>
          </p:cNvSpPr>
          <p:nvPr>
            <p:ph sz="quarter" idx="13"/>
          </p:nvPr>
        </p:nvSpPr>
        <p:spPr/>
        <p:txBody>
          <a:bodyPr>
            <a:normAutofit fontScale="55000" lnSpcReduction="20000"/>
          </a:bodyPr>
          <a:lstStyle/>
          <a:p>
            <a:r>
              <a:rPr lang="en-CA" dirty="0"/>
              <a:t>The imported animation set contains three distinct dance sequences in one Animation Clip. Currently, these animations can’t be accessed individually, so let’s fix that next. The top half of the Animation import settings contains the Clips section; this is where you can define the individual Animation Clips.</a:t>
            </a:r>
          </a:p>
          <a:p>
            <a:r>
              <a:rPr lang="en-CA" dirty="0"/>
              <a:t>In the clips section, click the </a:t>
            </a:r>
            <a:r>
              <a:rPr lang="en-CA" b="1" dirty="0"/>
              <a:t>+</a:t>
            </a:r>
            <a:r>
              <a:rPr lang="en-CA" dirty="0"/>
              <a:t> button twice to duplicate the existing Animation Clip.</a:t>
            </a:r>
          </a:p>
          <a:p>
            <a:r>
              <a:rPr lang="en-CA" dirty="0"/>
              <a:t>Select the first clip labeled Dance_x3 to select it in the clip editing section below Clips and rename the Dance_x3 clip to Dance_01.</a:t>
            </a:r>
          </a:p>
          <a:p>
            <a:r>
              <a:rPr lang="en-CA" dirty="0"/>
              <a:t>In the end frame parameter, type 150.</a:t>
            </a:r>
          </a:p>
          <a:p>
            <a:r>
              <a:rPr lang="en-CA" dirty="0"/>
              <a:t>Preview the animation and make sure that it is looping seamlessly, and adjust the end frame if needed.</a:t>
            </a:r>
          </a:p>
          <a:p>
            <a:r>
              <a:rPr lang="en-CA" dirty="0"/>
              <a:t>The animation is looping in the preview, but in the actual experience it’s currently set to only animate once.</a:t>
            </a:r>
          </a:p>
          <a:p>
            <a:r>
              <a:rPr lang="en-CA" dirty="0"/>
              <a:t>Enable </a:t>
            </a:r>
            <a:r>
              <a:rPr lang="en-CA" b="1" dirty="0"/>
              <a:t>Loop Time</a:t>
            </a:r>
            <a:r>
              <a:rPr lang="en-CA" dirty="0"/>
              <a:t> so the animation will loop.</a:t>
            </a:r>
          </a:p>
          <a:p>
            <a:endParaRPr lang="en-CA" dirty="0"/>
          </a:p>
          <a:p>
            <a:endParaRPr lang="en-US" dirty="0"/>
          </a:p>
        </p:txBody>
      </p:sp>
    </p:spTree>
    <p:extLst>
      <p:ext uri="{BB962C8B-B14F-4D97-AF65-F5344CB8AC3E}">
        <p14:creationId xmlns:p14="http://schemas.microsoft.com/office/powerpoint/2010/main" val="3712527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B84B9-6D1F-DEA7-F8B3-EB5E5D6C5A83}"/>
              </a:ext>
            </a:extLst>
          </p:cNvPr>
          <p:cNvSpPr>
            <a:spLocks noGrp="1"/>
          </p:cNvSpPr>
          <p:nvPr>
            <p:ph type="title"/>
          </p:nvPr>
        </p:nvSpPr>
        <p:spPr/>
        <p:txBody>
          <a:bodyPr/>
          <a:lstStyle/>
          <a:p>
            <a:r>
              <a:rPr lang="en-CA" b="1" dirty="0"/>
              <a:t>Configure the two remaining clips</a:t>
            </a:r>
            <a:r>
              <a:rPr lang="en-CA" dirty="0"/>
              <a:t> </a:t>
            </a:r>
            <a:endParaRPr lang="en-US" dirty="0"/>
          </a:p>
        </p:txBody>
      </p:sp>
      <p:sp>
        <p:nvSpPr>
          <p:cNvPr id="5" name="Content Placeholder 4">
            <a:extLst>
              <a:ext uri="{FF2B5EF4-FFF2-40B4-BE49-F238E27FC236}">
                <a16:creationId xmlns:a16="http://schemas.microsoft.com/office/drawing/2014/main" id="{08F4A436-4A23-5EEF-391A-C6BB6757B067}"/>
              </a:ext>
            </a:extLst>
          </p:cNvPr>
          <p:cNvSpPr>
            <a:spLocks noGrp="1"/>
          </p:cNvSpPr>
          <p:nvPr>
            <p:ph idx="1"/>
          </p:nvPr>
        </p:nvSpPr>
        <p:spPr/>
        <p:txBody>
          <a:bodyPr>
            <a:normAutofit fontScale="77500" lnSpcReduction="20000"/>
          </a:bodyPr>
          <a:lstStyle/>
          <a:p>
            <a:r>
              <a:rPr lang="en-CA" dirty="0"/>
              <a:t>The process you just completed for the first clip must now be repeated for the remaining two clips.</a:t>
            </a:r>
          </a:p>
          <a:p>
            <a:pPr marL="508000" lvl="1" indent="0">
              <a:buNone/>
            </a:pPr>
            <a:r>
              <a:rPr lang="en-CA" b="1" dirty="0"/>
              <a:t>1.</a:t>
            </a:r>
            <a:r>
              <a:rPr lang="en-CA" dirty="0"/>
              <a:t> Select the second clip in the Clips list, currently named Take 001, and rename it to Dance_02.</a:t>
            </a:r>
          </a:p>
          <a:p>
            <a:pPr marL="508000" lvl="1" indent="0">
              <a:buNone/>
            </a:pPr>
            <a:r>
              <a:rPr lang="en-CA" b="1" dirty="0"/>
              <a:t>2.</a:t>
            </a:r>
            <a:r>
              <a:rPr lang="en-CA" dirty="0"/>
              <a:t> Set the Start frame to 151.</a:t>
            </a:r>
          </a:p>
          <a:p>
            <a:pPr marL="508000" lvl="1" indent="0">
              <a:buNone/>
            </a:pPr>
            <a:r>
              <a:rPr lang="en-CA" b="1" dirty="0"/>
              <a:t>3.</a:t>
            </a:r>
            <a:r>
              <a:rPr lang="en-CA" dirty="0"/>
              <a:t> Set the End frame to 260.</a:t>
            </a:r>
          </a:p>
          <a:p>
            <a:pPr marL="508000" lvl="1" indent="0">
              <a:buNone/>
            </a:pPr>
            <a:r>
              <a:rPr lang="en-CA" b="1" dirty="0"/>
              <a:t>4.</a:t>
            </a:r>
            <a:r>
              <a:rPr lang="en-CA" dirty="0"/>
              <a:t> Enable </a:t>
            </a:r>
            <a:r>
              <a:rPr lang="en-CA" b="1" dirty="0"/>
              <a:t>Loop Time</a:t>
            </a:r>
            <a:r>
              <a:rPr lang="en-CA" dirty="0"/>
              <a:t>.</a:t>
            </a:r>
          </a:p>
          <a:p>
            <a:pPr marL="508000" lvl="1" indent="0">
              <a:buNone/>
            </a:pPr>
            <a:r>
              <a:rPr lang="en-CA" b="1" dirty="0"/>
              <a:t>5.</a:t>
            </a:r>
            <a:r>
              <a:rPr lang="en-CA" dirty="0"/>
              <a:t> Enable the </a:t>
            </a:r>
            <a:r>
              <a:rPr lang="en-CA" b="1" dirty="0"/>
              <a:t>Bake into Pose</a:t>
            </a:r>
            <a:r>
              <a:rPr lang="en-CA" dirty="0"/>
              <a:t> option in Root Transform Rotation, Root Transform Position (Y), and Root Transform Position (XZ).</a:t>
            </a:r>
          </a:p>
          <a:p>
            <a:pPr marL="508000" lvl="1" indent="0">
              <a:buNone/>
            </a:pPr>
            <a:r>
              <a:rPr lang="en-CA" b="1" dirty="0"/>
              <a:t>6.</a:t>
            </a:r>
            <a:r>
              <a:rPr lang="en-CA" dirty="0"/>
              <a:t> Select the final clip in the Clips list and rename it to Dance_03.</a:t>
            </a:r>
          </a:p>
          <a:p>
            <a:pPr marL="508000" lvl="1" indent="0">
              <a:buNone/>
            </a:pPr>
            <a:r>
              <a:rPr lang="en-CA" b="1" dirty="0"/>
              <a:t>7.</a:t>
            </a:r>
            <a:r>
              <a:rPr lang="en-CA" dirty="0"/>
              <a:t> Set the Start frame to 261 and leave the End frame at 350.</a:t>
            </a:r>
          </a:p>
          <a:p>
            <a:pPr marL="508000" lvl="1" indent="0">
              <a:buNone/>
            </a:pPr>
            <a:r>
              <a:rPr lang="en-CA" b="1" dirty="0"/>
              <a:t>8.</a:t>
            </a:r>
            <a:r>
              <a:rPr lang="en-CA" dirty="0"/>
              <a:t> Enable </a:t>
            </a:r>
            <a:r>
              <a:rPr lang="en-CA" b="1" dirty="0"/>
              <a:t>Loop Time</a:t>
            </a:r>
            <a:r>
              <a:rPr lang="en-CA" dirty="0"/>
              <a:t>.</a:t>
            </a:r>
          </a:p>
          <a:p>
            <a:pPr marL="508000" lvl="1" indent="0">
              <a:buNone/>
            </a:pPr>
            <a:r>
              <a:rPr lang="en-CA" b="1" dirty="0"/>
              <a:t>9.</a:t>
            </a:r>
            <a:r>
              <a:rPr lang="en-CA" dirty="0"/>
              <a:t> Enable the </a:t>
            </a:r>
            <a:r>
              <a:rPr lang="en-CA" b="1" dirty="0"/>
              <a:t>Bake into Pose</a:t>
            </a:r>
            <a:r>
              <a:rPr lang="en-CA" dirty="0"/>
              <a:t> option in Root Transform Rotation, Root Transform Position (Y), and Root Transform Position (XZ).</a:t>
            </a:r>
          </a:p>
          <a:p>
            <a:pPr marL="508000" lvl="1" indent="0">
              <a:buNone/>
            </a:pPr>
            <a:r>
              <a:rPr lang="en-CA" b="1" dirty="0"/>
              <a:t>10.</a:t>
            </a:r>
            <a:r>
              <a:rPr lang="en-CA" dirty="0"/>
              <a:t> Scroll down to the very bottom of the inspector and select Apply to save all of your import changes.</a:t>
            </a:r>
          </a:p>
          <a:p>
            <a:endParaRPr lang="en-US" dirty="0"/>
          </a:p>
        </p:txBody>
      </p:sp>
    </p:spTree>
    <p:extLst>
      <p:ext uri="{BB962C8B-B14F-4D97-AF65-F5344CB8AC3E}">
        <p14:creationId xmlns:p14="http://schemas.microsoft.com/office/powerpoint/2010/main" val="19941987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7CC85-B382-BB6A-DB72-821F684F99FB}"/>
              </a:ext>
            </a:extLst>
          </p:cNvPr>
          <p:cNvSpPr>
            <a:spLocks noGrp="1"/>
          </p:cNvSpPr>
          <p:nvPr>
            <p:ph type="title"/>
          </p:nvPr>
        </p:nvSpPr>
        <p:spPr/>
        <p:txBody>
          <a:bodyPr/>
          <a:lstStyle/>
          <a:p>
            <a:r>
              <a:rPr lang="en-CA" b="1" dirty="0"/>
              <a:t>Add the new clips to the animation controller</a:t>
            </a:r>
            <a:r>
              <a:rPr lang="en-CA" dirty="0"/>
              <a:t> </a:t>
            </a:r>
            <a:endParaRPr lang="en-US" dirty="0"/>
          </a:p>
        </p:txBody>
      </p:sp>
      <p:sp>
        <p:nvSpPr>
          <p:cNvPr id="5" name="Content Placeholder 4">
            <a:extLst>
              <a:ext uri="{FF2B5EF4-FFF2-40B4-BE49-F238E27FC236}">
                <a16:creationId xmlns:a16="http://schemas.microsoft.com/office/drawing/2014/main" id="{F20A46B3-02CA-C0E1-081D-07ADA56D007F}"/>
              </a:ext>
            </a:extLst>
          </p:cNvPr>
          <p:cNvSpPr>
            <a:spLocks noGrp="1"/>
          </p:cNvSpPr>
          <p:nvPr>
            <p:ph sz="quarter" idx="13"/>
          </p:nvPr>
        </p:nvSpPr>
        <p:spPr/>
        <p:txBody>
          <a:bodyPr>
            <a:normAutofit fontScale="55000" lnSpcReduction="20000"/>
          </a:bodyPr>
          <a:lstStyle/>
          <a:p>
            <a:r>
              <a:rPr lang="en-CA" dirty="0"/>
              <a:t>The new clips are now fully configured and can be added to the already existing Animator Controller.</a:t>
            </a:r>
          </a:p>
          <a:p>
            <a:r>
              <a:rPr lang="en-CA" b="1" dirty="0"/>
              <a:t>1.</a:t>
            </a:r>
            <a:r>
              <a:rPr lang="en-CA" dirty="0"/>
              <a:t> In the animations folder, locate the </a:t>
            </a:r>
            <a:r>
              <a:rPr lang="en-CA" dirty="0" err="1"/>
              <a:t>Shared_Controller</a:t>
            </a:r>
            <a:r>
              <a:rPr lang="en-CA" dirty="0"/>
              <a:t> Animation Controller and double-click to open it in the Animator.</a:t>
            </a:r>
          </a:p>
          <a:p>
            <a:r>
              <a:rPr lang="en-CA" b="1" dirty="0"/>
              <a:t>2.</a:t>
            </a:r>
            <a:r>
              <a:rPr lang="en-CA" dirty="0"/>
              <a:t> Dock the Animator directly below the Scene view so you have access to the Project window and the Animator at the same time.</a:t>
            </a:r>
          </a:p>
          <a:p>
            <a:r>
              <a:rPr lang="en-CA" b="1" dirty="0"/>
              <a:t>3.</a:t>
            </a:r>
            <a:r>
              <a:rPr lang="en-CA" dirty="0"/>
              <a:t> Locate the Dance_x3 animation in the Imported Animations folder and expand it to reveal all three new Animation Clips.</a:t>
            </a:r>
          </a:p>
          <a:p>
            <a:r>
              <a:rPr lang="en-CA" dirty="0"/>
              <a:t>Attached to each of the characters in the scene is a script called </a:t>
            </a:r>
            <a:r>
              <a:rPr lang="en-CA" dirty="0" err="1"/>
              <a:t>DanceParty</a:t>
            </a:r>
            <a:r>
              <a:rPr lang="en-CA" dirty="0"/>
              <a:t>. If you’d like to review it in Visual Studio, double-click it to open it. The script’s functionality is simple; when the application runs, the script accesses each character’s animator and will begin looking for keyboard input from the user. If the user presses Q, W, or E, then the script will call a Trigger Parameter named Dance_01, Dance_02, or Dance_03 respectively.</a:t>
            </a:r>
          </a:p>
          <a:p>
            <a:endParaRPr lang="en-US" dirty="0"/>
          </a:p>
        </p:txBody>
      </p:sp>
      <p:pic>
        <p:nvPicPr>
          <p:cNvPr id="6" name="Content Placeholder 5">
            <a:extLst>
              <a:ext uri="{FF2B5EF4-FFF2-40B4-BE49-F238E27FC236}">
                <a16:creationId xmlns:a16="http://schemas.microsoft.com/office/drawing/2014/main" id="{A48B0F89-9B6F-A30B-C6B3-12C773D629B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97600" y="1940424"/>
            <a:ext cx="5384800" cy="3845514"/>
          </a:xfrm>
          <a:prstGeom prst="rect">
            <a:avLst/>
          </a:prstGeom>
          <a:noFill/>
          <a:ln>
            <a:noFill/>
          </a:ln>
        </p:spPr>
      </p:pic>
    </p:spTree>
    <p:extLst>
      <p:ext uri="{BB962C8B-B14F-4D97-AF65-F5344CB8AC3E}">
        <p14:creationId xmlns:p14="http://schemas.microsoft.com/office/powerpoint/2010/main" val="17266639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FBCC12C-7FC4-7765-203C-B78D5FBBB669}"/>
              </a:ext>
            </a:extLst>
          </p:cNvPr>
          <p:cNvSpPr>
            <a:spLocks noGrp="1"/>
          </p:cNvSpPr>
          <p:nvPr>
            <p:ph type="title"/>
          </p:nvPr>
        </p:nvSpPr>
        <p:spPr/>
        <p:txBody>
          <a:bodyPr>
            <a:normAutofit fontScale="90000"/>
          </a:bodyPr>
          <a:lstStyle/>
          <a:p>
            <a:r>
              <a:rPr lang="en-CA" dirty="0"/>
              <a:t>Create 3 parameters in the Animator and connect them to the new Animation Clips </a:t>
            </a:r>
            <a:endParaRPr lang="en-US" dirty="0"/>
          </a:p>
        </p:txBody>
      </p:sp>
      <p:pic>
        <p:nvPicPr>
          <p:cNvPr id="7" name="Content Placeholder 6">
            <a:extLst>
              <a:ext uri="{FF2B5EF4-FFF2-40B4-BE49-F238E27FC236}">
                <a16:creationId xmlns:a16="http://schemas.microsoft.com/office/drawing/2014/main" id="{A3960920-A63B-2604-8069-501927DDFBAC}"/>
              </a:ext>
            </a:extLst>
          </p:cNvPr>
          <p:cNvPicPr>
            <a:picLocks noGrp="1" noChangeAspect="1"/>
          </p:cNvPicPr>
          <p:nvPr>
            <p:ph idx="1"/>
          </p:nvPr>
        </p:nvPicPr>
        <p:blipFill>
          <a:blip r:embed="rId2"/>
          <a:stretch>
            <a:fillRect/>
          </a:stretch>
        </p:blipFill>
        <p:spPr>
          <a:xfrm>
            <a:off x="1514635" y="1825625"/>
            <a:ext cx="9162729" cy="4351338"/>
          </a:xfrm>
          <a:prstGeom prst="rect">
            <a:avLst/>
          </a:prstGeom>
        </p:spPr>
      </p:pic>
    </p:spTree>
    <p:extLst>
      <p:ext uri="{BB962C8B-B14F-4D97-AF65-F5344CB8AC3E}">
        <p14:creationId xmlns:p14="http://schemas.microsoft.com/office/powerpoint/2010/main" val="281978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C8E8983-D836-1A81-BB1B-0996AD749A25}"/>
              </a:ext>
            </a:extLst>
          </p:cNvPr>
          <p:cNvSpPr>
            <a:spLocks noGrp="1"/>
          </p:cNvSpPr>
          <p:nvPr>
            <p:ph type="title"/>
          </p:nvPr>
        </p:nvSpPr>
        <p:spPr/>
        <p:txBody>
          <a:bodyPr/>
          <a:lstStyle/>
          <a:p>
            <a:r>
              <a:rPr lang="en-US" dirty="0" err="1"/>
              <a:t>DanceParty</a:t>
            </a:r>
            <a:endParaRPr lang="en-US" dirty="0"/>
          </a:p>
        </p:txBody>
      </p:sp>
      <p:sp>
        <p:nvSpPr>
          <p:cNvPr id="8" name="Content Placeholder 7">
            <a:extLst>
              <a:ext uri="{FF2B5EF4-FFF2-40B4-BE49-F238E27FC236}">
                <a16:creationId xmlns:a16="http://schemas.microsoft.com/office/drawing/2014/main" id="{2292BA57-049B-D137-AF83-FEB41B425930}"/>
              </a:ext>
            </a:extLst>
          </p:cNvPr>
          <p:cNvSpPr>
            <a:spLocks noGrp="1"/>
          </p:cNvSpPr>
          <p:nvPr>
            <p:ph sz="half" idx="2"/>
          </p:nvPr>
        </p:nvSpPr>
        <p:spPr>
          <a:xfrm>
            <a:off x="6197600" y="1196391"/>
            <a:ext cx="5384800" cy="4929773"/>
          </a:xfrm>
        </p:spPr>
        <p:txBody>
          <a:bodyPr>
            <a:normAutofit fontScale="25000" lnSpcReduction="20000"/>
          </a:bodyPr>
          <a:lstStyle/>
          <a:p>
            <a:pPr marL="50800" indent="0">
              <a:buNone/>
            </a:pPr>
            <a:r>
              <a:rPr lang="en-CA" dirty="0"/>
              <a:t>if (</a:t>
            </a:r>
            <a:r>
              <a:rPr lang="en-CA" dirty="0" err="1"/>
              <a:t>Input.GetKeyDown</a:t>
            </a:r>
            <a:r>
              <a:rPr lang="en-CA" dirty="0"/>
              <a:t>(</a:t>
            </a:r>
            <a:r>
              <a:rPr lang="en-CA" dirty="0" err="1"/>
              <a:t>KeyCode.W</a:t>
            </a:r>
            <a:r>
              <a:rPr lang="en-CA" dirty="0"/>
              <a:t>))</a:t>
            </a:r>
          </a:p>
          <a:p>
            <a:pPr marL="50800" indent="0">
              <a:buNone/>
            </a:pPr>
            <a:r>
              <a:rPr lang="en-CA" dirty="0"/>
              <a:t>{</a:t>
            </a:r>
          </a:p>
          <a:p>
            <a:pPr marL="50800" indent="0">
              <a:buNone/>
            </a:pPr>
            <a:r>
              <a:rPr lang="en-CA" dirty="0" err="1"/>
              <a:t>anim.SetTrigger</a:t>
            </a:r>
            <a:r>
              <a:rPr lang="en-CA" dirty="0"/>
              <a:t>("Dance_02");</a:t>
            </a:r>
          </a:p>
          <a:p>
            <a:pPr marL="50800" indent="0">
              <a:buNone/>
            </a:pPr>
            <a:r>
              <a:rPr lang="en-CA" dirty="0"/>
              <a:t>}</a:t>
            </a:r>
          </a:p>
          <a:p>
            <a:pPr marL="50800" indent="0">
              <a:buNone/>
            </a:pPr>
            <a:br>
              <a:rPr lang="en-CA" dirty="0"/>
            </a:br>
            <a:endParaRPr lang="en-CA" dirty="0"/>
          </a:p>
          <a:p>
            <a:pPr marL="50800" indent="0">
              <a:buNone/>
            </a:pPr>
            <a:r>
              <a:rPr lang="en-CA" dirty="0"/>
              <a:t>if (</a:t>
            </a:r>
            <a:r>
              <a:rPr lang="en-CA" dirty="0" err="1"/>
              <a:t>Input.GetKeyDown</a:t>
            </a:r>
            <a:r>
              <a:rPr lang="en-CA" dirty="0"/>
              <a:t>(</a:t>
            </a:r>
            <a:r>
              <a:rPr lang="en-CA" dirty="0" err="1"/>
              <a:t>KeyCode.E</a:t>
            </a:r>
            <a:r>
              <a:rPr lang="en-CA" dirty="0"/>
              <a:t>))</a:t>
            </a:r>
          </a:p>
          <a:p>
            <a:pPr marL="50800" indent="0">
              <a:buNone/>
            </a:pPr>
            <a:r>
              <a:rPr lang="en-CA" dirty="0"/>
              <a:t>{</a:t>
            </a:r>
          </a:p>
          <a:p>
            <a:pPr marL="50800" indent="0">
              <a:buNone/>
            </a:pPr>
            <a:r>
              <a:rPr lang="en-CA" dirty="0" err="1"/>
              <a:t>anim.SetTrigger</a:t>
            </a:r>
            <a:r>
              <a:rPr lang="en-CA" dirty="0"/>
              <a:t>("Dance_03");</a:t>
            </a:r>
          </a:p>
          <a:p>
            <a:pPr marL="50800" indent="0">
              <a:buNone/>
            </a:pPr>
            <a:r>
              <a:rPr lang="en-CA" dirty="0"/>
              <a:t>}</a:t>
            </a:r>
          </a:p>
          <a:p>
            <a:pPr marL="50800" indent="0">
              <a:buNone/>
            </a:pPr>
            <a:br>
              <a:rPr lang="en-CA" dirty="0"/>
            </a:br>
            <a:endParaRPr lang="en-CA" dirty="0"/>
          </a:p>
          <a:p>
            <a:pPr marL="50800" indent="0">
              <a:buNone/>
            </a:pPr>
            <a:r>
              <a:rPr lang="en-CA" dirty="0"/>
              <a:t>if (</a:t>
            </a:r>
            <a:r>
              <a:rPr lang="en-CA" dirty="0" err="1"/>
              <a:t>Input.GetKeyDown</a:t>
            </a:r>
            <a:r>
              <a:rPr lang="en-CA" dirty="0"/>
              <a:t>(</a:t>
            </a:r>
            <a:r>
              <a:rPr lang="en-CA" dirty="0" err="1"/>
              <a:t>KeyCode.R</a:t>
            </a:r>
            <a:r>
              <a:rPr lang="en-CA" dirty="0"/>
              <a:t>))</a:t>
            </a:r>
          </a:p>
          <a:p>
            <a:pPr marL="50800" indent="0">
              <a:buNone/>
            </a:pPr>
            <a:r>
              <a:rPr lang="en-CA" dirty="0"/>
              <a:t>{</a:t>
            </a:r>
          </a:p>
          <a:p>
            <a:pPr marL="50800" indent="0">
              <a:buNone/>
            </a:pPr>
            <a:r>
              <a:rPr lang="en-CA" dirty="0" err="1"/>
              <a:t>anim.SetTrigger</a:t>
            </a:r>
            <a:r>
              <a:rPr lang="en-CA" dirty="0"/>
              <a:t>("Dance_04");</a:t>
            </a:r>
          </a:p>
          <a:p>
            <a:pPr marL="50800" indent="0">
              <a:buNone/>
            </a:pPr>
            <a:r>
              <a:rPr lang="en-CA" dirty="0"/>
              <a:t>}</a:t>
            </a:r>
          </a:p>
          <a:p>
            <a:pPr marL="50800" indent="0">
              <a:buNone/>
            </a:pPr>
            <a:br>
              <a:rPr lang="en-CA" dirty="0"/>
            </a:br>
            <a:endParaRPr lang="en-CA" dirty="0"/>
          </a:p>
          <a:p>
            <a:pPr marL="50800" indent="0">
              <a:buNone/>
            </a:pPr>
            <a:r>
              <a:rPr lang="en-CA" dirty="0"/>
              <a:t>if (</a:t>
            </a:r>
            <a:r>
              <a:rPr lang="en-CA" dirty="0" err="1"/>
              <a:t>Input.GetKeyDown</a:t>
            </a:r>
            <a:r>
              <a:rPr lang="en-CA" dirty="0"/>
              <a:t>(</a:t>
            </a:r>
            <a:r>
              <a:rPr lang="en-CA" dirty="0" err="1"/>
              <a:t>KeyCode.T</a:t>
            </a:r>
            <a:r>
              <a:rPr lang="en-CA" dirty="0"/>
              <a:t>))</a:t>
            </a:r>
          </a:p>
          <a:p>
            <a:pPr marL="50800" indent="0">
              <a:buNone/>
            </a:pPr>
            <a:r>
              <a:rPr lang="en-CA" dirty="0"/>
              <a:t>{</a:t>
            </a:r>
          </a:p>
          <a:p>
            <a:pPr marL="50800" indent="0">
              <a:buNone/>
            </a:pPr>
            <a:r>
              <a:rPr lang="en-CA" dirty="0" err="1"/>
              <a:t>anim.SetTrigger</a:t>
            </a:r>
            <a:r>
              <a:rPr lang="en-CA" dirty="0"/>
              <a:t>("Dance_05");</a:t>
            </a:r>
          </a:p>
          <a:p>
            <a:pPr marL="50800" indent="0">
              <a:buNone/>
            </a:pPr>
            <a:r>
              <a:rPr lang="en-CA" dirty="0"/>
              <a:t>}</a:t>
            </a:r>
          </a:p>
          <a:p>
            <a:pPr marL="50800" indent="0">
              <a:buNone/>
            </a:pPr>
            <a:br>
              <a:rPr lang="en-CA" dirty="0"/>
            </a:br>
            <a:endParaRPr lang="en-CA" dirty="0"/>
          </a:p>
          <a:p>
            <a:pPr marL="50800" indent="0">
              <a:buNone/>
            </a:pPr>
            <a:r>
              <a:rPr lang="en-CA" dirty="0"/>
              <a:t>if (</a:t>
            </a:r>
            <a:r>
              <a:rPr lang="en-CA" dirty="0" err="1"/>
              <a:t>Input.GetKeyDown</a:t>
            </a:r>
            <a:r>
              <a:rPr lang="en-CA" dirty="0"/>
              <a:t>(</a:t>
            </a:r>
            <a:r>
              <a:rPr lang="en-CA" dirty="0" err="1"/>
              <a:t>KeyCode.Y</a:t>
            </a:r>
            <a:r>
              <a:rPr lang="en-CA" dirty="0"/>
              <a:t>))</a:t>
            </a:r>
          </a:p>
          <a:p>
            <a:pPr marL="50800" indent="0">
              <a:buNone/>
            </a:pPr>
            <a:r>
              <a:rPr lang="en-CA" dirty="0"/>
              <a:t>{</a:t>
            </a:r>
          </a:p>
          <a:p>
            <a:pPr marL="50800" indent="0">
              <a:buNone/>
            </a:pPr>
            <a:r>
              <a:rPr lang="en-CA" dirty="0" err="1"/>
              <a:t>anim.SetTrigger</a:t>
            </a:r>
            <a:r>
              <a:rPr lang="en-CA" dirty="0"/>
              <a:t>("Dance_06");</a:t>
            </a:r>
          </a:p>
          <a:p>
            <a:pPr marL="50800" indent="0">
              <a:buNone/>
            </a:pPr>
            <a:r>
              <a:rPr lang="en-CA" dirty="0"/>
              <a:t>}</a:t>
            </a:r>
          </a:p>
          <a:p>
            <a:pPr marL="50800" indent="0">
              <a:buNone/>
            </a:pPr>
            <a:r>
              <a:rPr lang="en-CA" dirty="0"/>
              <a:t>}</a:t>
            </a:r>
          </a:p>
          <a:p>
            <a:pPr marL="50800" indent="0">
              <a:buNone/>
            </a:pPr>
            <a:r>
              <a:rPr lang="en-CA" dirty="0"/>
              <a:t>}</a:t>
            </a:r>
            <a:br>
              <a:rPr lang="en-CA" dirty="0"/>
            </a:br>
            <a:endParaRPr lang="en-CA" dirty="0"/>
          </a:p>
          <a:p>
            <a:endParaRPr lang="en-US" dirty="0"/>
          </a:p>
        </p:txBody>
      </p:sp>
      <p:sp>
        <p:nvSpPr>
          <p:cNvPr id="9" name="Content Placeholder 8">
            <a:extLst>
              <a:ext uri="{FF2B5EF4-FFF2-40B4-BE49-F238E27FC236}">
                <a16:creationId xmlns:a16="http://schemas.microsoft.com/office/drawing/2014/main" id="{1B907774-2483-5284-F186-562BE6956ED4}"/>
              </a:ext>
            </a:extLst>
          </p:cNvPr>
          <p:cNvSpPr>
            <a:spLocks noGrp="1"/>
          </p:cNvSpPr>
          <p:nvPr>
            <p:ph sz="quarter" idx="13"/>
          </p:nvPr>
        </p:nvSpPr>
        <p:spPr>
          <a:xfrm>
            <a:off x="487680" y="1196391"/>
            <a:ext cx="5388864" cy="5389466"/>
          </a:xfrm>
        </p:spPr>
        <p:txBody>
          <a:bodyPr>
            <a:normAutofit fontScale="40000" lnSpcReduction="20000"/>
          </a:bodyPr>
          <a:lstStyle/>
          <a:p>
            <a:pPr marL="50800" indent="0">
              <a:buNone/>
            </a:pPr>
            <a:r>
              <a:rPr lang="en-CA" dirty="0"/>
              <a:t>using </a:t>
            </a:r>
            <a:r>
              <a:rPr lang="en-CA" dirty="0" err="1"/>
              <a:t>System.Collections</a:t>
            </a:r>
            <a:r>
              <a:rPr lang="en-CA" dirty="0"/>
              <a:t>;</a:t>
            </a:r>
          </a:p>
          <a:p>
            <a:pPr marL="50800" indent="0">
              <a:buNone/>
            </a:pPr>
            <a:r>
              <a:rPr lang="en-CA" dirty="0"/>
              <a:t>using </a:t>
            </a:r>
            <a:r>
              <a:rPr lang="en-CA" dirty="0" err="1"/>
              <a:t>System.Collections.Generic</a:t>
            </a:r>
            <a:r>
              <a:rPr lang="en-CA" dirty="0"/>
              <a:t>;</a:t>
            </a:r>
          </a:p>
          <a:p>
            <a:pPr marL="50800" indent="0">
              <a:buNone/>
            </a:pPr>
            <a:r>
              <a:rPr lang="en-CA" dirty="0"/>
              <a:t>using </a:t>
            </a:r>
            <a:r>
              <a:rPr lang="en-CA" dirty="0" err="1"/>
              <a:t>UnityEngine</a:t>
            </a:r>
            <a:r>
              <a:rPr lang="en-CA" dirty="0"/>
              <a:t>;</a:t>
            </a:r>
          </a:p>
          <a:p>
            <a:pPr marL="50800" indent="0">
              <a:buNone/>
            </a:pPr>
            <a:br>
              <a:rPr lang="en-CA" dirty="0"/>
            </a:br>
            <a:endParaRPr lang="en-CA" dirty="0"/>
          </a:p>
          <a:p>
            <a:pPr marL="50800" indent="0">
              <a:buNone/>
            </a:pPr>
            <a:r>
              <a:rPr lang="en-CA" dirty="0"/>
              <a:t>public class </a:t>
            </a:r>
            <a:r>
              <a:rPr lang="en-CA" dirty="0" err="1"/>
              <a:t>DanceParty</a:t>
            </a:r>
            <a:r>
              <a:rPr lang="en-CA" dirty="0"/>
              <a:t> : </a:t>
            </a:r>
            <a:r>
              <a:rPr lang="en-CA" dirty="0" err="1"/>
              <a:t>MonoBehaviour</a:t>
            </a:r>
            <a:endParaRPr lang="en-CA" dirty="0"/>
          </a:p>
          <a:p>
            <a:pPr marL="50800" indent="0">
              <a:buNone/>
            </a:pPr>
            <a:r>
              <a:rPr lang="en-CA" dirty="0"/>
              <a:t>{</a:t>
            </a:r>
          </a:p>
          <a:p>
            <a:pPr marL="50800" indent="0">
              <a:buNone/>
            </a:pPr>
            <a:r>
              <a:rPr lang="en-CA" dirty="0"/>
              <a:t>private Animator </a:t>
            </a:r>
            <a:r>
              <a:rPr lang="en-CA" dirty="0" err="1"/>
              <a:t>anim</a:t>
            </a:r>
            <a:r>
              <a:rPr lang="en-CA" dirty="0"/>
              <a:t>;</a:t>
            </a:r>
          </a:p>
          <a:p>
            <a:pPr marL="50800" indent="0">
              <a:buNone/>
            </a:pPr>
            <a:br>
              <a:rPr lang="en-CA" dirty="0"/>
            </a:br>
            <a:endParaRPr lang="en-CA" dirty="0"/>
          </a:p>
          <a:p>
            <a:pPr marL="50800" indent="0">
              <a:buNone/>
            </a:pPr>
            <a:r>
              <a:rPr lang="en-CA" dirty="0"/>
              <a:t>// Start is called before the first frame update</a:t>
            </a:r>
          </a:p>
          <a:p>
            <a:pPr marL="50800" indent="0">
              <a:buNone/>
            </a:pPr>
            <a:r>
              <a:rPr lang="en-CA" dirty="0"/>
              <a:t>void Start()</a:t>
            </a:r>
          </a:p>
          <a:p>
            <a:pPr marL="50800" indent="0">
              <a:buNone/>
            </a:pPr>
            <a:r>
              <a:rPr lang="en-CA" dirty="0"/>
              <a:t>{</a:t>
            </a:r>
          </a:p>
          <a:p>
            <a:pPr marL="50800" indent="0">
              <a:buNone/>
            </a:pPr>
            <a:r>
              <a:rPr lang="en-CA" dirty="0" err="1"/>
              <a:t>anim</a:t>
            </a:r>
            <a:r>
              <a:rPr lang="en-CA" dirty="0"/>
              <a:t> = </a:t>
            </a:r>
            <a:r>
              <a:rPr lang="en-CA" dirty="0" err="1"/>
              <a:t>GetComponent</a:t>
            </a:r>
            <a:r>
              <a:rPr lang="en-CA" dirty="0"/>
              <a:t>&lt;Animator&gt;();</a:t>
            </a:r>
          </a:p>
          <a:p>
            <a:pPr marL="50800" indent="0">
              <a:buNone/>
            </a:pPr>
            <a:r>
              <a:rPr lang="en-CA" dirty="0"/>
              <a:t>}</a:t>
            </a:r>
          </a:p>
          <a:p>
            <a:pPr marL="50800" indent="0">
              <a:buNone/>
            </a:pPr>
            <a:r>
              <a:rPr lang="en-CA" dirty="0"/>
              <a:t>// Update is called once per frame</a:t>
            </a:r>
          </a:p>
          <a:p>
            <a:pPr marL="50800" indent="0">
              <a:buNone/>
            </a:pPr>
            <a:r>
              <a:rPr lang="en-CA" dirty="0"/>
              <a:t>void Update()</a:t>
            </a:r>
          </a:p>
          <a:p>
            <a:pPr marL="50800" indent="0">
              <a:buNone/>
            </a:pPr>
            <a:r>
              <a:rPr lang="en-CA" dirty="0"/>
              <a:t>{</a:t>
            </a:r>
          </a:p>
          <a:p>
            <a:pPr marL="50800" indent="0">
              <a:buNone/>
            </a:pPr>
            <a:r>
              <a:rPr lang="en-CA" dirty="0"/>
              <a:t>if (</a:t>
            </a:r>
            <a:r>
              <a:rPr lang="en-CA" dirty="0" err="1"/>
              <a:t>Input.GetKeyDown</a:t>
            </a:r>
            <a:r>
              <a:rPr lang="en-CA" dirty="0"/>
              <a:t>(</a:t>
            </a:r>
            <a:r>
              <a:rPr lang="en-CA" dirty="0" err="1"/>
              <a:t>KeyCode.Q</a:t>
            </a:r>
            <a:r>
              <a:rPr lang="en-CA" dirty="0"/>
              <a:t>))</a:t>
            </a:r>
          </a:p>
          <a:p>
            <a:pPr marL="50800" indent="0">
              <a:buNone/>
            </a:pPr>
            <a:r>
              <a:rPr lang="en-CA" dirty="0"/>
              <a:t>{</a:t>
            </a:r>
          </a:p>
          <a:p>
            <a:pPr marL="50800" indent="0">
              <a:buNone/>
            </a:pPr>
            <a:r>
              <a:rPr lang="en-CA" dirty="0" err="1"/>
              <a:t>anim.SetTrigger</a:t>
            </a:r>
            <a:r>
              <a:rPr lang="en-CA" dirty="0"/>
              <a:t>("Dance_01");</a:t>
            </a:r>
          </a:p>
          <a:p>
            <a:pPr marL="50800" indent="0">
              <a:buNone/>
            </a:pPr>
            <a:r>
              <a:rPr lang="en-CA" dirty="0"/>
              <a:t>}</a:t>
            </a:r>
          </a:p>
          <a:p>
            <a:endParaRPr lang="en-US" dirty="0"/>
          </a:p>
        </p:txBody>
      </p:sp>
    </p:spTree>
    <p:extLst>
      <p:ext uri="{BB962C8B-B14F-4D97-AF65-F5344CB8AC3E}">
        <p14:creationId xmlns:p14="http://schemas.microsoft.com/office/powerpoint/2010/main" val="2796891413"/>
      </p:ext>
    </p:extLst>
  </p:cSld>
  <p:clrMapOvr>
    <a:masterClrMapping/>
  </p:clrMapOvr>
</p:sld>
</file>

<file path=ppt/theme/theme1.xml><?xml version="1.0" encoding="utf-8"?>
<a:theme xmlns:a="http://schemas.openxmlformats.org/drawingml/2006/main" name="Get Started with 3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3406</TotalTime>
  <Words>4144</Words>
  <Application>Microsoft Macintosh PowerPoint</Application>
  <PresentationFormat>Widescreen</PresentationFormat>
  <Paragraphs>273</Paragraphs>
  <Slides>38</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Calibri</vt:lpstr>
      <vt:lpstr>Quattrocento Sans</vt:lpstr>
      <vt:lpstr>Arial</vt:lpstr>
      <vt:lpstr>Get Started with 3D</vt:lpstr>
      <vt:lpstr>Week 9 Game Engine Development Unity Animation</vt:lpstr>
      <vt:lpstr>Objective &amp; Concept</vt:lpstr>
      <vt:lpstr>What does an animator do in Unity?</vt:lpstr>
      <vt:lpstr>Tools</vt:lpstr>
      <vt:lpstr>Why is animation important?</vt:lpstr>
      <vt:lpstr>Animation Clip</vt:lpstr>
      <vt:lpstr>Animation Editor</vt:lpstr>
      <vt:lpstr>Animation keyframes</vt:lpstr>
      <vt:lpstr>Tweening</vt:lpstr>
      <vt:lpstr>Keyframes</vt:lpstr>
      <vt:lpstr>Record button </vt:lpstr>
      <vt:lpstr>Playhead</vt:lpstr>
      <vt:lpstr>Animation Clips</vt:lpstr>
      <vt:lpstr>Sample Rate</vt:lpstr>
      <vt:lpstr>Curve Editor</vt:lpstr>
      <vt:lpstr>Easing</vt:lpstr>
      <vt:lpstr>Adjust the easing of the ball</vt:lpstr>
      <vt:lpstr>Create squash keyframes</vt:lpstr>
      <vt:lpstr>Create squash keyframes in Unity</vt:lpstr>
      <vt:lpstr>Create stretch keyframes</vt:lpstr>
      <vt:lpstr>Door Animation</vt:lpstr>
      <vt:lpstr>Animator Controller</vt:lpstr>
      <vt:lpstr>State Machine</vt:lpstr>
      <vt:lpstr>Create the default state</vt:lpstr>
      <vt:lpstr>Open the door</vt:lpstr>
      <vt:lpstr>Parameters</vt:lpstr>
      <vt:lpstr>Close the door</vt:lpstr>
      <vt:lpstr>Reset the State Machine</vt:lpstr>
      <vt:lpstr>Create the proximity trigger </vt:lpstr>
      <vt:lpstr>DoorTrigger Script</vt:lpstr>
      <vt:lpstr>Humanoid Animation System</vt:lpstr>
      <vt:lpstr>Configure the animation type</vt:lpstr>
      <vt:lpstr>Rig tab</vt:lpstr>
      <vt:lpstr>Configure the Animation Clip </vt:lpstr>
      <vt:lpstr>Configure the two remaining clips </vt:lpstr>
      <vt:lpstr>Add the new clips to the animation controller </vt:lpstr>
      <vt:lpstr>Create 3 parameters in the Animator and connect them to the new Animation Clips </vt:lpstr>
      <vt:lpstr>DanceParty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Hooman Salamat</dc:creator>
  <cp:lastModifiedBy>Hooman Salamat</cp:lastModifiedBy>
  <cp:revision>127</cp:revision>
  <dcterms:created xsi:type="dcterms:W3CDTF">2020-06-08T20:23:19Z</dcterms:created>
  <dcterms:modified xsi:type="dcterms:W3CDTF">2026-10-23T14:41:14Z</dcterms:modified>
</cp:coreProperties>
</file>