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260" r:id="rId3"/>
    <p:sldId id="258"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Lst>
  <p:sldSz cx="12192000" cy="6858000"/>
  <p:notesSz cx="6858000" cy="9144000"/>
  <p:embeddedFontLst>
    <p:embeddedFont>
      <p:font typeface="Quattrocento Sans" panose="020B0502050000020003" pitchFamily="34" charset="0"/>
      <p:regular r:id="rId41"/>
      <p:bold r:id="rId42"/>
      <p:italic r:id="rId43"/>
      <p:boldItalic r:id="rId44"/>
    </p:embeddedFont>
    <p:embeddedFont>
      <p:font typeface="Roboto" panose="02000000000000000000" pitchFamily="2" charset="0"/>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8" roundtripDataSignature="AMtx7miTxcueKrpZyVcEX48scNkCJ54u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89" d="100"/>
          <a:sy n="89" d="100"/>
        </p:scale>
        <p:origin x="3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10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100" Type="http://schemas.openxmlformats.org/officeDocument/2006/relationships/viewProps" Target="viewProps.xml"/><Relationship Id="rId8" Type="http://schemas.openxmlformats.org/officeDocument/2006/relationships/slide" Target="slides/slide7.xml"/><Relationship Id="rId98"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62"/>
          <p:cNvSpPr/>
          <p:nvPr/>
        </p:nvSpPr>
        <p:spPr>
          <a:xfrm>
            <a:off x="254950" y="262784"/>
            <a:ext cx="11682101" cy="633243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9" name="Google Shape;19;p62"/>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2"/>
          <p:cNvSpPr txBox="1">
            <a:spLocks noGrp="1"/>
          </p:cNvSpPr>
          <p:nvPr>
            <p:ph type="subTitle" idx="1"/>
          </p:nvPr>
        </p:nvSpPr>
        <p:spPr>
          <a:xfrm>
            <a:off x="1524000" y="3128009"/>
            <a:ext cx="9144000" cy="128767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latin typeface="Quattrocento Sans"/>
                <a:ea typeface="Quattrocento Sans"/>
                <a:cs typeface="Quattrocento Sans"/>
                <a:sym typeface="Quattrocento Sa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1" name="Google Shape;21;p62"/>
          <p:cNvPicPr preferRelativeResize="0"/>
          <p:nvPr/>
        </p:nvPicPr>
        <p:blipFill rotWithShape="1">
          <a:blip r:embed="rId2">
            <a:alphaModFix/>
          </a:blip>
          <a:srcRect l="1648" r="13926" b="71478"/>
          <a:stretch/>
        </p:blipFill>
        <p:spPr>
          <a:xfrm>
            <a:off x="342899" y="4546601"/>
            <a:ext cx="11715751" cy="2025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pic>
        <p:nvPicPr>
          <p:cNvPr id="26" name="Google Shape;26;p64"/>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27" name="Google Shape;27;p64"/>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6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pic>
        <p:nvPicPr>
          <p:cNvPr id="30" name="Google Shape;30;p65"/>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31" name="Google Shape;31;p65"/>
          <p:cNvSpPr txBox="1">
            <a:spLocks noGrp="1"/>
          </p:cNvSpPr>
          <p:nvPr>
            <p:ph type="body" idx="1"/>
          </p:nvPr>
        </p:nvSpPr>
        <p:spPr>
          <a:xfrm>
            <a:off x="1090862" y="1507068"/>
            <a:ext cx="3192379"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15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5"/>
          <p:cNvSpPr txBox="1">
            <a:spLocks noGrp="1"/>
          </p:cNvSpPr>
          <p:nvPr>
            <p:ph type="body" idx="2"/>
          </p:nvPr>
        </p:nvSpPr>
        <p:spPr>
          <a:xfrm>
            <a:off x="4395537" y="1507068"/>
            <a:ext cx="7143905"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sp>
        <p:nvSpPr>
          <p:cNvPr id="35" name="Google Shape;35;p66"/>
          <p:cNvSpPr/>
          <p:nvPr/>
        </p:nvSpPr>
        <p:spPr>
          <a:xfrm>
            <a:off x="254951" y="262784"/>
            <a:ext cx="11683049" cy="6332433"/>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6" name="Google Shape;36;p66"/>
          <p:cNvSpPr/>
          <p:nvPr/>
        </p:nvSpPr>
        <p:spPr>
          <a:xfrm>
            <a:off x="254950" y="262784"/>
            <a:ext cx="11682101" cy="207264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66"/>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6"/>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Quattrocento Sans"/>
                <a:ea typeface="Quattrocento Sans"/>
                <a:cs typeface="Quattrocento Sans"/>
                <a:sym typeface="Quattrocento Sans"/>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68"/>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5" name="Google Shape;45;p68"/>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
        <p:nvSpPr>
          <p:cNvPr id="46" name="Google Shape;46;p6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tandard">
  <p:cSld name="Standard">
    <p:spTree>
      <p:nvGrpSpPr>
        <p:cNvPr id="1" name="Shape 47"/>
        <p:cNvGrpSpPr/>
        <p:nvPr/>
      </p:nvGrpSpPr>
      <p:grpSpPr>
        <a:xfrm>
          <a:off x="0" y="0"/>
          <a:ext cx="0" cy="0"/>
          <a:chOff x="0" y="0"/>
          <a:chExt cx="0" cy="0"/>
        </a:xfrm>
      </p:grpSpPr>
      <p:sp>
        <p:nvSpPr>
          <p:cNvPr id="48" name="Google Shape;48;p69"/>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9" name="Google Shape;49;p69"/>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pic>
        <p:nvPicPr>
          <p:cNvPr id="50" name="Google Shape;50;p69"/>
          <p:cNvPicPr preferRelativeResize="0"/>
          <p:nvPr/>
        </p:nvPicPr>
        <p:blipFill rotWithShape="1">
          <a:blip r:embed="rId2">
            <a:alphaModFix/>
          </a:blip>
          <a:srcRect l="-41783" t="-3"/>
          <a:stretch/>
        </p:blipFill>
        <p:spPr>
          <a:xfrm>
            <a:off x="269032" y="4801396"/>
            <a:ext cx="11653936" cy="1786228"/>
          </a:xfrm>
          <a:prstGeom prst="rect">
            <a:avLst/>
          </a:prstGeom>
          <a:noFill/>
          <a:ln>
            <a:noFill/>
          </a:ln>
        </p:spPr>
      </p:pic>
      <p:sp>
        <p:nvSpPr>
          <p:cNvPr id="51" name="Google Shape;51;p6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 name="Google Shape;11;p6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A3838"/>
              </a:buClr>
              <a:buSzPts val="2800"/>
              <a:buFont typeface="Quattrocento Sans"/>
              <a:buNone/>
              <a:defRPr sz="2800" b="0" i="0" u="none" strike="noStrike" cap="none">
                <a:solidFill>
                  <a:srgbClr val="3A3838"/>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5" name="Google Shape;1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61"/>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unity3d.com/6000.1/Documentation/Manual/sprite/renderer/renderer-landing.html" TargetMode="External"/><Relationship Id="rId2" Type="http://schemas.openxmlformats.org/officeDocument/2006/relationships/hyperlink" Target="https://docs.unity3d.com/6000.1/Documentation/Manual/sprite/sprite-editor/sprite-editor-landing.html" TargetMode="External"/><Relationship Id="rId1" Type="http://schemas.openxmlformats.org/officeDocument/2006/relationships/slideLayout" Target="../slideLayouts/slideLayout2.xml"/><Relationship Id="rId5" Type="http://schemas.openxmlformats.org/officeDocument/2006/relationships/hyperlink" Target="https://docs.unity3d.com/6000.1/Documentation/Manual/sprite/placeholder/placeholder-landing.html" TargetMode="External"/><Relationship Id="rId4" Type="http://schemas.openxmlformats.org/officeDocument/2006/relationships/hyperlink" Target="https://docs.unity3d.com/6000.1/Documentation/Manual/class-MeshRenderer.html"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docs.unity3d.com/6000.1/Documentation/Manual/2Dor3D.html" TargetMode="External"/><Relationship Id="rId3" Type="http://schemas.openxmlformats.org/officeDocument/2006/relationships/hyperlink" Target="https://docs.unity3d.com/6000.1/Documentation/Manual/class-BoxCollider.html" TargetMode="External"/><Relationship Id="rId7" Type="http://schemas.openxmlformats.org/officeDocument/2006/relationships/hyperlink" Target="https://docs.unity3d.com/6000.1/Documentation/Manual/2d-physics/joints/hinge-joint-2d-reference.html" TargetMode="External"/><Relationship Id="rId2" Type="http://schemas.openxmlformats.org/officeDocument/2006/relationships/hyperlink" Target="https://docs.unity3d.com/6000.1/Documentation/Manual/class-Rigidbody.html" TargetMode="External"/><Relationship Id="rId1" Type="http://schemas.openxmlformats.org/officeDocument/2006/relationships/slideLayout" Target="../slideLayouts/slideLayout2.xml"/><Relationship Id="rId6" Type="http://schemas.openxmlformats.org/officeDocument/2006/relationships/hyperlink" Target="https://docs.unity3d.com/6000.1/Documentation/Manual/2d-physics/collider/box-collider-2d-reference.html" TargetMode="External"/><Relationship Id="rId5" Type="http://schemas.openxmlformats.org/officeDocument/2006/relationships/hyperlink" Target="https://docs.unity3d.com/6000.1/Documentation/Manual/2d-physics/rigidbody/introduction-to-rigidbody-2d.html" TargetMode="External"/><Relationship Id="rId4" Type="http://schemas.openxmlformats.org/officeDocument/2006/relationships/hyperlink" Target="https://docs.unity3d.com/6000.1/Documentation/Manual/class-HingeJoint.html"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docs.unity3d.com/Packages/com.unity.2d.tilemap.extras@latest" TargetMode="External"/><Relationship Id="rId3" Type="http://schemas.openxmlformats.org/officeDocument/2006/relationships/hyperlink" Target="https://docs.unity3d.com/Packages/com.unity.2d.psdimporter@latest" TargetMode="External"/><Relationship Id="rId7" Type="http://schemas.openxmlformats.org/officeDocument/2006/relationships/hyperlink" Target="https://docs.unity3d.com/6000.6/Documentation/Manual/tilemaps/work-with-tilemaps/tilemap-reference.html" TargetMode="External"/><Relationship Id="rId2" Type="http://schemas.openxmlformats.org/officeDocument/2006/relationships/hyperlink" Target="https://docs.unity3d.com/Packages/com.unity.2d.animation@latest" TargetMode="External"/><Relationship Id="rId1" Type="http://schemas.openxmlformats.org/officeDocument/2006/relationships/slideLayout" Target="../slideLayouts/slideLayout3.xml"/><Relationship Id="rId6" Type="http://schemas.openxmlformats.org/officeDocument/2006/relationships/hyperlink" Target="https://docs.unity3d.com/Packages/com.unity.2d.spriteshape@latest" TargetMode="External"/><Relationship Id="rId11" Type="http://schemas.openxmlformats.org/officeDocument/2006/relationships/hyperlink" Target="https://docs.unity3d.com/6000.6/Documentation/Manual/setup-project-2d-game.html#Optional2DPackages" TargetMode="External"/><Relationship Id="rId5" Type="http://schemas.openxmlformats.org/officeDocument/2006/relationships/hyperlink" Target="https://docs.unity3d.com/6000.6/Documentation/Manual/sprite/sprite-landing.html" TargetMode="External"/><Relationship Id="rId10" Type="http://schemas.openxmlformats.org/officeDocument/2006/relationships/hyperlink" Target="https://docs.unity3d.com/6000.6/Documentation/Manual/urp/creating-a-new-project-with-urp.html" TargetMode="External"/><Relationship Id="rId4" Type="http://schemas.openxmlformats.org/officeDocument/2006/relationships/hyperlink" Target="https://docs.unity3d.com/Packages/com.unity.2d.aseprite@latest" TargetMode="External"/><Relationship Id="rId9" Type="http://schemas.openxmlformats.org/officeDocument/2006/relationships/hyperlink" Target="https://docs.unity3d.com/6000.6/Documentation/Manual/2DFeature.html"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docs.unity3d.com/6000.6/Documentation/Manual/2d-game-creation-wokflow.html#Graphics" TargetMode="External"/><Relationship Id="rId13" Type="http://schemas.openxmlformats.org/officeDocument/2006/relationships/hyperlink" Target="https://docs.unity3d.com/6000.6/Documentation/Manual/2d-game-creation-wokflow.html#Profiling" TargetMode="External"/><Relationship Id="rId3" Type="http://schemas.openxmlformats.org/officeDocument/2006/relationships/hyperlink" Target="https://docs.unity3d.com/6000.6/Documentation/Manual/2d-game-creation-wokflow.html#Fundamentals" TargetMode="External"/><Relationship Id="rId7" Type="http://schemas.openxmlformats.org/officeDocument/2006/relationships/hyperlink" Target="https://docs.unity3d.com/6000.6/Documentation/Manual/2d-game-creation-wokflow.html#Animation" TargetMode="External"/><Relationship Id="rId12" Type="http://schemas.openxmlformats.org/officeDocument/2006/relationships/hyperlink" Target="https://docs.unity3d.com/6000.6/Documentation/Manual/2d-game-creation-wokflow.html#Accessibility" TargetMode="External"/><Relationship Id="rId2" Type="http://schemas.openxmlformats.org/officeDocument/2006/relationships/hyperlink" Target="https://docs.unity3d.com/6000.6/Documentation/Manual/setup-project-2d-game.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2d-game-creation-wokflow.html#Environment" TargetMode="External"/><Relationship Id="rId11" Type="http://schemas.openxmlformats.org/officeDocument/2006/relationships/hyperlink" Target="https://docs.unity3d.com/6000.6/Documentation/Manual/2d-game-creation-wokflow.html#UI" TargetMode="External"/><Relationship Id="rId5" Type="http://schemas.openxmlformats.org/officeDocument/2006/relationships/hyperlink" Target="https://docs.unity3d.com/6000.6/Documentation/Manual/2d-game-creation-wokflow.html#Sprites" TargetMode="External"/><Relationship Id="rId10" Type="http://schemas.openxmlformats.org/officeDocument/2006/relationships/hyperlink" Target="https://docs.unity3d.com/6000.6/Documentation/Manual/2d-game-creation-wokflow.html#Audio" TargetMode="External"/><Relationship Id="rId4" Type="http://schemas.openxmlformats.org/officeDocument/2006/relationships/hyperlink" Target="https://docs.unity3d.com/6000.6/Documentation/Manual/2d-game-creation-wokflow.html#Scripting" TargetMode="External"/><Relationship Id="rId9" Type="http://schemas.openxmlformats.org/officeDocument/2006/relationships/hyperlink" Target="https://docs.unity3d.com/6000.6/Documentation/Manual/2d-game-creation-wokflow.html#Physics" TargetMode="External"/><Relationship Id="rId14" Type="http://schemas.openxmlformats.org/officeDocument/2006/relationships/hyperlink" Target="https://docs.unity3d.com/6000.6/Documentation/Manual/2d-game-creation-wokflow.html#Publish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learn.unity.com/course/beginner-scripting?ampDeviceId=01368a47-6273-429c-b3f1-74149035d526&amp;ampSessionId=1789676357321&amp;ampTimestamp=1789763868376" TargetMode="External"/><Relationship Id="rId2" Type="http://schemas.openxmlformats.org/officeDocument/2006/relationships/hyperlink" Target="https://docs.unity3d.com/6000.6/Documentation/Manual/scripting.html" TargetMode="External"/><Relationship Id="rId1" Type="http://schemas.openxmlformats.org/officeDocument/2006/relationships/slideLayout" Target="../slideLayouts/slideLayout2.xml"/><Relationship Id="rId4" Type="http://schemas.openxmlformats.org/officeDocument/2006/relationships/hyperlink" Target="https://docs.unity3d.com/6000.6/Documentation/ScriptReference/MonoBehaviour.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unity3d.com/6000.6/Documentation/Manual/sprite/renderer/sprite-renderer-reference.html" TargetMode="Externa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ocs.unity3d.com/6000.6/Documentation/Manual/sprite/atlas/atlas-landing.html"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ocs.unity3d.com/6000.6/Documentation/Manual/sprite/9-slice/9-slice-landing.htm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ocs.unity3d.com/6000.6/Documentation/Manual/tilemaps/work-with-tilemaps/tilemap-reference.html"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docs.unity3d.com/Packages/com.unity.2d.animation@1.0/manual/index.html" TargetMode="External"/><Relationship Id="rId2" Type="http://schemas.openxmlformats.org/officeDocument/2006/relationships/hyperlink" Target="https://docs.unity3d.com/6000.6/Documentation/Manual/com.unity.2d.animation.html" TargetMode="Externa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ocs.unity3d.com/6000.6/Documentation/Manual/urp/Lights-2D-intro.html"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docs.unity3d.com/6000.6/Documentation/Manual/urp/2DShadows.html"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docs.unity3d.com/6000.6/Documentation/Manual/ParticleSystems.html"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docs.unity3d.com/6000.6/Documentation/Manual/urp/integration-with-post-processing.html"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docs.unity3d.com/6000.6/Documentation/Manual/2d-physics/rigidbody/introduction-to-rigidbody-2d.html"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docs.unity3d.com/6000.6/Documentation/Manual/2d-physics/collider/box-collider-2d-reference.html" TargetMode="External"/><Relationship Id="rId7" Type="http://schemas.openxmlformats.org/officeDocument/2006/relationships/hyperlink" Target="https://docs.unity3d.com/6000.6/Documentation/Manual/2d-physics/collider/composite-collider/composite-collider-2d-reference.html" TargetMode="External"/><Relationship Id="rId2" Type="http://schemas.openxmlformats.org/officeDocument/2006/relationships/hyperlink" Target="https://docs.unity3d.com/6000.6/Documentation/Manual/2d-physics/collider/circle-collider-2d-reference.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2d-physics/collider/capsule-collider/capsule-collider-2d-reference.html" TargetMode="External"/><Relationship Id="rId5" Type="http://schemas.openxmlformats.org/officeDocument/2006/relationships/hyperlink" Target="https://docs.unity3d.com/6000.6/Documentation/Manual/2d-physics/collider/edge-collider-2d-reference.html" TargetMode="External"/><Relationship Id="rId4" Type="http://schemas.openxmlformats.org/officeDocument/2006/relationships/hyperlink" Target="https://docs.unity3d.com/6000.6/Documentation/Manual/2d-physics/collider/polygon-collider-2d-reference.html"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hyperlink" Target="https://docs.unity3d.com/6000.6/Documentation/Manual/2d-physics/joints/hinge-joint-2d-landing.html" TargetMode="External"/><Relationship Id="rId13" Type="http://schemas.openxmlformats.org/officeDocument/2006/relationships/hyperlink" Target="https://docs.unity3d.com/6000.6/Documentation/Manual/2d-physics/joints/wheel-joint-2d-landing.html" TargetMode="External"/><Relationship Id="rId3" Type="http://schemas.openxmlformats.org/officeDocument/2006/relationships/hyperlink" Target="https://docs.unity3d.com/6000.6/Documentation/Manual/2d-physics/joints/introduction-to-2d-joints.html" TargetMode="External"/><Relationship Id="rId7" Type="http://schemas.openxmlformats.org/officeDocument/2006/relationships/hyperlink" Target="https://docs.unity3d.com/6000.6/Documentation/Manual/2d-physics/joints/friction-joint-2d-landing.html" TargetMode="External"/><Relationship Id="rId12" Type="http://schemas.openxmlformats.org/officeDocument/2006/relationships/hyperlink" Target="https://docs.unity3d.com/6000.6/Documentation/Manual/2d-physics/joints/target-joint-2d-landing.html" TargetMode="External"/><Relationship Id="rId2" Type="http://schemas.openxmlformats.org/officeDocument/2006/relationships/hyperlink" Target="https://docs.unity3d.com/6000.6/Documentation/Manual/2d-physics/joints/2d-joints-landing.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2d-physics/joints/fixed-joint-2d-landing.html" TargetMode="External"/><Relationship Id="rId11" Type="http://schemas.openxmlformats.org/officeDocument/2006/relationships/hyperlink" Target="https://docs.unity3d.com/6000.6/Documentation/Manual/2d-physics/joints/spring-joint-2d-landing.html" TargetMode="External"/><Relationship Id="rId5" Type="http://schemas.openxmlformats.org/officeDocument/2006/relationships/hyperlink" Target="https://docs.unity3d.com/6000.6/Documentation/Manual/2d-physics/joints/distance-joint-2d-landing.html" TargetMode="External"/><Relationship Id="rId10" Type="http://schemas.openxmlformats.org/officeDocument/2006/relationships/hyperlink" Target="https://docs.unity3d.com/6000.6/Documentation/Manual/2d-physics/joints/slider-joint-2d-landing.html" TargetMode="External"/><Relationship Id="rId4" Type="http://schemas.openxmlformats.org/officeDocument/2006/relationships/hyperlink" Target="https://docs.unity3d.com/6000.6/Documentation/Manual/2d-physics/joints/2d-joint-constraints.html" TargetMode="External"/><Relationship Id="rId9" Type="http://schemas.openxmlformats.org/officeDocument/2006/relationships/hyperlink" Target="https://docs.unity3d.com/6000.6/Documentation/Manual/2d-physics/joints/relative-joint-2d-landing.html"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docs.unity3d.com/6000.6/Documentation/Manual/2d-physics/effectors/buoyancy-effector-2d-reference.html" TargetMode="External"/><Relationship Id="rId3" Type="http://schemas.openxmlformats.org/officeDocument/2006/relationships/hyperlink" Target="https://docs.unity3d.com/6000.6/Documentation/Manual/2d-physics/collider/collider-2d-landing.html" TargetMode="External"/><Relationship Id="rId7" Type="http://schemas.openxmlformats.org/officeDocument/2006/relationships/hyperlink" Target="https://docs.unity3d.com/6000.6/Documentation/Manual/2d-physics/effectors/area-effector-2d-reference.html" TargetMode="External"/><Relationship Id="rId2" Type="http://schemas.openxmlformats.org/officeDocument/2006/relationships/hyperlink" Target="https://docs.unity3d.com/6000.6/Documentation/Manual/UsingComponents.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2d-physics/effectors/effectors-2d-landing.html" TargetMode="External"/><Relationship Id="rId11" Type="http://schemas.openxmlformats.org/officeDocument/2006/relationships/hyperlink" Target="https://docs.unity3d.com/6000.6/Documentation/Manual/2d-physics/effectors/surface-effector-2d-reference.html" TargetMode="External"/><Relationship Id="rId5" Type="http://schemas.openxmlformats.org/officeDocument/2006/relationships/hyperlink" Target="https://docs.unity3d.com/6000.6/Documentation/Manual/GameObjects.html" TargetMode="External"/><Relationship Id="rId10" Type="http://schemas.openxmlformats.org/officeDocument/2006/relationships/hyperlink" Target="https://docs.unity3d.com/6000.6/Documentation/Manual/2d-physics/effectors/platform-effector-2d-reference.html" TargetMode="External"/><Relationship Id="rId4" Type="http://schemas.openxmlformats.org/officeDocument/2006/relationships/hyperlink" Target="https://docs.unity3d.com/6000.6/Documentation/Manual/PhysicsSection.html" TargetMode="External"/><Relationship Id="rId9" Type="http://schemas.openxmlformats.org/officeDocument/2006/relationships/hyperlink" Target="https://docs.unity3d.com/6000.6/Documentation/Manual/2d-physics/effectors/point-effector-2d-referenc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hyperlink" Target="https://docs.unity3d.com/6000.6/Documentation/Manual/UIE-ui-renderer.html" TargetMode="External"/><Relationship Id="rId13" Type="http://schemas.openxmlformats.org/officeDocument/2006/relationships/hyperlink" Target="https://docs.unity3d.com/6000.6/Documentation/Manual/UIE-test-ui.html" TargetMode="External"/><Relationship Id="rId3" Type="http://schemas.openxmlformats.org/officeDocument/2006/relationships/hyperlink" Target="https://docs.unity3d.com/6000.6/Documentation/Manual/UIE-simple-ui-toolkit-workflow.html" TargetMode="External"/><Relationship Id="rId7" Type="http://schemas.openxmlformats.org/officeDocument/2006/relationships/hyperlink" Target="https://docs.unity3d.com/6000.6/Documentation/Manual/UIE-Events.html" TargetMode="External"/><Relationship Id="rId12" Type="http://schemas.openxmlformats.org/officeDocument/2006/relationships/hyperlink" Target="https://docs.unity3d.com/6000.6/Documentation/Manual/UIE-work-with-text.html" TargetMode="External"/><Relationship Id="rId2" Type="http://schemas.openxmlformats.org/officeDocument/2006/relationships/hyperlink" Target="https://docs.unity3d.com/6000.6/Documentation/Manual/ui-systems/introduction-ui-toolkit.html" TargetMode="External"/><Relationship Id="rId1" Type="http://schemas.openxmlformats.org/officeDocument/2006/relationships/slideLayout" Target="../slideLayouts/slideLayout2.xml"/><Relationship Id="rId6" Type="http://schemas.openxmlformats.org/officeDocument/2006/relationships/hyperlink" Target="https://docs.unity3d.com/6000.6/Documentation/Manual/UIE-USS.html" TargetMode="External"/><Relationship Id="rId11" Type="http://schemas.openxmlformats.org/officeDocument/2006/relationships/hyperlink" Target="https://docs.unity3d.com/6000.6/Documentation/Manual/UIE-support-for-runtime-ui.html" TargetMode="External"/><Relationship Id="rId5" Type="http://schemas.openxmlformats.org/officeDocument/2006/relationships/hyperlink" Target="https://docs.unity3d.com/6000.6/Documentation/Manual/UIE-structure-ui.html" TargetMode="External"/><Relationship Id="rId15" Type="http://schemas.openxmlformats.org/officeDocument/2006/relationships/hyperlink" Target="https://docs.unity3d.com/6000.6/Documentation/Manual/UIE-migration-guides.html" TargetMode="External"/><Relationship Id="rId10" Type="http://schemas.openxmlformats.org/officeDocument/2006/relationships/hyperlink" Target="https://docs.unity3d.com/6000.6/Documentation/Manual/UIE-support-for-editor-ui.html" TargetMode="External"/><Relationship Id="rId4" Type="http://schemas.openxmlformats.org/officeDocument/2006/relationships/hyperlink" Target="https://docs.unity3d.com/6000.6/Documentation/Manual/UIBuilder.html" TargetMode="External"/><Relationship Id="rId9" Type="http://schemas.openxmlformats.org/officeDocument/2006/relationships/hyperlink" Target="https://docs.unity3d.com/6000.6/Documentation/Manual/UIE-data-binding.html" TargetMode="External"/><Relationship Id="rId14" Type="http://schemas.openxmlformats.org/officeDocument/2006/relationships/hyperlink" Target="https://docs.unity3d.com/6000.6/Documentation/Manual/UIE-examples.html"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docs.unity3d.com/6000.6/Documentation/Manual/accessibility/screen-readers-get-started.html" TargetMode="External"/><Relationship Id="rId2" Type="http://schemas.openxmlformats.org/officeDocument/2006/relationships/hyperlink" Target="https://docs.unity3d.com/6000.6/Documentation/Manual/accessibility/module-intro.html" TargetMode="External"/><Relationship Id="rId1" Type="http://schemas.openxmlformats.org/officeDocument/2006/relationships/slideLayout" Target="../slideLayouts/slideLayout3.xml"/><Relationship Id="rId5" Type="http://schemas.openxmlformats.org/officeDocument/2006/relationships/hyperlink" Target="https://docs.unity3d.com/6000.6/Documentation/Manual/accessibility/accessibility-concepts/_index.html" TargetMode="External"/><Relationship Id="rId4" Type="http://schemas.openxmlformats.org/officeDocument/2006/relationships/hyperlink" Target="https://docs.unity3d.com/6000.6/Documentation/Manual/accessibility/module-architecture.html"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docs.unity3d.com/6000.6/Documentation/Manual/profiling-target-device.html" TargetMode="External"/><Relationship Id="rId2" Type="http://schemas.openxmlformats.org/officeDocument/2006/relationships/hyperlink" Target="https://docs.unity3d.com/6000.6/Documentation/Manual/profiling-collect-data-introduction.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profiler-build-settings-reference.html" TargetMode="External"/><Relationship Id="rId5" Type="http://schemas.openxmlformats.org/officeDocument/2006/relationships/hyperlink" Target="https://docs.unity3d.com/6000.6/Documentation/Manual/profiling-edit-mode.html" TargetMode="External"/><Relationship Id="rId4" Type="http://schemas.openxmlformats.org/officeDocument/2006/relationships/hyperlink" Target="https://docs.unity3d.com/6000.6/Documentation/Manual/profiling-play-mode.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hyperlink" Target="https://docs.unity3d.com/6000.6/Documentation/Manual/StreamingAssets.html" TargetMode="External"/><Relationship Id="rId3" Type="http://schemas.openxmlformats.org/officeDocument/2006/relationships/hyperlink" Target="https://docs.unity3d.com/6000.6/Documentation/Manual/build-content-output.html" TargetMode="External"/><Relationship Id="rId7" Type="http://schemas.openxmlformats.org/officeDocument/2006/relationships/hyperlink" Target="https://docs.unity3d.com/6000.6/Documentation/Manual/build-customize-build-pipeline.html" TargetMode="External"/><Relationship Id="rId2" Type="http://schemas.openxmlformats.org/officeDocument/2006/relationships/hyperlink" Target="https://docs.unity3d.com/6000.6/Documentation/Manual/building-introduction.html" TargetMode="External"/><Relationship Id="rId1" Type="http://schemas.openxmlformats.org/officeDocument/2006/relationships/slideLayout" Target="../slideLayouts/slideLayout3.xml"/><Relationship Id="rId6" Type="http://schemas.openxmlformats.org/officeDocument/2006/relationships/hyperlink" Target="https://docs.unity3d.com/6000.6/Documentation/Manual/build-scripts-only.html" TargetMode="External"/><Relationship Id="rId11" Type="http://schemas.openxmlformats.org/officeDocument/2006/relationships/hyperlink" Target="https://docs.unity3d.com/6000.6/Documentation/Manual/build-analyze-builds.html" TargetMode="External"/><Relationship Id="rId5" Type="http://schemas.openxmlformats.org/officeDocument/2006/relationships/hyperlink" Target="https://docs.unity3d.com/6000.6/Documentation/Manual/build-clean-build.html" TargetMode="External"/><Relationship Id="rId10" Type="http://schemas.openxmlformats.org/officeDocument/2006/relationships/hyperlink" Target="https://docs.unity3d.com/6000.6/Documentation/Manual/build-deterministic-builds.html" TargetMode="External"/><Relationship Id="rId4" Type="http://schemas.openxmlformats.org/officeDocument/2006/relationships/hyperlink" Target="https://docs.unity3d.com/6000.6/Documentation/Manual/BuildSettings.html" TargetMode="External"/><Relationship Id="rId9" Type="http://schemas.openxmlformats.org/officeDocument/2006/relationships/hyperlink" Target="https://docs.unity3d.com/6000.6/Documentation/Manual/ReducingFilesize.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docs.unity3d.com/6000.6/Documentation/Manual/CamerasOverview.html" TargetMode="Externa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p>
            <a:pPr marL="0" lvl="0" indent="0" algn="l" rtl="0">
              <a:lnSpc>
                <a:spcPct val="100000"/>
              </a:lnSpc>
              <a:spcBef>
                <a:spcPts val="0"/>
              </a:spcBef>
              <a:spcAft>
                <a:spcPts val="0"/>
              </a:spcAft>
              <a:buClr>
                <a:schemeClr val="lt1"/>
              </a:buClr>
              <a:buSzPts val="4800"/>
              <a:buFont typeface="Quattrocento Sans"/>
              <a:buNone/>
            </a:pPr>
            <a:r>
              <a:rPr lang="en-US" dirty="0"/>
              <a:t>Week 3</a:t>
            </a:r>
            <a:br>
              <a:rPr lang="en-US" dirty="0"/>
            </a:br>
            <a:r>
              <a:rPr lang="en-US" dirty="0"/>
              <a:t>Game Engine Development Unity</a:t>
            </a:r>
            <a:br>
              <a:rPr lang="en-US" dirty="0"/>
            </a:br>
            <a:r>
              <a:rPr lang="en-US" dirty="0"/>
              <a:t>2D Game Development</a:t>
            </a:r>
            <a:endParaRPr dirty="0"/>
          </a:p>
        </p:txBody>
      </p:sp>
      <p:sp>
        <p:nvSpPr>
          <p:cNvPr id="58" name="Google Shape;58;p1"/>
          <p:cNvSpPr txBox="1"/>
          <p:nvPr/>
        </p:nvSpPr>
        <p:spPr>
          <a:xfrm>
            <a:off x="8077762" y="5255593"/>
            <a:ext cx="2447364" cy="49523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Hooman Salamat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Objective &amp; Concept</a:t>
            </a:r>
            <a:endParaRPr/>
          </a:p>
        </p:txBody>
      </p:sp>
      <p:sp>
        <p:nvSpPr>
          <p:cNvPr id="87" name="Google Shape;87;p5"/>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F3F3F"/>
              </a:buClr>
              <a:buSzPts val="1500"/>
              <a:buNone/>
            </a:pPr>
            <a:r>
              <a:rPr lang="en-US" sz="1500" b="1" dirty="0"/>
              <a:t>Objective</a:t>
            </a:r>
            <a:endParaRPr sz="1500" dirty="0"/>
          </a:p>
          <a:p>
            <a:pPr marL="228600" lvl="0" indent="-228600">
              <a:buSzPts val="1500"/>
            </a:pPr>
            <a:r>
              <a:rPr lang="en-CA" sz="1600" dirty="0"/>
              <a:t>Get started with 2D game development</a:t>
            </a:r>
          </a:p>
          <a:p>
            <a:pPr marL="0" lvl="0" indent="0">
              <a:buSzPts val="1500"/>
              <a:buNone/>
            </a:pPr>
            <a:r>
              <a:rPr lang="en-US" sz="1500" b="1" dirty="0"/>
              <a:t>Concepts </a:t>
            </a:r>
            <a:endParaRPr dirty="0"/>
          </a:p>
          <a:p>
            <a:pPr marL="228600" lvl="0" indent="-228600">
              <a:buSzPts val="1500"/>
            </a:pPr>
            <a:r>
              <a:rPr lang="en-US" sz="1400" dirty="0"/>
              <a:t>You can use the Unity Editor to create projects in 3D and 2D. Read this section to learn how to develop 2D projects in the Editor, including how to use sprites, create </a:t>
            </a:r>
            <a:r>
              <a:rPr lang="en-US" sz="1400" dirty="0" err="1"/>
              <a:t>Tilemaps</a:t>
            </a:r>
            <a:r>
              <a:rPr lang="en-US" sz="1400" dirty="0"/>
              <a:t>, and use the 2D physics system.</a:t>
            </a:r>
            <a:endParaRPr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00"/>
              <a:buFont typeface="Quattrocento Sans"/>
              <a:buNone/>
            </a:pPr>
            <a:r>
              <a:rPr lang="en-US" dirty="0"/>
              <a:t>Many areas of Unity’s documentation apply to both 2D and 3D development. </a:t>
            </a:r>
          </a:p>
          <a:p>
            <a:pPr marL="0" lvl="0" indent="0" algn="l" rtl="0">
              <a:lnSpc>
                <a:spcPct val="90000"/>
              </a:lnSpc>
              <a:spcBef>
                <a:spcPts val="0"/>
              </a:spcBef>
              <a:spcAft>
                <a:spcPts val="0"/>
              </a:spcAft>
              <a:buClr>
                <a:schemeClr val="dk1"/>
              </a:buClr>
              <a:buSzPts val="300"/>
              <a:buFont typeface="Quattrocento Sans"/>
              <a:buNone/>
            </a:pPr>
            <a:endParaRPr lang="en-US" dirty="0"/>
          </a:p>
          <a:p>
            <a:pPr marL="0" lvl="0" indent="0" algn="l" rtl="0">
              <a:lnSpc>
                <a:spcPct val="90000"/>
              </a:lnSpc>
              <a:spcBef>
                <a:spcPts val="0"/>
              </a:spcBef>
              <a:spcAft>
                <a:spcPts val="0"/>
              </a:spcAft>
              <a:buClr>
                <a:schemeClr val="dk1"/>
              </a:buClr>
              <a:buSzPts val="300"/>
              <a:buFont typeface="Quattrocento Sans"/>
              <a:buNone/>
            </a:pPr>
            <a:r>
              <a:rPr lang="en-US" dirty="0"/>
              <a:t>This section focuses on 2D-specific features and functionality. </a:t>
            </a:r>
          </a:p>
          <a:p>
            <a:pPr marL="0" lvl="0" indent="0" algn="l" rtl="0">
              <a:lnSpc>
                <a:spcPct val="90000"/>
              </a:lnSpc>
              <a:spcBef>
                <a:spcPts val="0"/>
              </a:spcBef>
              <a:spcAft>
                <a:spcPts val="0"/>
              </a:spcAft>
              <a:buClr>
                <a:schemeClr val="dk1"/>
              </a:buClr>
              <a:buSzPts val="300"/>
              <a:buFont typeface="Quattrocento Sans"/>
              <a:buNone/>
            </a:pPr>
            <a:endParaRPr lang="en-US" dirty="0"/>
          </a:p>
          <a:p>
            <a:pPr marL="0" lvl="0" indent="0" algn="l" rtl="0">
              <a:lnSpc>
                <a:spcPct val="90000"/>
              </a:lnSpc>
              <a:spcBef>
                <a:spcPts val="0"/>
              </a:spcBef>
              <a:spcAft>
                <a:spcPts val="0"/>
              </a:spcAft>
              <a:buClr>
                <a:schemeClr val="dk1"/>
              </a:buClr>
              <a:buSzPts val="300"/>
              <a:buFont typeface="Quattrocento Sans"/>
              <a:buNone/>
            </a:pPr>
            <a:r>
              <a:rPr lang="en-US" dirty="0"/>
              <a:t>Gameplay in 2D</a:t>
            </a:r>
          </a:p>
          <a:p>
            <a:pPr marL="0" lvl="0" indent="0" algn="l" rtl="0">
              <a:lnSpc>
                <a:spcPct val="90000"/>
              </a:lnSpc>
              <a:spcBef>
                <a:spcPts val="0"/>
              </a:spcBef>
              <a:spcAft>
                <a:spcPts val="0"/>
              </a:spcAft>
              <a:buClr>
                <a:schemeClr val="dk1"/>
              </a:buClr>
              <a:buSzPts val="300"/>
              <a:buFont typeface="Quattrocento Sans"/>
              <a:buNone/>
            </a:pPr>
            <a:r>
              <a:rPr lang="en-US" dirty="0"/>
              <a:t>The familiar functions of the Unity Editor when you use 3D mode are still available but with helpful additions to simplify 2D development.</a:t>
            </a:r>
          </a:p>
          <a:p>
            <a:pPr marL="0" lvl="0" indent="0" algn="l" rtl="0">
              <a:lnSpc>
                <a:spcPct val="90000"/>
              </a:lnSpc>
              <a:spcBef>
                <a:spcPts val="0"/>
              </a:spcBef>
              <a:spcAft>
                <a:spcPts val="0"/>
              </a:spcAft>
              <a:buClr>
                <a:schemeClr val="dk1"/>
              </a:buClr>
              <a:buSzPts val="300"/>
              <a:buFont typeface="Quattrocento Sans"/>
              <a:buNone/>
            </a:pPr>
            <a:endParaRPr lang="en-US" dirty="0"/>
          </a:p>
          <a:p>
            <a:pPr marL="0" lvl="0" indent="0">
              <a:spcBef>
                <a:spcPts val="0"/>
              </a:spcBef>
              <a:buNone/>
            </a:pPr>
            <a:r>
              <a:rPr lang="en-CA" dirty="0"/>
              <a:t>The most noticeable feature is the </a:t>
            </a:r>
            <a:r>
              <a:rPr lang="en-CA" b="1" dirty="0"/>
              <a:t>2D</a:t>
            </a:r>
            <a:r>
              <a:rPr lang="en-CA" dirty="0"/>
              <a:t> view mode button in the </a:t>
            </a:r>
            <a:r>
              <a:rPr lang="en-CA" b="1" dirty="0"/>
              <a:t>toolbar </a:t>
            </a:r>
            <a:r>
              <a:rPr lang="en-CA" dirty="0"/>
              <a:t>of the </a:t>
            </a:r>
            <a:r>
              <a:rPr lang="en-CA" b="1" dirty="0"/>
              <a:t>Scene </a:t>
            </a:r>
            <a:r>
              <a:rPr lang="en-CA" dirty="0"/>
              <a:t>view. When you enable 2D mode, Unity will set an orthographic (perspective-free) view. </a:t>
            </a:r>
          </a:p>
          <a:p>
            <a:pPr marL="0" lvl="0" indent="0">
              <a:spcBef>
                <a:spcPts val="0"/>
              </a:spcBef>
              <a:buNone/>
            </a:pPr>
            <a:endParaRPr lang="en-CA" dirty="0"/>
          </a:p>
          <a:p>
            <a:pPr marL="0" lvl="0" indent="0">
              <a:spcBef>
                <a:spcPts val="0"/>
              </a:spcBef>
              <a:buNone/>
            </a:pPr>
            <a:r>
              <a:rPr lang="en-CA" dirty="0"/>
              <a:t>This view means that the </a:t>
            </a:r>
            <a:r>
              <a:rPr lang="en-CA" b="1" dirty="0"/>
              <a:t>camera </a:t>
            </a:r>
            <a:r>
              <a:rPr lang="en-CA" dirty="0"/>
              <a:t>looks along the z-axis with the y-axis increasing upwards, which enables you to visualize the scene and easily place </a:t>
            </a:r>
            <a:r>
              <a:rPr lang="en-CA" b="1" dirty="0"/>
              <a:t>2D objects</a:t>
            </a:r>
            <a:r>
              <a:rPr lang="en-CA" dirty="0"/>
              <a:t>.</a:t>
            </a:r>
            <a:endParaRPr lang="en-US" dirty="0"/>
          </a:p>
        </p:txBody>
      </p:sp>
      <p:sp>
        <p:nvSpPr>
          <p:cNvPr id="73" name="Google Shape;73;p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r>
              <a:rPr lang="en-CA" dirty="0"/>
              <a:t>Introduction to 2D</a:t>
            </a:r>
          </a:p>
        </p:txBody>
      </p:sp>
      <p:pic>
        <p:nvPicPr>
          <p:cNvPr id="2" name="Picture 1" descr="Scene viewed in 2D mode">
            <a:extLst>
              <a:ext uri="{FF2B5EF4-FFF2-40B4-BE49-F238E27FC236}">
                <a16:creationId xmlns:a16="http://schemas.microsoft.com/office/drawing/2014/main" id="{55C176C2-C4B9-91AB-43AE-208762D72149}"/>
              </a:ext>
            </a:extLst>
          </p:cNvPr>
          <p:cNvPicPr>
            <a:picLocks noChangeAspect="1"/>
          </p:cNvPicPr>
          <p:nvPr/>
        </p:nvPicPr>
        <p:blipFill>
          <a:blip r:embed="rId3"/>
          <a:stretch>
            <a:fillRect/>
          </a:stretch>
        </p:blipFill>
        <p:spPr>
          <a:xfrm>
            <a:off x="4051402" y="3629371"/>
            <a:ext cx="3101287" cy="21165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215599-8B74-5693-14C6-0C155CBB5286}"/>
              </a:ext>
            </a:extLst>
          </p:cNvPr>
          <p:cNvSpPr>
            <a:spLocks noGrp="1"/>
          </p:cNvSpPr>
          <p:nvPr>
            <p:ph type="body" idx="1"/>
          </p:nvPr>
        </p:nvSpPr>
        <p:spPr/>
        <p:txBody>
          <a:bodyPr/>
          <a:lstStyle/>
          <a:p>
            <a:r>
              <a:rPr lang="en-CA" dirty="0"/>
              <a:t>Graphic objects in 2D are known as </a:t>
            </a:r>
            <a:r>
              <a:rPr lang="en-CA" b="1" dirty="0"/>
              <a:t>Sprites</a:t>
            </a:r>
            <a:r>
              <a:rPr lang="en-CA" dirty="0"/>
              <a:t>. </a:t>
            </a:r>
          </a:p>
          <a:p>
            <a:r>
              <a:rPr lang="en-CA" dirty="0"/>
              <a:t>Sprites are standard textures, with special techniques for combining and managing </a:t>
            </a:r>
            <a:r>
              <a:rPr lang="en-CA" b="1" dirty="0"/>
              <a:t>sprite </a:t>
            </a:r>
            <a:r>
              <a:rPr lang="en-CA" dirty="0"/>
              <a:t>textures for efficiency and convenience during development. </a:t>
            </a:r>
          </a:p>
          <a:p>
            <a:r>
              <a:rPr lang="en-CA" dirty="0"/>
              <a:t>Unity provides a built-in </a:t>
            </a:r>
            <a:r>
              <a:rPr lang="en-CA" u="sng" dirty="0">
                <a:hlinkClick r:id="rId2"/>
              </a:rPr>
              <a:t>Sprite Editor</a:t>
            </a:r>
            <a:r>
              <a:rPr lang="en-CA" dirty="0"/>
              <a:t> to let you extract sprite graphics from a larger image. </a:t>
            </a:r>
          </a:p>
          <a:p>
            <a:r>
              <a:rPr lang="en-CA" dirty="0"/>
              <a:t>This enables you to edit many component images within a single texture in your image editor. </a:t>
            </a:r>
          </a:p>
          <a:p>
            <a:r>
              <a:rPr lang="en-CA" dirty="0"/>
              <a:t>You can use this, for example, to keep the arms, legs, and body of a character as separate elements within one image.</a:t>
            </a:r>
          </a:p>
          <a:p>
            <a:r>
              <a:rPr lang="en-CA" dirty="0"/>
              <a:t>Sprites are rendered with a </a:t>
            </a:r>
            <a:r>
              <a:rPr lang="en-CA" u="sng" dirty="0">
                <a:hlinkClick r:id="rId3"/>
              </a:rPr>
              <a:t>Sprite Renderer</a:t>
            </a:r>
            <a:r>
              <a:rPr lang="en-CA" u="sng" dirty="0"/>
              <a:t> </a:t>
            </a:r>
            <a:r>
              <a:rPr lang="en-CA" dirty="0"/>
              <a:t>component rather than the </a:t>
            </a:r>
            <a:r>
              <a:rPr lang="en-CA" u="sng" dirty="0">
                <a:hlinkClick r:id="rId4"/>
              </a:rPr>
              <a:t>Mesh Renderer</a:t>
            </a:r>
            <a:r>
              <a:rPr lang="en-CA" u="sng" dirty="0"/>
              <a:t> </a:t>
            </a:r>
            <a:r>
              <a:rPr lang="en-CA" dirty="0"/>
              <a:t>used with 3D objects. </a:t>
            </a:r>
          </a:p>
          <a:p>
            <a:r>
              <a:rPr lang="en-CA" dirty="0"/>
              <a:t>You can add this to a </a:t>
            </a:r>
            <a:r>
              <a:rPr lang="en-CA" dirty="0" err="1"/>
              <a:t>GameObject</a:t>
            </a:r>
            <a:r>
              <a:rPr lang="en-CA" dirty="0"/>
              <a:t> via the Components menu (</a:t>
            </a:r>
            <a:r>
              <a:rPr lang="en-CA" b="1" dirty="0"/>
              <a:t>Component</a:t>
            </a:r>
            <a:r>
              <a:rPr lang="en-CA" dirty="0"/>
              <a:t> &gt; </a:t>
            </a:r>
            <a:r>
              <a:rPr lang="en-CA" b="1" dirty="0"/>
              <a:t>Rendering</a:t>
            </a:r>
            <a:r>
              <a:rPr lang="en-CA" dirty="0"/>
              <a:t> &gt; </a:t>
            </a:r>
            <a:r>
              <a:rPr lang="en-CA" b="1" dirty="0"/>
              <a:t>Sprite Renderer</a:t>
            </a:r>
            <a:r>
              <a:rPr lang="en-CA" dirty="0"/>
              <a:t>) or you can create a </a:t>
            </a:r>
            <a:r>
              <a:rPr lang="en-CA" dirty="0" err="1"/>
              <a:t>GameObject</a:t>
            </a:r>
            <a:r>
              <a:rPr lang="en-CA" dirty="0"/>
              <a:t> directly with a Sprite Renderer already attached (menu: </a:t>
            </a:r>
            <a:r>
              <a:rPr lang="en-CA" b="1" dirty="0" err="1"/>
              <a:t>GameObject</a:t>
            </a:r>
            <a:r>
              <a:rPr lang="en-CA" dirty="0"/>
              <a:t> &gt; </a:t>
            </a:r>
            <a:r>
              <a:rPr lang="en-CA" b="1" dirty="0"/>
              <a:t>2D Object</a:t>
            </a:r>
            <a:r>
              <a:rPr lang="en-CA" dirty="0"/>
              <a:t> &gt; </a:t>
            </a:r>
            <a:r>
              <a:rPr lang="en-CA" b="1" dirty="0"/>
              <a:t>Sprite</a:t>
            </a:r>
            <a:r>
              <a:rPr lang="en-CA" dirty="0"/>
              <a:t>).</a:t>
            </a:r>
          </a:p>
          <a:p>
            <a:r>
              <a:rPr lang="en-CA" dirty="0"/>
              <a:t>You can also use a </a:t>
            </a:r>
            <a:r>
              <a:rPr lang="en-CA" u="sng" dirty="0">
                <a:hlinkClick r:id="rId5"/>
              </a:rPr>
              <a:t>Sprite Creator</a:t>
            </a:r>
            <a:r>
              <a:rPr lang="en-CA" dirty="0"/>
              <a:t> tool to make placeholder 2D images.</a:t>
            </a:r>
          </a:p>
          <a:p>
            <a:endParaRPr lang="en-US" dirty="0"/>
          </a:p>
        </p:txBody>
      </p:sp>
      <p:sp>
        <p:nvSpPr>
          <p:cNvPr id="3" name="Title 2">
            <a:extLst>
              <a:ext uri="{FF2B5EF4-FFF2-40B4-BE49-F238E27FC236}">
                <a16:creationId xmlns:a16="http://schemas.microsoft.com/office/drawing/2014/main" id="{12B16689-48D1-9893-3A89-F47903BD57EC}"/>
              </a:ext>
            </a:extLst>
          </p:cNvPr>
          <p:cNvSpPr>
            <a:spLocks noGrp="1"/>
          </p:cNvSpPr>
          <p:nvPr>
            <p:ph type="title"/>
          </p:nvPr>
        </p:nvSpPr>
        <p:spPr/>
        <p:txBody>
          <a:bodyPr>
            <a:normAutofit/>
          </a:bodyPr>
          <a:lstStyle/>
          <a:p>
            <a:r>
              <a:rPr lang="en-US" dirty="0"/>
              <a:t>2D graphics</a:t>
            </a:r>
          </a:p>
        </p:txBody>
      </p:sp>
    </p:spTree>
    <p:extLst>
      <p:ext uri="{BB962C8B-B14F-4D97-AF65-F5344CB8AC3E}">
        <p14:creationId xmlns:p14="http://schemas.microsoft.com/office/powerpoint/2010/main" val="328462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C1CA3C-31B7-05D0-BAD0-D357A577CA15}"/>
              </a:ext>
            </a:extLst>
          </p:cNvPr>
          <p:cNvSpPr>
            <a:spLocks noGrp="1"/>
          </p:cNvSpPr>
          <p:nvPr>
            <p:ph type="body" idx="1"/>
          </p:nvPr>
        </p:nvSpPr>
        <p:spPr/>
        <p:txBody>
          <a:bodyPr>
            <a:normAutofit/>
          </a:bodyPr>
          <a:lstStyle/>
          <a:p>
            <a:r>
              <a:rPr lang="en-CA" dirty="0"/>
              <a:t>Unity has a separate physics system to handle 2D physics so you can make use of optimizations only available with 2D. </a:t>
            </a:r>
          </a:p>
          <a:p>
            <a:r>
              <a:rPr lang="en-CA" dirty="0"/>
              <a:t>The components correspond to the standard 3D physics components such as </a:t>
            </a:r>
            <a:r>
              <a:rPr lang="en-CA" u="sng" dirty="0" err="1">
                <a:hlinkClick r:id="rId2"/>
              </a:rPr>
              <a:t>Rigidbody</a:t>
            </a:r>
            <a:r>
              <a:rPr lang="en-CA" dirty="0"/>
              <a:t>, </a:t>
            </a:r>
            <a:r>
              <a:rPr lang="en-CA" u="sng" dirty="0">
                <a:hlinkClick r:id="rId3"/>
              </a:rPr>
              <a:t>Box Collider</a:t>
            </a:r>
            <a:r>
              <a:rPr lang="en-CA" dirty="0"/>
              <a:t>, and </a:t>
            </a:r>
            <a:r>
              <a:rPr lang="en-CA" u="sng" dirty="0">
                <a:hlinkClick r:id="rId4"/>
              </a:rPr>
              <a:t>Hinge Joint</a:t>
            </a:r>
            <a:r>
              <a:rPr lang="en-CA" dirty="0"/>
              <a:t>, but with 2D appended to the name. </a:t>
            </a:r>
          </a:p>
          <a:p>
            <a:r>
              <a:rPr lang="en-CA" dirty="0"/>
              <a:t>You can equip sprites with </a:t>
            </a:r>
            <a:r>
              <a:rPr lang="en-CA" u="sng" dirty="0" err="1">
                <a:hlinkClick r:id="rId5"/>
              </a:rPr>
              <a:t>Rigidbody</a:t>
            </a:r>
            <a:r>
              <a:rPr lang="en-CA" u="sng" dirty="0">
                <a:hlinkClick r:id="rId5"/>
              </a:rPr>
              <a:t> 2D</a:t>
            </a:r>
            <a:r>
              <a:rPr lang="en-CA" dirty="0"/>
              <a:t>, </a:t>
            </a:r>
            <a:r>
              <a:rPr lang="en-CA" u="sng" dirty="0">
                <a:hlinkClick r:id="rId6"/>
              </a:rPr>
              <a:t>Box Collider 2D</a:t>
            </a:r>
            <a:r>
              <a:rPr lang="en-CA" dirty="0"/>
              <a:t>, and </a:t>
            </a:r>
            <a:r>
              <a:rPr lang="en-CA" u="sng" dirty="0">
                <a:hlinkClick r:id="rId7"/>
              </a:rPr>
              <a:t>Hinge Joint 2D</a:t>
            </a:r>
            <a:r>
              <a:rPr lang="en-CA" dirty="0"/>
              <a:t>. </a:t>
            </a:r>
          </a:p>
          <a:p>
            <a:r>
              <a:rPr lang="en-CA" dirty="0"/>
              <a:t>Most 2D physics components are flattened versions of the 3D equivalents (for example, </a:t>
            </a:r>
            <a:r>
              <a:rPr lang="en-CA" b="1" u="sng" dirty="0">
                <a:hlinkClick r:id="rId6"/>
              </a:rPr>
              <a:t>Box Collider 2D</a:t>
            </a:r>
            <a:r>
              <a:rPr lang="en-CA" dirty="0"/>
              <a:t> is a square while </a:t>
            </a:r>
            <a:r>
              <a:rPr lang="en-CA" b="1" u="sng" dirty="0">
                <a:hlinkClick r:id="rId3"/>
              </a:rPr>
              <a:t>Box Collider</a:t>
            </a:r>
            <a:r>
              <a:rPr lang="en-CA" dirty="0"/>
              <a:t> is a cube) but there are a few exceptions.</a:t>
            </a:r>
          </a:p>
          <a:p>
            <a:r>
              <a:rPr lang="en-CA" dirty="0"/>
              <a:t>For the full list of 2D physics components, refer to </a:t>
            </a:r>
            <a:r>
              <a:rPr lang="en-CA" u="sng" dirty="0">
                <a:hlinkClick r:id="rId8"/>
              </a:rPr>
              <a:t>2D or 3D Projects</a:t>
            </a:r>
            <a:r>
              <a:rPr lang="en-CA" dirty="0"/>
              <a:t>. </a:t>
            </a:r>
          </a:p>
          <a:p>
            <a:endParaRPr lang="en-US" dirty="0"/>
          </a:p>
        </p:txBody>
      </p:sp>
      <p:sp>
        <p:nvSpPr>
          <p:cNvPr id="3" name="Title 2">
            <a:extLst>
              <a:ext uri="{FF2B5EF4-FFF2-40B4-BE49-F238E27FC236}">
                <a16:creationId xmlns:a16="http://schemas.microsoft.com/office/drawing/2014/main" id="{27BF1D4C-6CE5-B34E-9747-FB00808DE388}"/>
              </a:ext>
            </a:extLst>
          </p:cNvPr>
          <p:cNvSpPr>
            <a:spLocks noGrp="1"/>
          </p:cNvSpPr>
          <p:nvPr>
            <p:ph type="title"/>
          </p:nvPr>
        </p:nvSpPr>
        <p:spPr/>
        <p:txBody>
          <a:bodyPr>
            <a:normAutofit/>
          </a:bodyPr>
          <a:lstStyle/>
          <a:p>
            <a:r>
              <a:rPr lang="en-US" dirty="0"/>
              <a:t>2D physics</a:t>
            </a:r>
          </a:p>
        </p:txBody>
      </p:sp>
    </p:spTree>
    <p:extLst>
      <p:ext uri="{BB962C8B-B14F-4D97-AF65-F5344CB8AC3E}">
        <p14:creationId xmlns:p14="http://schemas.microsoft.com/office/powerpoint/2010/main" val="284254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CCBC46-0CD6-8042-1266-326666C7E87D}"/>
              </a:ext>
            </a:extLst>
          </p:cNvPr>
          <p:cNvSpPr>
            <a:spLocks noGrp="1"/>
          </p:cNvSpPr>
          <p:nvPr>
            <p:ph type="body" idx="1"/>
          </p:nvPr>
        </p:nvSpPr>
        <p:spPr/>
        <p:txBody>
          <a:bodyPr/>
          <a:lstStyle/>
          <a:p>
            <a:br>
              <a:rPr lang="en-CA" dirty="0"/>
            </a:br>
            <a:endParaRPr lang="en-US" dirty="0"/>
          </a:p>
        </p:txBody>
      </p:sp>
      <p:sp>
        <p:nvSpPr>
          <p:cNvPr id="3" name="Text Placeholder 2">
            <a:extLst>
              <a:ext uri="{FF2B5EF4-FFF2-40B4-BE49-F238E27FC236}">
                <a16:creationId xmlns:a16="http://schemas.microsoft.com/office/drawing/2014/main" id="{D0C25D4B-2E2C-464A-8E79-2C93DAE55AEB}"/>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223B6CE6-1049-756E-2393-80401A79B0C3}"/>
              </a:ext>
            </a:extLst>
          </p:cNvPr>
          <p:cNvSpPr>
            <a:spLocks noGrp="1"/>
          </p:cNvSpPr>
          <p:nvPr>
            <p:ph type="title"/>
          </p:nvPr>
        </p:nvSpPr>
        <p:spPr/>
        <p:txBody>
          <a:bodyPr>
            <a:normAutofit/>
          </a:bodyPr>
          <a:lstStyle/>
          <a:p>
            <a:r>
              <a:rPr lang="en-US" dirty="0"/>
              <a:t>Set up a project for 2D games with the Universal 2D template</a:t>
            </a:r>
          </a:p>
        </p:txBody>
      </p:sp>
      <p:graphicFrame>
        <p:nvGraphicFramePr>
          <p:cNvPr id="6" name="Table 5">
            <a:extLst>
              <a:ext uri="{FF2B5EF4-FFF2-40B4-BE49-F238E27FC236}">
                <a16:creationId xmlns:a16="http://schemas.microsoft.com/office/drawing/2014/main" id="{1DA31E68-F7B0-0E8D-CAF9-010BACE4CBD0}"/>
              </a:ext>
            </a:extLst>
          </p:cNvPr>
          <p:cNvGraphicFramePr>
            <a:graphicFrameLocks noGrp="1"/>
          </p:cNvGraphicFramePr>
          <p:nvPr>
            <p:extLst>
              <p:ext uri="{D42A27DB-BD31-4B8C-83A1-F6EECF244321}">
                <p14:modId xmlns:p14="http://schemas.microsoft.com/office/powerpoint/2010/main" val="3690625604"/>
              </p:ext>
            </p:extLst>
          </p:nvPr>
        </p:nvGraphicFramePr>
        <p:xfrm>
          <a:off x="4488872" y="1643287"/>
          <a:ext cx="7319244" cy="3855728"/>
        </p:xfrm>
        <a:graphic>
          <a:graphicData uri="http://schemas.openxmlformats.org/drawingml/2006/table">
            <a:tbl>
              <a:tblPr>
                <a:tableStyleId>{5C22544A-7EE6-4342-B048-85BDC9FD1C3A}</a:tableStyleId>
              </a:tblPr>
              <a:tblGrid>
                <a:gridCol w="3659622">
                  <a:extLst>
                    <a:ext uri="{9D8B030D-6E8A-4147-A177-3AD203B41FA5}">
                      <a16:colId xmlns:a16="http://schemas.microsoft.com/office/drawing/2014/main" val="4286265241"/>
                    </a:ext>
                  </a:extLst>
                </a:gridCol>
                <a:gridCol w="3659622">
                  <a:extLst>
                    <a:ext uri="{9D8B030D-6E8A-4147-A177-3AD203B41FA5}">
                      <a16:colId xmlns:a16="http://schemas.microsoft.com/office/drawing/2014/main" val="2366209072"/>
                    </a:ext>
                  </a:extLst>
                </a:gridCol>
              </a:tblGrid>
              <a:tr h="191533">
                <a:tc>
                  <a:txBody>
                    <a:bodyPr/>
                    <a:lstStyle/>
                    <a:p>
                      <a:pPr marL="0" marR="0" algn="l">
                        <a:spcAft>
                          <a:spcPts val="1500"/>
                        </a:spcAft>
                        <a:buNone/>
                      </a:pPr>
                      <a:r>
                        <a:rPr lang="en-CA" sz="1200">
                          <a:effectLst/>
                        </a:rPr>
                        <a:t>Package</a:t>
                      </a:r>
                      <a:endParaRPr lang="en-CA" sz="1200" b="0" i="0">
                        <a:solidFill>
                          <a:srgbClr val="455463"/>
                        </a:solidFill>
                        <a:effectLst/>
                        <a:latin typeface="Roboto" panose="02000000000000000000" pitchFamily="2" charset="0"/>
                      </a:endParaRPr>
                    </a:p>
                  </a:txBody>
                  <a:tcPr marL="47625" marR="47625" marT="23813" marB="23813"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7625" marR="47625" marT="23813" marB="23813" anchor="ctr"/>
                </a:tc>
                <a:extLst>
                  <a:ext uri="{0D108BD9-81ED-4DB2-BD59-A6C34878D82A}">
                    <a16:rowId xmlns:a16="http://schemas.microsoft.com/office/drawing/2014/main" val="583188345"/>
                  </a:ext>
                </a:extLst>
              </a:tr>
              <a:tr h="343493">
                <a:tc>
                  <a:txBody>
                    <a:bodyPr/>
                    <a:lstStyle/>
                    <a:p>
                      <a:pPr marL="0" marR="0" algn="l" fontAlgn="t">
                        <a:spcAft>
                          <a:spcPts val="1500"/>
                        </a:spcAft>
                        <a:buNone/>
                      </a:pPr>
                      <a:r>
                        <a:rPr lang="en-CA" sz="1200" u="sng" dirty="0">
                          <a:effectLst/>
                          <a:hlinkClick r:id="rId2"/>
                        </a:rPr>
                        <a:t>2D Animation</a:t>
                      </a:r>
                      <a:endParaRPr lang="en-CA" sz="1200" b="0" i="0" dirty="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This package includes features and tools to rig your 2D characters and sprites for skeletal animation.</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300414436"/>
                  </a:ext>
                </a:extLst>
              </a:tr>
              <a:tr h="495452">
                <a:tc>
                  <a:txBody>
                    <a:bodyPr/>
                    <a:lstStyle/>
                    <a:p>
                      <a:pPr marL="0" marR="0" algn="l" fontAlgn="t">
                        <a:spcAft>
                          <a:spcPts val="1500"/>
                        </a:spcAft>
                        <a:buNone/>
                      </a:pPr>
                      <a:r>
                        <a:rPr lang="en-CA" sz="1200" u="sng" dirty="0">
                          <a:effectLst/>
                          <a:hlinkClick r:id="rId3"/>
                        </a:rPr>
                        <a:t>2D PSD Importer</a:t>
                      </a:r>
                      <a:endParaRPr lang="en-CA" sz="1200" b="0" i="0" dirty="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This package allows you to import multilayered PSD files from Adobe Photoshop. You can use this for your sprites, or to rig your characters.</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407549142"/>
                  </a:ext>
                </a:extLst>
              </a:tr>
              <a:tr h="343493">
                <a:tc>
                  <a:txBody>
                    <a:bodyPr/>
                    <a:lstStyle/>
                    <a:p>
                      <a:pPr marL="0" marR="0" algn="l" fontAlgn="t">
                        <a:spcAft>
                          <a:spcPts val="1500"/>
                        </a:spcAft>
                        <a:buNone/>
                      </a:pPr>
                      <a:r>
                        <a:rPr lang="en-CA" sz="1200" u="sng">
                          <a:effectLst/>
                          <a:hlinkClick r:id="rId4"/>
                        </a:rPr>
                        <a:t>2D Aseprite Importer</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This package is an asset importer that imports Aseprite’s .ase and .aseprite files into Unity.</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632822353"/>
                  </a:ext>
                </a:extLst>
              </a:tr>
              <a:tr h="343493">
                <a:tc>
                  <a:txBody>
                    <a:bodyPr/>
                    <a:lstStyle/>
                    <a:p>
                      <a:pPr marL="0" marR="0" algn="l" fontAlgn="t">
                        <a:spcAft>
                          <a:spcPts val="1500"/>
                        </a:spcAft>
                        <a:buNone/>
                      </a:pPr>
                      <a:r>
                        <a:rPr lang="en-CA" sz="1200" u="sng">
                          <a:effectLst/>
                          <a:hlinkClick r:id="rId5"/>
                        </a:rPr>
                        <a:t>2D Sprite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This package provides the Sprite Editor to create and edit sprite assets.</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706057558"/>
                  </a:ext>
                </a:extLst>
              </a:tr>
              <a:tr h="343493">
                <a:tc>
                  <a:txBody>
                    <a:bodyPr/>
                    <a:lstStyle/>
                    <a:p>
                      <a:pPr marL="0" marR="0" algn="l" fontAlgn="t">
                        <a:spcAft>
                          <a:spcPts val="1500"/>
                        </a:spcAft>
                        <a:buNone/>
                      </a:pPr>
                      <a:r>
                        <a:rPr lang="en-CA" sz="1200" u="sng">
                          <a:effectLst/>
                          <a:hlinkClick r:id="rId6"/>
                        </a:rPr>
                        <a:t>2D SpriteShape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This package allows you to create organic shapes and terrain, similar to a vector drawing tool.</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242180203"/>
                  </a:ext>
                </a:extLst>
              </a:tr>
              <a:tr h="495452">
                <a:tc>
                  <a:txBody>
                    <a:bodyPr/>
                    <a:lstStyle/>
                    <a:p>
                      <a:pPr marL="0" marR="0" algn="l" fontAlgn="t">
                        <a:spcAft>
                          <a:spcPts val="1500"/>
                        </a:spcAft>
                        <a:buNone/>
                      </a:pPr>
                      <a:r>
                        <a:rPr lang="en-CA" sz="1200" u="sng">
                          <a:effectLst/>
                          <a:hlinkClick r:id="rId7"/>
                        </a:rPr>
                        <a:t>2D Tilemap Editor</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This package allows you to create grid-based worlds with square, hexagonal or isometric tiles. Add your tiles to the tile palette, and paint and fill tile grids using different settings and Brushes.</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3262094078"/>
                  </a:ext>
                </a:extLst>
              </a:tr>
              <a:tr h="343493">
                <a:tc>
                  <a:txBody>
                    <a:bodyPr/>
                    <a:lstStyle/>
                    <a:p>
                      <a:pPr marL="0" marR="0" algn="l" fontAlgn="t">
                        <a:spcAft>
                          <a:spcPts val="1500"/>
                        </a:spcAft>
                        <a:buNone/>
                      </a:pPr>
                      <a:r>
                        <a:rPr lang="en-CA" sz="1200" u="sng">
                          <a:effectLst/>
                          <a:hlinkClick r:id="rId8"/>
                        </a:rPr>
                        <a:t>2D Tilemap Extras</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dirty="0">
                          <a:effectLst/>
                        </a:rPr>
                        <a:t>This package contains extra scripts for use with the 2D </a:t>
                      </a:r>
                      <a:r>
                        <a:rPr lang="en-CA" sz="1200" dirty="0" err="1">
                          <a:effectLst/>
                        </a:rPr>
                        <a:t>Tilemap</a:t>
                      </a:r>
                      <a:r>
                        <a:rPr lang="en-CA" sz="1200" dirty="0">
                          <a:effectLst/>
                        </a:rPr>
                        <a:t> Editor package, including custom tiles and Brushes.</a:t>
                      </a:r>
                      <a:endParaRPr lang="en-CA" sz="1200" b="0" i="0" dirty="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3261185749"/>
                  </a:ext>
                </a:extLst>
              </a:tr>
            </a:tbl>
          </a:graphicData>
        </a:graphic>
      </p:graphicFrame>
      <p:sp>
        <p:nvSpPr>
          <p:cNvPr id="8" name="TextBox 7">
            <a:extLst>
              <a:ext uri="{FF2B5EF4-FFF2-40B4-BE49-F238E27FC236}">
                <a16:creationId xmlns:a16="http://schemas.microsoft.com/office/drawing/2014/main" id="{4D406F16-7B63-CDF9-1CC3-F2D9DBCDF4FE}"/>
              </a:ext>
            </a:extLst>
          </p:cNvPr>
          <p:cNvSpPr txBox="1"/>
          <p:nvPr/>
        </p:nvSpPr>
        <p:spPr>
          <a:xfrm>
            <a:off x="652558" y="1889556"/>
            <a:ext cx="3521409" cy="3775393"/>
          </a:xfrm>
          <a:prstGeom prst="rect">
            <a:avLst/>
          </a:prstGeom>
          <a:noFill/>
        </p:spPr>
        <p:txBody>
          <a:bodyPr wrap="square">
            <a:spAutoFit/>
          </a:bodyPr>
          <a:lstStyle/>
          <a:p>
            <a:pPr marL="0" marR="0" indent="0" algn="l">
              <a:spcAft>
                <a:spcPts val="1125"/>
              </a:spcAft>
              <a:buNone/>
            </a:pPr>
            <a:r>
              <a:rPr lang="en-CA" b="0" i="0" dirty="0">
                <a:solidFill>
                  <a:srgbClr val="000000"/>
                </a:solidFill>
                <a:effectLst/>
                <a:latin typeface="Arial"/>
              </a:rPr>
              <a:t>Create a project with the Universal 2D template. The template automatically installs the </a:t>
            </a:r>
            <a:r>
              <a:rPr lang="en-CA" b="0" i="0" u="sng" dirty="0">
                <a:solidFill>
                  <a:srgbClr val="000000"/>
                </a:solidFill>
                <a:effectLst/>
                <a:latin typeface="Arial"/>
                <a:hlinkClick r:id="rId9"/>
              </a:rPr>
              <a:t>2D feature set</a:t>
            </a:r>
            <a:r>
              <a:rPr lang="en-CA" b="0" i="0" dirty="0">
                <a:solidFill>
                  <a:srgbClr val="000000"/>
                </a:solidFill>
                <a:effectLst/>
                <a:latin typeface="Arial"/>
              </a:rPr>
              <a:t> collection of packages, giving you a suite of tools and features specifically designed to support 2D game development.</a:t>
            </a:r>
          </a:p>
          <a:p>
            <a:pPr marL="0" marR="0" indent="0" algn="l">
              <a:spcAft>
                <a:spcPts val="1125"/>
              </a:spcAft>
              <a:buNone/>
            </a:pPr>
            <a:r>
              <a:rPr lang="en-CA" b="0" i="0" dirty="0">
                <a:solidFill>
                  <a:srgbClr val="000000"/>
                </a:solidFill>
                <a:effectLst/>
                <a:latin typeface="Arial"/>
              </a:rPr>
              <a:t>Follow these steps:</a:t>
            </a:r>
          </a:p>
          <a:p>
            <a:pPr marL="342900" marR="0" lvl="0" indent="-342900" algn="l">
              <a:spcAft>
                <a:spcPts val="1500"/>
              </a:spcAft>
              <a:buFont typeface="+mj-lt"/>
              <a:buAutoNum type="arabicPeriod"/>
            </a:pPr>
            <a:r>
              <a:rPr lang="en-CA" sz="1400" b="0" i="0" u="sng" dirty="0">
                <a:solidFill>
                  <a:srgbClr val="000000"/>
                </a:solidFill>
                <a:effectLst/>
                <a:latin typeface="Arial"/>
                <a:hlinkClick r:id="rId10"/>
              </a:rPr>
              <a:t>Create a new project that uses URP</a:t>
            </a:r>
            <a:r>
              <a:rPr lang="en-CA" sz="1400" b="0" i="0" dirty="0">
                <a:solidFill>
                  <a:srgbClr val="000000"/>
                </a:solidFill>
                <a:effectLst/>
                <a:latin typeface="Arial"/>
              </a:rPr>
              <a:t>. Select the Universal 2D template.</a:t>
            </a:r>
          </a:p>
          <a:p>
            <a:pPr marL="342900" marR="0" lvl="0" indent="-342900" algn="l">
              <a:spcAft>
                <a:spcPts val="1500"/>
              </a:spcAft>
              <a:buFont typeface="+mj-lt"/>
              <a:buAutoNum type="arabicPeriod"/>
            </a:pPr>
            <a:r>
              <a:rPr lang="en-CA" sz="1400" b="0" i="0" dirty="0">
                <a:solidFill>
                  <a:srgbClr val="000000"/>
                </a:solidFill>
                <a:effectLst/>
                <a:latin typeface="Arial"/>
              </a:rPr>
              <a:t>Install </a:t>
            </a:r>
            <a:r>
              <a:rPr lang="en-CA" sz="1400" b="0" i="0" u="sng" dirty="0">
                <a:solidFill>
                  <a:srgbClr val="000000"/>
                </a:solidFill>
                <a:effectLst/>
                <a:latin typeface="Arial"/>
                <a:hlinkClick r:id="rId11"/>
              </a:rPr>
              <a:t>optional packages</a:t>
            </a:r>
            <a:r>
              <a:rPr lang="en-CA" sz="1400" b="0" i="0" dirty="0">
                <a:solidFill>
                  <a:srgbClr val="000000"/>
                </a:solidFill>
                <a:effectLst/>
                <a:latin typeface="Arial"/>
              </a:rPr>
              <a:t> you need for your project.</a:t>
            </a:r>
          </a:p>
          <a:p>
            <a:pPr marL="0" marR="0" indent="0" algn="l">
              <a:spcAft>
                <a:spcPts val="1125"/>
              </a:spcAft>
              <a:buNone/>
            </a:pPr>
            <a:r>
              <a:rPr lang="en-CA" b="0" i="0" dirty="0">
                <a:solidFill>
                  <a:srgbClr val="000000"/>
                </a:solidFill>
                <a:effectLst/>
                <a:latin typeface="Arial"/>
              </a:rPr>
              <a:t>The following are the packages included by default when you select the Universal 2D template.</a:t>
            </a:r>
            <a:endParaRPr lang="en-CA" b="0" i="0" dirty="0">
              <a:solidFill>
                <a:srgbClr val="455463"/>
              </a:solidFill>
              <a:effectLst/>
              <a:latin typeface="Roboto" panose="02000000000000000000" pitchFamily="2" charset="0"/>
            </a:endParaRPr>
          </a:p>
        </p:txBody>
      </p:sp>
    </p:spTree>
    <p:extLst>
      <p:ext uri="{BB962C8B-B14F-4D97-AF65-F5344CB8AC3E}">
        <p14:creationId xmlns:p14="http://schemas.microsoft.com/office/powerpoint/2010/main" val="605186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7F1BC5-D5FC-921D-E602-6BF3BD738F5B}"/>
              </a:ext>
            </a:extLst>
          </p:cNvPr>
          <p:cNvSpPr>
            <a:spLocks noGrp="1"/>
          </p:cNvSpPr>
          <p:nvPr>
            <p:ph type="body" idx="1"/>
          </p:nvPr>
        </p:nvSpPr>
        <p:spPr>
          <a:xfrm>
            <a:off x="1090862" y="1507068"/>
            <a:ext cx="6564580" cy="4669896"/>
          </a:xfrm>
        </p:spPr>
        <p:txBody>
          <a:bodyPr>
            <a:normAutofit fontScale="85000" lnSpcReduction="20000"/>
          </a:bodyPr>
          <a:lstStyle/>
          <a:p>
            <a:r>
              <a:rPr lang="en-CA" dirty="0"/>
              <a:t>To create a 2D game, </a:t>
            </a:r>
            <a:r>
              <a:rPr lang="en-CA" u="sng" dirty="0">
                <a:hlinkClick r:id="rId2"/>
              </a:rPr>
              <a:t>set up your Unity project</a:t>
            </a:r>
            <a:r>
              <a:rPr lang="en-CA" dirty="0"/>
              <a:t> and then familiarize yourself with the relevant concepts in the following order:</a:t>
            </a:r>
          </a:p>
          <a:p>
            <a:pPr lvl="0"/>
            <a:r>
              <a:rPr lang="en-CA" u="sng" dirty="0">
                <a:hlinkClick r:id="rId3"/>
              </a:rPr>
              <a:t>Fundamentals</a:t>
            </a:r>
            <a:endParaRPr lang="en-CA" dirty="0"/>
          </a:p>
          <a:p>
            <a:pPr lvl="0"/>
            <a:r>
              <a:rPr lang="en-CA" u="sng" dirty="0">
                <a:hlinkClick r:id="rId4"/>
              </a:rPr>
              <a:t>Scripting</a:t>
            </a:r>
            <a:endParaRPr lang="en-CA" dirty="0"/>
          </a:p>
          <a:p>
            <a:pPr lvl="0"/>
            <a:r>
              <a:rPr lang="en-CA" u="sng" dirty="0">
                <a:hlinkClick r:id="rId5"/>
              </a:rPr>
              <a:t>Sprites</a:t>
            </a:r>
            <a:endParaRPr lang="en-CA" dirty="0"/>
          </a:p>
          <a:p>
            <a:pPr lvl="0"/>
            <a:r>
              <a:rPr lang="en-CA" u="sng" dirty="0">
                <a:hlinkClick r:id="rId6"/>
              </a:rPr>
              <a:t>Building in-game environments</a:t>
            </a:r>
            <a:endParaRPr lang="en-CA" dirty="0"/>
          </a:p>
          <a:p>
            <a:pPr lvl="0"/>
            <a:r>
              <a:rPr lang="en-CA" u="sng" dirty="0">
                <a:hlinkClick r:id="rId7"/>
              </a:rPr>
              <a:t>Character animation</a:t>
            </a:r>
            <a:endParaRPr lang="en-CA" dirty="0"/>
          </a:p>
          <a:p>
            <a:pPr lvl="0"/>
            <a:r>
              <a:rPr lang="en-CA" u="sng" dirty="0">
                <a:hlinkClick r:id="rId8"/>
              </a:rPr>
              <a:t>Graphics</a:t>
            </a:r>
            <a:endParaRPr lang="en-CA" dirty="0"/>
          </a:p>
          <a:p>
            <a:pPr lvl="0"/>
            <a:r>
              <a:rPr lang="en-CA" u="sng" dirty="0">
                <a:hlinkClick r:id="rId9"/>
              </a:rPr>
              <a:t>Physics 2D</a:t>
            </a:r>
            <a:endParaRPr lang="en-CA" dirty="0"/>
          </a:p>
          <a:p>
            <a:pPr lvl="0"/>
            <a:r>
              <a:rPr lang="en-CA" u="sng" dirty="0">
                <a:hlinkClick r:id="rId10"/>
              </a:rPr>
              <a:t>Audio</a:t>
            </a:r>
            <a:endParaRPr lang="en-CA" dirty="0"/>
          </a:p>
          <a:p>
            <a:pPr lvl="0"/>
            <a:r>
              <a:rPr lang="en-CA" u="sng" dirty="0">
                <a:hlinkClick r:id="rId11"/>
              </a:rPr>
              <a:t>User interface</a:t>
            </a:r>
            <a:endParaRPr lang="en-CA" dirty="0"/>
          </a:p>
          <a:p>
            <a:pPr lvl="0"/>
            <a:r>
              <a:rPr lang="en-CA" u="sng" dirty="0">
                <a:hlinkClick r:id="rId12"/>
              </a:rPr>
              <a:t>Accessibility</a:t>
            </a:r>
            <a:endParaRPr lang="en-CA" dirty="0"/>
          </a:p>
          <a:p>
            <a:pPr lvl="0"/>
            <a:r>
              <a:rPr lang="en-CA" u="sng" dirty="0">
                <a:hlinkClick r:id="rId13"/>
              </a:rPr>
              <a:t>Profiling, optimizing and testing</a:t>
            </a:r>
            <a:endParaRPr lang="en-CA" dirty="0"/>
          </a:p>
          <a:p>
            <a:pPr lvl="0"/>
            <a:r>
              <a:rPr lang="en-CA" u="sng" dirty="0">
                <a:hlinkClick r:id="rId14"/>
              </a:rPr>
              <a:t>Publishing</a:t>
            </a:r>
            <a:endParaRPr lang="en-CA" dirty="0"/>
          </a:p>
          <a:p>
            <a:endParaRPr lang="en-US" dirty="0"/>
          </a:p>
        </p:txBody>
      </p:sp>
      <p:sp>
        <p:nvSpPr>
          <p:cNvPr id="3" name="Text Placeholder 2">
            <a:extLst>
              <a:ext uri="{FF2B5EF4-FFF2-40B4-BE49-F238E27FC236}">
                <a16:creationId xmlns:a16="http://schemas.microsoft.com/office/drawing/2014/main" id="{47CEC131-C387-2C2B-D91B-D742DF971D3D}"/>
              </a:ext>
            </a:extLst>
          </p:cNvPr>
          <p:cNvSpPr>
            <a:spLocks noGrp="1"/>
          </p:cNvSpPr>
          <p:nvPr>
            <p:ph type="body" idx="2"/>
          </p:nvPr>
        </p:nvSpPr>
        <p:spPr>
          <a:xfrm>
            <a:off x="8250865" y="1507068"/>
            <a:ext cx="3288577" cy="4669896"/>
          </a:xfrm>
        </p:spPr>
        <p:txBody>
          <a:bodyPr/>
          <a:lstStyle/>
          <a:p>
            <a:r>
              <a:rPr lang="en-US" dirty="0"/>
              <a:t> </a:t>
            </a:r>
          </a:p>
        </p:txBody>
      </p:sp>
      <p:sp>
        <p:nvSpPr>
          <p:cNvPr id="4" name="Title 3">
            <a:extLst>
              <a:ext uri="{FF2B5EF4-FFF2-40B4-BE49-F238E27FC236}">
                <a16:creationId xmlns:a16="http://schemas.microsoft.com/office/drawing/2014/main" id="{1FB15F44-0784-5366-CCBD-2013612EA34D}"/>
              </a:ext>
            </a:extLst>
          </p:cNvPr>
          <p:cNvSpPr>
            <a:spLocks noGrp="1"/>
          </p:cNvSpPr>
          <p:nvPr>
            <p:ph type="title"/>
          </p:nvPr>
        </p:nvSpPr>
        <p:spPr/>
        <p:txBody>
          <a:bodyPr>
            <a:normAutofit/>
          </a:bodyPr>
          <a:lstStyle/>
          <a:p>
            <a:r>
              <a:rPr lang="en-US" dirty="0"/>
              <a:t>2D game creation workflow</a:t>
            </a:r>
          </a:p>
        </p:txBody>
      </p:sp>
    </p:spTree>
    <p:extLst>
      <p:ext uri="{BB962C8B-B14F-4D97-AF65-F5344CB8AC3E}">
        <p14:creationId xmlns:p14="http://schemas.microsoft.com/office/powerpoint/2010/main" val="1621329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2F94D4-1F17-D026-7F31-68A5CA4F9288}"/>
              </a:ext>
            </a:extLst>
          </p:cNvPr>
          <p:cNvSpPr>
            <a:spLocks noGrp="1"/>
          </p:cNvSpPr>
          <p:nvPr>
            <p:ph type="body" idx="1"/>
          </p:nvPr>
        </p:nvSpPr>
        <p:spPr>
          <a:xfrm>
            <a:off x="1090862" y="1507068"/>
            <a:ext cx="7880143" cy="4669896"/>
          </a:xfrm>
        </p:spPr>
        <p:txBody>
          <a:bodyPr>
            <a:normAutofit fontScale="92500"/>
          </a:bodyPr>
          <a:lstStyle/>
          <a:p>
            <a:r>
              <a:rPr lang="en-US" dirty="0" err="1"/>
              <a:t>GameObjects</a:t>
            </a:r>
            <a:r>
              <a:rPr lang="en-US" dirty="0"/>
              <a:t> are fundamental objects in Unity that represent characters, props, scenery, and more. Every object in your game is a </a:t>
            </a:r>
            <a:r>
              <a:rPr lang="en-US" dirty="0" err="1"/>
              <a:t>GameObject</a:t>
            </a:r>
            <a:r>
              <a:rPr lang="en-US" dirty="0"/>
              <a:t>.</a:t>
            </a:r>
          </a:p>
          <a:p>
            <a:r>
              <a:rPr lang="en-US" dirty="0" err="1"/>
              <a:t>GameObjects</a:t>
            </a:r>
            <a:r>
              <a:rPr lang="en-US" dirty="0"/>
              <a:t> represent the items in your game; the space in which you place them to build your level is called a scene. </a:t>
            </a:r>
          </a:p>
          <a:p>
            <a:r>
              <a:rPr lang="en-US" dirty="0"/>
              <a:t>Scenes in Unity are always 3D; when you make a 2D game in Unity, you typically choose to ignore the third dimension (the z-axis) but you can also use it in special cases, for example when making 2.5D games.</a:t>
            </a:r>
          </a:p>
          <a:p>
            <a:r>
              <a:rPr lang="en-US" dirty="0"/>
              <a:t>The behavior of </a:t>
            </a:r>
            <a:r>
              <a:rPr lang="en-US" dirty="0" err="1"/>
              <a:t>GameObjects</a:t>
            </a:r>
            <a:r>
              <a:rPr lang="en-US" dirty="0"/>
              <a:t> is defined by blocks of functionality called components. The following components are fundamental for 2D games:</a:t>
            </a:r>
          </a:p>
          <a:p>
            <a:r>
              <a:rPr lang="en-US" dirty="0"/>
              <a:t>Transform: the Transform component determines the Position, Rotation, and Scale of each </a:t>
            </a:r>
            <a:r>
              <a:rPr lang="en-US" dirty="0" err="1"/>
              <a:t>GameObject</a:t>
            </a:r>
            <a:r>
              <a:rPr lang="en-US" dirty="0"/>
              <a:t> in the scene. Every </a:t>
            </a:r>
            <a:r>
              <a:rPr lang="en-US" dirty="0" err="1"/>
              <a:t>GameObject</a:t>
            </a:r>
            <a:r>
              <a:rPr lang="en-US" dirty="0"/>
              <a:t> has a Transform component.</a:t>
            </a:r>
          </a:p>
          <a:p>
            <a:r>
              <a:rPr lang="en-US" dirty="0"/>
              <a:t>Sprite Renderer: the Sprite Renderer component renders the Sprite and controls how it looks in a scene.</a:t>
            </a:r>
          </a:p>
          <a:p>
            <a:r>
              <a:rPr lang="en-US" dirty="0"/>
              <a:t>Cameras: devices that capture and display the world to the player. Marking a Camera as Orthographic removes all perspective from the Camera’s view. This is mostly useful for making isometric or 2D games.</a:t>
            </a:r>
          </a:p>
          <a:p>
            <a:r>
              <a:rPr lang="en-US" dirty="0"/>
              <a:t>Collider 2D: this component defines the shape of a 2D </a:t>
            </a:r>
            <a:r>
              <a:rPr lang="en-US" dirty="0" err="1"/>
              <a:t>GameObject</a:t>
            </a:r>
            <a:r>
              <a:rPr lang="en-US" dirty="0"/>
              <a:t> for the purposes of physical collisions.</a:t>
            </a:r>
          </a:p>
          <a:p>
            <a:endParaRPr lang="en-US" dirty="0"/>
          </a:p>
        </p:txBody>
      </p:sp>
      <p:sp>
        <p:nvSpPr>
          <p:cNvPr id="4" name="Title 3">
            <a:extLst>
              <a:ext uri="{FF2B5EF4-FFF2-40B4-BE49-F238E27FC236}">
                <a16:creationId xmlns:a16="http://schemas.microsoft.com/office/drawing/2014/main" id="{8A04B634-0538-7151-D39D-EED8F9BAF44D}"/>
              </a:ext>
            </a:extLst>
          </p:cNvPr>
          <p:cNvSpPr>
            <a:spLocks noGrp="1"/>
          </p:cNvSpPr>
          <p:nvPr>
            <p:ph type="title"/>
          </p:nvPr>
        </p:nvSpPr>
        <p:spPr/>
        <p:txBody>
          <a:bodyPr>
            <a:normAutofit/>
          </a:bodyPr>
          <a:lstStyle/>
          <a:p>
            <a:r>
              <a:rPr lang="en-US" dirty="0"/>
              <a:t>Fundamentals</a:t>
            </a:r>
          </a:p>
        </p:txBody>
      </p:sp>
    </p:spTree>
    <p:extLst>
      <p:ext uri="{BB962C8B-B14F-4D97-AF65-F5344CB8AC3E}">
        <p14:creationId xmlns:p14="http://schemas.microsoft.com/office/powerpoint/2010/main" val="16204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222B4A-781C-FFAE-2382-1C1F4C36DCDF}"/>
              </a:ext>
            </a:extLst>
          </p:cNvPr>
          <p:cNvSpPr>
            <a:spLocks noGrp="1"/>
          </p:cNvSpPr>
          <p:nvPr>
            <p:ph type="body" idx="1"/>
          </p:nvPr>
        </p:nvSpPr>
        <p:spPr/>
        <p:txBody>
          <a:bodyPr/>
          <a:lstStyle/>
          <a:p>
            <a:r>
              <a:rPr lang="en-CA" dirty="0"/>
              <a:t>All 2D games need </a:t>
            </a:r>
            <a:r>
              <a:rPr lang="en-CA" u="sng" dirty="0">
                <a:hlinkClick r:id="rId2"/>
              </a:rPr>
              <a:t>scripts</a:t>
            </a:r>
            <a:r>
              <a:rPr lang="en-CA" dirty="0"/>
              <a:t>. </a:t>
            </a:r>
          </a:p>
          <a:p>
            <a:r>
              <a:rPr lang="en-CA" dirty="0"/>
              <a:t>Scripts respond to input from the player and arrange for events in the gameplay to happen when they should.</a:t>
            </a:r>
          </a:p>
          <a:p>
            <a:r>
              <a:rPr lang="en-CA" dirty="0"/>
              <a:t>For details on how to use scripts in Unity, refer to </a:t>
            </a:r>
            <a:r>
              <a:rPr lang="en-CA" u="sng" dirty="0">
                <a:hlinkClick r:id="rId2"/>
              </a:rPr>
              <a:t>Programming in Unity</a:t>
            </a:r>
            <a:r>
              <a:rPr lang="en-CA" dirty="0"/>
              <a:t> and the Unity Learn </a:t>
            </a:r>
            <a:r>
              <a:rPr lang="en-CA" u="sng" dirty="0">
                <a:hlinkClick r:id="rId3"/>
              </a:rPr>
              <a:t>Beginner Scripting</a:t>
            </a:r>
            <a:r>
              <a:rPr lang="en-CA" dirty="0"/>
              <a:t> course.</a:t>
            </a:r>
          </a:p>
          <a:p>
            <a:r>
              <a:rPr lang="en-CA" dirty="0"/>
              <a:t>Scripts are attached to </a:t>
            </a:r>
            <a:r>
              <a:rPr lang="en-CA" dirty="0" err="1"/>
              <a:t>GameObjects</a:t>
            </a:r>
            <a:r>
              <a:rPr lang="en-CA" dirty="0"/>
              <a:t>, and any script you create inherits from the </a:t>
            </a:r>
            <a:r>
              <a:rPr lang="en-CA" u="sng" dirty="0" err="1">
                <a:hlinkClick r:id="rId4"/>
              </a:rPr>
              <a:t>MonoBehaviour</a:t>
            </a:r>
            <a:r>
              <a:rPr lang="en-CA" dirty="0"/>
              <a:t> class.</a:t>
            </a:r>
          </a:p>
          <a:p>
            <a:endParaRPr lang="en-CA" dirty="0"/>
          </a:p>
        </p:txBody>
      </p:sp>
      <p:sp>
        <p:nvSpPr>
          <p:cNvPr id="4" name="Title 3">
            <a:extLst>
              <a:ext uri="{FF2B5EF4-FFF2-40B4-BE49-F238E27FC236}">
                <a16:creationId xmlns:a16="http://schemas.microsoft.com/office/drawing/2014/main" id="{E88156D4-85B0-EF51-9C2D-ACE11FDE021C}"/>
              </a:ext>
            </a:extLst>
          </p:cNvPr>
          <p:cNvSpPr>
            <a:spLocks noGrp="1"/>
          </p:cNvSpPr>
          <p:nvPr>
            <p:ph type="title"/>
          </p:nvPr>
        </p:nvSpPr>
        <p:spPr/>
        <p:txBody>
          <a:bodyPr/>
          <a:lstStyle/>
          <a:p>
            <a:r>
              <a:rPr lang="en-CA" dirty="0"/>
              <a:t>Scripting</a:t>
            </a:r>
          </a:p>
        </p:txBody>
      </p:sp>
    </p:spTree>
    <p:extLst>
      <p:ext uri="{BB962C8B-B14F-4D97-AF65-F5344CB8AC3E}">
        <p14:creationId xmlns:p14="http://schemas.microsoft.com/office/powerpoint/2010/main" val="2100269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01FFCB-8B7B-5FC6-7883-B41D7C530581}"/>
              </a:ext>
            </a:extLst>
          </p:cNvPr>
          <p:cNvSpPr>
            <a:spLocks noGrp="1"/>
          </p:cNvSpPr>
          <p:nvPr>
            <p:ph type="body" idx="1"/>
          </p:nvPr>
        </p:nvSpPr>
        <p:spPr/>
        <p:txBody>
          <a:bodyPr/>
          <a:lstStyle/>
          <a:p>
            <a:r>
              <a:rPr lang="en-US" dirty="0"/>
              <a:t>Sprites are 2D graphic objects. You use Sprites for all types of 2D games. For example, you can import an image of your main character as a Sprite.</a:t>
            </a:r>
          </a:p>
          <a:p>
            <a:endParaRPr lang="en-US" dirty="0"/>
          </a:p>
          <a:p>
            <a:r>
              <a:rPr lang="en-US" dirty="0"/>
              <a:t>You can also use a collection of Sprites to build a character. This allows you greater control over the movement and animation of your characters.</a:t>
            </a:r>
          </a:p>
          <a:p>
            <a:endParaRPr lang="en-US" dirty="0"/>
          </a:p>
          <a:p>
            <a:endParaRPr lang="en-CA" dirty="0"/>
          </a:p>
        </p:txBody>
      </p:sp>
      <p:sp>
        <p:nvSpPr>
          <p:cNvPr id="3" name="Title 2">
            <a:extLst>
              <a:ext uri="{FF2B5EF4-FFF2-40B4-BE49-F238E27FC236}">
                <a16:creationId xmlns:a16="http://schemas.microsoft.com/office/drawing/2014/main" id="{FC3BD14F-790C-8B1B-0594-E74174BD3776}"/>
              </a:ext>
            </a:extLst>
          </p:cNvPr>
          <p:cNvSpPr>
            <a:spLocks noGrp="1"/>
          </p:cNvSpPr>
          <p:nvPr>
            <p:ph type="title"/>
          </p:nvPr>
        </p:nvSpPr>
        <p:spPr/>
        <p:txBody>
          <a:bodyPr/>
          <a:lstStyle/>
          <a:p>
            <a:r>
              <a:rPr lang="en-CA" dirty="0"/>
              <a:t>Sprites</a:t>
            </a:r>
          </a:p>
        </p:txBody>
      </p:sp>
      <p:pic>
        <p:nvPicPr>
          <p:cNvPr id="4" name="Picture 3" descr="A character Sprite">
            <a:extLst>
              <a:ext uri="{FF2B5EF4-FFF2-40B4-BE49-F238E27FC236}">
                <a16:creationId xmlns:a16="http://schemas.microsoft.com/office/drawing/2014/main" id="{BB3A6B79-6387-3BD2-CC49-FCDD3AE8B4DA}"/>
              </a:ext>
            </a:extLst>
          </p:cNvPr>
          <p:cNvPicPr>
            <a:picLocks noChangeAspect="1"/>
          </p:cNvPicPr>
          <p:nvPr/>
        </p:nvPicPr>
        <p:blipFill>
          <a:blip r:embed="rId2"/>
          <a:stretch>
            <a:fillRect/>
          </a:stretch>
        </p:blipFill>
        <p:spPr>
          <a:xfrm>
            <a:off x="372493" y="2861534"/>
            <a:ext cx="2539682" cy="2870897"/>
          </a:xfrm>
          <a:prstGeom prst="rect">
            <a:avLst/>
          </a:prstGeom>
        </p:spPr>
      </p:pic>
      <p:pic>
        <p:nvPicPr>
          <p:cNvPr id="5" name="Picture 4" descr="Multiple Sprites that make up the parts of a character, displayed in the Sprite Editor">
            <a:extLst>
              <a:ext uri="{FF2B5EF4-FFF2-40B4-BE49-F238E27FC236}">
                <a16:creationId xmlns:a16="http://schemas.microsoft.com/office/drawing/2014/main" id="{F470A31A-6F37-55B7-D166-50C7AF0B387C}"/>
              </a:ext>
            </a:extLst>
          </p:cNvPr>
          <p:cNvPicPr>
            <a:picLocks noChangeAspect="1"/>
          </p:cNvPicPr>
          <p:nvPr/>
        </p:nvPicPr>
        <p:blipFill>
          <a:blip r:embed="rId3"/>
          <a:stretch>
            <a:fillRect/>
          </a:stretch>
        </p:blipFill>
        <p:spPr>
          <a:xfrm>
            <a:off x="5201322" y="2791396"/>
            <a:ext cx="4507838" cy="3209354"/>
          </a:xfrm>
          <a:prstGeom prst="rect">
            <a:avLst/>
          </a:prstGeom>
        </p:spPr>
      </p:pic>
    </p:spTree>
    <p:extLst>
      <p:ext uri="{BB962C8B-B14F-4D97-AF65-F5344CB8AC3E}">
        <p14:creationId xmlns:p14="http://schemas.microsoft.com/office/powerpoint/2010/main" val="1598388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6C3CE99-39D3-20DA-2BEA-D6A776497841}"/>
              </a:ext>
            </a:extLst>
          </p:cNvPr>
          <p:cNvSpPr>
            <a:spLocks noGrp="1"/>
          </p:cNvSpPr>
          <p:nvPr>
            <p:ph type="body" idx="1"/>
          </p:nvPr>
        </p:nvSpPr>
        <p:spPr>
          <a:xfrm>
            <a:off x="604434" y="1507068"/>
            <a:ext cx="4774390" cy="4669896"/>
          </a:xfrm>
        </p:spPr>
        <p:txBody>
          <a:bodyPr>
            <a:normAutofit fontScale="70000" lnSpcReduction="20000"/>
          </a:bodyPr>
          <a:lstStyle/>
          <a:p>
            <a:r>
              <a:rPr lang="en-US" dirty="0"/>
              <a:t>To use an imported image as one or more sprites, set its texture type to Sprite (2D and UI). Follow these steps:</a:t>
            </a:r>
          </a:p>
          <a:p>
            <a:r>
              <a:rPr lang="en-US" dirty="0"/>
              <a:t>Make sure the 2D Sprite package is installed in your project. For more information, refer to set up your project for 2D games.</a:t>
            </a:r>
          </a:p>
          <a:p>
            <a:r>
              <a:rPr lang="en-US" dirty="0"/>
              <a:t>Import your sprite image or </a:t>
            </a:r>
            <a:r>
              <a:rPr lang="en-US" dirty="0" err="1"/>
              <a:t>spritesheet</a:t>
            </a:r>
            <a:r>
              <a:rPr lang="en-US" dirty="0"/>
              <a:t>. For example, drag a </a:t>
            </a:r>
            <a:r>
              <a:rPr lang="en-US" dirty="0" err="1"/>
              <a:t>spritesheet</a:t>
            </a:r>
            <a:r>
              <a:rPr lang="en-US" dirty="0"/>
              <a:t> .</a:t>
            </a:r>
            <a:r>
              <a:rPr lang="en-US" dirty="0" err="1"/>
              <a:t>png</a:t>
            </a:r>
            <a:r>
              <a:rPr lang="en-US" dirty="0"/>
              <a:t> file into the Project window.</a:t>
            </a:r>
          </a:p>
          <a:p>
            <a:r>
              <a:rPr lang="en-US" dirty="0"/>
              <a:t>Select the imported image in the Project window.</a:t>
            </a:r>
          </a:p>
          <a:p>
            <a:r>
              <a:rPr lang="en-US" dirty="0"/>
              <a:t>In the Inspector window, set Texture Type to Sprite (2D and UI).</a:t>
            </a:r>
          </a:p>
          <a:p>
            <a:r>
              <a:rPr lang="en-US" dirty="0"/>
              <a:t>Select Apply.</a:t>
            </a:r>
          </a:p>
          <a:p>
            <a:r>
              <a:rPr lang="en-US" dirty="0"/>
              <a:t>Note: In a 2D project, Unity automatically sets Texture Type to Sprite (2D and UI) when you import an image.</a:t>
            </a:r>
          </a:p>
          <a:p>
            <a:r>
              <a:rPr lang="en-US" b="1" dirty="0"/>
              <a:t>Divide the texture into sprites</a:t>
            </a:r>
          </a:p>
          <a:p>
            <a:r>
              <a:rPr lang="en-US" dirty="0"/>
              <a:t>The Sprite Mode property of the texture determines whether Unity creates one sprite or multiple sprites from the texture.</a:t>
            </a:r>
          </a:p>
          <a:p>
            <a:r>
              <a:rPr lang="en-US" dirty="0"/>
              <a:t>For each sprite, Unity creates a sprite asset () as a child of the texture in the Project window.</a:t>
            </a:r>
          </a:p>
          <a:p>
            <a:r>
              <a:rPr lang="en-US" dirty="0"/>
              <a:t>Set Sprite Mode to the following:</a:t>
            </a:r>
          </a:p>
          <a:p>
            <a:r>
              <a:rPr lang="en-US" dirty="0"/>
              <a:t>Single to use the texture as one sprite, either using the whole image or part of the image.</a:t>
            </a:r>
          </a:p>
          <a:p>
            <a:r>
              <a:rPr lang="en-US" dirty="0"/>
              <a:t>Multiple to divide the texture into multiple sprites, for example if the texture is a </a:t>
            </a:r>
            <a:r>
              <a:rPr lang="en-US" dirty="0" err="1"/>
              <a:t>spritesheet</a:t>
            </a:r>
            <a:r>
              <a:rPr lang="en-US" dirty="0"/>
              <a:t>.</a:t>
            </a:r>
          </a:p>
          <a:p>
            <a:endParaRPr lang="en-CA" dirty="0"/>
          </a:p>
        </p:txBody>
      </p:sp>
      <p:sp>
        <p:nvSpPr>
          <p:cNvPr id="5" name="Text Placeholder 4">
            <a:extLst>
              <a:ext uri="{FF2B5EF4-FFF2-40B4-BE49-F238E27FC236}">
                <a16:creationId xmlns:a16="http://schemas.microsoft.com/office/drawing/2014/main" id="{32EF00DA-BF38-F4C1-41B2-DB813A6CA4BC}"/>
              </a:ext>
            </a:extLst>
          </p:cNvPr>
          <p:cNvSpPr>
            <a:spLocks noGrp="1"/>
          </p:cNvSpPr>
          <p:nvPr>
            <p:ph type="body" idx="2"/>
          </p:nvPr>
        </p:nvSpPr>
        <p:spPr>
          <a:xfrm>
            <a:off x="5507915" y="1507068"/>
            <a:ext cx="6031527" cy="4669896"/>
          </a:xfrm>
        </p:spPr>
        <p:txBody>
          <a:bodyPr/>
          <a:lstStyle/>
          <a:p>
            <a:r>
              <a:rPr lang="en-US" b="1" dirty="0"/>
              <a:t>Add a sprite to a scene</a:t>
            </a:r>
          </a:p>
          <a:p>
            <a:r>
              <a:rPr lang="en-US" dirty="0"/>
              <a:t>To add a sprite to a scene, drag the sprite asset () from the Project window into the Scene window or Hierarchy window.</a:t>
            </a:r>
          </a:p>
          <a:p>
            <a:r>
              <a:rPr lang="en-US" dirty="0"/>
              <a:t>Unity creates a </a:t>
            </a:r>
            <a:r>
              <a:rPr lang="en-US" dirty="0" err="1"/>
              <a:t>GameObject</a:t>
            </a:r>
            <a:r>
              <a:rPr lang="en-US" dirty="0"/>
              <a:t> with a Sprite Renderer component. The component renders the sprite and controls how it appears in the scene.</a:t>
            </a:r>
          </a:p>
          <a:p>
            <a:r>
              <a:rPr lang="en-US" b="1" dirty="0"/>
              <a:t>Add a sprite to an existing </a:t>
            </a:r>
            <a:r>
              <a:rPr lang="en-US" b="1" dirty="0" err="1"/>
              <a:t>GameObject</a:t>
            </a:r>
            <a:endParaRPr lang="en-US" b="1" dirty="0"/>
          </a:p>
          <a:p>
            <a:r>
              <a:rPr lang="en-US" dirty="0"/>
              <a:t>To add a sprite to an existing </a:t>
            </a:r>
            <a:r>
              <a:rPr lang="en-US" dirty="0" err="1"/>
              <a:t>GameObject</a:t>
            </a:r>
            <a:r>
              <a:rPr lang="en-US" dirty="0"/>
              <a:t>, follow these steps:</a:t>
            </a:r>
          </a:p>
          <a:p>
            <a:r>
              <a:rPr lang="en-US" dirty="0"/>
              <a:t>Select the </a:t>
            </a:r>
            <a:r>
              <a:rPr lang="en-US" dirty="0" err="1"/>
              <a:t>GameObject</a:t>
            </a:r>
            <a:r>
              <a:rPr lang="en-US" dirty="0"/>
              <a:t> in the Scene or Hierarchy window.</a:t>
            </a:r>
          </a:p>
          <a:p>
            <a:r>
              <a:rPr lang="en-US" dirty="0"/>
              <a:t>In the Inspector window, select Add Component.</a:t>
            </a:r>
          </a:p>
          <a:p>
            <a:r>
              <a:rPr lang="en-US" dirty="0"/>
              <a:t>Select Rendering &gt; Sprite Renderer.</a:t>
            </a:r>
          </a:p>
          <a:p>
            <a:r>
              <a:rPr lang="en-US" dirty="0"/>
              <a:t>In the Sprite Renderer component, set the Sprite property to the sprite you want to render.</a:t>
            </a:r>
          </a:p>
          <a:p>
            <a:endParaRPr lang="en-CA" dirty="0"/>
          </a:p>
        </p:txBody>
      </p:sp>
      <p:sp>
        <p:nvSpPr>
          <p:cNvPr id="3" name="Title 2">
            <a:extLst>
              <a:ext uri="{FF2B5EF4-FFF2-40B4-BE49-F238E27FC236}">
                <a16:creationId xmlns:a16="http://schemas.microsoft.com/office/drawing/2014/main" id="{2F6EA0E1-F72B-6719-E17F-50E065882BE5}"/>
              </a:ext>
            </a:extLst>
          </p:cNvPr>
          <p:cNvSpPr>
            <a:spLocks noGrp="1"/>
          </p:cNvSpPr>
          <p:nvPr>
            <p:ph type="title"/>
          </p:nvPr>
        </p:nvSpPr>
        <p:spPr/>
        <p:txBody>
          <a:bodyPr/>
          <a:lstStyle/>
          <a:p>
            <a:r>
              <a:rPr lang="en-US" dirty="0"/>
              <a:t>Import a sprite or </a:t>
            </a:r>
            <a:r>
              <a:rPr lang="en-US" dirty="0" err="1"/>
              <a:t>spritesheet</a:t>
            </a:r>
            <a:r>
              <a:rPr lang="en-US" dirty="0"/>
              <a:t> texture</a:t>
            </a:r>
            <a:endParaRPr lang="en-CA" dirty="0"/>
          </a:p>
        </p:txBody>
      </p:sp>
    </p:spTree>
    <p:extLst>
      <p:ext uri="{BB962C8B-B14F-4D97-AF65-F5344CB8AC3E}">
        <p14:creationId xmlns:p14="http://schemas.microsoft.com/office/powerpoint/2010/main" val="2497209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4F8E93-1026-C47A-A0D3-C9592E0E4AD6}"/>
              </a:ext>
            </a:extLst>
          </p:cNvPr>
          <p:cNvSpPr>
            <a:spLocks noGrp="1"/>
          </p:cNvSpPr>
          <p:nvPr>
            <p:ph type="body" idx="1"/>
          </p:nvPr>
        </p:nvSpPr>
        <p:spPr/>
        <p:txBody>
          <a:bodyPr/>
          <a:lstStyle/>
          <a:p>
            <a:r>
              <a:rPr lang="en-CA" dirty="0"/>
              <a:t>Use the </a:t>
            </a:r>
            <a:r>
              <a:rPr lang="en-CA" u="sng" dirty="0">
                <a:hlinkClick r:id="rId2"/>
              </a:rPr>
              <a:t>Sprite Renderer</a:t>
            </a:r>
            <a:r>
              <a:rPr lang="en-CA" dirty="0"/>
              <a:t> component to render your Sprites. For example, you can use the Sprite Renderer to change the color and opacity of a Sprite.</a:t>
            </a:r>
          </a:p>
          <a:p>
            <a:r>
              <a:rPr lang="en-CA" dirty="0"/>
              <a:t>Sorting </a:t>
            </a:r>
            <a:r>
              <a:rPr lang="en-CA" dirty="0" err="1"/>
              <a:t>SpritesBy</a:t>
            </a:r>
            <a:r>
              <a:rPr lang="en-CA" dirty="0"/>
              <a:t> organizing Sprites in layers, you can create an illusion of depth. You can sort Sprites according to many strategies.</a:t>
            </a:r>
          </a:p>
        </p:txBody>
      </p:sp>
      <p:pic>
        <p:nvPicPr>
          <p:cNvPr id="5" name="Picture 4" descr="Adjusting the color of a Sprite with the Sprite Renderer">
            <a:extLst>
              <a:ext uri="{FF2B5EF4-FFF2-40B4-BE49-F238E27FC236}">
                <a16:creationId xmlns:a16="http://schemas.microsoft.com/office/drawing/2014/main" id="{EEF52B13-1F22-E88C-8C25-36E9EFD88EDF}"/>
              </a:ext>
            </a:extLst>
          </p:cNvPr>
          <p:cNvPicPr>
            <a:picLocks noChangeAspect="1"/>
          </p:cNvPicPr>
          <p:nvPr/>
        </p:nvPicPr>
        <p:blipFill>
          <a:blip r:embed="rId3"/>
          <a:stretch>
            <a:fillRect/>
          </a:stretch>
        </p:blipFill>
        <p:spPr>
          <a:xfrm>
            <a:off x="5882803" y="1507068"/>
            <a:ext cx="3363395" cy="2464129"/>
          </a:xfrm>
          <a:prstGeom prst="rect">
            <a:avLst/>
          </a:prstGeom>
        </p:spPr>
      </p:pic>
      <p:sp>
        <p:nvSpPr>
          <p:cNvPr id="3" name="Text Placeholder 2">
            <a:extLst>
              <a:ext uri="{FF2B5EF4-FFF2-40B4-BE49-F238E27FC236}">
                <a16:creationId xmlns:a16="http://schemas.microsoft.com/office/drawing/2014/main" id="{58022334-45A4-195B-873E-42E362DDBC6C}"/>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9AAEACB6-384E-7958-CACC-E4F4BCF37633}"/>
              </a:ext>
            </a:extLst>
          </p:cNvPr>
          <p:cNvSpPr>
            <a:spLocks noGrp="1"/>
          </p:cNvSpPr>
          <p:nvPr>
            <p:ph type="title"/>
          </p:nvPr>
        </p:nvSpPr>
        <p:spPr/>
        <p:txBody>
          <a:bodyPr/>
          <a:lstStyle/>
          <a:p>
            <a:r>
              <a:rPr lang="en-CA" dirty="0"/>
              <a:t>Rendering Sprites</a:t>
            </a:r>
          </a:p>
        </p:txBody>
      </p:sp>
      <p:pic>
        <p:nvPicPr>
          <p:cNvPr id="6" name="Picture 5" descr="Sprites sorted along the y-axis">
            <a:extLst>
              <a:ext uri="{FF2B5EF4-FFF2-40B4-BE49-F238E27FC236}">
                <a16:creationId xmlns:a16="http://schemas.microsoft.com/office/drawing/2014/main" id="{4C64FAD4-3F13-18DA-3AA6-52C5A0F5FCD8}"/>
              </a:ext>
            </a:extLst>
          </p:cNvPr>
          <p:cNvPicPr>
            <a:picLocks noChangeAspect="1"/>
          </p:cNvPicPr>
          <p:nvPr/>
        </p:nvPicPr>
        <p:blipFill>
          <a:blip r:embed="rId4"/>
          <a:stretch>
            <a:fillRect/>
          </a:stretch>
        </p:blipFill>
        <p:spPr>
          <a:xfrm>
            <a:off x="5882803" y="4051579"/>
            <a:ext cx="3363395" cy="1950769"/>
          </a:xfrm>
          <a:prstGeom prst="rect">
            <a:avLst/>
          </a:prstGeom>
        </p:spPr>
      </p:pic>
    </p:spTree>
    <p:extLst>
      <p:ext uri="{BB962C8B-B14F-4D97-AF65-F5344CB8AC3E}">
        <p14:creationId xmlns:p14="http://schemas.microsoft.com/office/powerpoint/2010/main" val="21684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EF8636-94F8-36AD-3676-5761B700BB5D}"/>
              </a:ext>
            </a:extLst>
          </p:cNvPr>
          <p:cNvSpPr>
            <a:spLocks noGrp="1"/>
          </p:cNvSpPr>
          <p:nvPr>
            <p:ph type="body" idx="1"/>
          </p:nvPr>
        </p:nvSpPr>
        <p:spPr/>
        <p:txBody>
          <a:bodyPr/>
          <a:lstStyle/>
          <a:p>
            <a:r>
              <a:rPr lang="en-CA" dirty="0"/>
              <a:t>You can use a </a:t>
            </a:r>
            <a:r>
              <a:rPr lang="en-CA" u="sng" dirty="0">
                <a:hlinkClick r:id="rId2"/>
              </a:rPr>
              <a:t>Sprite Atlas</a:t>
            </a:r>
            <a:br>
              <a:rPr lang="en-CA" dirty="0"/>
            </a:br>
            <a:r>
              <a:rPr lang="en-CA" dirty="0"/>
              <a:t>to consolidate several Textures into a single combined Texture. </a:t>
            </a:r>
          </a:p>
          <a:p>
            <a:r>
              <a:rPr lang="en-CA" dirty="0"/>
              <a:t>This optimizes your game and saves memory. </a:t>
            </a:r>
          </a:p>
          <a:p>
            <a:r>
              <a:rPr lang="en-CA" dirty="0"/>
              <a:t>For example, you can add all your Sprites associated with a particular character or purpose to a Sprite Atlas.</a:t>
            </a:r>
          </a:p>
        </p:txBody>
      </p:sp>
      <p:pic>
        <p:nvPicPr>
          <p:cNvPr id="5" name="Picture 4" descr="A Sprite Atlas">
            <a:extLst>
              <a:ext uri="{FF2B5EF4-FFF2-40B4-BE49-F238E27FC236}">
                <a16:creationId xmlns:a16="http://schemas.microsoft.com/office/drawing/2014/main" id="{0BC7077F-D6D9-0FA8-FBB4-7B52E504C47A}"/>
              </a:ext>
            </a:extLst>
          </p:cNvPr>
          <p:cNvPicPr>
            <a:picLocks noChangeAspect="1"/>
          </p:cNvPicPr>
          <p:nvPr/>
        </p:nvPicPr>
        <p:blipFill>
          <a:blip r:embed="rId3"/>
          <a:stretch>
            <a:fillRect/>
          </a:stretch>
        </p:blipFill>
        <p:spPr>
          <a:xfrm>
            <a:off x="6023834" y="1984641"/>
            <a:ext cx="4038600" cy="3714750"/>
          </a:xfrm>
          <a:prstGeom prst="rect">
            <a:avLst/>
          </a:prstGeom>
        </p:spPr>
      </p:pic>
      <p:sp>
        <p:nvSpPr>
          <p:cNvPr id="3" name="Text Placeholder 2">
            <a:extLst>
              <a:ext uri="{FF2B5EF4-FFF2-40B4-BE49-F238E27FC236}">
                <a16:creationId xmlns:a16="http://schemas.microsoft.com/office/drawing/2014/main" id="{C217FB24-4E18-CF70-20E0-EF95960BE788}"/>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025009A9-B1AC-1B2F-CB86-6A0CC99741BB}"/>
              </a:ext>
            </a:extLst>
          </p:cNvPr>
          <p:cNvSpPr>
            <a:spLocks noGrp="1"/>
          </p:cNvSpPr>
          <p:nvPr>
            <p:ph type="title"/>
          </p:nvPr>
        </p:nvSpPr>
        <p:spPr/>
        <p:txBody>
          <a:bodyPr/>
          <a:lstStyle/>
          <a:p>
            <a:r>
              <a:rPr lang="en-CA" dirty="0"/>
              <a:t>Sprite Atlas</a:t>
            </a:r>
          </a:p>
        </p:txBody>
      </p:sp>
    </p:spTree>
    <p:extLst>
      <p:ext uri="{BB962C8B-B14F-4D97-AF65-F5344CB8AC3E}">
        <p14:creationId xmlns:p14="http://schemas.microsoft.com/office/powerpoint/2010/main" val="1956281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7FF49E-07CD-C346-4C58-93D431B7384A}"/>
              </a:ext>
            </a:extLst>
          </p:cNvPr>
          <p:cNvSpPr>
            <a:spLocks noGrp="1"/>
          </p:cNvSpPr>
          <p:nvPr>
            <p:ph type="body" idx="1"/>
          </p:nvPr>
        </p:nvSpPr>
        <p:spPr/>
        <p:txBody>
          <a:bodyPr/>
          <a:lstStyle/>
          <a:p>
            <a:r>
              <a:rPr lang="en-CA" dirty="0"/>
              <a:t>9-slicing is a 2D technique that allows you to reuse an image at various sizes without needing to prepare multiple assets. Unity can dynamically stretch and tile designated parts of a Sprite to allow one Sprite to serve as the border or background for UI elements of many sizes. Refer to </a:t>
            </a:r>
            <a:r>
              <a:rPr lang="en-CA" u="sng" dirty="0">
                <a:hlinkClick r:id="rId2"/>
              </a:rPr>
              <a:t>9-slicing Sprites</a:t>
            </a:r>
            <a:r>
              <a:rPr lang="en-CA" dirty="0"/>
              <a:t>.</a:t>
            </a:r>
          </a:p>
          <a:p>
            <a:r>
              <a:rPr lang="en-CA" dirty="0"/>
              <a:t>For example, you could use 9-slicing to stretch a Sprite to shape when you build a 2D level.</a:t>
            </a:r>
          </a:p>
          <a:p>
            <a:endParaRPr lang="en-CA" dirty="0"/>
          </a:p>
        </p:txBody>
      </p:sp>
      <p:sp>
        <p:nvSpPr>
          <p:cNvPr id="3" name="Text Placeholder 2">
            <a:extLst>
              <a:ext uri="{FF2B5EF4-FFF2-40B4-BE49-F238E27FC236}">
                <a16:creationId xmlns:a16="http://schemas.microsoft.com/office/drawing/2014/main" id="{0E120927-C16F-9EE0-ED78-6641CB763A87}"/>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9F3FF9AD-8EA6-2096-15C1-B8EBF95432C5}"/>
              </a:ext>
            </a:extLst>
          </p:cNvPr>
          <p:cNvSpPr>
            <a:spLocks noGrp="1"/>
          </p:cNvSpPr>
          <p:nvPr>
            <p:ph type="title"/>
          </p:nvPr>
        </p:nvSpPr>
        <p:spPr/>
        <p:txBody>
          <a:bodyPr/>
          <a:lstStyle/>
          <a:p>
            <a:r>
              <a:rPr lang="en-CA" dirty="0"/>
              <a:t>9-slicing</a:t>
            </a:r>
          </a:p>
        </p:txBody>
      </p:sp>
      <p:pic>
        <p:nvPicPr>
          <p:cNvPr id="5" name="Picture 4" descr="A 9-sliced Sprite, split into nine sections">
            <a:extLst>
              <a:ext uri="{FF2B5EF4-FFF2-40B4-BE49-F238E27FC236}">
                <a16:creationId xmlns:a16="http://schemas.microsoft.com/office/drawing/2014/main" id="{EE49D911-74D8-A437-66FC-ABE0E7E67619}"/>
              </a:ext>
            </a:extLst>
          </p:cNvPr>
          <p:cNvPicPr>
            <a:picLocks noChangeAspect="1"/>
          </p:cNvPicPr>
          <p:nvPr/>
        </p:nvPicPr>
        <p:blipFill>
          <a:blip r:embed="rId3"/>
          <a:stretch>
            <a:fillRect/>
          </a:stretch>
        </p:blipFill>
        <p:spPr>
          <a:xfrm>
            <a:off x="4667250" y="2000250"/>
            <a:ext cx="2857500" cy="2857500"/>
          </a:xfrm>
          <a:prstGeom prst="rect">
            <a:avLst/>
          </a:prstGeom>
        </p:spPr>
      </p:pic>
    </p:spTree>
    <p:extLst>
      <p:ext uri="{BB962C8B-B14F-4D97-AF65-F5344CB8AC3E}">
        <p14:creationId xmlns:p14="http://schemas.microsoft.com/office/powerpoint/2010/main" val="2365570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CEE2D0-74ED-433E-9CDB-EA7937B02A84}"/>
              </a:ext>
            </a:extLst>
          </p:cNvPr>
          <p:cNvSpPr>
            <a:spLocks noGrp="1"/>
          </p:cNvSpPr>
          <p:nvPr>
            <p:ph type="body" idx="1"/>
          </p:nvPr>
        </p:nvSpPr>
        <p:spPr/>
        <p:txBody>
          <a:bodyPr/>
          <a:lstStyle/>
          <a:p>
            <a:r>
              <a:rPr lang="en-CA" dirty="0"/>
              <a:t>The </a:t>
            </a:r>
            <a:r>
              <a:rPr lang="en-CA" u="sng" dirty="0" err="1">
                <a:hlinkClick r:id="rId2"/>
              </a:rPr>
              <a:t>Tilemap</a:t>
            </a:r>
            <a:r>
              <a:rPr lang="en-CA" u="sng" dirty="0"/>
              <a:t> </a:t>
            </a:r>
            <a:r>
              <a:rPr lang="en-CA" dirty="0"/>
              <a:t>component is a system that stores and handles Tile assets for creating 2D levels. </a:t>
            </a:r>
          </a:p>
          <a:p>
            <a:r>
              <a:rPr lang="en-CA" dirty="0"/>
              <a:t>Use the </a:t>
            </a:r>
            <a:r>
              <a:rPr lang="en-CA" u="sng" dirty="0">
                <a:hlinkClick r:id="rId2"/>
              </a:rPr>
              <a:t>2D </a:t>
            </a:r>
            <a:r>
              <a:rPr lang="en-CA" u="sng" dirty="0" err="1">
                <a:hlinkClick r:id="rId2"/>
              </a:rPr>
              <a:t>Tilemap</a:t>
            </a:r>
            <a:r>
              <a:rPr lang="en-CA" u="sng" dirty="0">
                <a:hlinkClick r:id="rId2"/>
              </a:rPr>
              <a:t> Editor</a:t>
            </a:r>
            <a:r>
              <a:rPr lang="en-CA" dirty="0"/>
              <a:t> package (installed by default) to use </a:t>
            </a:r>
            <a:r>
              <a:rPr lang="en-CA" dirty="0" err="1"/>
              <a:t>Tilemaps</a:t>
            </a:r>
            <a:r>
              <a:rPr lang="en-CA" dirty="0"/>
              <a:t>.</a:t>
            </a:r>
          </a:p>
          <a:p>
            <a:r>
              <a:rPr lang="en-CA" dirty="0"/>
              <a:t>For example, you can use </a:t>
            </a:r>
            <a:r>
              <a:rPr lang="en-CA" dirty="0" err="1"/>
              <a:t>Tilemaps</a:t>
            </a:r>
            <a:r>
              <a:rPr lang="en-CA" dirty="0"/>
              <a:t> to paint levels using Tiles and brush tools and define rules for how Tiles behave.</a:t>
            </a:r>
          </a:p>
          <a:p>
            <a:br>
              <a:rPr lang="en-CA" dirty="0"/>
            </a:br>
            <a:endParaRPr lang="en-CA" dirty="0"/>
          </a:p>
        </p:txBody>
      </p:sp>
      <p:pic>
        <p:nvPicPr>
          <p:cNvPr id="5" name="Picture 4" descr="The Tile Palette window, used to edit Tilemaps">
            <a:extLst>
              <a:ext uri="{FF2B5EF4-FFF2-40B4-BE49-F238E27FC236}">
                <a16:creationId xmlns:a16="http://schemas.microsoft.com/office/drawing/2014/main" id="{137B28BC-53DE-C85D-96CA-B7852751A10D}"/>
              </a:ext>
            </a:extLst>
          </p:cNvPr>
          <p:cNvPicPr>
            <a:picLocks noChangeAspect="1"/>
          </p:cNvPicPr>
          <p:nvPr/>
        </p:nvPicPr>
        <p:blipFill>
          <a:blip r:embed="rId3"/>
          <a:stretch>
            <a:fillRect/>
          </a:stretch>
        </p:blipFill>
        <p:spPr>
          <a:xfrm>
            <a:off x="4609652" y="1630120"/>
            <a:ext cx="6977914" cy="4286250"/>
          </a:xfrm>
          <a:prstGeom prst="rect">
            <a:avLst/>
          </a:prstGeom>
        </p:spPr>
      </p:pic>
      <p:sp>
        <p:nvSpPr>
          <p:cNvPr id="3" name="Text Placeholder 2">
            <a:extLst>
              <a:ext uri="{FF2B5EF4-FFF2-40B4-BE49-F238E27FC236}">
                <a16:creationId xmlns:a16="http://schemas.microsoft.com/office/drawing/2014/main" id="{36ED9B4F-1D05-132A-F322-FBD7D8960706}"/>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52E89106-5A55-31A3-3C5C-EACE90E54857}"/>
              </a:ext>
            </a:extLst>
          </p:cNvPr>
          <p:cNvSpPr>
            <a:spLocks noGrp="1"/>
          </p:cNvSpPr>
          <p:nvPr>
            <p:ph type="title"/>
          </p:nvPr>
        </p:nvSpPr>
        <p:spPr/>
        <p:txBody>
          <a:bodyPr/>
          <a:lstStyle/>
          <a:p>
            <a:r>
              <a:rPr lang="en-CA" dirty="0" err="1"/>
              <a:t>Tilemap</a:t>
            </a:r>
            <a:endParaRPr lang="en-CA" dirty="0"/>
          </a:p>
        </p:txBody>
      </p:sp>
    </p:spTree>
    <p:extLst>
      <p:ext uri="{BB962C8B-B14F-4D97-AF65-F5344CB8AC3E}">
        <p14:creationId xmlns:p14="http://schemas.microsoft.com/office/powerpoint/2010/main" val="1373085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3A647D-9CB3-4812-B499-0FDCBFE29EE9}"/>
              </a:ext>
            </a:extLst>
          </p:cNvPr>
          <p:cNvSpPr>
            <a:spLocks noGrp="1"/>
          </p:cNvSpPr>
          <p:nvPr>
            <p:ph type="body" idx="1"/>
          </p:nvPr>
        </p:nvSpPr>
        <p:spPr/>
        <p:txBody>
          <a:bodyPr/>
          <a:lstStyle/>
          <a:p>
            <a:r>
              <a:rPr lang="en-US" dirty="0"/>
              <a:t> </a:t>
            </a:r>
            <a:endParaRPr lang="en-CA" dirty="0"/>
          </a:p>
        </p:txBody>
      </p:sp>
      <p:sp>
        <p:nvSpPr>
          <p:cNvPr id="3" name="Text Placeholder 2">
            <a:extLst>
              <a:ext uri="{FF2B5EF4-FFF2-40B4-BE49-F238E27FC236}">
                <a16:creationId xmlns:a16="http://schemas.microsoft.com/office/drawing/2014/main" id="{1E82B233-E761-02F4-AD8B-F5106E35B4C1}"/>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5351B10B-BB29-9EEA-8AA0-48E289C93D64}"/>
              </a:ext>
            </a:extLst>
          </p:cNvPr>
          <p:cNvSpPr>
            <a:spLocks noGrp="1"/>
          </p:cNvSpPr>
          <p:nvPr>
            <p:ph type="title"/>
          </p:nvPr>
        </p:nvSpPr>
        <p:spPr/>
        <p:txBody>
          <a:bodyPr/>
          <a:lstStyle/>
          <a:p>
            <a:r>
              <a:rPr lang="en-CA" dirty="0"/>
              <a:t>Character animation</a:t>
            </a:r>
          </a:p>
        </p:txBody>
      </p:sp>
      <p:graphicFrame>
        <p:nvGraphicFramePr>
          <p:cNvPr id="5" name="Table 4">
            <a:extLst>
              <a:ext uri="{FF2B5EF4-FFF2-40B4-BE49-F238E27FC236}">
                <a16:creationId xmlns:a16="http://schemas.microsoft.com/office/drawing/2014/main" id="{0E661052-F23D-A7E1-85CB-A2F666C38E10}"/>
              </a:ext>
            </a:extLst>
          </p:cNvPr>
          <p:cNvGraphicFramePr>
            <a:graphicFrameLocks noGrp="1"/>
          </p:cNvGraphicFramePr>
          <p:nvPr>
            <p:extLst>
              <p:ext uri="{D42A27DB-BD31-4B8C-83A1-F6EECF244321}">
                <p14:modId xmlns:p14="http://schemas.microsoft.com/office/powerpoint/2010/main" val="4181827732"/>
              </p:ext>
            </p:extLst>
          </p:nvPr>
        </p:nvGraphicFramePr>
        <p:xfrm>
          <a:off x="4744122" y="1555496"/>
          <a:ext cx="5529012" cy="2567944"/>
        </p:xfrm>
        <a:graphic>
          <a:graphicData uri="http://schemas.openxmlformats.org/drawingml/2006/table">
            <a:tbl>
              <a:tblPr>
                <a:tableStyleId>{5C22544A-7EE6-4342-B048-85BDC9FD1C3A}</a:tableStyleId>
              </a:tblPr>
              <a:tblGrid>
                <a:gridCol w="2764506">
                  <a:extLst>
                    <a:ext uri="{9D8B030D-6E8A-4147-A177-3AD203B41FA5}">
                      <a16:colId xmlns:a16="http://schemas.microsoft.com/office/drawing/2014/main" val="1899125728"/>
                    </a:ext>
                  </a:extLst>
                </a:gridCol>
                <a:gridCol w="2764506">
                  <a:extLst>
                    <a:ext uri="{9D8B030D-6E8A-4147-A177-3AD203B41FA5}">
                      <a16:colId xmlns:a16="http://schemas.microsoft.com/office/drawing/2014/main" val="2946900918"/>
                    </a:ext>
                  </a:extLst>
                </a:gridCol>
              </a:tblGrid>
              <a:tr h="0">
                <a:tc>
                  <a:txBody>
                    <a:bodyPr/>
                    <a:lstStyle/>
                    <a:p>
                      <a:pPr marL="0" marR="0" algn="l">
                        <a:spcAft>
                          <a:spcPts val="1500"/>
                        </a:spcAft>
                        <a:buNone/>
                      </a:pPr>
                      <a:r>
                        <a:rPr lang="en-CA" sz="1200" dirty="0">
                          <a:effectLst/>
                        </a:rPr>
                        <a:t>2D animation type</a:t>
                      </a:r>
                      <a:endParaRPr lang="en-CA" sz="1200" b="0" i="0" dirty="0">
                        <a:solidFill>
                          <a:srgbClr val="455463"/>
                        </a:solidFill>
                        <a:effectLst/>
                        <a:latin typeface="Roboto" panose="02000000000000000000" pitchFamily="2" charset="0"/>
                      </a:endParaRPr>
                    </a:p>
                  </a:txBody>
                  <a:tcPr marL="47625" marR="47625" marT="23813" marB="23813" anchor="ctr"/>
                </a:tc>
                <a:tc>
                  <a:txBody>
                    <a:bodyPr/>
                    <a:lstStyle/>
                    <a:p>
                      <a:pPr marL="0" marR="0" algn="l">
                        <a:spcAft>
                          <a:spcPts val="1500"/>
                        </a:spcAft>
                        <a:buNone/>
                      </a:pPr>
                      <a:r>
                        <a:rPr lang="en-CA" sz="1200">
                          <a:effectLst/>
                        </a:rPr>
                        <a:t>Used for</a:t>
                      </a:r>
                      <a:endParaRPr lang="en-CA" sz="1200" b="0" i="0">
                        <a:solidFill>
                          <a:srgbClr val="455463"/>
                        </a:solidFill>
                        <a:effectLst/>
                        <a:latin typeface="Roboto" panose="02000000000000000000" pitchFamily="2" charset="0"/>
                      </a:endParaRPr>
                    </a:p>
                  </a:txBody>
                  <a:tcPr marL="47625" marR="47625" marT="23813" marB="23813" anchor="ctr"/>
                </a:tc>
                <a:extLst>
                  <a:ext uri="{0D108BD9-81ED-4DB2-BD59-A6C34878D82A}">
                    <a16:rowId xmlns:a16="http://schemas.microsoft.com/office/drawing/2014/main" val="3843855384"/>
                  </a:ext>
                </a:extLst>
              </a:tr>
              <a:tr h="0">
                <a:tc>
                  <a:txBody>
                    <a:bodyPr/>
                    <a:lstStyle/>
                    <a:p>
                      <a:pPr marL="0" marR="0" algn="l" fontAlgn="t">
                        <a:spcAft>
                          <a:spcPts val="1500"/>
                        </a:spcAft>
                        <a:buNone/>
                      </a:pPr>
                      <a:r>
                        <a:rPr lang="en-CA" sz="1200">
                          <a:effectLst/>
                        </a:rPr>
                        <a:t>Frame-by-frame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Artistic reasons, if you want your game to have a classic animation art style. Frame-by-frame animation is relatively resource-intensive, both to make and to run.</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209335366"/>
                  </a:ext>
                </a:extLst>
              </a:tr>
              <a:tr h="0">
                <a:tc>
                  <a:txBody>
                    <a:bodyPr/>
                    <a:lstStyle/>
                    <a:p>
                      <a:pPr marL="0" marR="0" algn="l" fontAlgn="t">
                        <a:spcAft>
                          <a:spcPts val="1500"/>
                        </a:spcAft>
                        <a:buNone/>
                      </a:pPr>
                      <a:r>
                        <a:rPr lang="en-CA" sz="1200">
                          <a:effectLst/>
                        </a:rPr>
                        <a:t>Cutout</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Smooth skeletal animation, when the characters don’t require realistic articulation.</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933605780"/>
                  </a:ext>
                </a:extLst>
              </a:tr>
              <a:tr h="0">
                <a:tc>
                  <a:txBody>
                    <a:bodyPr/>
                    <a:lstStyle/>
                    <a:p>
                      <a:pPr marL="0" marR="0" algn="l" fontAlgn="t">
                        <a:spcAft>
                          <a:spcPts val="1500"/>
                        </a:spcAft>
                        <a:buNone/>
                      </a:pPr>
                      <a:r>
                        <a:rPr lang="en-CA" sz="1200">
                          <a:effectLst/>
                        </a:rPr>
                        <a:t>Skeletal</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dirty="0">
                          <a:effectLst/>
                        </a:rPr>
                        <a:t>Smooth skeletal animation where Sprites bend according to the bone structure. Use this when the characters need a more organic feel.</a:t>
                      </a:r>
                      <a:endParaRPr lang="en-CA" sz="1200" b="0" i="0" dirty="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3058836791"/>
                  </a:ext>
                </a:extLst>
              </a:tr>
            </a:tbl>
          </a:graphicData>
        </a:graphic>
      </p:graphicFrame>
      <p:sp>
        <p:nvSpPr>
          <p:cNvPr id="7" name="TextBox 6">
            <a:extLst>
              <a:ext uri="{FF2B5EF4-FFF2-40B4-BE49-F238E27FC236}">
                <a16:creationId xmlns:a16="http://schemas.microsoft.com/office/drawing/2014/main" id="{F8C92D18-2656-142B-30FE-376AD269D009}"/>
              </a:ext>
            </a:extLst>
          </p:cNvPr>
          <p:cNvSpPr txBox="1"/>
          <p:nvPr/>
        </p:nvSpPr>
        <p:spPr>
          <a:xfrm>
            <a:off x="1606923" y="1758284"/>
            <a:ext cx="2179769" cy="738664"/>
          </a:xfrm>
          <a:prstGeom prst="rect">
            <a:avLst/>
          </a:prstGeom>
          <a:noFill/>
        </p:spPr>
        <p:txBody>
          <a:bodyPr wrap="square">
            <a:spAutoFit/>
          </a:bodyPr>
          <a:lstStyle/>
          <a:p>
            <a:pPr marL="0" marR="0" indent="0" algn="l">
              <a:spcAft>
                <a:spcPts val="1125"/>
              </a:spcAft>
              <a:buNone/>
            </a:pPr>
            <a:r>
              <a:rPr lang="en-CA" b="0" i="0" dirty="0">
                <a:solidFill>
                  <a:srgbClr val="000000"/>
                </a:solidFill>
                <a:effectLst/>
                <a:latin typeface="Arial"/>
              </a:rPr>
              <a:t>There are three different ways you can animate 2D characters:</a:t>
            </a:r>
            <a:endParaRPr lang="en-CA" b="0" i="0" dirty="0">
              <a:solidFill>
                <a:srgbClr val="455463"/>
              </a:solidFill>
              <a:effectLst/>
              <a:latin typeface="Roboto" panose="02000000000000000000" pitchFamily="2" charset="0"/>
            </a:endParaRPr>
          </a:p>
        </p:txBody>
      </p:sp>
    </p:spTree>
    <p:extLst>
      <p:ext uri="{BB962C8B-B14F-4D97-AF65-F5344CB8AC3E}">
        <p14:creationId xmlns:p14="http://schemas.microsoft.com/office/powerpoint/2010/main" val="2202688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D932EF-EE64-F958-E489-9E099FB0612B}"/>
              </a:ext>
            </a:extLst>
          </p:cNvPr>
          <p:cNvSpPr>
            <a:spLocks noGrp="1"/>
          </p:cNvSpPr>
          <p:nvPr>
            <p:ph type="body" idx="1"/>
          </p:nvPr>
        </p:nvSpPr>
        <p:spPr/>
        <p:txBody>
          <a:bodyPr/>
          <a:lstStyle/>
          <a:p>
            <a:r>
              <a:rPr lang="en-CA" dirty="0"/>
              <a:t>Frame-by-frame animation is based on the traditional cel animation technique of drawing each moment of an animation as individual images, which are played in fast sequence, like flipping pages on a flipbook.</a:t>
            </a:r>
          </a:p>
        </p:txBody>
      </p:sp>
      <p:sp>
        <p:nvSpPr>
          <p:cNvPr id="3" name="Text Placeholder 2">
            <a:extLst>
              <a:ext uri="{FF2B5EF4-FFF2-40B4-BE49-F238E27FC236}">
                <a16:creationId xmlns:a16="http://schemas.microsoft.com/office/drawing/2014/main" id="{D21AEF00-3598-2A8F-E2A4-75E7A50B22A4}"/>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C3CFF67D-7D79-ECAA-B4DE-637756BB936A}"/>
              </a:ext>
            </a:extLst>
          </p:cNvPr>
          <p:cNvSpPr>
            <a:spLocks noGrp="1"/>
          </p:cNvSpPr>
          <p:nvPr>
            <p:ph type="title"/>
          </p:nvPr>
        </p:nvSpPr>
        <p:spPr/>
        <p:txBody>
          <a:bodyPr/>
          <a:lstStyle/>
          <a:p>
            <a:r>
              <a:rPr lang="en-CA" dirty="0"/>
              <a:t>Frame-by-frame</a:t>
            </a:r>
          </a:p>
        </p:txBody>
      </p:sp>
      <p:pic>
        <p:nvPicPr>
          <p:cNvPr id="5" name="Picture 4" descr="Frame-by-frame animation in the Sprite Editor">
            <a:extLst>
              <a:ext uri="{FF2B5EF4-FFF2-40B4-BE49-F238E27FC236}">
                <a16:creationId xmlns:a16="http://schemas.microsoft.com/office/drawing/2014/main" id="{9DE8D819-737F-6063-F44B-91B271414233}"/>
              </a:ext>
            </a:extLst>
          </p:cNvPr>
          <p:cNvPicPr>
            <a:picLocks noChangeAspect="1"/>
          </p:cNvPicPr>
          <p:nvPr/>
        </p:nvPicPr>
        <p:blipFill>
          <a:blip r:embed="rId2"/>
          <a:stretch>
            <a:fillRect/>
          </a:stretch>
        </p:blipFill>
        <p:spPr>
          <a:xfrm>
            <a:off x="5599355" y="1563018"/>
            <a:ext cx="4170493" cy="4094215"/>
          </a:xfrm>
          <a:prstGeom prst="rect">
            <a:avLst/>
          </a:prstGeom>
        </p:spPr>
      </p:pic>
    </p:spTree>
    <p:extLst>
      <p:ext uri="{BB962C8B-B14F-4D97-AF65-F5344CB8AC3E}">
        <p14:creationId xmlns:p14="http://schemas.microsoft.com/office/powerpoint/2010/main" val="2982584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D96939-4585-1127-9742-A2EFF1A97C0F}"/>
              </a:ext>
            </a:extLst>
          </p:cNvPr>
          <p:cNvSpPr>
            <a:spLocks noGrp="1"/>
          </p:cNvSpPr>
          <p:nvPr>
            <p:ph type="body" idx="1"/>
          </p:nvPr>
        </p:nvSpPr>
        <p:spPr/>
        <p:txBody>
          <a:bodyPr/>
          <a:lstStyle/>
          <a:p>
            <a:r>
              <a:rPr lang="en-CA" dirty="0"/>
              <a:t>In cutout animation, multiple Sprites make up the body of a character, and each piece moves to give the visual effect of the whole character moving. This animation style is similar to skeletal animation, except that the Sprites don’t bend.</a:t>
            </a:r>
          </a:p>
          <a:p>
            <a:br>
              <a:rPr lang="en-CA" dirty="0"/>
            </a:br>
            <a:endParaRPr lang="en-CA" dirty="0"/>
          </a:p>
        </p:txBody>
      </p:sp>
      <p:sp>
        <p:nvSpPr>
          <p:cNvPr id="3" name="Text Placeholder 2">
            <a:extLst>
              <a:ext uri="{FF2B5EF4-FFF2-40B4-BE49-F238E27FC236}">
                <a16:creationId xmlns:a16="http://schemas.microsoft.com/office/drawing/2014/main" id="{AFDC3F20-A2B3-211B-0F84-F4DFAD791A33}"/>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B8FDA4C2-D1CC-B78A-5702-A64C6218DA4E}"/>
              </a:ext>
            </a:extLst>
          </p:cNvPr>
          <p:cNvSpPr>
            <a:spLocks noGrp="1"/>
          </p:cNvSpPr>
          <p:nvPr>
            <p:ph type="title"/>
          </p:nvPr>
        </p:nvSpPr>
        <p:spPr/>
        <p:txBody>
          <a:bodyPr/>
          <a:lstStyle/>
          <a:p>
            <a:r>
              <a:rPr lang="en-CA" dirty="0"/>
              <a:t>Cutout</a:t>
            </a:r>
          </a:p>
        </p:txBody>
      </p:sp>
      <p:pic>
        <p:nvPicPr>
          <p:cNvPr id="5" name="Picture 4" descr="Cutout animation in the Sprite Editor">
            <a:extLst>
              <a:ext uri="{FF2B5EF4-FFF2-40B4-BE49-F238E27FC236}">
                <a16:creationId xmlns:a16="http://schemas.microsoft.com/office/drawing/2014/main" id="{ACC1B448-F752-6CDC-9DCE-53A1FC478049}"/>
              </a:ext>
            </a:extLst>
          </p:cNvPr>
          <p:cNvPicPr>
            <a:picLocks noChangeAspect="1"/>
          </p:cNvPicPr>
          <p:nvPr/>
        </p:nvPicPr>
        <p:blipFill>
          <a:blip r:embed="rId2"/>
          <a:stretch>
            <a:fillRect/>
          </a:stretch>
        </p:blipFill>
        <p:spPr>
          <a:xfrm>
            <a:off x="5085941" y="1463039"/>
            <a:ext cx="6453501" cy="4592227"/>
          </a:xfrm>
          <a:prstGeom prst="rect">
            <a:avLst/>
          </a:prstGeom>
        </p:spPr>
      </p:pic>
    </p:spTree>
    <p:extLst>
      <p:ext uri="{BB962C8B-B14F-4D97-AF65-F5344CB8AC3E}">
        <p14:creationId xmlns:p14="http://schemas.microsoft.com/office/powerpoint/2010/main" val="771525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3CE055-FBA8-FC18-41AB-2C96F51F1A56}"/>
              </a:ext>
            </a:extLst>
          </p:cNvPr>
          <p:cNvSpPr>
            <a:spLocks noGrp="1"/>
          </p:cNvSpPr>
          <p:nvPr>
            <p:ph type="body" idx="1"/>
          </p:nvPr>
        </p:nvSpPr>
        <p:spPr/>
        <p:txBody>
          <a:bodyPr>
            <a:normAutofit lnSpcReduction="10000"/>
          </a:bodyPr>
          <a:lstStyle/>
          <a:p>
            <a:r>
              <a:rPr lang="en-CA" dirty="0"/>
              <a:t>With skeletal animation, you map a Sprite or a group of Sprites onto an animation skeleton. You can create and define animation bones for characters and objects, that define how they should bend and move. This approach allows the bones to bend and deform the Sprites, for a more natural movement style. To use skeletal animation, you need to use the </a:t>
            </a:r>
            <a:r>
              <a:rPr lang="en-CA" u="sng" dirty="0">
                <a:hlinkClick r:id="rId2"/>
              </a:rPr>
              <a:t>2D Animation</a:t>
            </a:r>
            <a:r>
              <a:rPr lang="en-CA" dirty="0"/>
              <a:t> package (installed by default).</a:t>
            </a:r>
          </a:p>
          <a:p>
            <a:r>
              <a:rPr lang="en-CA" dirty="0"/>
              <a:t>For a 2D Animation workflow, including a guide to working with the Bone Editor, refer to the </a:t>
            </a:r>
            <a:r>
              <a:rPr lang="en-CA" u="sng" dirty="0">
                <a:hlinkClick r:id="rId3"/>
              </a:rPr>
              <a:t>2D Animation documentation</a:t>
            </a:r>
            <a:r>
              <a:rPr lang="en-CA" dirty="0"/>
              <a:t>.</a:t>
            </a:r>
          </a:p>
          <a:p>
            <a:endParaRPr lang="en-CA" dirty="0"/>
          </a:p>
        </p:txBody>
      </p:sp>
      <p:sp>
        <p:nvSpPr>
          <p:cNvPr id="3" name="Text Placeholder 2">
            <a:extLst>
              <a:ext uri="{FF2B5EF4-FFF2-40B4-BE49-F238E27FC236}">
                <a16:creationId xmlns:a16="http://schemas.microsoft.com/office/drawing/2014/main" id="{36A0A599-2780-49F4-98D4-C4B809AE1419}"/>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8AFC9726-D407-27E1-236A-3E911BFADE1C}"/>
              </a:ext>
            </a:extLst>
          </p:cNvPr>
          <p:cNvSpPr>
            <a:spLocks noGrp="1"/>
          </p:cNvSpPr>
          <p:nvPr>
            <p:ph type="title"/>
          </p:nvPr>
        </p:nvSpPr>
        <p:spPr/>
        <p:txBody>
          <a:bodyPr/>
          <a:lstStyle/>
          <a:p>
            <a:r>
              <a:rPr lang="en-CA" dirty="0"/>
              <a:t>Skeletal</a:t>
            </a:r>
          </a:p>
        </p:txBody>
      </p:sp>
      <p:pic>
        <p:nvPicPr>
          <p:cNvPr id="6" name="Picture 5">
            <a:extLst>
              <a:ext uri="{FF2B5EF4-FFF2-40B4-BE49-F238E27FC236}">
                <a16:creationId xmlns:a16="http://schemas.microsoft.com/office/drawing/2014/main" id="{6A151E1E-E420-A744-FB94-B7BD9FFA7D6A}"/>
              </a:ext>
            </a:extLst>
          </p:cNvPr>
          <p:cNvPicPr>
            <a:picLocks noChangeAspect="1"/>
          </p:cNvPicPr>
          <p:nvPr/>
        </p:nvPicPr>
        <p:blipFill>
          <a:blip r:embed="rId4"/>
          <a:stretch>
            <a:fillRect/>
          </a:stretch>
        </p:blipFill>
        <p:spPr>
          <a:xfrm>
            <a:off x="5171397" y="1688949"/>
            <a:ext cx="5754282" cy="4096759"/>
          </a:xfrm>
          <a:prstGeom prst="rect">
            <a:avLst/>
          </a:prstGeom>
        </p:spPr>
      </p:pic>
    </p:spTree>
    <p:extLst>
      <p:ext uri="{BB962C8B-B14F-4D97-AF65-F5344CB8AC3E}">
        <p14:creationId xmlns:p14="http://schemas.microsoft.com/office/powerpoint/2010/main" val="377517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439774-E566-D54E-F89D-85E60534EC01}"/>
              </a:ext>
            </a:extLst>
          </p:cNvPr>
          <p:cNvSpPr>
            <a:spLocks noGrp="1"/>
          </p:cNvSpPr>
          <p:nvPr>
            <p:ph type="body" idx="1"/>
          </p:nvPr>
        </p:nvSpPr>
        <p:spPr/>
        <p:txBody>
          <a:bodyPr/>
          <a:lstStyle/>
          <a:p>
            <a:r>
              <a:rPr lang="en-CA" dirty="0"/>
              <a:t>Because you’re using URP with the 2D Renderer, you can use the Light 2D component to apply optimized 2D lighting to Sprites. For details, refer to </a:t>
            </a:r>
            <a:r>
              <a:rPr lang="en-CA" u="sng" dirty="0">
                <a:hlinkClick r:id="rId2"/>
              </a:rPr>
              <a:t>Introduction to Lights 2D</a:t>
            </a:r>
            <a:r>
              <a:rPr lang="en-CA" dirty="0"/>
              <a:t>.</a:t>
            </a:r>
          </a:p>
          <a:p>
            <a:r>
              <a:rPr lang="en-US" dirty="0"/>
              <a:t>These two images show the same scene; in the image on the left, 2D Lights are disabled, and in the image on the right, 2D lights are enabled. With 2D Lights, you can use the same Sprites to create different weather conditions or moods.</a:t>
            </a:r>
            <a:endParaRPr lang="en-CA" dirty="0"/>
          </a:p>
        </p:txBody>
      </p:sp>
      <p:sp>
        <p:nvSpPr>
          <p:cNvPr id="3" name="Text Placeholder 2">
            <a:extLst>
              <a:ext uri="{FF2B5EF4-FFF2-40B4-BE49-F238E27FC236}">
                <a16:creationId xmlns:a16="http://schemas.microsoft.com/office/drawing/2014/main" id="{FAFA904C-AFE7-FDFB-DB1C-C3EDF9BAC6C3}"/>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685D1462-2CB1-9013-A6A2-CB497EAA1961}"/>
              </a:ext>
            </a:extLst>
          </p:cNvPr>
          <p:cNvSpPr>
            <a:spLocks noGrp="1"/>
          </p:cNvSpPr>
          <p:nvPr>
            <p:ph type="title"/>
          </p:nvPr>
        </p:nvSpPr>
        <p:spPr/>
        <p:txBody>
          <a:bodyPr/>
          <a:lstStyle/>
          <a:p>
            <a:r>
              <a:rPr lang="en-CA" dirty="0"/>
              <a:t>Lighting</a:t>
            </a:r>
          </a:p>
        </p:txBody>
      </p:sp>
      <p:pic>
        <p:nvPicPr>
          <p:cNvPr id="6" name="Picture 5">
            <a:extLst>
              <a:ext uri="{FF2B5EF4-FFF2-40B4-BE49-F238E27FC236}">
                <a16:creationId xmlns:a16="http://schemas.microsoft.com/office/drawing/2014/main" id="{0666CF39-23B2-729A-C6B7-95257CFFA9C3}"/>
              </a:ext>
            </a:extLst>
          </p:cNvPr>
          <p:cNvPicPr>
            <a:picLocks noChangeAspect="1"/>
          </p:cNvPicPr>
          <p:nvPr/>
        </p:nvPicPr>
        <p:blipFill>
          <a:blip r:embed="rId3"/>
          <a:stretch>
            <a:fillRect/>
          </a:stretch>
        </p:blipFill>
        <p:spPr>
          <a:xfrm>
            <a:off x="4561242" y="1587089"/>
            <a:ext cx="7026324" cy="4286250"/>
          </a:xfrm>
          <a:prstGeom prst="rect">
            <a:avLst/>
          </a:prstGeom>
        </p:spPr>
      </p:pic>
    </p:spTree>
    <p:extLst>
      <p:ext uri="{BB962C8B-B14F-4D97-AF65-F5344CB8AC3E}">
        <p14:creationId xmlns:p14="http://schemas.microsoft.com/office/powerpoint/2010/main" val="2599612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D63188-C548-EA49-D92E-2F4C853715E4}"/>
              </a:ext>
            </a:extLst>
          </p:cNvPr>
          <p:cNvSpPr>
            <a:spLocks noGrp="1"/>
          </p:cNvSpPr>
          <p:nvPr>
            <p:ph type="body" idx="1"/>
          </p:nvPr>
        </p:nvSpPr>
        <p:spPr/>
        <p:txBody>
          <a:bodyPr/>
          <a:lstStyle/>
          <a:p>
            <a:r>
              <a:rPr lang="en-CA" dirty="0"/>
              <a:t>To define the shape and properties that a Light uses to determine the shadows it casts, use the </a:t>
            </a:r>
            <a:r>
              <a:rPr lang="en-CA" u="sng" dirty="0">
                <a:hlinkClick r:id="rId2"/>
              </a:rPr>
              <a:t>Shadow Caster 2D component</a:t>
            </a:r>
            <a:r>
              <a:rPr lang="en-CA" dirty="0"/>
              <a:t>.</a:t>
            </a:r>
          </a:p>
          <a:p>
            <a:r>
              <a:rPr lang="en-CA" dirty="0"/>
              <a:t>A shadow intensity of 0.5 in the Shadow Caster 2D component.</a:t>
            </a:r>
          </a:p>
        </p:txBody>
      </p:sp>
      <p:sp>
        <p:nvSpPr>
          <p:cNvPr id="3" name="Text Placeholder 2">
            <a:extLst>
              <a:ext uri="{FF2B5EF4-FFF2-40B4-BE49-F238E27FC236}">
                <a16:creationId xmlns:a16="http://schemas.microsoft.com/office/drawing/2014/main" id="{BCFEA84C-3285-5D18-BF9E-2C65E9C74E34}"/>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669A300B-5A2B-7DF0-AE47-E0140DCA5100}"/>
              </a:ext>
            </a:extLst>
          </p:cNvPr>
          <p:cNvSpPr>
            <a:spLocks noGrp="1"/>
          </p:cNvSpPr>
          <p:nvPr>
            <p:ph type="title"/>
          </p:nvPr>
        </p:nvSpPr>
        <p:spPr/>
        <p:txBody>
          <a:bodyPr/>
          <a:lstStyle/>
          <a:p>
            <a:r>
              <a:rPr lang="en-CA" dirty="0"/>
              <a:t>Shadows</a:t>
            </a:r>
          </a:p>
        </p:txBody>
      </p:sp>
      <p:pic>
        <p:nvPicPr>
          <p:cNvPr id="6" name="Picture 5">
            <a:extLst>
              <a:ext uri="{FF2B5EF4-FFF2-40B4-BE49-F238E27FC236}">
                <a16:creationId xmlns:a16="http://schemas.microsoft.com/office/drawing/2014/main" id="{5C6AA94E-FECB-09AF-D895-A94E629C955B}"/>
              </a:ext>
            </a:extLst>
          </p:cNvPr>
          <p:cNvPicPr>
            <a:picLocks noChangeAspect="1"/>
          </p:cNvPicPr>
          <p:nvPr/>
        </p:nvPicPr>
        <p:blipFill>
          <a:blip r:embed="rId3"/>
          <a:stretch>
            <a:fillRect/>
          </a:stretch>
        </p:blipFill>
        <p:spPr>
          <a:xfrm>
            <a:off x="5502256" y="1599023"/>
            <a:ext cx="4545387" cy="4243619"/>
          </a:xfrm>
          <a:prstGeom prst="rect">
            <a:avLst/>
          </a:prstGeom>
        </p:spPr>
      </p:pic>
    </p:spTree>
    <p:extLst>
      <p:ext uri="{BB962C8B-B14F-4D97-AF65-F5344CB8AC3E}">
        <p14:creationId xmlns:p14="http://schemas.microsoft.com/office/powerpoint/2010/main" val="3586697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7E49F9-14ED-F37C-1CB7-59C938E29394}"/>
              </a:ext>
            </a:extLst>
          </p:cNvPr>
          <p:cNvSpPr>
            <a:spLocks noGrp="1"/>
          </p:cNvSpPr>
          <p:nvPr>
            <p:ph type="body" idx="1"/>
          </p:nvPr>
        </p:nvSpPr>
        <p:spPr/>
        <p:txBody>
          <a:bodyPr/>
          <a:lstStyle/>
          <a:p>
            <a:r>
              <a:rPr lang="en-CA" dirty="0"/>
              <a:t>You can use particle systems to create dynamic objects like fire, smoke or liquids, as an alternative to using a Sprite. Sprites are more suited to physical objects. Refer to </a:t>
            </a:r>
            <a:r>
              <a:rPr lang="en-CA" u="sng" dirty="0">
                <a:hlinkClick r:id="rId2"/>
              </a:rPr>
              <a:t>Particle systems</a:t>
            </a:r>
            <a:br>
              <a:rPr lang="en-CA" dirty="0"/>
            </a:br>
            <a:r>
              <a:rPr lang="en-CA" dirty="0"/>
              <a:t>A fire effect, created with the Particle System and Shader Graph for 2D.</a:t>
            </a:r>
          </a:p>
        </p:txBody>
      </p:sp>
      <p:sp>
        <p:nvSpPr>
          <p:cNvPr id="3" name="Text Placeholder 2">
            <a:extLst>
              <a:ext uri="{FF2B5EF4-FFF2-40B4-BE49-F238E27FC236}">
                <a16:creationId xmlns:a16="http://schemas.microsoft.com/office/drawing/2014/main" id="{17C427EC-D73E-26FF-0C62-E01809C848FE}"/>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D1200F69-4C95-28BA-6ACF-9B66796C1BE1}"/>
              </a:ext>
            </a:extLst>
          </p:cNvPr>
          <p:cNvSpPr>
            <a:spLocks noGrp="1"/>
          </p:cNvSpPr>
          <p:nvPr>
            <p:ph type="title"/>
          </p:nvPr>
        </p:nvSpPr>
        <p:spPr/>
        <p:txBody>
          <a:bodyPr/>
          <a:lstStyle/>
          <a:p>
            <a:r>
              <a:rPr lang="en-CA" dirty="0"/>
              <a:t>Particle systems</a:t>
            </a:r>
          </a:p>
        </p:txBody>
      </p:sp>
      <p:pic>
        <p:nvPicPr>
          <p:cNvPr id="5" name="Picture 4" descr="A fire effect, created with the Particle System and Shader Graph for 2D">
            <a:extLst>
              <a:ext uri="{FF2B5EF4-FFF2-40B4-BE49-F238E27FC236}">
                <a16:creationId xmlns:a16="http://schemas.microsoft.com/office/drawing/2014/main" id="{3219A18B-BD0C-4530-63C5-8C0CB6A86546}"/>
              </a:ext>
            </a:extLst>
          </p:cNvPr>
          <p:cNvPicPr>
            <a:picLocks noChangeAspect="1"/>
          </p:cNvPicPr>
          <p:nvPr/>
        </p:nvPicPr>
        <p:blipFill>
          <a:blip r:embed="rId3"/>
          <a:stretch>
            <a:fillRect/>
          </a:stretch>
        </p:blipFill>
        <p:spPr>
          <a:xfrm>
            <a:off x="4443660" y="1507068"/>
            <a:ext cx="7143905" cy="4286250"/>
          </a:xfrm>
          <a:prstGeom prst="rect">
            <a:avLst/>
          </a:prstGeom>
        </p:spPr>
      </p:pic>
    </p:spTree>
    <p:extLst>
      <p:ext uri="{BB962C8B-B14F-4D97-AF65-F5344CB8AC3E}">
        <p14:creationId xmlns:p14="http://schemas.microsoft.com/office/powerpoint/2010/main" val="1141760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8BEBCD-EB15-1586-31EE-2A2ABCDF39F4}"/>
              </a:ext>
            </a:extLst>
          </p:cNvPr>
          <p:cNvSpPr>
            <a:spLocks noGrp="1"/>
          </p:cNvSpPr>
          <p:nvPr>
            <p:ph type="body" idx="1"/>
          </p:nvPr>
        </p:nvSpPr>
        <p:spPr/>
        <p:txBody>
          <a:bodyPr/>
          <a:lstStyle/>
          <a:p>
            <a:r>
              <a:rPr lang="en-CA" dirty="0"/>
              <a:t>You can use post-processing effects and full-screen effects to significantly improve the appearance of your game. For example, you can use these effects to simulate physical camera or film properties, or to create stylized visuals.</a:t>
            </a:r>
          </a:p>
          <a:p>
            <a:r>
              <a:rPr lang="en-CA" dirty="0"/>
              <a:t>URP has its own post-processing implementation. Refer to </a:t>
            </a:r>
            <a:r>
              <a:rPr lang="en-CA" u="sng" dirty="0">
                <a:hlinkClick r:id="rId2"/>
              </a:rPr>
              <a:t>Post-processing in the Universal Render Pipeline</a:t>
            </a:r>
            <a:r>
              <a:rPr lang="en-CA" dirty="0"/>
              <a:t>.</a:t>
            </a:r>
          </a:p>
          <a:p>
            <a:br>
              <a:rPr lang="en-CA" dirty="0"/>
            </a:br>
            <a:r>
              <a:rPr lang="en-CA" dirty="0"/>
              <a:t>The Lost Crypt demo uses the bloom and vignette post-processing effects</a:t>
            </a:r>
          </a:p>
        </p:txBody>
      </p:sp>
      <p:sp>
        <p:nvSpPr>
          <p:cNvPr id="3" name="Text Placeholder 2">
            <a:extLst>
              <a:ext uri="{FF2B5EF4-FFF2-40B4-BE49-F238E27FC236}">
                <a16:creationId xmlns:a16="http://schemas.microsoft.com/office/drawing/2014/main" id="{C2DB0CD3-335C-1C2C-5E10-02A272D6D9E4}"/>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D4BFBDA8-386F-D14F-831F-A7B0680312F9}"/>
              </a:ext>
            </a:extLst>
          </p:cNvPr>
          <p:cNvSpPr>
            <a:spLocks noGrp="1"/>
          </p:cNvSpPr>
          <p:nvPr>
            <p:ph type="title"/>
          </p:nvPr>
        </p:nvSpPr>
        <p:spPr/>
        <p:txBody>
          <a:bodyPr/>
          <a:lstStyle/>
          <a:p>
            <a:r>
              <a:rPr lang="en-CA" dirty="0"/>
              <a:t>Post-processing</a:t>
            </a:r>
          </a:p>
        </p:txBody>
      </p:sp>
      <p:pic>
        <p:nvPicPr>
          <p:cNvPr id="5" name="Picture 4" descr="The Lost Crypt demo uses the bloom and vignette post-processing effects">
            <a:extLst>
              <a:ext uri="{FF2B5EF4-FFF2-40B4-BE49-F238E27FC236}">
                <a16:creationId xmlns:a16="http://schemas.microsoft.com/office/drawing/2014/main" id="{B0F03F11-0D91-8969-FF22-B93D16233374}"/>
              </a:ext>
            </a:extLst>
          </p:cNvPr>
          <p:cNvPicPr>
            <a:picLocks noChangeAspect="1"/>
          </p:cNvPicPr>
          <p:nvPr/>
        </p:nvPicPr>
        <p:blipFill>
          <a:blip r:embed="rId3"/>
          <a:stretch>
            <a:fillRect/>
          </a:stretch>
        </p:blipFill>
        <p:spPr>
          <a:xfrm>
            <a:off x="4738744" y="1613984"/>
            <a:ext cx="6800698" cy="4286250"/>
          </a:xfrm>
          <a:prstGeom prst="rect">
            <a:avLst/>
          </a:prstGeom>
        </p:spPr>
      </p:pic>
    </p:spTree>
    <p:extLst>
      <p:ext uri="{BB962C8B-B14F-4D97-AF65-F5344CB8AC3E}">
        <p14:creationId xmlns:p14="http://schemas.microsoft.com/office/powerpoint/2010/main" val="3348887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D4577E-D2AF-70FB-AD2D-52C24C46F5A0}"/>
              </a:ext>
            </a:extLst>
          </p:cNvPr>
          <p:cNvSpPr>
            <a:spLocks noGrp="1"/>
          </p:cNvSpPr>
          <p:nvPr>
            <p:ph type="body" idx="1"/>
          </p:nvPr>
        </p:nvSpPr>
        <p:spPr/>
        <p:txBody>
          <a:bodyPr/>
          <a:lstStyle/>
          <a:p>
            <a:r>
              <a:rPr lang="en-US" dirty="0"/>
              <a:t>To learn how to use Unity’s 2D physics engine, refer to Applying 2D Colliders for Physics Interactions.</a:t>
            </a:r>
          </a:p>
          <a:p>
            <a:r>
              <a:rPr lang="en-US" dirty="0"/>
              <a:t>The following 2D physics tools are useful for 2D games.</a:t>
            </a:r>
          </a:p>
          <a:p>
            <a:pPr>
              <a:buSzPct val="84000"/>
              <a:buFont typeface="Wingdings" panose="05000000000000000000" pitchFamily="2" charset="2"/>
              <a:buChar char="q"/>
            </a:pPr>
            <a:r>
              <a:rPr lang="en-US" dirty="0" err="1"/>
              <a:t>Rigidbody</a:t>
            </a:r>
            <a:r>
              <a:rPr lang="en-US" dirty="0"/>
              <a:t> 2D</a:t>
            </a:r>
          </a:p>
          <a:p>
            <a:pPr>
              <a:buSzPct val="84000"/>
              <a:buFont typeface="Wingdings" panose="05000000000000000000" pitchFamily="2" charset="2"/>
              <a:buChar char="q"/>
            </a:pPr>
            <a:r>
              <a:rPr lang="en-US" dirty="0"/>
              <a:t>Collider 2D</a:t>
            </a:r>
          </a:p>
          <a:p>
            <a:pPr>
              <a:buSzPct val="84000"/>
              <a:buFont typeface="Wingdings" panose="05000000000000000000" pitchFamily="2" charset="2"/>
              <a:buChar char="q"/>
            </a:pPr>
            <a:r>
              <a:rPr lang="en-US" dirty="0"/>
              <a:t>Triggers</a:t>
            </a:r>
          </a:p>
          <a:p>
            <a:pPr>
              <a:buSzPct val="84000"/>
              <a:buFont typeface="Wingdings" panose="05000000000000000000" pitchFamily="2" charset="2"/>
              <a:buChar char="q"/>
            </a:pPr>
            <a:r>
              <a:rPr lang="en-US" dirty="0"/>
              <a:t>2D Joints</a:t>
            </a:r>
          </a:p>
          <a:p>
            <a:pPr>
              <a:buSzPct val="84000"/>
              <a:buFont typeface="Wingdings" panose="05000000000000000000" pitchFamily="2" charset="2"/>
              <a:buChar char="q"/>
            </a:pPr>
            <a:r>
              <a:rPr lang="en-US" dirty="0"/>
              <a:t>2D Effectors</a:t>
            </a:r>
          </a:p>
          <a:p>
            <a:endParaRPr lang="en-CA" dirty="0"/>
          </a:p>
        </p:txBody>
      </p:sp>
      <p:sp>
        <p:nvSpPr>
          <p:cNvPr id="4" name="Title 3">
            <a:extLst>
              <a:ext uri="{FF2B5EF4-FFF2-40B4-BE49-F238E27FC236}">
                <a16:creationId xmlns:a16="http://schemas.microsoft.com/office/drawing/2014/main" id="{4622AD52-07A1-AB48-BDD9-C7FDBBFF90B8}"/>
              </a:ext>
            </a:extLst>
          </p:cNvPr>
          <p:cNvSpPr>
            <a:spLocks noGrp="1"/>
          </p:cNvSpPr>
          <p:nvPr>
            <p:ph type="title"/>
          </p:nvPr>
        </p:nvSpPr>
        <p:spPr/>
        <p:txBody>
          <a:bodyPr/>
          <a:lstStyle/>
          <a:p>
            <a:r>
              <a:rPr lang="en-CA" dirty="0"/>
              <a:t>Physics 2D</a:t>
            </a:r>
          </a:p>
        </p:txBody>
      </p:sp>
    </p:spTree>
    <p:extLst>
      <p:ext uri="{BB962C8B-B14F-4D97-AF65-F5344CB8AC3E}">
        <p14:creationId xmlns:p14="http://schemas.microsoft.com/office/powerpoint/2010/main" val="4064552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A22D491-E126-92F9-40C3-E0A80614150B}"/>
              </a:ext>
            </a:extLst>
          </p:cNvPr>
          <p:cNvSpPr>
            <a:spLocks noGrp="1"/>
          </p:cNvSpPr>
          <p:nvPr>
            <p:ph type="body" idx="1"/>
          </p:nvPr>
        </p:nvSpPr>
        <p:spPr/>
        <p:txBody>
          <a:bodyPr/>
          <a:lstStyle/>
          <a:p>
            <a:r>
              <a:rPr lang="en-CA" dirty="0"/>
              <a:t>A </a:t>
            </a:r>
            <a:r>
              <a:rPr lang="en-CA" dirty="0" err="1"/>
              <a:t>Rigidbody</a:t>
            </a:r>
            <a:r>
              <a:rPr lang="en-CA" dirty="0"/>
              <a:t> 2D component places a </a:t>
            </a:r>
            <a:r>
              <a:rPr lang="en-CA" dirty="0" err="1"/>
              <a:t>GameObject</a:t>
            </a:r>
            <a:r>
              <a:rPr lang="en-CA" dirty="0"/>
              <a:t> under the control of the physics engine. Refer to </a:t>
            </a:r>
            <a:r>
              <a:rPr lang="en-CA" u="sng" dirty="0" err="1">
                <a:hlinkClick r:id="rId2"/>
              </a:rPr>
              <a:t>Rigidbody</a:t>
            </a:r>
            <a:r>
              <a:rPr lang="en-CA" u="sng" dirty="0">
                <a:hlinkClick r:id="rId2"/>
              </a:rPr>
              <a:t> 2D</a:t>
            </a:r>
            <a:r>
              <a:rPr lang="en-CA" dirty="0"/>
              <a:t>.</a:t>
            </a:r>
          </a:p>
        </p:txBody>
      </p:sp>
      <p:sp>
        <p:nvSpPr>
          <p:cNvPr id="5" name="Text Placeholder 4">
            <a:extLst>
              <a:ext uri="{FF2B5EF4-FFF2-40B4-BE49-F238E27FC236}">
                <a16:creationId xmlns:a16="http://schemas.microsoft.com/office/drawing/2014/main" id="{91465660-8EE2-9295-4FD2-911A3780E929}"/>
              </a:ext>
            </a:extLst>
          </p:cNvPr>
          <p:cNvSpPr>
            <a:spLocks noGrp="1"/>
          </p:cNvSpPr>
          <p:nvPr>
            <p:ph type="body" idx="2"/>
          </p:nvPr>
        </p:nvSpPr>
        <p:spPr/>
        <p:txBody>
          <a:bodyPr/>
          <a:lstStyle/>
          <a:p>
            <a:r>
              <a:rPr lang="en-US" dirty="0"/>
              <a:t> </a:t>
            </a:r>
            <a:endParaRPr lang="en-CA" dirty="0"/>
          </a:p>
        </p:txBody>
      </p:sp>
      <p:sp>
        <p:nvSpPr>
          <p:cNvPr id="3" name="Title 2">
            <a:extLst>
              <a:ext uri="{FF2B5EF4-FFF2-40B4-BE49-F238E27FC236}">
                <a16:creationId xmlns:a16="http://schemas.microsoft.com/office/drawing/2014/main" id="{36EBDD38-863B-0020-742B-EB0BC6EE28FD}"/>
              </a:ext>
            </a:extLst>
          </p:cNvPr>
          <p:cNvSpPr>
            <a:spLocks noGrp="1"/>
          </p:cNvSpPr>
          <p:nvPr>
            <p:ph type="title"/>
          </p:nvPr>
        </p:nvSpPr>
        <p:spPr/>
        <p:txBody>
          <a:bodyPr/>
          <a:lstStyle/>
          <a:p>
            <a:r>
              <a:rPr lang="en-CA" dirty="0" err="1"/>
              <a:t>Rigidbody</a:t>
            </a:r>
            <a:r>
              <a:rPr lang="en-CA" dirty="0"/>
              <a:t> 2D</a:t>
            </a:r>
          </a:p>
        </p:txBody>
      </p:sp>
      <p:pic>
        <p:nvPicPr>
          <p:cNvPr id="6" name="Picture 5" descr="The Rigidbody 2D component">
            <a:extLst>
              <a:ext uri="{FF2B5EF4-FFF2-40B4-BE49-F238E27FC236}">
                <a16:creationId xmlns:a16="http://schemas.microsoft.com/office/drawing/2014/main" id="{5F65D0D3-2C3F-39C9-3DC8-48770C801ECD}"/>
              </a:ext>
            </a:extLst>
          </p:cNvPr>
          <p:cNvPicPr>
            <a:picLocks noChangeAspect="1"/>
          </p:cNvPicPr>
          <p:nvPr/>
        </p:nvPicPr>
        <p:blipFill>
          <a:blip r:embed="rId3"/>
          <a:stretch>
            <a:fillRect/>
          </a:stretch>
        </p:blipFill>
        <p:spPr>
          <a:xfrm>
            <a:off x="5803863" y="2026920"/>
            <a:ext cx="3714750" cy="2438400"/>
          </a:xfrm>
          <a:prstGeom prst="rect">
            <a:avLst/>
          </a:prstGeom>
        </p:spPr>
      </p:pic>
    </p:spTree>
    <p:extLst>
      <p:ext uri="{BB962C8B-B14F-4D97-AF65-F5344CB8AC3E}">
        <p14:creationId xmlns:p14="http://schemas.microsoft.com/office/powerpoint/2010/main" val="3010854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4F7D9E-E2AE-F70A-3DFF-D777EEED1438}"/>
              </a:ext>
            </a:extLst>
          </p:cNvPr>
          <p:cNvSpPr>
            <a:spLocks noGrp="1"/>
          </p:cNvSpPr>
          <p:nvPr>
            <p:ph type="body" idx="1"/>
          </p:nvPr>
        </p:nvSpPr>
        <p:spPr/>
        <p:txBody>
          <a:bodyPr>
            <a:normAutofit fontScale="92500" lnSpcReduction="20000"/>
          </a:bodyPr>
          <a:lstStyle/>
          <a:p>
            <a:r>
              <a:rPr lang="en-CA" dirty="0"/>
              <a:t>Collider 2D components define the shape of a 2D </a:t>
            </a:r>
            <a:r>
              <a:rPr lang="en-CA" dirty="0" err="1"/>
              <a:t>GameObject</a:t>
            </a:r>
            <a:r>
              <a:rPr lang="en-CA" dirty="0"/>
              <a:t> for the purposes of physical collisions. You can also use Collider 2D components for input detection. </a:t>
            </a:r>
          </a:p>
          <a:p>
            <a:r>
              <a:rPr lang="en-CA" dirty="0"/>
              <a:t>For example, in mobile games you can use them to make Sprites selectable.</a:t>
            </a:r>
          </a:p>
          <a:p>
            <a:r>
              <a:rPr lang="en-CA" dirty="0"/>
              <a:t>The Collider 2D types that you can use with </a:t>
            </a:r>
            <a:r>
              <a:rPr lang="en-CA" dirty="0" err="1"/>
              <a:t>Rigidbody</a:t>
            </a:r>
            <a:r>
              <a:rPr lang="en-CA" dirty="0"/>
              <a:t> 2D are:</a:t>
            </a:r>
          </a:p>
          <a:p>
            <a:pPr lvl="0"/>
            <a:r>
              <a:rPr lang="en-CA" u="sng" dirty="0">
                <a:hlinkClick r:id="rId2"/>
              </a:rPr>
              <a:t>Circle Collider 2D</a:t>
            </a:r>
            <a:endParaRPr lang="en-CA" dirty="0"/>
          </a:p>
          <a:p>
            <a:pPr lvl="0"/>
            <a:r>
              <a:rPr lang="en-CA" u="sng" dirty="0">
                <a:hlinkClick r:id="rId3"/>
              </a:rPr>
              <a:t>Box Collider 2D</a:t>
            </a:r>
            <a:endParaRPr lang="en-CA" dirty="0"/>
          </a:p>
          <a:p>
            <a:pPr lvl="0"/>
            <a:r>
              <a:rPr lang="en-CA" u="sng" dirty="0">
                <a:hlinkClick r:id="rId4"/>
              </a:rPr>
              <a:t>Polygon Collider 2D</a:t>
            </a:r>
            <a:endParaRPr lang="en-CA" dirty="0"/>
          </a:p>
          <a:p>
            <a:pPr lvl="0"/>
            <a:r>
              <a:rPr lang="en-CA" u="sng" dirty="0">
                <a:hlinkClick r:id="rId5"/>
              </a:rPr>
              <a:t>Edge Collider 2D</a:t>
            </a:r>
            <a:endParaRPr lang="en-CA" dirty="0"/>
          </a:p>
          <a:p>
            <a:pPr lvl="0"/>
            <a:r>
              <a:rPr lang="en-CA" u="sng" dirty="0">
                <a:hlinkClick r:id="rId6"/>
              </a:rPr>
              <a:t>Capsule Collider 2D</a:t>
            </a:r>
            <a:endParaRPr lang="en-CA" dirty="0"/>
          </a:p>
          <a:p>
            <a:pPr lvl="0"/>
            <a:r>
              <a:rPr lang="en-CA" u="sng" dirty="0">
                <a:hlinkClick r:id="rId7"/>
              </a:rPr>
              <a:t>Composite Collider 2D</a:t>
            </a:r>
            <a:endParaRPr lang="en-CA" dirty="0"/>
          </a:p>
          <a:p>
            <a:endParaRPr lang="en-CA" dirty="0"/>
          </a:p>
        </p:txBody>
      </p:sp>
      <p:sp>
        <p:nvSpPr>
          <p:cNvPr id="3" name="Text Placeholder 2">
            <a:extLst>
              <a:ext uri="{FF2B5EF4-FFF2-40B4-BE49-F238E27FC236}">
                <a16:creationId xmlns:a16="http://schemas.microsoft.com/office/drawing/2014/main" id="{9B271447-9286-00CD-28B4-ABCE4CE5D9AE}"/>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29EE9308-B7FD-7D10-1AA0-A93928AC2475}"/>
              </a:ext>
            </a:extLst>
          </p:cNvPr>
          <p:cNvSpPr>
            <a:spLocks noGrp="1"/>
          </p:cNvSpPr>
          <p:nvPr>
            <p:ph type="title"/>
          </p:nvPr>
        </p:nvSpPr>
        <p:spPr/>
        <p:txBody>
          <a:bodyPr/>
          <a:lstStyle/>
          <a:p>
            <a:r>
              <a:rPr lang="en-CA" dirty="0"/>
              <a:t>Collider 2D</a:t>
            </a:r>
          </a:p>
        </p:txBody>
      </p:sp>
      <p:pic>
        <p:nvPicPr>
          <p:cNvPr id="5" name="Picture 4" descr="The Circle Collider 2D component">
            <a:extLst>
              <a:ext uri="{FF2B5EF4-FFF2-40B4-BE49-F238E27FC236}">
                <a16:creationId xmlns:a16="http://schemas.microsoft.com/office/drawing/2014/main" id="{7D4711AC-65A3-1EB6-314C-45C1D1A8E696}"/>
              </a:ext>
            </a:extLst>
          </p:cNvPr>
          <p:cNvPicPr>
            <a:picLocks noChangeAspect="1"/>
          </p:cNvPicPr>
          <p:nvPr/>
        </p:nvPicPr>
        <p:blipFill>
          <a:blip r:embed="rId8"/>
          <a:stretch>
            <a:fillRect/>
          </a:stretch>
        </p:blipFill>
        <p:spPr>
          <a:xfrm>
            <a:off x="5461075" y="2512583"/>
            <a:ext cx="4152900" cy="1714500"/>
          </a:xfrm>
          <a:prstGeom prst="rect">
            <a:avLst/>
          </a:prstGeom>
        </p:spPr>
      </p:pic>
    </p:spTree>
    <p:extLst>
      <p:ext uri="{BB962C8B-B14F-4D97-AF65-F5344CB8AC3E}">
        <p14:creationId xmlns:p14="http://schemas.microsoft.com/office/powerpoint/2010/main" val="3721422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4AB6A6-E3AD-F697-2793-1988FFE07606}"/>
              </a:ext>
            </a:extLst>
          </p:cNvPr>
          <p:cNvSpPr>
            <a:spLocks noGrp="1"/>
          </p:cNvSpPr>
          <p:nvPr>
            <p:ph type="body" idx="1"/>
          </p:nvPr>
        </p:nvSpPr>
        <p:spPr/>
        <p:txBody>
          <a:bodyPr/>
          <a:lstStyle/>
          <a:p>
            <a:r>
              <a:rPr lang="en-CA" dirty="0"/>
              <a:t>When you set a Collider 2D as a Trigger (by enabling its </a:t>
            </a:r>
            <a:r>
              <a:rPr lang="en-CA" b="1" dirty="0"/>
              <a:t>Is Trigger</a:t>
            </a:r>
            <a:r>
              <a:rPr lang="en-CA" dirty="0"/>
              <a:t> property), it no longer behaves as a physical object, and it can intersect with other Colliders without causing a collision. </a:t>
            </a:r>
          </a:p>
          <a:p>
            <a:r>
              <a:rPr lang="en-CA" dirty="0"/>
              <a:t>Instead, when a Collider enters its space, Unity calls the </a:t>
            </a:r>
            <a:r>
              <a:rPr lang="en-CA" dirty="0" err="1"/>
              <a:t>OnTriggerEnter</a:t>
            </a:r>
            <a:r>
              <a:rPr lang="en-CA" dirty="0"/>
              <a:t> function on the Trigger </a:t>
            </a:r>
            <a:r>
              <a:rPr lang="en-CA" dirty="0" err="1"/>
              <a:t>GameObject’s</a:t>
            </a:r>
            <a:r>
              <a:rPr lang="en-CA" dirty="0"/>
              <a:t> scripts.</a:t>
            </a:r>
          </a:p>
          <a:p>
            <a:br>
              <a:rPr lang="en-CA" dirty="0"/>
            </a:br>
            <a:endParaRPr lang="en-CA" dirty="0"/>
          </a:p>
        </p:txBody>
      </p:sp>
      <p:sp>
        <p:nvSpPr>
          <p:cNvPr id="3" name="Text Placeholder 2">
            <a:extLst>
              <a:ext uri="{FF2B5EF4-FFF2-40B4-BE49-F238E27FC236}">
                <a16:creationId xmlns:a16="http://schemas.microsoft.com/office/drawing/2014/main" id="{9DC3E8FA-A83C-F5FE-4C94-4AE851DEA523}"/>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6D8EBD5C-CC67-B56C-5741-9EE4B323B502}"/>
              </a:ext>
            </a:extLst>
          </p:cNvPr>
          <p:cNvSpPr>
            <a:spLocks noGrp="1"/>
          </p:cNvSpPr>
          <p:nvPr>
            <p:ph type="title"/>
          </p:nvPr>
        </p:nvSpPr>
        <p:spPr/>
        <p:txBody>
          <a:bodyPr/>
          <a:lstStyle/>
          <a:p>
            <a:r>
              <a:rPr lang="en-CA" dirty="0"/>
              <a:t>Triggers</a:t>
            </a:r>
          </a:p>
        </p:txBody>
      </p:sp>
      <p:pic>
        <p:nvPicPr>
          <p:cNvPr id="5" name="Picture 4" descr="The Circle Collider 2D component with Is Trigger selected">
            <a:extLst>
              <a:ext uri="{FF2B5EF4-FFF2-40B4-BE49-F238E27FC236}">
                <a16:creationId xmlns:a16="http://schemas.microsoft.com/office/drawing/2014/main" id="{FFF73170-EBAA-BAA7-7C13-20FB522B533B}"/>
              </a:ext>
            </a:extLst>
          </p:cNvPr>
          <p:cNvPicPr>
            <a:picLocks noChangeAspect="1"/>
          </p:cNvPicPr>
          <p:nvPr/>
        </p:nvPicPr>
        <p:blipFill>
          <a:blip r:embed="rId2"/>
          <a:stretch>
            <a:fillRect/>
          </a:stretch>
        </p:blipFill>
        <p:spPr>
          <a:xfrm>
            <a:off x="5751531" y="2351219"/>
            <a:ext cx="4152900" cy="1714500"/>
          </a:xfrm>
          <a:prstGeom prst="rect">
            <a:avLst/>
          </a:prstGeom>
        </p:spPr>
      </p:pic>
    </p:spTree>
    <p:extLst>
      <p:ext uri="{BB962C8B-B14F-4D97-AF65-F5344CB8AC3E}">
        <p14:creationId xmlns:p14="http://schemas.microsoft.com/office/powerpoint/2010/main" val="593135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4B844F-3694-D40B-9E38-3164E51EE3BC}"/>
              </a:ext>
            </a:extLst>
          </p:cNvPr>
          <p:cNvSpPr>
            <a:spLocks noGrp="1"/>
          </p:cNvSpPr>
          <p:nvPr>
            <p:ph type="body" idx="1"/>
          </p:nvPr>
        </p:nvSpPr>
        <p:spPr/>
        <p:txBody>
          <a:bodyPr/>
          <a:lstStyle/>
          <a:p>
            <a:r>
              <a:rPr lang="en-CA" dirty="0"/>
              <a:t>Joints attach </a:t>
            </a:r>
            <a:r>
              <a:rPr lang="en-CA" dirty="0" err="1"/>
              <a:t>GameObjects</a:t>
            </a:r>
            <a:r>
              <a:rPr lang="en-CA" dirty="0"/>
              <a:t> together. You can only attach 2D joints to </a:t>
            </a:r>
            <a:r>
              <a:rPr lang="en-CA" dirty="0" err="1"/>
              <a:t>GameObjects</a:t>
            </a:r>
            <a:r>
              <a:rPr lang="en-CA" dirty="0"/>
              <a:t> that have a </a:t>
            </a:r>
            <a:r>
              <a:rPr lang="en-CA" dirty="0" err="1"/>
              <a:t>Rigidbody</a:t>
            </a:r>
            <a:r>
              <a:rPr lang="en-CA" dirty="0"/>
              <a:t> 2D component attached, or to a fixed position in world space. Refer to </a:t>
            </a:r>
            <a:r>
              <a:rPr lang="en-CA" u="sng" dirty="0">
                <a:hlinkClick r:id="rId2"/>
              </a:rPr>
              <a:t>2D Joints</a:t>
            </a:r>
            <a:r>
              <a:rPr lang="en-CA" dirty="0"/>
              <a:t>.</a:t>
            </a:r>
          </a:p>
        </p:txBody>
      </p:sp>
      <p:sp>
        <p:nvSpPr>
          <p:cNvPr id="3" name="Text Placeholder 2">
            <a:extLst>
              <a:ext uri="{FF2B5EF4-FFF2-40B4-BE49-F238E27FC236}">
                <a16:creationId xmlns:a16="http://schemas.microsoft.com/office/drawing/2014/main" id="{1D814B44-D0D6-E601-AE24-B9BDDE148065}"/>
              </a:ext>
            </a:extLst>
          </p:cNvPr>
          <p:cNvSpPr>
            <a:spLocks noGrp="1"/>
          </p:cNvSpPr>
          <p:nvPr>
            <p:ph type="body" idx="2"/>
          </p:nvPr>
        </p:nvSpPr>
        <p:spPr/>
        <p:txBody>
          <a:bodyPr/>
          <a:lstStyle/>
          <a:p>
            <a:endParaRPr lang="en-CA" dirty="0"/>
          </a:p>
        </p:txBody>
      </p:sp>
      <p:sp>
        <p:nvSpPr>
          <p:cNvPr id="4" name="Title 3">
            <a:extLst>
              <a:ext uri="{FF2B5EF4-FFF2-40B4-BE49-F238E27FC236}">
                <a16:creationId xmlns:a16="http://schemas.microsoft.com/office/drawing/2014/main" id="{D8E42186-5D5B-51AB-002A-1125086C89CF}"/>
              </a:ext>
            </a:extLst>
          </p:cNvPr>
          <p:cNvSpPr>
            <a:spLocks noGrp="1"/>
          </p:cNvSpPr>
          <p:nvPr>
            <p:ph type="title"/>
          </p:nvPr>
        </p:nvSpPr>
        <p:spPr/>
        <p:txBody>
          <a:bodyPr/>
          <a:lstStyle/>
          <a:p>
            <a:r>
              <a:rPr lang="en-CA" dirty="0"/>
              <a:t>2D Joints</a:t>
            </a:r>
          </a:p>
        </p:txBody>
      </p:sp>
      <p:graphicFrame>
        <p:nvGraphicFramePr>
          <p:cNvPr id="5" name="Table 4">
            <a:extLst>
              <a:ext uri="{FF2B5EF4-FFF2-40B4-BE49-F238E27FC236}">
                <a16:creationId xmlns:a16="http://schemas.microsoft.com/office/drawing/2014/main" id="{55994A73-0811-DC5F-91A7-507668CF28FD}"/>
              </a:ext>
            </a:extLst>
          </p:cNvPr>
          <p:cNvGraphicFramePr>
            <a:graphicFrameLocks noGrp="1"/>
          </p:cNvGraphicFramePr>
          <p:nvPr>
            <p:extLst>
              <p:ext uri="{D42A27DB-BD31-4B8C-83A1-F6EECF244321}">
                <p14:modId xmlns:p14="http://schemas.microsoft.com/office/powerpoint/2010/main" val="4232002959"/>
              </p:ext>
            </p:extLst>
          </p:nvPr>
        </p:nvGraphicFramePr>
        <p:xfrm>
          <a:off x="4395537" y="1507068"/>
          <a:ext cx="6212734" cy="4769904"/>
        </p:xfrm>
        <a:graphic>
          <a:graphicData uri="http://schemas.openxmlformats.org/drawingml/2006/table">
            <a:tbl>
              <a:tblPr>
                <a:tableStyleId>{5C22544A-7EE6-4342-B048-85BDC9FD1C3A}</a:tableStyleId>
              </a:tblPr>
              <a:tblGrid>
                <a:gridCol w="3106367">
                  <a:extLst>
                    <a:ext uri="{9D8B030D-6E8A-4147-A177-3AD203B41FA5}">
                      <a16:colId xmlns:a16="http://schemas.microsoft.com/office/drawing/2014/main" val="3849878398"/>
                    </a:ext>
                  </a:extLst>
                </a:gridCol>
                <a:gridCol w="3106367">
                  <a:extLst>
                    <a:ext uri="{9D8B030D-6E8A-4147-A177-3AD203B41FA5}">
                      <a16:colId xmlns:a16="http://schemas.microsoft.com/office/drawing/2014/main" val="2029261805"/>
                    </a:ext>
                  </a:extLst>
                </a:gridCol>
              </a:tblGrid>
              <a:tr h="227337">
                <a:tc>
                  <a:txBody>
                    <a:bodyPr/>
                    <a:lstStyle/>
                    <a:p>
                      <a:pPr marL="0" marR="0" algn="l">
                        <a:spcAft>
                          <a:spcPts val="1500"/>
                        </a:spcAft>
                        <a:buNone/>
                      </a:pPr>
                      <a:r>
                        <a:rPr lang="en-CA" sz="1200">
                          <a:effectLst/>
                        </a:rPr>
                        <a:t>Page</a:t>
                      </a:r>
                      <a:endParaRPr lang="en-CA" sz="1200" b="0" i="0">
                        <a:solidFill>
                          <a:srgbClr val="455463"/>
                        </a:solidFill>
                        <a:effectLst/>
                        <a:latin typeface="Roboto" panose="02000000000000000000" pitchFamily="2" charset="0"/>
                      </a:endParaRPr>
                    </a:p>
                  </a:txBody>
                  <a:tcPr marL="46970" marR="46970" marT="23486" marB="23486"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6970" marR="46970" marT="23486" marB="23486" anchor="ctr"/>
                </a:tc>
                <a:extLst>
                  <a:ext uri="{0D108BD9-81ED-4DB2-BD59-A6C34878D82A}">
                    <a16:rowId xmlns:a16="http://schemas.microsoft.com/office/drawing/2014/main" val="2948244424"/>
                  </a:ext>
                </a:extLst>
              </a:tr>
              <a:tr h="227337">
                <a:tc>
                  <a:txBody>
                    <a:bodyPr/>
                    <a:lstStyle/>
                    <a:p>
                      <a:pPr marL="0" marR="0" algn="l" fontAlgn="t">
                        <a:spcAft>
                          <a:spcPts val="1500"/>
                        </a:spcAft>
                        <a:buNone/>
                      </a:pPr>
                      <a:r>
                        <a:rPr lang="en-CA" sz="1200" u="sng">
                          <a:effectLst/>
                          <a:hlinkClick r:id="rId3"/>
                        </a:rPr>
                        <a:t>Introduction to 2D joints</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Understand the fundamental concepts of 2D joints.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3376729099"/>
                  </a:ext>
                </a:extLst>
              </a:tr>
              <a:tr h="227337">
                <a:tc>
                  <a:txBody>
                    <a:bodyPr/>
                    <a:lstStyle/>
                    <a:p>
                      <a:pPr marL="0" marR="0" algn="l" fontAlgn="t">
                        <a:spcAft>
                          <a:spcPts val="1500"/>
                        </a:spcAft>
                        <a:buNone/>
                      </a:pPr>
                      <a:r>
                        <a:rPr lang="en-CA" sz="1200" u="sng">
                          <a:effectLst/>
                          <a:hlinkClick r:id="rId4"/>
                        </a:rPr>
                        <a:t>2D joint constraints</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Understand the constraints of using 2D joints.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2232060103"/>
                  </a:ext>
                </a:extLst>
              </a:tr>
              <a:tr h="407703">
                <a:tc>
                  <a:txBody>
                    <a:bodyPr/>
                    <a:lstStyle/>
                    <a:p>
                      <a:pPr marL="0" marR="0" algn="l" fontAlgn="t">
                        <a:spcAft>
                          <a:spcPts val="1500"/>
                        </a:spcAft>
                        <a:buNone/>
                      </a:pPr>
                      <a:r>
                        <a:rPr lang="en-CA" sz="1200" u="sng">
                          <a:effectLst/>
                          <a:hlinkClick r:id="rId5"/>
                        </a:rPr>
                        <a:t>Distance Joint 2D</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Distance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1452726690"/>
                  </a:ext>
                </a:extLst>
              </a:tr>
              <a:tr h="407703">
                <a:tc>
                  <a:txBody>
                    <a:bodyPr/>
                    <a:lstStyle/>
                    <a:p>
                      <a:pPr marL="0" marR="0" algn="l" fontAlgn="t">
                        <a:spcAft>
                          <a:spcPts val="1500"/>
                        </a:spcAft>
                        <a:buNone/>
                      </a:pPr>
                      <a:r>
                        <a:rPr lang="en-CA" sz="1200" u="sng">
                          <a:effectLst/>
                          <a:hlinkClick r:id="rId6"/>
                        </a:rPr>
                        <a:t>Fixed Joint 2D</a:t>
                      </a:r>
                      <a:br>
                        <a:rPr lang="en-CA" sz="1200">
                          <a:effectLst/>
                        </a:rPr>
                      </a:b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Fixed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304607910"/>
                  </a:ext>
                </a:extLst>
              </a:tr>
              <a:tr h="407703">
                <a:tc>
                  <a:txBody>
                    <a:bodyPr/>
                    <a:lstStyle/>
                    <a:p>
                      <a:pPr marL="0" marR="0" algn="l" fontAlgn="t">
                        <a:spcAft>
                          <a:spcPts val="1500"/>
                        </a:spcAft>
                        <a:buNone/>
                      </a:pPr>
                      <a:r>
                        <a:rPr lang="en-CA" sz="1200" u="sng">
                          <a:effectLst/>
                          <a:hlinkClick r:id="rId7"/>
                        </a:rPr>
                        <a:t>Friction Joint 2D</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Friction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2378008489"/>
                  </a:ext>
                </a:extLst>
              </a:tr>
              <a:tr h="407703">
                <a:tc>
                  <a:txBody>
                    <a:bodyPr/>
                    <a:lstStyle/>
                    <a:p>
                      <a:pPr marL="0" marR="0" algn="l" fontAlgn="t">
                        <a:spcAft>
                          <a:spcPts val="1500"/>
                        </a:spcAft>
                        <a:buNone/>
                      </a:pPr>
                      <a:r>
                        <a:rPr lang="en-CA" sz="1200" u="sng">
                          <a:effectLst/>
                          <a:hlinkClick r:id="rId8"/>
                        </a:rPr>
                        <a:t>Hinge Joint 2D</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Hinge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2990748933"/>
                  </a:ext>
                </a:extLst>
              </a:tr>
              <a:tr h="407703">
                <a:tc>
                  <a:txBody>
                    <a:bodyPr/>
                    <a:lstStyle/>
                    <a:p>
                      <a:pPr marL="0" marR="0" algn="l" fontAlgn="t">
                        <a:spcAft>
                          <a:spcPts val="1500"/>
                        </a:spcAft>
                        <a:buNone/>
                      </a:pPr>
                      <a:r>
                        <a:rPr lang="en-CA" sz="1200" u="sng">
                          <a:effectLst/>
                          <a:hlinkClick r:id="rId9"/>
                        </a:rPr>
                        <a:t>Relative Joint 2D</a:t>
                      </a:r>
                      <a:br>
                        <a:rPr lang="en-CA" sz="1200">
                          <a:effectLst/>
                        </a:rPr>
                      </a:b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Relative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266960774"/>
                  </a:ext>
                </a:extLst>
              </a:tr>
              <a:tr h="407703">
                <a:tc>
                  <a:txBody>
                    <a:bodyPr/>
                    <a:lstStyle/>
                    <a:p>
                      <a:pPr marL="0" marR="0" algn="l" fontAlgn="t">
                        <a:spcAft>
                          <a:spcPts val="1500"/>
                        </a:spcAft>
                        <a:buNone/>
                      </a:pPr>
                      <a:r>
                        <a:rPr lang="en-CA" sz="1200" u="sng">
                          <a:effectLst/>
                          <a:hlinkClick r:id="rId10"/>
                        </a:rPr>
                        <a:t>Slider Joint 2D</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Slider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3804875468"/>
                  </a:ext>
                </a:extLst>
              </a:tr>
              <a:tr h="407703">
                <a:tc>
                  <a:txBody>
                    <a:bodyPr/>
                    <a:lstStyle/>
                    <a:p>
                      <a:pPr marL="0" marR="0" algn="l" fontAlgn="t">
                        <a:spcAft>
                          <a:spcPts val="1500"/>
                        </a:spcAft>
                        <a:buNone/>
                      </a:pPr>
                      <a:r>
                        <a:rPr lang="en-CA" sz="1200" u="sng">
                          <a:effectLst/>
                          <a:hlinkClick r:id="rId11"/>
                        </a:rPr>
                        <a:t>Spring Joint 2D</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Spring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2193884808"/>
                  </a:ext>
                </a:extLst>
              </a:tr>
              <a:tr h="407703">
                <a:tc>
                  <a:txBody>
                    <a:bodyPr/>
                    <a:lstStyle/>
                    <a:p>
                      <a:pPr marL="0" marR="0" algn="l" fontAlgn="t">
                        <a:spcAft>
                          <a:spcPts val="1500"/>
                        </a:spcAft>
                        <a:buNone/>
                      </a:pPr>
                      <a:r>
                        <a:rPr lang="en-CA" sz="1200" u="sng">
                          <a:effectLst/>
                          <a:hlinkClick r:id="rId12"/>
                        </a:rPr>
                        <a:t>Target Joint 2D</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a:effectLst/>
                        </a:rPr>
                        <a:t>Techniques and resources for working with Target Joint 2D components.</a:t>
                      </a:r>
                      <a:endParaRPr lang="en-CA" sz="1200" b="0" i="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3771093509"/>
                  </a:ext>
                </a:extLst>
              </a:tr>
              <a:tr h="407703">
                <a:tc>
                  <a:txBody>
                    <a:bodyPr/>
                    <a:lstStyle/>
                    <a:p>
                      <a:pPr marL="0" marR="0" algn="l" fontAlgn="t">
                        <a:spcAft>
                          <a:spcPts val="1500"/>
                        </a:spcAft>
                        <a:buNone/>
                      </a:pPr>
                      <a:r>
                        <a:rPr lang="en-CA" sz="1200" u="sng">
                          <a:effectLst/>
                          <a:hlinkClick r:id="rId13"/>
                        </a:rPr>
                        <a:t>Wheel Joint 2D</a:t>
                      </a:r>
                      <a:endParaRPr lang="en-CA" sz="1200" b="0" i="0">
                        <a:solidFill>
                          <a:srgbClr val="455463"/>
                        </a:solidFill>
                        <a:effectLst/>
                        <a:latin typeface="Roboto" panose="02000000000000000000" pitchFamily="2" charset="0"/>
                      </a:endParaRPr>
                    </a:p>
                  </a:txBody>
                  <a:tcPr marL="46970" marR="46970" marT="23486" marB="23486"/>
                </a:tc>
                <a:tc>
                  <a:txBody>
                    <a:bodyPr/>
                    <a:lstStyle/>
                    <a:p>
                      <a:pPr marL="0" marR="0" algn="l" fontAlgn="t">
                        <a:spcAft>
                          <a:spcPts val="1500"/>
                        </a:spcAft>
                        <a:buNone/>
                      </a:pPr>
                      <a:r>
                        <a:rPr lang="en-CA" sz="1200" dirty="0">
                          <a:effectLst/>
                        </a:rPr>
                        <a:t>Techniques and resources for working with Wheel Joint 2D components.</a:t>
                      </a:r>
                      <a:endParaRPr lang="en-CA" sz="1200" b="0" i="0" dirty="0">
                        <a:solidFill>
                          <a:srgbClr val="455463"/>
                        </a:solidFill>
                        <a:effectLst/>
                        <a:latin typeface="Roboto" panose="02000000000000000000" pitchFamily="2" charset="0"/>
                      </a:endParaRPr>
                    </a:p>
                  </a:txBody>
                  <a:tcPr marL="46970" marR="46970" marT="23486" marB="23486"/>
                </a:tc>
                <a:extLst>
                  <a:ext uri="{0D108BD9-81ED-4DB2-BD59-A6C34878D82A}">
                    <a16:rowId xmlns:a16="http://schemas.microsoft.com/office/drawing/2014/main" val="1499583440"/>
                  </a:ext>
                </a:extLst>
              </a:tr>
            </a:tbl>
          </a:graphicData>
        </a:graphic>
      </p:graphicFrame>
    </p:spTree>
    <p:extLst>
      <p:ext uri="{BB962C8B-B14F-4D97-AF65-F5344CB8AC3E}">
        <p14:creationId xmlns:p14="http://schemas.microsoft.com/office/powerpoint/2010/main" val="3988265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001D72-CC6F-0695-19A8-DABD2B47C8B4}"/>
              </a:ext>
            </a:extLst>
          </p:cNvPr>
          <p:cNvSpPr>
            <a:spLocks noGrp="1"/>
          </p:cNvSpPr>
          <p:nvPr>
            <p:ph type="body" idx="1"/>
          </p:nvPr>
        </p:nvSpPr>
        <p:spPr/>
        <p:txBody>
          <a:bodyPr/>
          <a:lstStyle/>
          <a:p>
            <a:r>
              <a:rPr lang="en-CA" dirty="0"/>
              <a:t>Use Effector 2D </a:t>
            </a:r>
            <a:r>
              <a:rPr lang="en-CA" u="sng" dirty="0">
                <a:hlinkClick r:id="rId2"/>
              </a:rPr>
              <a:t>components</a:t>
            </a:r>
            <a:br>
              <a:rPr lang="en-CA" dirty="0"/>
            </a:br>
            <a:r>
              <a:rPr lang="en-CA" dirty="0"/>
              <a:t>with </a:t>
            </a:r>
            <a:r>
              <a:rPr lang="en-CA" u="sng" dirty="0">
                <a:hlinkClick r:id="rId3"/>
              </a:rPr>
              <a:t>Collider 2D</a:t>
            </a:r>
            <a:r>
              <a:rPr lang="en-CA" dirty="0"/>
              <a:t> components to direct the forces of </a:t>
            </a:r>
            <a:r>
              <a:rPr lang="en-CA" u="sng" dirty="0">
                <a:hlinkClick r:id="rId4"/>
              </a:rPr>
              <a:t>physics</a:t>
            </a:r>
            <a:r>
              <a:rPr lang="en-CA" dirty="0"/>
              <a:t> in your scene when </a:t>
            </a:r>
            <a:r>
              <a:rPr lang="en-CA" u="sng" dirty="0" err="1">
                <a:hlinkClick r:id="rId5"/>
              </a:rPr>
              <a:t>GameObject</a:t>
            </a:r>
            <a:r>
              <a:rPr lang="en-CA" dirty="0"/>
              <a:t> Colliders come into contact with each other. Refer to </a:t>
            </a:r>
            <a:r>
              <a:rPr lang="en-CA" u="sng" dirty="0">
                <a:hlinkClick r:id="rId6"/>
              </a:rPr>
              <a:t>2D Effectors</a:t>
            </a:r>
            <a:r>
              <a:rPr lang="en-CA" dirty="0"/>
              <a:t>.</a:t>
            </a:r>
          </a:p>
        </p:txBody>
      </p:sp>
      <p:sp>
        <p:nvSpPr>
          <p:cNvPr id="3" name="Text Placeholder 2">
            <a:extLst>
              <a:ext uri="{FF2B5EF4-FFF2-40B4-BE49-F238E27FC236}">
                <a16:creationId xmlns:a16="http://schemas.microsoft.com/office/drawing/2014/main" id="{C8191EC1-DB3F-0B6E-A228-DA75308E682B}"/>
              </a:ext>
            </a:extLst>
          </p:cNvPr>
          <p:cNvSpPr>
            <a:spLocks noGrp="1"/>
          </p:cNvSpPr>
          <p:nvPr>
            <p:ph type="body" idx="2"/>
          </p:nvPr>
        </p:nvSpPr>
        <p:spPr/>
        <p:txBody>
          <a:bodyPr/>
          <a:lstStyle/>
          <a:p>
            <a:endParaRPr lang="en-CA" dirty="0"/>
          </a:p>
        </p:txBody>
      </p:sp>
      <p:sp>
        <p:nvSpPr>
          <p:cNvPr id="4" name="Title 3">
            <a:extLst>
              <a:ext uri="{FF2B5EF4-FFF2-40B4-BE49-F238E27FC236}">
                <a16:creationId xmlns:a16="http://schemas.microsoft.com/office/drawing/2014/main" id="{2EB78A50-66F5-9A93-9D11-F441A6E28872}"/>
              </a:ext>
            </a:extLst>
          </p:cNvPr>
          <p:cNvSpPr>
            <a:spLocks noGrp="1"/>
          </p:cNvSpPr>
          <p:nvPr>
            <p:ph type="title"/>
          </p:nvPr>
        </p:nvSpPr>
        <p:spPr/>
        <p:txBody>
          <a:bodyPr/>
          <a:lstStyle/>
          <a:p>
            <a:r>
              <a:rPr lang="en-CA" dirty="0"/>
              <a:t>2D Effectors</a:t>
            </a:r>
          </a:p>
        </p:txBody>
      </p:sp>
      <p:graphicFrame>
        <p:nvGraphicFramePr>
          <p:cNvPr id="5" name="Table 4">
            <a:extLst>
              <a:ext uri="{FF2B5EF4-FFF2-40B4-BE49-F238E27FC236}">
                <a16:creationId xmlns:a16="http://schemas.microsoft.com/office/drawing/2014/main" id="{FF0DB21B-D78D-2CA3-1B81-E5ED775351A5}"/>
              </a:ext>
            </a:extLst>
          </p:cNvPr>
          <p:cNvGraphicFramePr>
            <a:graphicFrameLocks noGrp="1"/>
          </p:cNvGraphicFramePr>
          <p:nvPr>
            <p:extLst>
              <p:ext uri="{D42A27DB-BD31-4B8C-83A1-F6EECF244321}">
                <p14:modId xmlns:p14="http://schemas.microsoft.com/office/powerpoint/2010/main" val="3880240665"/>
              </p:ext>
            </p:extLst>
          </p:nvPr>
        </p:nvGraphicFramePr>
        <p:xfrm>
          <a:off x="4395537" y="1507068"/>
          <a:ext cx="6275630" cy="4374462"/>
        </p:xfrm>
        <a:graphic>
          <a:graphicData uri="http://schemas.openxmlformats.org/drawingml/2006/table">
            <a:tbl>
              <a:tblPr>
                <a:tableStyleId>{5C22544A-7EE6-4342-B048-85BDC9FD1C3A}</a:tableStyleId>
              </a:tblPr>
              <a:tblGrid>
                <a:gridCol w="3137815">
                  <a:extLst>
                    <a:ext uri="{9D8B030D-6E8A-4147-A177-3AD203B41FA5}">
                      <a16:colId xmlns:a16="http://schemas.microsoft.com/office/drawing/2014/main" val="1605781418"/>
                    </a:ext>
                  </a:extLst>
                </a:gridCol>
                <a:gridCol w="3137815">
                  <a:extLst>
                    <a:ext uri="{9D8B030D-6E8A-4147-A177-3AD203B41FA5}">
                      <a16:colId xmlns:a16="http://schemas.microsoft.com/office/drawing/2014/main" val="1542969499"/>
                    </a:ext>
                  </a:extLst>
                </a:gridCol>
              </a:tblGrid>
              <a:tr h="332900">
                <a:tc>
                  <a:txBody>
                    <a:bodyPr/>
                    <a:lstStyle/>
                    <a:p>
                      <a:pPr marL="0" marR="0" algn="l">
                        <a:spcAft>
                          <a:spcPts val="1500"/>
                        </a:spcAft>
                        <a:buNone/>
                      </a:pPr>
                      <a:r>
                        <a:rPr lang="en-CA" sz="1200">
                          <a:effectLst/>
                        </a:rPr>
                        <a:t>Page</a:t>
                      </a:r>
                      <a:endParaRPr lang="en-CA" sz="1200" b="0" i="0">
                        <a:solidFill>
                          <a:srgbClr val="455463"/>
                        </a:solidFill>
                        <a:effectLst/>
                        <a:latin typeface="Roboto" panose="02000000000000000000" pitchFamily="2" charset="0"/>
                      </a:endParaRPr>
                    </a:p>
                  </a:txBody>
                  <a:tcPr marL="47625" marR="47625" marT="23813" marB="23813"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7625" marR="47625" marT="23813" marB="23813" anchor="ctr"/>
                </a:tc>
                <a:extLst>
                  <a:ext uri="{0D108BD9-81ED-4DB2-BD59-A6C34878D82A}">
                    <a16:rowId xmlns:a16="http://schemas.microsoft.com/office/drawing/2014/main" val="3213991012"/>
                  </a:ext>
                </a:extLst>
              </a:tr>
              <a:tr h="861136">
                <a:tc>
                  <a:txBody>
                    <a:bodyPr/>
                    <a:lstStyle/>
                    <a:p>
                      <a:pPr marL="0" marR="0" algn="l" fontAlgn="t">
                        <a:spcAft>
                          <a:spcPts val="1500"/>
                        </a:spcAft>
                        <a:buNone/>
                      </a:pPr>
                      <a:r>
                        <a:rPr lang="en-CA" sz="1200" u="sng">
                          <a:effectLst/>
                          <a:hlinkClick r:id="rId7"/>
                        </a:rPr>
                        <a:t>Area Effector 2D reference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Explore the properties of the Area Effector 2D used to arbitrarily vary force and angle magnitude.</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224941811"/>
                  </a:ext>
                </a:extLst>
              </a:tr>
              <a:tr h="861136">
                <a:tc>
                  <a:txBody>
                    <a:bodyPr/>
                    <a:lstStyle/>
                    <a:p>
                      <a:pPr marL="0" marR="0" algn="l" fontAlgn="t">
                        <a:spcAft>
                          <a:spcPts val="1500"/>
                        </a:spcAft>
                        <a:buNone/>
                      </a:pPr>
                      <a:r>
                        <a:rPr lang="en-CA" sz="1200" u="sng">
                          <a:effectLst/>
                          <a:hlinkClick r:id="rId8"/>
                        </a:rPr>
                        <a:t>Buoyancy Effector 2D reference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Explore the properties of the Buoyancy Effector 2D used to simulate buoyancy, fluid flow and fluid drag.</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675139533"/>
                  </a:ext>
                </a:extLst>
              </a:tr>
              <a:tr h="861136">
                <a:tc>
                  <a:txBody>
                    <a:bodyPr/>
                    <a:lstStyle/>
                    <a:p>
                      <a:pPr marL="0" marR="0" algn="l" fontAlgn="t">
                        <a:spcAft>
                          <a:spcPts val="1500"/>
                        </a:spcAft>
                        <a:buNone/>
                      </a:pPr>
                      <a:r>
                        <a:rPr lang="en-CA" sz="1200" u="sng">
                          <a:effectLst/>
                          <a:hlinkClick r:id="rId9"/>
                        </a:rPr>
                        <a:t>Point Effector 2D reference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Explore the properties of the Point Effector 2D used to attract or repulse against a given source point.</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449630393"/>
                  </a:ext>
                </a:extLst>
              </a:tr>
              <a:tr h="861136">
                <a:tc>
                  <a:txBody>
                    <a:bodyPr/>
                    <a:lstStyle/>
                    <a:p>
                      <a:pPr marL="0" marR="0" algn="l" fontAlgn="t">
                        <a:spcAft>
                          <a:spcPts val="1500"/>
                        </a:spcAft>
                        <a:buNone/>
                      </a:pPr>
                      <a:r>
                        <a:rPr lang="en-CA" sz="1200" u="sng">
                          <a:effectLst/>
                          <a:hlinkClick r:id="rId10"/>
                        </a:rPr>
                        <a:t>Platform Effector 2D reference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Explore the properties of the Platform Effector 2D used to create platform behavior, such as one-way collisions.</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050181416"/>
                  </a:ext>
                </a:extLst>
              </a:tr>
              <a:tr h="597018">
                <a:tc>
                  <a:txBody>
                    <a:bodyPr/>
                    <a:lstStyle/>
                    <a:p>
                      <a:pPr marL="0" marR="0" algn="l" fontAlgn="t">
                        <a:spcAft>
                          <a:spcPts val="1500"/>
                        </a:spcAft>
                        <a:buNone/>
                      </a:pPr>
                      <a:r>
                        <a:rPr lang="en-CA" sz="1200" u="sng">
                          <a:effectLst/>
                          <a:hlinkClick r:id="rId11"/>
                        </a:rPr>
                        <a:t>Surface Effector 2D reference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dirty="0">
                          <a:effectLst/>
                        </a:rPr>
                        <a:t>Explore the properties of the Surface Effector 2D used to create conveyor belts.</a:t>
                      </a:r>
                      <a:endParaRPr lang="en-CA" sz="1200" b="0" i="0" dirty="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918359561"/>
                  </a:ext>
                </a:extLst>
              </a:tr>
            </a:tbl>
          </a:graphicData>
        </a:graphic>
      </p:graphicFrame>
    </p:spTree>
    <p:extLst>
      <p:ext uri="{BB962C8B-B14F-4D97-AF65-F5344CB8AC3E}">
        <p14:creationId xmlns:p14="http://schemas.microsoft.com/office/powerpoint/2010/main" val="1042746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E5884D-786C-44FA-93BC-B5C6C9C48CD7}"/>
              </a:ext>
            </a:extLst>
          </p:cNvPr>
          <p:cNvSpPr>
            <a:spLocks noGrp="1"/>
          </p:cNvSpPr>
          <p:nvPr>
            <p:ph type="body" idx="1"/>
          </p:nvPr>
        </p:nvSpPr>
        <p:spPr>
          <a:xfrm>
            <a:off x="604434" y="1280160"/>
            <a:ext cx="6172884" cy="4896804"/>
          </a:xfrm>
        </p:spPr>
        <p:txBody>
          <a:bodyPr>
            <a:normAutofit fontScale="77500" lnSpcReduction="20000"/>
          </a:bodyPr>
          <a:lstStyle/>
          <a:p>
            <a:pPr marL="209550" indent="0">
              <a:buNone/>
            </a:pPr>
            <a:r>
              <a:rPr lang="en-US" dirty="0"/>
              <a:t>A game would be incomplete without some kind of audio, be it background music or sound effects. Unity’s audio system can import most standard audio file formats, play sounds in 3D space, and apply optional effects such as echo and filtering. Unity can also record audio from any available microphone on your machine for use during gameplay or for storage and transmission.</a:t>
            </a:r>
          </a:p>
          <a:p>
            <a:pPr marL="209550" indent="0">
              <a:buNone/>
            </a:pPr>
            <a:r>
              <a:rPr lang="en-US" dirty="0"/>
              <a:t>Basic theory</a:t>
            </a:r>
          </a:p>
          <a:p>
            <a:pPr marL="209550" indent="0">
              <a:buNone/>
            </a:pPr>
            <a:r>
              <a:rPr lang="en-US" dirty="0"/>
              <a:t>In real life, objects emit sounds that listeners hear. The way a sound is perceived depends on many factors. A listener can tell roughly which direction a sound is coming from and may also get some sense of its distance from its loudness and quality. A fast-moving sound source (such as a falling bomb or a passing police car) changes in pitch as it moves as a result of the Doppler Effect. Surroundings also affect the way sound is reflected. A voice inside a cave has an echo, but the same voice in the open air doesn’t.</a:t>
            </a:r>
          </a:p>
          <a:p>
            <a:pPr marL="209550" indent="0">
              <a:buNone/>
            </a:pPr>
            <a:r>
              <a:rPr lang="en-US" dirty="0"/>
              <a:t>Audio Sources and Listener</a:t>
            </a:r>
          </a:p>
          <a:p>
            <a:pPr marL="209550" indent="0">
              <a:buNone/>
            </a:pPr>
            <a:r>
              <a:rPr lang="en-US" dirty="0"/>
              <a:t>To simulate the effects of position, Unity requires sounds to originate from Audio Sources attached to objects. The sounds emitted are then picked up by an Audio Listener attached to another object, most often the main camera. Unity can then simulate the effects of a source’s distance and position from the listener object and play them to you accordingly. You can also use the relative speed of the source and listener objects to simulate the Doppler Effect for added realism.</a:t>
            </a:r>
          </a:p>
          <a:p>
            <a:pPr marL="209550" indent="0">
              <a:buNone/>
            </a:pPr>
            <a:r>
              <a:rPr lang="en-US" dirty="0"/>
              <a:t>Unity can’t calculate echoes purely from scene geometry, but you can simulate them by adding Audio Filters to objects. For example, you could apply the Echo filter to a sound that is supposed to be coming from inside a cave. In situations where objects can move in and out of a place with a strong echo, you can add a Reverb Zone to the scene. For example, your game might involve cars driving through a tunnel. If you place a reverb zone inside the tunnel, the cars’ engine sounds start to echo as they enter. The echo quiets as the cars emerge from the other side.</a:t>
            </a:r>
          </a:p>
        </p:txBody>
      </p:sp>
      <p:sp>
        <p:nvSpPr>
          <p:cNvPr id="3" name="Text Placeholder 2">
            <a:extLst>
              <a:ext uri="{FF2B5EF4-FFF2-40B4-BE49-F238E27FC236}">
                <a16:creationId xmlns:a16="http://schemas.microsoft.com/office/drawing/2014/main" id="{3E1F11F5-98A4-991E-42DB-E3F1C05CAB7E}"/>
              </a:ext>
            </a:extLst>
          </p:cNvPr>
          <p:cNvSpPr>
            <a:spLocks noGrp="1"/>
          </p:cNvSpPr>
          <p:nvPr>
            <p:ph type="body" idx="2"/>
          </p:nvPr>
        </p:nvSpPr>
        <p:spPr>
          <a:xfrm>
            <a:off x="6314739" y="1507068"/>
            <a:ext cx="5224703" cy="4669896"/>
          </a:xfrm>
        </p:spPr>
        <p:txBody>
          <a:bodyPr>
            <a:normAutofit lnSpcReduction="10000"/>
          </a:bodyPr>
          <a:lstStyle/>
          <a:p>
            <a:r>
              <a:rPr lang="en-US" dirty="0"/>
              <a:t>With the Unity Audio Mixer, you can mix various audio sources, apply effects to them, and perform mastering.</a:t>
            </a:r>
          </a:p>
          <a:p>
            <a:endParaRPr lang="en-US" dirty="0"/>
          </a:p>
          <a:p>
            <a:r>
              <a:rPr lang="en-US" dirty="0"/>
              <a:t>Working with audio assets</a:t>
            </a:r>
          </a:p>
          <a:p>
            <a:r>
              <a:rPr lang="en-US" dirty="0"/>
              <a:t>Unity can import audio files in AIFF, WAV, MP3, and Ogg formats in the same way as other assets. Drag the files into the Project panel. Import an audio file to create an Audio Clip that you can then drag to an Audio Source or use from a script. The Audio Clip reference page has more details about the import options available for audio files.</a:t>
            </a:r>
          </a:p>
          <a:p>
            <a:endParaRPr lang="en-US" dirty="0"/>
          </a:p>
          <a:p>
            <a:r>
              <a:rPr lang="en-US" dirty="0"/>
              <a:t>For music, Unity also supports tracker modules, which use short audio samples as “instruments” that you can arrange to play tunes. You can import tracker modules from .</a:t>
            </a:r>
            <a:r>
              <a:rPr lang="en-US" dirty="0" err="1"/>
              <a:t>xm</a:t>
            </a:r>
            <a:r>
              <a:rPr lang="en-US" dirty="0"/>
              <a:t>, .mod, .it, and .s3m files and use them the same way you use other audio clips.</a:t>
            </a:r>
          </a:p>
          <a:p>
            <a:endParaRPr lang="en-US" dirty="0"/>
          </a:p>
          <a:p>
            <a:r>
              <a:rPr lang="en-US" dirty="0"/>
              <a:t>Audio recording</a:t>
            </a:r>
          </a:p>
          <a:p>
            <a:r>
              <a:rPr lang="en-US" dirty="0"/>
              <a:t>Unity can access the computer’s microphones from a script and create Audio Clips by direct recording. The Microphone class provides an API to find available microphones, query their capabilities, and start and end a recording session. The script reference page for Microphone has further information and code samples for audio recording.</a:t>
            </a:r>
            <a:endParaRPr lang="en-CA" dirty="0"/>
          </a:p>
          <a:p>
            <a:endParaRPr lang="en-CA" dirty="0"/>
          </a:p>
        </p:txBody>
      </p:sp>
      <p:sp>
        <p:nvSpPr>
          <p:cNvPr id="4" name="Title 3">
            <a:extLst>
              <a:ext uri="{FF2B5EF4-FFF2-40B4-BE49-F238E27FC236}">
                <a16:creationId xmlns:a16="http://schemas.microsoft.com/office/drawing/2014/main" id="{270B291A-0580-9698-D3AF-96869A33EC4E}"/>
              </a:ext>
            </a:extLst>
          </p:cNvPr>
          <p:cNvSpPr>
            <a:spLocks noGrp="1"/>
          </p:cNvSpPr>
          <p:nvPr>
            <p:ph type="title"/>
          </p:nvPr>
        </p:nvSpPr>
        <p:spPr/>
        <p:txBody>
          <a:bodyPr/>
          <a:lstStyle/>
          <a:p>
            <a:r>
              <a:rPr lang="en-CA" dirty="0"/>
              <a:t>Audio</a:t>
            </a:r>
          </a:p>
        </p:txBody>
      </p:sp>
    </p:spTree>
    <p:extLst>
      <p:ext uri="{BB962C8B-B14F-4D97-AF65-F5344CB8AC3E}">
        <p14:creationId xmlns:p14="http://schemas.microsoft.com/office/powerpoint/2010/main" val="2800756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F963180-DAA0-2DA1-E245-C58FC10D3E93}"/>
              </a:ext>
            </a:extLst>
          </p:cNvPr>
          <p:cNvSpPr>
            <a:spLocks noGrp="1"/>
          </p:cNvSpPr>
          <p:nvPr>
            <p:ph type="body" idx="1"/>
          </p:nvPr>
        </p:nvSpPr>
        <p:spPr/>
        <p:txBody>
          <a:bodyPr/>
          <a:lstStyle/>
          <a:p>
            <a:r>
              <a:rPr lang="en-US" dirty="0"/>
              <a:t> </a:t>
            </a:r>
            <a:endParaRPr lang="en-CA" dirty="0"/>
          </a:p>
        </p:txBody>
      </p:sp>
      <p:sp>
        <p:nvSpPr>
          <p:cNvPr id="4" name="Title 3">
            <a:extLst>
              <a:ext uri="{FF2B5EF4-FFF2-40B4-BE49-F238E27FC236}">
                <a16:creationId xmlns:a16="http://schemas.microsoft.com/office/drawing/2014/main" id="{0B4C3C95-6A94-4D80-D508-0D558880D804}"/>
              </a:ext>
            </a:extLst>
          </p:cNvPr>
          <p:cNvSpPr>
            <a:spLocks noGrp="1"/>
          </p:cNvSpPr>
          <p:nvPr>
            <p:ph type="title"/>
          </p:nvPr>
        </p:nvSpPr>
        <p:spPr/>
        <p:txBody>
          <a:bodyPr/>
          <a:lstStyle/>
          <a:p>
            <a:r>
              <a:rPr lang="en-CA" dirty="0"/>
              <a:t>User interface</a:t>
            </a:r>
          </a:p>
        </p:txBody>
      </p:sp>
      <p:graphicFrame>
        <p:nvGraphicFramePr>
          <p:cNvPr id="6" name="Table 5">
            <a:extLst>
              <a:ext uri="{FF2B5EF4-FFF2-40B4-BE49-F238E27FC236}">
                <a16:creationId xmlns:a16="http://schemas.microsoft.com/office/drawing/2014/main" id="{DA205B89-3822-38D4-F4AC-EE2A9ACBE3A0}"/>
              </a:ext>
            </a:extLst>
          </p:cNvPr>
          <p:cNvGraphicFramePr>
            <a:graphicFrameLocks noGrp="1"/>
          </p:cNvGraphicFramePr>
          <p:nvPr>
            <p:extLst>
              <p:ext uri="{D42A27DB-BD31-4B8C-83A1-F6EECF244321}">
                <p14:modId xmlns:p14="http://schemas.microsoft.com/office/powerpoint/2010/main" val="3164518593"/>
              </p:ext>
            </p:extLst>
          </p:nvPr>
        </p:nvGraphicFramePr>
        <p:xfrm>
          <a:off x="736899" y="1403873"/>
          <a:ext cx="9561116" cy="4773094"/>
        </p:xfrm>
        <a:graphic>
          <a:graphicData uri="http://schemas.openxmlformats.org/drawingml/2006/table">
            <a:tbl>
              <a:tblPr>
                <a:tableStyleId>{5C22544A-7EE6-4342-B048-85BDC9FD1C3A}</a:tableStyleId>
              </a:tblPr>
              <a:tblGrid>
                <a:gridCol w="4780558">
                  <a:extLst>
                    <a:ext uri="{9D8B030D-6E8A-4147-A177-3AD203B41FA5}">
                      <a16:colId xmlns:a16="http://schemas.microsoft.com/office/drawing/2014/main" val="1871793289"/>
                    </a:ext>
                  </a:extLst>
                </a:gridCol>
                <a:gridCol w="4780558">
                  <a:extLst>
                    <a:ext uri="{9D8B030D-6E8A-4147-A177-3AD203B41FA5}">
                      <a16:colId xmlns:a16="http://schemas.microsoft.com/office/drawing/2014/main" val="3730980759"/>
                    </a:ext>
                  </a:extLst>
                </a:gridCol>
              </a:tblGrid>
              <a:tr h="232226">
                <a:tc>
                  <a:txBody>
                    <a:bodyPr/>
                    <a:lstStyle/>
                    <a:p>
                      <a:pPr marL="0" marR="0" algn="l">
                        <a:spcAft>
                          <a:spcPts val="1500"/>
                        </a:spcAft>
                        <a:buNone/>
                      </a:pPr>
                      <a:r>
                        <a:rPr lang="en-CA" sz="1100" dirty="0">
                          <a:effectLst/>
                        </a:rPr>
                        <a:t>Topic</a:t>
                      </a:r>
                      <a:endParaRPr lang="en-CA" sz="1100" b="0" i="0" dirty="0">
                        <a:solidFill>
                          <a:srgbClr val="455463"/>
                        </a:solidFill>
                        <a:effectLst/>
                        <a:latin typeface="Roboto" panose="02000000000000000000" pitchFamily="2" charset="0"/>
                      </a:endParaRPr>
                    </a:p>
                  </a:txBody>
                  <a:tcPr marL="43741" marR="43741" marT="21871" marB="21871" anchor="ctr"/>
                </a:tc>
                <a:tc>
                  <a:txBody>
                    <a:bodyPr/>
                    <a:lstStyle/>
                    <a:p>
                      <a:pPr marL="0" marR="0" algn="l">
                        <a:spcAft>
                          <a:spcPts val="1500"/>
                        </a:spcAft>
                        <a:buNone/>
                      </a:pPr>
                      <a:r>
                        <a:rPr lang="en-CA" sz="1100">
                          <a:effectLst/>
                        </a:rPr>
                        <a:t>Description</a:t>
                      </a:r>
                      <a:endParaRPr lang="en-CA" sz="1100" b="0" i="0">
                        <a:solidFill>
                          <a:srgbClr val="455463"/>
                        </a:solidFill>
                        <a:effectLst/>
                        <a:latin typeface="Roboto" panose="02000000000000000000" pitchFamily="2" charset="0"/>
                      </a:endParaRPr>
                    </a:p>
                  </a:txBody>
                  <a:tcPr marL="43741" marR="43741" marT="21871" marB="21871" anchor="ctr"/>
                </a:tc>
                <a:extLst>
                  <a:ext uri="{0D108BD9-81ED-4DB2-BD59-A6C34878D82A}">
                    <a16:rowId xmlns:a16="http://schemas.microsoft.com/office/drawing/2014/main" val="3576669160"/>
                  </a:ext>
                </a:extLst>
              </a:tr>
              <a:tr h="416469">
                <a:tc>
                  <a:txBody>
                    <a:bodyPr/>
                    <a:lstStyle/>
                    <a:p>
                      <a:pPr marL="0" marR="0" algn="l" fontAlgn="t">
                        <a:spcAft>
                          <a:spcPts val="1500"/>
                        </a:spcAft>
                        <a:buNone/>
                      </a:pPr>
                      <a:r>
                        <a:rPr lang="en-CA" sz="1100" u="sng">
                          <a:effectLst/>
                          <a:hlinkClick r:id="rId2"/>
                        </a:rPr>
                        <a:t>Introduction to UI Toolkit</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Learn about UI Toolkit, its features, roles, and responsibilities in the development process.</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2686090521"/>
                  </a:ext>
                </a:extLst>
              </a:tr>
              <a:tr h="232226">
                <a:tc>
                  <a:txBody>
                    <a:bodyPr/>
                    <a:lstStyle/>
                    <a:p>
                      <a:pPr marL="0" marR="0" algn="l" fontAlgn="t">
                        <a:spcAft>
                          <a:spcPts val="1500"/>
                        </a:spcAft>
                        <a:buNone/>
                      </a:pPr>
                      <a:r>
                        <a:rPr lang="en-CA" sz="1100" u="sng">
                          <a:effectLst/>
                          <a:hlinkClick r:id="rId3"/>
                        </a:rPr>
                        <a:t>Get started with UI Toolkit</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Follow a simple workflow to get started with UI Toolkit.</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3365935275"/>
                  </a:ext>
                </a:extLst>
              </a:tr>
              <a:tr h="416469">
                <a:tc>
                  <a:txBody>
                    <a:bodyPr/>
                    <a:lstStyle/>
                    <a:p>
                      <a:pPr marL="0" marR="0" algn="l" fontAlgn="t">
                        <a:spcAft>
                          <a:spcPts val="1500"/>
                        </a:spcAft>
                        <a:buNone/>
                      </a:pPr>
                      <a:r>
                        <a:rPr lang="en-CA" sz="1100" u="sng">
                          <a:effectLst/>
                          <a:hlinkClick r:id="rId4"/>
                        </a:rPr>
                        <a:t>UI Builder</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Use a visual authoring tool to create and edit UI Toolkit assets such as UXML and USS files.</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189244282"/>
                  </a:ext>
                </a:extLst>
              </a:tr>
              <a:tr h="232226">
                <a:tc>
                  <a:txBody>
                    <a:bodyPr/>
                    <a:lstStyle/>
                    <a:p>
                      <a:pPr marL="0" marR="0" algn="l" fontAlgn="t">
                        <a:spcAft>
                          <a:spcPts val="1500"/>
                        </a:spcAft>
                        <a:buNone/>
                      </a:pPr>
                      <a:r>
                        <a:rPr lang="en-CA" sz="1100" u="sng">
                          <a:effectLst/>
                          <a:hlinkClick r:id="rId5"/>
                        </a:rPr>
                        <a:t>Structure UI</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Structure your UI with either UXML or C#.</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3786425297"/>
                  </a:ext>
                </a:extLst>
              </a:tr>
              <a:tr h="232226">
                <a:tc>
                  <a:txBody>
                    <a:bodyPr/>
                    <a:lstStyle/>
                    <a:p>
                      <a:pPr marL="0" marR="0" algn="l" fontAlgn="t">
                        <a:spcAft>
                          <a:spcPts val="1500"/>
                        </a:spcAft>
                        <a:buNone/>
                      </a:pPr>
                      <a:r>
                        <a:rPr lang="en-CA" sz="1100" u="sng">
                          <a:effectLst/>
                          <a:hlinkClick r:id="rId6"/>
                        </a:rPr>
                        <a:t>Style UI</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Style your UI with USS.</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3458535035"/>
                  </a:ext>
                </a:extLst>
              </a:tr>
              <a:tr h="784958">
                <a:tc>
                  <a:txBody>
                    <a:bodyPr/>
                    <a:lstStyle/>
                    <a:p>
                      <a:pPr marL="0" marR="0" algn="l" fontAlgn="t">
                        <a:spcAft>
                          <a:spcPts val="1500"/>
                        </a:spcAft>
                        <a:buNone/>
                      </a:pPr>
                      <a:r>
                        <a:rPr lang="en-CA" sz="1100" u="sng">
                          <a:effectLst/>
                          <a:hlinkClick r:id="rId7"/>
                        </a:rPr>
                        <a:t>Control behavior with events</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Map user interactions to elements, such as input, touch and pointer interactions, drag-and-drop operations, and other event types. This system includes a dispatcher, a handler, a synthesizer, and a library of event types.</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722004328"/>
                  </a:ext>
                </a:extLst>
              </a:tr>
              <a:tr h="416469">
                <a:tc>
                  <a:txBody>
                    <a:bodyPr/>
                    <a:lstStyle/>
                    <a:p>
                      <a:pPr marL="0" marR="0" algn="l" fontAlgn="t">
                        <a:spcAft>
                          <a:spcPts val="1500"/>
                        </a:spcAft>
                        <a:buNone/>
                      </a:pPr>
                      <a:r>
                        <a:rPr lang="en-CA" sz="1100" u="sng">
                          <a:effectLst/>
                          <a:hlinkClick r:id="rId8"/>
                        </a:rPr>
                        <a:t>UI Renderer</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Use a rendering system built directly on top of Unity’s graphics device layer.</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1299879024"/>
                  </a:ext>
                </a:extLst>
              </a:tr>
              <a:tr h="232226">
                <a:tc>
                  <a:txBody>
                    <a:bodyPr/>
                    <a:lstStyle/>
                    <a:p>
                      <a:pPr marL="0" marR="0" algn="l" fontAlgn="t">
                        <a:spcAft>
                          <a:spcPts val="1500"/>
                        </a:spcAft>
                        <a:buNone/>
                      </a:pPr>
                      <a:r>
                        <a:rPr lang="en-CA" sz="1100" u="sng">
                          <a:effectLst/>
                          <a:hlinkClick r:id="rId9"/>
                        </a:rPr>
                        <a:t>Data binding</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Link properties to the controls that modify their values.</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4233592151"/>
                  </a:ext>
                </a:extLst>
              </a:tr>
              <a:tr h="232226">
                <a:tc>
                  <a:txBody>
                    <a:bodyPr/>
                    <a:lstStyle/>
                    <a:p>
                      <a:pPr marL="0" marR="0" algn="l" fontAlgn="t">
                        <a:spcAft>
                          <a:spcPts val="1500"/>
                        </a:spcAft>
                        <a:buNone/>
                      </a:pPr>
                      <a:r>
                        <a:rPr lang="en-CA" sz="1100" u="sng">
                          <a:effectLst/>
                          <a:hlinkClick r:id="rId10"/>
                        </a:rPr>
                        <a:t>Support for Editor UI</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A set of components to create Editor UI.</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3621855563"/>
                  </a:ext>
                </a:extLst>
              </a:tr>
              <a:tr h="232226">
                <a:tc>
                  <a:txBody>
                    <a:bodyPr/>
                    <a:lstStyle/>
                    <a:p>
                      <a:pPr marL="0" marR="0" algn="l" fontAlgn="t">
                        <a:spcAft>
                          <a:spcPts val="1500"/>
                        </a:spcAft>
                        <a:buNone/>
                      </a:pPr>
                      <a:r>
                        <a:rPr lang="en-CA" sz="1100" u="sng">
                          <a:effectLst/>
                          <a:hlinkClick r:id="rId11"/>
                        </a:rPr>
                        <a:t>Support for runtime UI</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A set of components to create runtime UI.</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1158462195"/>
                  </a:ext>
                </a:extLst>
              </a:tr>
              <a:tr h="416469">
                <a:tc>
                  <a:txBody>
                    <a:bodyPr/>
                    <a:lstStyle/>
                    <a:p>
                      <a:pPr marL="0" marR="0" algn="l" fontAlgn="t">
                        <a:spcAft>
                          <a:spcPts val="1500"/>
                        </a:spcAft>
                        <a:buNone/>
                      </a:pPr>
                      <a:r>
                        <a:rPr lang="en-CA" sz="1100" u="sng">
                          <a:effectLst/>
                          <a:hlinkClick r:id="rId12"/>
                        </a:rPr>
                        <a:t>Work with text</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Learn how to work with text in UI Toolkit, including fonts, styles, and text elements.</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4239596054"/>
                  </a:ext>
                </a:extLst>
              </a:tr>
              <a:tr h="232226">
                <a:tc>
                  <a:txBody>
                    <a:bodyPr/>
                    <a:lstStyle/>
                    <a:p>
                      <a:pPr marL="0" marR="0" algn="l" fontAlgn="t">
                        <a:spcAft>
                          <a:spcPts val="1500"/>
                        </a:spcAft>
                        <a:buNone/>
                      </a:pPr>
                      <a:r>
                        <a:rPr lang="en-CA" sz="1100" u="sng">
                          <a:effectLst/>
                          <a:hlinkClick r:id="rId13"/>
                        </a:rPr>
                        <a:t>Test UI</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Learn how to test and debug your UI.</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2524566796"/>
                  </a:ext>
                </a:extLst>
              </a:tr>
              <a:tr h="232226">
                <a:tc>
                  <a:txBody>
                    <a:bodyPr/>
                    <a:lstStyle/>
                    <a:p>
                      <a:pPr marL="0" marR="0" algn="l" fontAlgn="t">
                        <a:spcAft>
                          <a:spcPts val="1500"/>
                        </a:spcAft>
                        <a:buNone/>
                      </a:pPr>
                      <a:r>
                        <a:rPr lang="en-CA" sz="1100" u="sng">
                          <a:effectLst/>
                          <a:hlinkClick r:id="rId14"/>
                        </a:rPr>
                        <a:t>UI Toolkit examples</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a:effectLst/>
                        </a:rPr>
                        <a:t>A collection of UI Toolkit examples to help you learn how to use it.</a:t>
                      </a:r>
                      <a:endParaRPr lang="en-CA" sz="1100" b="0" i="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1103783329"/>
                  </a:ext>
                </a:extLst>
              </a:tr>
              <a:tr h="232226">
                <a:tc>
                  <a:txBody>
                    <a:bodyPr/>
                    <a:lstStyle/>
                    <a:p>
                      <a:pPr marL="0" marR="0" algn="l" fontAlgn="t">
                        <a:spcAft>
                          <a:spcPts val="1500"/>
                        </a:spcAft>
                        <a:buNone/>
                      </a:pPr>
                      <a:r>
                        <a:rPr lang="en-CA" sz="1100" u="sng">
                          <a:effectLst/>
                          <a:hlinkClick r:id="rId15"/>
                        </a:rPr>
                        <a:t>Migration guides</a:t>
                      </a:r>
                      <a:endParaRPr lang="en-CA" sz="1100" b="0" i="0">
                        <a:solidFill>
                          <a:srgbClr val="455463"/>
                        </a:solidFill>
                        <a:effectLst/>
                        <a:latin typeface="Roboto" panose="02000000000000000000" pitchFamily="2" charset="0"/>
                      </a:endParaRPr>
                    </a:p>
                  </a:txBody>
                  <a:tcPr marL="43741" marR="43741" marT="21871" marB="21871"/>
                </a:tc>
                <a:tc>
                  <a:txBody>
                    <a:bodyPr/>
                    <a:lstStyle/>
                    <a:p>
                      <a:pPr marL="0" marR="0" algn="l" fontAlgn="t">
                        <a:spcAft>
                          <a:spcPts val="1500"/>
                        </a:spcAft>
                        <a:buNone/>
                      </a:pPr>
                      <a:r>
                        <a:rPr lang="en-CA" sz="1100" dirty="0">
                          <a:effectLst/>
                        </a:rPr>
                        <a:t>Guides to help you migrate from </a:t>
                      </a:r>
                      <a:r>
                        <a:rPr lang="en-CA" sz="1100" dirty="0" err="1">
                          <a:effectLst/>
                        </a:rPr>
                        <a:t>uGUI</a:t>
                      </a:r>
                      <a:r>
                        <a:rPr lang="en-CA" sz="1100" dirty="0">
                          <a:effectLst/>
                        </a:rPr>
                        <a:t> or IMGUI to UI Toolkit.</a:t>
                      </a:r>
                      <a:endParaRPr lang="en-CA" sz="1100" b="0" i="0" dirty="0">
                        <a:solidFill>
                          <a:srgbClr val="455463"/>
                        </a:solidFill>
                        <a:effectLst/>
                        <a:latin typeface="Roboto" panose="02000000000000000000" pitchFamily="2" charset="0"/>
                      </a:endParaRPr>
                    </a:p>
                  </a:txBody>
                  <a:tcPr marL="43741" marR="43741" marT="21871" marB="21871"/>
                </a:tc>
                <a:extLst>
                  <a:ext uri="{0D108BD9-81ED-4DB2-BD59-A6C34878D82A}">
                    <a16:rowId xmlns:a16="http://schemas.microsoft.com/office/drawing/2014/main" val="3914352833"/>
                  </a:ext>
                </a:extLst>
              </a:tr>
            </a:tbl>
          </a:graphicData>
        </a:graphic>
      </p:graphicFrame>
    </p:spTree>
    <p:extLst>
      <p:ext uri="{BB962C8B-B14F-4D97-AF65-F5344CB8AC3E}">
        <p14:creationId xmlns:p14="http://schemas.microsoft.com/office/powerpoint/2010/main" val="4213172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3F2A115-EA4B-8A27-05AC-191BC9E5B7AB}"/>
              </a:ext>
            </a:extLst>
          </p:cNvPr>
          <p:cNvSpPr>
            <a:spLocks noGrp="1"/>
          </p:cNvSpPr>
          <p:nvPr>
            <p:ph type="body" idx="1"/>
          </p:nvPr>
        </p:nvSpPr>
        <p:spPr/>
        <p:txBody>
          <a:bodyPr/>
          <a:lstStyle/>
          <a:p>
            <a:r>
              <a:rPr lang="en-US" dirty="0"/>
              <a:t>Implement accessibility features in Unity to create inclusive games and applications for users of all abilities.</a:t>
            </a:r>
          </a:p>
          <a:p>
            <a:endParaRPr lang="en-US" dirty="0"/>
          </a:p>
          <a:p>
            <a:r>
              <a:rPr lang="en-US" dirty="0"/>
              <a:t>When you implement accessibility features, you enable people with disabilities to engage with your content while also improving the user experience for everyone.</a:t>
            </a:r>
            <a:endParaRPr lang="en-CA" dirty="0"/>
          </a:p>
        </p:txBody>
      </p:sp>
      <p:sp>
        <p:nvSpPr>
          <p:cNvPr id="5" name="Text Placeholder 4">
            <a:extLst>
              <a:ext uri="{FF2B5EF4-FFF2-40B4-BE49-F238E27FC236}">
                <a16:creationId xmlns:a16="http://schemas.microsoft.com/office/drawing/2014/main" id="{3081649D-E20F-EA69-BF01-8DE68A414105}"/>
              </a:ext>
            </a:extLst>
          </p:cNvPr>
          <p:cNvSpPr>
            <a:spLocks noGrp="1"/>
          </p:cNvSpPr>
          <p:nvPr>
            <p:ph type="body" idx="2"/>
          </p:nvPr>
        </p:nvSpPr>
        <p:spPr/>
        <p:txBody>
          <a:bodyPr/>
          <a:lstStyle/>
          <a:p>
            <a:r>
              <a:rPr lang="en-US" dirty="0"/>
              <a:t> </a:t>
            </a:r>
            <a:endParaRPr lang="en-CA" dirty="0"/>
          </a:p>
        </p:txBody>
      </p:sp>
      <p:sp>
        <p:nvSpPr>
          <p:cNvPr id="3" name="Title 2">
            <a:extLst>
              <a:ext uri="{FF2B5EF4-FFF2-40B4-BE49-F238E27FC236}">
                <a16:creationId xmlns:a16="http://schemas.microsoft.com/office/drawing/2014/main" id="{29F19BBE-4E61-D96E-A2D9-166125E06204}"/>
              </a:ext>
            </a:extLst>
          </p:cNvPr>
          <p:cNvSpPr>
            <a:spLocks noGrp="1"/>
          </p:cNvSpPr>
          <p:nvPr>
            <p:ph type="title"/>
          </p:nvPr>
        </p:nvSpPr>
        <p:spPr/>
        <p:txBody>
          <a:bodyPr/>
          <a:lstStyle/>
          <a:p>
            <a:r>
              <a:rPr lang="en-CA" dirty="0"/>
              <a:t>Accessibility</a:t>
            </a:r>
          </a:p>
        </p:txBody>
      </p:sp>
      <p:graphicFrame>
        <p:nvGraphicFramePr>
          <p:cNvPr id="8" name="Table 7">
            <a:extLst>
              <a:ext uri="{FF2B5EF4-FFF2-40B4-BE49-F238E27FC236}">
                <a16:creationId xmlns:a16="http://schemas.microsoft.com/office/drawing/2014/main" id="{57916D6F-6E58-4881-73AE-EE43D280A6DB}"/>
              </a:ext>
            </a:extLst>
          </p:cNvPr>
          <p:cNvGraphicFramePr>
            <a:graphicFrameLocks noGrp="1"/>
          </p:cNvGraphicFramePr>
          <p:nvPr>
            <p:extLst>
              <p:ext uri="{D42A27DB-BD31-4B8C-83A1-F6EECF244321}">
                <p14:modId xmlns:p14="http://schemas.microsoft.com/office/powerpoint/2010/main" val="2743000510"/>
              </p:ext>
            </p:extLst>
          </p:nvPr>
        </p:nvGraphicFramePr>
        <p:xfrm>
          <a:off x="4523591" y="1715845"/>
          <a:ext cx="7015852" cy="4195483"/>
        </p:xfrm>
        <a:graphic>
          <a:graphicData uri="http://schemas.openxmlformats.org/drawingml/2006/table">
            <a:tbl>
              <a:tblPr>
                <a:tableStyleId>{5C22544A-7EE6-4342-B048-85BDC9FD1C3A}</a:tableStyleId>
              </a:tblPr>
              <a:tblGrid>
                <a:gridCol w="3507926">
                  <a:extLst>
                    <a:ext uri="{9D8B030D-6E8A-4147-A177-3AD203B41FA5}">
                      <a16:colId xmlns:a16="http://schemas.microsoft.com/office/drawing/2014/main" val="2986071989"/>
                    </a:ext>
                  </a:extLst>
                </a:gridCol>
                <a:gridCol w="3507926">
                  <a:extLst>
                    <a:ext uri="{9D8B030D-6E8A-4147-A177-3AD203B41FA5}">
                      <a16:colId xmlns:a16="http://schemas.microsoft.com/office/drawing/2014/main" val="2070854515"/>
                    </a:ext>
                  </a:extLst>
                </a:gridCol>
              </a:tblGrid>
              <a:tr h="288933">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47625" marR="47625" marT="23813" marB="23813"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7625" marR="47625" marT="23813" marB="23813" anchor="ctr"/>
                </a:tc>
                <a:extLst>
                  <a:ext uri="{0D108BD9-81ED-4DB2-BD59-A6C34878D82A}">
                    <a16:rowId xmlns:a16="http://schemas.microsoft.com/office/drawing/2014/main" val="3763115830"/>
                  </a:ext>
                </a:extLst>
              </a:tr>
              <a:tr h="747403">
                <a:tc>
                  <a:txBody>
                    <a:bodyPr/>
                    <a:lstStyle/>
                    <a:p>
                      <a:pPr marL="0" marR="0" algn="l" fontAlgn="t">
                        <a:spcAft>
                          <a:spcPts val="1500"/>
                        </a:spcAft>
                        <a:buNone/>
                      </a:pPr>
                      <a:r>
                        <a:rPr lang="en-CA" sz="1200" u="sng">
                          <a:effectLst/>
                          <a:hlinkClick r:id="rId2"/>
                        </a:rPr>
                        <a:t>Introduction to the Accessibility module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Learn about Unity’s Accessibility module, its purpose, capabilities, and platform support.</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516334031"/>
                  </a:ext>
                </a:extLst>
              </a:tr>
              <a:tr h="747403">
                <a:tc>
                  <a:txBody>
                    <a:bodyPr/>
                    <a:lstStyle/>
                    <a:p>
                      <a:pPr marL="0" marR="0" algn="l" fontAlgn="t">
                        <a:spcAft>
                          <a:spcPts val="1500"/>
                        </a:spcAft>
                        <a:buNone/>
                      </a:pPr>
                      <a:r>
                        <a:rPr lang="en-CA" sz="1200" u="sng">
                          <a:effectLst/>
                          <a:hlinkClick r:id="rId3"/>
                        </a:rPr>
                        <a:t>Get started with screen reader support</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Use the screen reader support APIs to make your first accessible button.</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740583993"/>
                  </a:ext>
                </a:extLst>
              </a:tr>
              <a:tr h="1205872">
                <a:tc>
                  <a:txBody>
                    <a:bodyPr/>
                    <a:lstStyle/>
                    <a:p>
                      <a:pPr marL="0" marR="0" algn="l" fontAlgn="t">
                        <a:spcAft>
                          <a:spcPts val="1500"/>
                        </a:spcAft>
                        <a:buNone/>
                      </a:pPr>
                      <a:r>
                        <a:rPr lang="en-CA" sz="1200" u="sng">
                          <a:effectLst/>
                          <a:hlinkClick r:id="rId4"/>
                        </a:rPr>
                        <a:t>The architecture and performance of the Accessibility module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Discover the architecture of the Accessibility module, including its core components, key concepts, lifecycle, and performance considerations.</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46367464"/>
                  </a:ext>
                </a:extLst>
              </a:tr>
              <a:tr h="1205872">
                <a:tc>
                  <a:txBody>
                    <a:bodyPr/>
                    <a:lstStyle/>
                    <a:p>
                      <a:pPr marL="0" marR="0" algn="l" fontAlgn="t">
                        <a:spcAft>
                          <a:spcPts val="1500"/>
                        </a:spcAft>
                        <a:buNone/>
                      </a:pPr>
                      <a:r>
                        <a:rPr lang="en-CA" sz="1200" u="sng">
                          <a:effectLst/>
                          <a:hlinkClick r:id="rId5"/>
                        </a:rPr>
                        <a:t>Accessibility concepts</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dirty="0">
                          <a:effectLst/>
                        </a:rPr>
                        <a:t>Learn the background concepts that underpin accessible development, including disability categories, assistive technologies, and how screen readers work.</a:t>
                      </a:r>
                      <a:endParaRPr lang="en-CA" sz="1200" b="0" i="0" dirty="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3136672833"/>
                  </a:ext>
                </a:extLst>
              </a:tr>
            </a:tbl>
          </a:graphicData>
        </a:graphic>
      </p:graphicFrame>
    </p:spTree>
    <p:extLst>
      <p:ext uri="{BB962C8B-B14F-4D97-AF65-F5344CB8AC3E}">
        <p14:creationId xmlns:p14="http://schemas.microsoft.com/office/powerpoint/2010/main" val="1357798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76DEB8-442C-3A14-1368-0A16D847E8AD}"/>
              </a:ext>
            </a:extLst>
          </p:cNvPr>
          <p:cNvSpPr>
            <a:spLocks noGrp="1"/>
          </p:cNvSpPr>
          <p:nvPr>
            <p:ph type="body" idx="1"/>
          </p:nvPr>
        </p:nvSpPr>
        <p:spPr/>
        <p:txBody>
          <a:bodyPr/>
          <a:lstStyle/>
          <a:p>
            <a:r>
              <a:rPr lang="en-US" dirty="0"/>
              <a:t>Connect your application to the Profiler to measure its performance.</a:t>
            </a:r>
          </a:p>
          <a:p>
            <a:endParaRPr lang="en-US" dirty="0"/>
          </a:p>
          <a:p>
            <a:r>
              <a:rPr lang="en-US" dirty="0"/>
              <a:t>The way you connect to the Profiler depends on the platform you want to profile your application on.</a:t>
            </a:r>
            <a:endParaRPr lang="en-CA" dirty="0"/>
          </a:p>
        </p:txBody>
      </p:sp>
      <p:sp>
        <p:nvSpPr>
          <p:cNvPr id="3" name="Text Placeholder 2">
            <a:extLst>
              <a:ext uri="{FF2B5EF4-FFF2-40B4-BE49-F238E27FC236}">
                <a16:creationId xmlns:a16="http://schemas.microsoft.com/office/drawing/2014/main" id="{031F9802-8D39-8260-CFFF-6370AD2728AD}"/>
              </a:ext>
            </a:extLst>
          </p:cNvPr>
          <p:cNvSpPr>
            <a:spLocks noGrp="1"/>
          </p:cNvSpPr>
          <p:nvPr>
            <p:ph type="body" idx="2"/>
          </p:nvPr>
        </p:nvSpPr>
        <p:spPr/>
        <p:txBody>
          <a:bodyPr/>
          <a:lstStyle/>
          <a:p>
            <a:endParaRPr lang="en-CA" dirty="0"/>
          </a:p>
        </p:txBody>
      </p:sp>
      <p:sp>
        <p:nvSpPr>
          <p:cNvPr id="4" name="Title 3">
            <a:extLst>
              <a:ext uri="{FF2B5EF4-FFF2-40B4-BE49-F238E27FC236}">
                <a16:creationId xmlns:a16="http://schemas.microsoft.com/office/drawing/2014/main" id="{3B51027B-0701-3D8A-3622-F3DBEEDA604E}"/>
              </a:ext>
            </a:extLst>
          </p:cNvPr>
          <p:cNvSpPr>
            <a:spLocks noGrp="1"/>
          </p:cNvSpPr>
          <p:nvPr>
            <p:ph type="title"/>
          </p:nvPr>
        </p:nvSpPr>
        <p:spPr/>
        <p:txBody>
          <a:bodyPr/>
          <a:lstStyle/>
          <a:p>
            <a:r>
              <a:rPr lang="en-US" dirty="0"/>
              <a:t>Profiling, optimizing and testing a build</a:t>
            </a:r>
            <a:endParaRPr lang="en-CA" dirty="0"/>
          </a:p>
        </p:txBody>
      </p:sp>
      <p:graphicFrame>
        <p:nvGraphicFramePr>
          <p:cNvPr id="5" name="Table 4">
            <a:extLst>
              <a:ext uri="{FF2B5EF4-FFF2-40B4-BE49-F238E27FC236}">
                <a16:creationId xmlns:a16="http://schemas.microsoft.com/office/drawing/2014/main" id="{B0D84D3C-C312-C33E-4449-E4AE3821C3F9}"/>
              </a:ext>
            </a:extLst>
          </p:cNvPr>
          <p:cNvGraphicFramePr>
            <a:graphicFrameLocks noGrp="1"/>
          </p:cNvGraphicFramePr>
          <p:nvPr>
            <p:extLst>
              <p:ext uri="{D42A27DB-BD31-4B8C-83A1-F6EECF244321}">
                <p14:modId xmlns:p14="http://schemas.microsoft.com/office/powerpoint/2010/main" val="3059632821"/>
              </p:ext>
            </p:extLst>
          </p:nvPr>
        </p:nvGraphicFramePr>
        <p:xfrm>
          <a:off x="4395537" y="1507067"/>
          <a:ext cx="6275630" cy="4669894"/>
        </p:xfrm>
        <a:graphic>
          <a:graphicData uri="http://schemas.openxmlformats.org/drawingml/2006/table">
            <a:tbl>
              <a:tblPr>
                <a:tableStyleId>{5C22544A-7EE6-4342-B048-85BDC9FD1C3A}</a:tableStyleId>
              </a:tblPr>
              <a:tblGrid>
                <a:gridCol w="3137815">
                  <a:extLst>
                    <a:ext uri="{9D8B030D-6E8A-4147-A177-3AD203B41FA5}">
                      <a16:colId xmlns:a16="http://schemas.microsoft.com/office/drawing/2014/main" val="248036572"/>
                    </a:ext>
                  </a:extLst>
                </a:gridCol>
                <a:gridCol w="3137815">
                  <a:extLst>
                    <a:ext uri="{9D8B030D-6E8A-4147-A177-3AD203B41FA5}">
                      <a16:colId xmlns:a16="http://schemas.microsoft.com/office/drawing/2014/main" val="1978127530"/>
                    </a:ext>
                  </a:extLst>
                </a:gridCol>
              </a:tblGrid>
              <a:tr h="509061">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47625" marR="47625" marT="23813" marB="23813"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7625" marR="47625" marT="23813" marB="23813" anchor="ctr"/>
                </a:tc>
                <a:extLst>
                  <a:ext uri="{0D108BD9-81ED-4DB2-BD59-A6C34878D82A}">
                    <a16:rowId xmlns:a16="http://schemas.microsoft.com/office/drawing/2014/main" val="3554257308"/>
                  </a:ext>
                </a:extLst>
              </a:tr>
              <a:tr h="912943">
                <a:tc>
                  <a:txBody>
                    <a:bodyPr/>
                    <a:lstStyle/>
                    <a:p>
                      <a:pPr marL="0" marR="0" algn="l" fontAlgn="t">
                        <a:spcAft>
                          <a:spcPts val="1500"/>
                        </a:spcAft>
                        <a:buNone/>
                      </a:pPr>
                      <a:r>
                        <a:rPr lang="en-CA" sz="1200" u="sng">
                          <a:effectLst/>
                          <a:hlinkClick r:id="rId2"/>
                        </a:rPr>
                        <a:t>Collecting performance data introduction</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Understand the various ways of collecting performance data through the Profiler.</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4048203774"/>
                  </a:ext>
                </a:extLst>
              </a:tr>
              <a:tr h="912943">
                <a:tc>
                  <a:txBody>
                    <a:bodyPr/>
                    <a:lstStyle/>
                    <a:p>
                      <a:pPr marL="0" marR="0" algn="l" fontAlgn="t">
                        <a:spcAft>
                          <a:spcPts val="1500"/>
                        </a:spcAft>
                        <a:buNone/>
                      </a:pPr>
                      <a:r>
                        <a:rPr lang="en-CA" sz="1200" u="sng">
                          <a:effectLst/>
                          <a:hlinkClick r:id="rId3"/>
                        </a:rPr>
                        <a:t>Collect performance data on a target platform</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Connect the Profiler to a device that’s running your application.</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500350810"/>
                  </a:ext>
                </a:extLst>
              </a:tr>
              <a:tr h="509061">
                <a:tc>
                  <a:txBody>
                    <a:bodyPr/>
                    <a:lstStyle/>
                    <a:p>
                      <a:pPr marL="0" marR="0" algn="l" fontAlgn="t">
                        <a:spcAft>
                          <a:spcPts val="1500"/>
                        </a:spcAft>
                        <a:buNone/>
                      </a:pPr>
                      <a:r>
                        <a:rPr lang="en-CA" sz="1200" u="sng">
                          <a:effectLst/>
                          <a:hlinkClick r:id="rId4"/>
                        </a:rPr>
                        <a:t>Collect performance data in Play mode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Profile in Play mode in the Unity Editor.</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538742611"/>
                  </a:ext>
                </a:extLst>
              </a:tr>
              <a:tr h="912943">
                <a:tc>
                  <a:txBody>
                    <a:bodyPr/>
                    <a:lstStyle/>
                    <a:p>
                      <a:pPr marL="0" marR="0" algn="l" fontAlgn="t">
                        <a:spcAft>
                          <a:spcPts val="1500"/>
                        </a:spcAft>
                        <a:buNone/>
                      </a:pPr>
                      <a:r>
                        <a:rPr lang="en-CA" sz="1200" u="sng">
                          <a:effectLst/>
                          <a:hlinkClick r:id="rId5"/>
                        </a:rPr>
                        <a:t>Collect performance data about the Unity Editor</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Profile the Editor process.</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1241793337"/>
                  </a:ext>
                </a:extLst>
              </a:tr>
              <a:tr h="912943">
                <a:tc>
                  <a:txBody>
                    <a:bodyPr/>
                    <a:lstStyle/>
                    <a:p>
                      <a:pPr marL="0" marR="0" algn="l" fontAlgn="t">
                        <a:spcAft>
                          <a:spcPts val="1500"/>
                        </a:spcAft>
                        <a:buNone/>
                      </a:pPr>
                      <a:r>
                        <a:rPr lang="en-CA" sz="1200" u="sng">
                          <a:effectLst/>
                          <a:hlinkClick r:id="rId6"/>
                        </a:rPr>
                        <a:t>Build Profiles Profile settings reference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dirty="0">
                          <a:effectLst/>
                        </a:rPr>
                        <a:t>Adjust how the Profiler connects to your application when you build it.</a:t>
                      </a:r>
                      <a:endParaRPr lang="en-CA" sz="1200" b="0" i="0" dirty="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389898273"/>
                  </a:ext>
                </a:extLst>
              </a:tr>
            </a:tbl>
          </a:graphicData>
        </a:graphic>
      </p:graphicFrame>
    </p:spTree>
    <p:extLst>
      <p:ext uri="{BB962C8B-B14F-4D97-AF65-F5344CB8AC3E}">
        <p14:creationId xmlns:p14="http://schemas.microsoft.com/office/powerpoint/2010/main" val="30524322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33F974D-A47C-1394-3721-35CEA2D811C4}"/>
              </a:ext>
            </a:extLst>
          </p:cNvPr>
          <p:cNvSpPr>
            <a:spLocks noGrp="1"/>
          </p:cNvSpPr>
          <p:nvPr>
            <p:ph type="body" idx="1"/>
          </p:nvPr>
        </p:nvSpPr>
        <p:spPr>
          <a:xfrm>
            <a:off x="704626" y="1507068"/>
            <a:ext cx="5502537" cy="4669896"/>
          </a:xfrm>
        </p:spPr>
        <p:txBody>
          <a:bodyPr>
            <a:normAutofit fontScale="70000" lnSpcReduction="20000"/>
          </a:bodyPr>
          <a:lstStyle/>
          <a:p>
            <a:pPr marL="209550" indent="0">
              <a:buNone/>
            </a:pPr>
            <a:r>
              <a:rPr lang="en-US" dirty="0"/>
              <a:t>Unity Test Framework overview</a:t>
            </a:r>
          </a:p>
          <a:p>
            <a:pPr marL="209550" indent="0">
              <a:buNone/>
            </a:pPr>
            <a:r>
              <a:rPr lang="en-US" dirty="0"/>
              <a:t>The Unity Test Framework allows you to test code in both Edit Mode and Play Mode, and also on target platforms such as Standalone, Android, iOS, etc.</a:t>
            </a:r>
          </a:p>
          <a:p>
            <a:pPr marL="209550" indent="0">
              <a:buNone/>
            </a:pPr>
            <a:r>
              <a:rPr lang="en-US" dirty="0"/>
              <a:t>This package provides a standard test framework for Unity users and developers so that both benefit from the same features and can write tests the same way.</a:t>
            </a:r>
          </a:p>
          <a:p>
            <a:pPr marL="209550" indent="0">
              <a:buNone/>
            </a:pPr>
            <a:r>
              <a:rPr lang="en-US" dirty="0"/>
              <a:t>UTF includes a custom integration of </a:t>
            </a:r>
            <a:r>
              <a:rPr lang="en-US" dirty="0" err="1"/>
              <a:t>NUnit</a:t>
            </a:r>
            <a:r>
              <a:rPr lang="en-US" dirty="0"/>
              <a:t> (based on </a:t>
            </a:r>
            <a:r>
              <a:rPr lang="en-US" dirty="0" err="1"/>
              <a:t>NUnit</a:t>
            </a:r>
            <a:r>
              <a:rPr lang="en-US" dirty="0"/>
              <a:t> 3.5), the open-source unit testing library for </a:t>
            </a:r>
            <a:r>
              <a:rPr lang="en-US" dirty="0" err="1"/>
              <a:t>.Net</a:t>
            </a:r>
            <a:r>
              <a:rPr lang="en-US" dirty="0"/>
              <a:t> languages, adapted to work with Unity. For more information about </a:t>
            </a:r>
            <a:r>
              <a:rPr lang="en-US" dirty="0" err="1"/>
              <a:t>NUnit</a:t>
            </a:r>
            <a:r>
              <a:rPr lang="en-US" dirty="0"/>
              <a:t>, see the official </a:t>
            </a:r>
            <a:r>
              <a:rPr lang="en-US" dirty="0" err="1"/>
              <a:t>NUnit</a:t>
            </a:r>
            <a:r>
              <a:rPr lang="en-US" dirty="0"/>
              <a:t> website and the </a:t>
            </a:r>
            <a:r>
              <a:rPr lang="en-US" dirty="0" err="1"/>
              <a:t>NUnit</a:t>
            </a:r>
            <a:r>
              <a:rPr lang="en-US" dirty="0"/>
              <a:t> documentation.</a:t>
            </a:r>
          </a:p>
          <a:p>
            <a:pPr marL="209550" indent="0">
              <a:buNone/>
            </a:pPr>
            <a:r>
              <a:rPr lang="en-US" dirty="0"/>
              <a:t>Using this documentation</a:t>
            </a:r>
          </a:p>
          <a:p>
            <a:pPr marL="209550" indent="0">
              <a:buNone/>
            </a:pPr>
            <a:r>
              <a:rPr lang="en-US" dirty="0"/>
              <a:t>The Manual outlines key features, concepts, and workflows for creating and running tests via the Test Runner window. The Scripting API contains descriptions and code examples for the public APIs. You can browse the Scripting API freely or review the features in the Manual to discover what API members you might be interested in.</a:t>
            </a:r>
          </a:p>
          <a:p>
            <a:pPr marL="209550" indent="0">
              <a:buNone/>
            </a:pPr>
            <a:r>
              <a:rPr lang="en-US" dirty="0"/>
              <a:t>Prerequisite knowledge</a:t>
            </a:r>
          </a:p>
          <a:p>
            <a:pPr marL="209550" indent="0">
              <a:buNone/>
            </a:pPr>
            <a:r>
              <a:rPr lang="en-US" dirty="0"/>
              <a:t>There are some concepts which this documentation assumes you're familiar with:</a:t>
            </a:r>
          </a:p>
          <a:p>
            <a:pPr marL="209550" indent="0">
              <a:buNone/>
            </a:pPr>
            <a:r>
              <a:rPr lang="en-US" dirty="0"/>
              <a:t>Assemblies</a:t>
            </a:r>
          </a:p>
          <a:p>
            <a:pPr marL="209550" indent="0">
              <a:buNone/>
            </a:pPr>
            <a:r>
              <a:rPr lang="en-US" dirty="0"/>
              <a:t>Assemblies are an important foundational concept in Unity Test Framework. We group tests into Test Assemblies and configure the assembly definitions to reference platforms the tests should run on and to selectively reference the project assemblies we want to test. You should be familiar with the documentation on Assembly Definitions in Unity and how to configure them via the Inspector or, if you prefer, by editing assembly definition (.</a:t>
            </a:r>
            <a:r>
              <a:rPr lang="en-US" dirty="0" err="1"/>
              <a:t>asmdef</a:t>
            </a:r>
            <a:r>
              <a:rPr lang="en-US" dirty="0"/>
              <a:t>) JSON files directly.</a:t>
            </a:r>
          </a:p>
          <a:p>
            <a:endParaRPr lang="en-CA" dirty="0"/>
          </a:p>
        </p:txBody>
      </p:sp>
      <p:sp>
        <p:nvSpPr>
          <p:cNvPr id="7" name="Text Placeholder 6">
            <a:extLst>
              <a:ext uri="{FF2B5EF4-FFF2-40B4-BE49-F238E27FC236}">
                <a16:creationId xmlns:a16="http://schemas.microsoft.com/office/drawing/2014/main" id="{5D0358D3-22A9-EBB8-C4BB-933D9763576E}"/>
              </a:ext>
            </a:extLst>
          </p:cNvPr>
          <p:cNvSpPr>
            <a:spLocks noGrp="1"/>
          </p:cNvSpPr>
          <p:nvPr>
            <p:ph type="body" idx="2"/>
          </p:nvPr>
        </p:nvSpPr>
        <p:spPr>
          <a:xfrm>
            <a:off x="5911327" y="1507068"/>
            <a:ext cx="5628115" cy="4669896"/>
          </a:xfrm>
        </p:spPr>
        <p:txBody>
          <a:bodyPr>
            <a:normAutofit fontScale="92500" lnSpcReduction="20000"/>
          </a:bodyPr>
          <a:lstStyle/>
          <a:p>
            <a:r>
              <a:rPr lang="en-US" dirty="0" err="1"/>
              <a:t>NUnit</a:t>
            </a:r>
            <a:endParaRPr lang="en-US" dirty="0"/>
          </a:p>
          <a:p>
            <a:r>
              <a:rPr lang="en-US" dirty="0"/>
              <a:t>UTF includes a custom version of </a:t>
            </a:r>
            <a:r>
              <a:rPr lang="en-US" dirty="0" err="1"/>
              <a:t>NUnit</a:t>
            </a:r>
            <a:r>
              <a:rPr lang="en-US" dirty="0"/>
              <a:t> adapted to work with Unity. It's important to note that a lot of the APIs you use when writing UTF tests are </a:t>
            </a:r>
            <a:r>
              <a:rPr lang="en-US" dirty="0" err="1"/>
              <a:t>NUnit</a:t>
            </a:r>
            <a:r>
              <a:rPr lang="en-US" dirty="0"/>
              <a:t> APIs. Some of your tests may not need to use any of the Unity-specific APIs at all. Before you try using UTF you should familiarize yourself with </a:t>
            </a:r>
            <a:r>
              <a:rPr lang="en-US" dirty="0" err="1"/>
              <a:t>NUnit</a:t>
            </a:r>
            <a:r>
              <a:rPr lang="en-US" dirty="0"/>
              <a:t> and you should use the UTF and </a:t>
            </a:r>
            <a:r>
              <a:rPr lang="en-US" dirty="0" err="1"/>
              <a:t>NUnit</a:t>
            </a:r>
            <a:r>
              <a:rPr lang="en-US" dirty="0"/>
              <a:t> documentation side by side.</a:t>
            </a:r>
          </a:p>
          <a:p>
            <a:r>
              <a:rPr lang="en-US" dirty="0"/>
              <a:t>TDD and unit testing</a:t>
            </a:r>
          </a:p>
          <a:p>
            <a:r>
              <a:rPr lang="en-US" dirty="0"/>
              <a:t>This documentation is not intended as a general introduction to test driven development (TDD) or unit testing. Although UTF is intended for use by our users as well as our developers, we assume some familiarity with unit testing conventions in C# or a similar language such as:</a:t>
            </a:r>
          </a:p>
          <a:p>
            <a:r>
              <a:rPr lang="en-US" dirty="0"/>
              <a:t>The Arrange, Act, Assert (AAA) pattern whereby we set up tests, perform an action, and expect a result.</a:t>
            </a:r>
          </a:p>
          <a:p>
            <a:r>
              <a:rPr lang="en-US" dirty="0"/>
              <a:t>Using attributes to annotate methods and designate them to run at different phases of the test execution.</a:t>
            </a:r>
          </a:p>
          <a:p>
            <a:r>
              <a:rPr lang="en-US" dirty="0"/>
              <a:t>Implementing interfaces and callbacks.</a:t>
            </a:r>
          </a:p>
          <a:p>
            <a:r>
              <a:rPr lang="en-US" dirty="0"/>
              <a:t>See the Microsoft documentation for an introduction to unit test fundamentals in Visual Studio, much of which is similar to the way we create, write, and run UTF tests in Unity.</a:t>
            </a:r>
          </a:p>
          <a:p>
            <a:r>
              <a:rPr lang="en-US" dirty="0"/>
              <a:t>Installing Unity Test Framework</a:t>
            </a:r>
          </a:p>
          <a:p>
            <a:r>
              <a:rPr lang="en-US" dirty="0"/>
              <a:t>To install this package, follow the instructions in the Package Manager documentation.</a:t>
            </a:r>
          </a:p>
          <a:p>
            <a:r>
              <a:rPr lang="en-US" dirty="0"/>
              <a:t>Note: Search for the Test Framework package. In Unity 2019.2 and higher, you may need to enable the package before use.</a:t>
            </a:r>
          </a:p>
          <a:p>
            <a:endParaRPr lang="en-CA" dirty="0"/>
          </a:p>
        </p:txBody>
      </p:sp>
      <p:sp>
        <p:nvSpPr>
          <p:cNvPr id="4" name="Title 3">
            <a:extLst>
              <a:ext uri="{FF2B5EF4-FFF2-40B4-BE49-F238E27FC236}">
                <a16:creationId xmlns:a16="http://schemas.microsoft.com/office/drawing/2014/main" id="{9CAA1AEB-66EF-E724-8550-BAA4F519F8A2}"/>
              </a:ext>
            </a:extLst>
          </p:cNvPr>
          <p:cNvSpPr>
            <a:spLocks noGrp="1"/>
          </p:cNvSpPr>
          <p:nvPr>
            <p:ph type="title"/>
          </p:nvPr>
        </p:nvSpPr>
        <p:spPr/>
        <p:txBody>
          <a:bodyPr/>
          <a:lstStyle/>
          <a:p>
            <a:r>
              <a:rPr lang="en-US" dirty="0"/>
              <a:t>Testing</a:t>
            </a:r>
            <a:endParaRPr lang="en-CA" dirty="0"/>
          </a:p>
        </p:txBody>
      </p:sp>
    </p:spTree>
    <p:extLst>
      <p:ext uri="{BB962C8B-B14F-4D97-AF65-F5344CB8AC3E}">
        <p14:creationId xmlns:p14="http://schemas.microsoft.com/office/powerpoint/2010/main" val="1745258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2E73BA-F62F-E686-6CC5-2C4B3A00B909}"/>
              </a:ext>
            </a:extLst>
          </p:cNvPr>
          <p:cNvSpPr>
            <a:spLocks noGrp="1"/>
          </p:cNvSpPr>
          <p:nvPr>
            <p:ph type="body" idx="1"/>
          </p:nvPr>
        </p:nvSpPr>
        <p:spPr>
          <a:xfrm>
            <a:off x="1090862" y="1507068"/>
            <a:ext cx="2249387" cy="4669896"/>
          </a:xfrm>
        </p:spPr>
        <p:txBody>
          <a:bodyPr/>
          <a:lstStyle/>
          <a:p>
            <a:r>
              <a:rPr lang="en-US" dirty="0"/>
              <a:t>When you create a build of your application, you create a Player. </a:t>
            </a:r>
          </a:p>
          <a:p>
            <a:r>
              <a:rPr lang="en-US" dirty="0"/>
              <a:t>A Player is the platform-specific runtime application that Unity builds from your project. </a:t>
            </a:r>
          </a:p>
          <a:p>
            <a:r>
              <a:rPr lang="en-US" dirty="0"/>
              <a:t>You can control how Unity creates a build through Unity’s build and player settings.</a:t>
            </a:r>
            <a:endParaRPr lang="en-CA" dirty="0"/>
          </a:p>
        </p:txBody>
      </p:sp>
      <p:sp>
        <p:nvSpPr>
          <p:cNvPr id="3" name="Text Placeholder 2">
            <a:extLst>
              <a:ext uri="{FF2B5EF4-FFF2-40B4-BE49-F238E27FC236}">
                <a16:creationId xmlns:a16="http://schemas.microsoft.com/office/drawing/2014/main" id="{E21958CD-DB43-2BF9-4505-5570C869C37F}"/>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14489A4E-A266-3F47-2598-34A90F1D4C87}"/>
              </a:ext>
            </a:extLst>
          </p:cNvPr>
          <p:cNvSpPr>
            <a:spLocks noGrp="1"/>
          </p:cNvSpPr>
          <p:nvPr>
            <p:ph type="title"/>
          </p:nvPr>
        </p:nvSpPr>
        <p:spPr/>
        <p:txBody>
          <a:bodyPr/>
          <a:lstStyle/>
          <a:p>
            <a:r>
              <a:rPr lang="en-CA" dirty="0"/>
              <a:t>Building and publishing</a:t>
            </a:r>
          </a:p>
        </p:txBody>
      </p:sp>
      <p:graphicFrame>
        <p:nvGraphicFramePr>
          <p:cNvPr id="5" name="Table 4">
            <a:extLst>
              <a:ext uri="{FF2B5EF4-FFF2-40B4-BE49-F238E27FC236}">
                <a16:creationId xmlns:a16="http://schemas.microsoft.com/office/drawing/2014/main" id="{E138C57A-A105-0F7C-5509-CFD5BB2084AC}"/>
              </a:ext>
            </a:extLst>
          </p:cNvPr>
          <p:cNvGraphicFramePr>
            <a:graphicFrameLocks noGrp="1"/>
          </p:cNvGraphicFramePr>
          <p:nvPr>
            <p:extLst>
              <p:ext uri="{D42A27DB-BD31-4B8C-83A1-F6EECF244321}">
                <p14:modId xmlns:p14="http://schemas.microsoft.com/office/powerpoint/2010/main" val="3735628961"/>
              </p:ext>
            </p:extLst>
          </p:nvPr>
        </p:nvGraphicFramePr>
        <p:xfrm>
          <a:off x="3431689" y="1507068"/>
          <a:ext cx="8107754" cy="4655349"/>
        </p:xfrm>
        <a:graphic>
          <a:graphicData uri="http://schemas.openxmlformats.org/drawingml/2006/table">
            <a:tbl>
              <a:tblPr>
                <a:tableStyleId>{5C22544A-7EE6-4342-B048-85BDC9FD1C3A}</a:tableStyleId>
              </a:tblPr>
              <a:tblGrid>
                <a:gridCol w="4053877">
                  <a:extLst>
                    <a:ext uri="{9D8B030D-6E8A-4147-A177-3AD203B41FA5}">
                      <a16:colId xmlns:a16="http://schemas.microsoft.com/office/drawing/2014/main" val="4242783512"/>
                    </a:ext>
                  </a:extLst>
                </a:gridCol>
                <a:gridCol w="4053877">
                  <a:extLst>
                    <a:ext uri="{9D8B030D-6E8A-4147-A177-3AD203B41FA5}">
                      <a16:colId xmlns:a16="http://schemas.microsoft.com/office/drawing/2014/main" val="1138706515"/>
                    </a:ext>
                  </a:extLst>
                </a:gridCol>
              </a:tblGrid>
              <a:tr h="173819">
                <a:tc>
                  <a:txBody>
                    <a:bodyPr/>
                    <a:lstStyle/>
                    <a:p>
                      <a:pPr marL="0" marR="0" algn="l">
                        <a:spcAft>
                          <a:spcPts val="1500"/>
                        </a:spcAft>
                        <a:buNone/>
                      </a:pPr>
                      <a:r>
                        <a:rPr lang="en-CA" sz="1200">
                          <a:effectLst/>
                        </a:rPr>
                        <a:t>Topic</a:t>
                      </a:r>
                      <a:endParaRPr lang="en-CA" sz="1200" b="0" i="0">
                        <a:solidFill>
                          <a:srgbClr val="455463"/>
                        </a:solidFill>
                        <a:effectLst/>
                        <a:latin typeface="Roboto" panose="02000000000000000000" pitchFamily="2" charset="0"/>
                      </a:endParaRPr>
                    </a:p>
                  </a:txBody>
                  <a:tcPr marL="47483" marR="47483" marT="23742" marB="23742"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7483" marR="47483" marT="23742" marB="23742" anchor="ctr"/>
                </a:tc>
                <a:extLst>
                  <a:ext uri="{0D108BD9-81ED-4DB2-BD59-A6C34878D82A}">
                    <a16:rowId xmlns:a16="http://schemas.microsoft.com/office/drawing/2014/main" val="2484167748"/>
                  </a:ext>
                </a:extLst>
              </a:tr>
              <a:tr h="449799">
                <a:tc>
                  <a:txBody>
                    <a:bodyPr/>
                    <a:lstStyle/>
                    <a:p>
                      <a:pPr marL="0" marR="0" algn="l" fontAlgn="t">
                        <a:spcAft>
                          <a:spcPts val="1500"/>
                        </a:spcAft>
                        <a:buNone/>
                      </a:pPr>
                      <a:r>
                        <a:rPr lang="en-CA" sz="1200" u="sng">
                          <a:effectLst/>
                          <a:hlinkClick r:id="rId2"/>
                        </a:rPr>
                        <a:t>Introduction to building</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Understand the fundamentals of Unity’s build process, including build modes, incremental building, and platform compatibility.</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3286492488"/>
                  </a:ext>
                </a:extLst>
              </a:tr>
              <a:tr h="311809">
                <a:tc>
                  <a:txBody>
                    <a:bodyPr/>
                    <a:lstStyle/>
                    <a:p>
                      <a:pPr marL="0" marR="0" algn="l" fontAlgn="t">
                        <a:spcAft>
                          <a:spcPts val="1500"/>
                        </a:spcAft>
                        <a:buNone/>
                      </a:pPr>
                      <a:r>
                        <a:rPr lang="en-CA" sz="1200" u="sng">
                          <a:effectLst/>
                          <a:hlinkClick r:id="rId3"/>
                        </a:rPr>
                        <a:t>Content output of a build</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Information about the files that Unity creates when you make a build of your project.</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1622872286"/>
                  </a:ext>
                </a:extLst>
              </a:tr>
              <a:tr h="449799">
                <a:tc>
                  <a:txBody>
                    <a:bodyPr/>
                    <a:lstStyle/>
                    <a:p>
                      <a:pPr marL="0" marR="0" algn="l" fontAlgn="t">
                        <a:spcAft>
                          <a:spcPts val="1500"/>
                        </a:spcAft>
                        <a:buNone/>
                      </a:pPr>
                      <a:r>
                        <a:rPr lang="en-CA" sz="1200" u="sng">
                          <a:effectLst/>
                          <a:hlinkClick r:id="rId4"/>
                        </a:rPr>
                        <a:t>Create a build from the Editor</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Use build profiles to build your application for different platforms with unique build configurations.</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2173370383"/>
                  </a:ext>
                </a:extLst>
              </a:tr>
              <a:tr h="311809">
                <a:tc>
                  <a:txBody>
                    <a:bodyPr/>
                    <a:lstStyle/>
                    <a:p>
                      <a:pPr marL="0" marR="0" algn="l" fontAlgn="t">
                        <a:spcAft>
                          <a:spcPts val="1500"/>
                        </a:spcAft>
                        <a:buNone/>
                      </a:pPr>
                      <a:r>
                        <a:rPr lang="en-CA" sz="1200" u="sng" dirty="0">
                          <a:effectLst/>
                          <a:hlinkClick r:id="rId5"/>
                        </a:rPr>
                        <a:t>Create a clean build</a:t>
                      </a:r>
                      <a:endParaRPr lang="en-CA" sz="1200" b="0" i="0" dirty="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Rebuild all content from scratch without using cached results to resolve build cache issues.</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1897822426"/>
                  </a:ext>
                </a:extLst>
              </a:tr>
              <a:tr h="449799">
                <a:tc>
                  <a:txBody>
                    <a:bodyPr/>
                    <a:lstStyle/>
                    <a:p>
                      <a:pPr marL="0" marR="0" algn="l" fontAlgn="t">
                        <a:spcAft>
                          <a:spcPts val="1500"/>
                        </a:spcAft>
                        <a:buNone/>
                      </a:pPr>
                      <a:r>
                        <a:rPr lang="en-CA" sz="1200" u="sng">
                          <a:effectLst/>
                          <a:hlinkClick r:id="rId6"/>
                        </a:rPr>
                        <a:t>Create a scripts-only build</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Build only the scripting assemblies without processing scenes and assets for faster iteration during development.</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66758880"/>
                  </a:ext>
                </a:extLst>
              </a:tr>
              <a:tr h="449799">
                <a:tc>
                  <a:txBody>
                    <a:bodyPr/>
                    <a:lstStyle/>
                    <a:p>
                      <a:pPr marL="0" marR="0" algn="l" fontAlgn="t">
                        <a:spcAft>
                          <a:spcPts val="1500"/>
                        </a:spcAft>
                        <a:buNone/>
                      </a:pPr>
                      <a:r>
                        <a:rPr lang="en-CA" sz="1200" u="sng">
                          <a:effectLst/>
                          <a:hlinkClick r:id="rId7"/>
                        </a:rPr>
                        <a:t>Customize the build pipeline</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Create custom scripts and use callbacks to customize the build pipeline and run it from the command line.</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3676174068"/>
                  </a:ext>
                </a:extLst>
              </a:tr>
              <a:tr h="311809">
                <a:tc>
                  <a:txBody>
                    <a:bodyPr/>
                    <a:lstStyle/>
                    <a:p>
                      <a:pPr marL="0" marR="0" algn="l" fontAlgn="t">
                        <a:spcAft>
                          <a:spcPts val="1500"/>
                        </a:spcAft>
                        <a:buNone/>
                      </a:pPr>
                      <a:r>
                        <a:rPr lang="en-CA" sz="1200" u="sng">
                          <a:effectLst/>
                          <a:hlinkClick r:id="rId8"/>
                        </a:rPr>
                        <a:t>Include additional files in a build</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Use the StreamingAssets folder to include additional files in a build.</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742341506"/>
                  </a:ext>
                </a:extLst>
              </a:tr>
              <a:tr h="173819">
                <a:tc>
                  <a:txBody>
                    <a:bodyPr/>
                    <a:lstStyle/>
                    <a:p>
                      <a:pPr marL="0" marR="0" algn="l" fontAlgn="t">
                        <a:spcAft>
                          <a:spcPts val="1500"/>
                        </a:spcAft>
                        <a:buNone/>
                      </a:pPr>
                      <a:r>
                        <a:rPr lang="en-CA" sz="1200" u="sng">
                          <a:effectLst/>
                          <a:hlinkClick r:id="rId9"/>
                        </a:rPr>
                        <a:t>Reducing the file size of a build</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Tips to reduce the size of the build.</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3227204695"/>
                  </a:ext>
                </a:extLst>
              </a:tr>
              <a:tr h="311809">
                <a:tc>
                  <a:txBody>
                    <a:bodyPr/>
                    <a:lstStyle/>
                    <a:p>
                      <a:pPr marL="0" marR="0" algn="l" fontAlgn="t">
                        <a:spcAft>
                          <a:spcPts val="1500"/>
                        </a:spcAft>
                        <a:buNone/>
                      </a:pPr>
                      <a:r>
                        <a:rPr lang="en-CA" sz="1200" u="sng">
                          <a:effectLst/>
                          <a:hlinkClick r:id="rId10"/>
                        </a:rPr>
                        <a:t>Deterministic builds</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a:effectLst/>
                        </a:rPr>
                        <a:t>Create consistent, reproducible builds by controlling factors that can cause build variations.</a:t>
                      </a:r>
                      <a:endParaRPr lang="en-CA" sz="1200" b="0" i="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1271810185"/>
                  </a:ext>
                </a:extLst>
              </a:tr>
              <a:tr h="449799">
                <a:tc>
                  <a:txBody>
                    <a:bodyPr/>
                    <a:lstStyle/>
                    <a:p>
                      <a:pPr marL="0" marR="0" algn="l" fontAlgn="t">
                        <a:spcAft>
                          <a:spcPts val="1500"/>
                        </a:spcAft>
                        <a:buNone/>
                      </a:pPr>
                      <a:r>
                        <a:rPr lang="en-CA" sz="1200" u="sng">
                          <a:effectLst/>
                          <a:hlinkClick r:id="rId11"/>
                        </a:rPr>
                        <a:t>Analyze builds</a:t>
                      </a:r>
                      <a:endParaRPr lang="en-CA" sz="1200" b="0" i="0">
                        <a:solidFill>
                          <a:srgbClr val="455463"/>
                        </a:solidFill>
                        <a:effectLst/>
                        <a:latin typeface="Roboto" panose="02000000000000000000" pitchFamily="2" charset="0"/>
                      </a:endParaRPr>
                    </a:p>
                  </a:txBody>
                  <a:tcPr marL="47483" marR="47483" marT="23742" marB="23742"/>
                </a:tc>
                <a:tc>
                  <a:txBody>
                    <a:bodyPr/>
                    <a:lstStyle/>
                    <a:p>
                      <a:pPr marL="0" marR="0" algn="l" fontAlgn="t">
                        <a:spcAft>
                          <a:spcPts val="1500"/>
                        </a:spcAft>
                        <a:buNone/>
                      </a:pPr>
                      <a:r>
                        <a:rPr lang="en-CA" sz="1200" dirty="0">
                          <a:effectLst/>
                        </a:rPr>
                        <a:t>Understand the build report and supporting files that Unity creates for each build to analyze and understand what your builds produce.</a:t>
                      </a:r>
                      <a:endParaRPr lang="en-CA" sz="1200" b="0" i="0" dirty="0">
                        <a:solidFill>
                          <a:srgbClr val="455463"/>
                        </a:solidFill>
                        <a:effectLst/>
                        <a:latin typeface="Roboto" panose="02000000000000000000" pitchFamily="2" charset="0"/>
                      </a:endParaRPr>
                    </a:p>
                  </a:txBody>
                  <a:tcPr marL="47483" marR="47483" marT="23742" marB="23742"/>
                </a:tc>
                <a:extLst>
                  <a:ext uri="{0D108BD9-81ED-4DB2-BD59-A6C34878D82A}">
                    <a16:rowId xmlns:a16="http://schemas.microsoft.com/office/drawing/2014/main" val="1389721798"/>
                  </a:ext>
                </a:extLst>
              </a:tr>
            </a:tbl>
          </a:graphicData>
        </a:graphic>
      </p:graphicFrame>
    </p:spTree>
    <p:extLst>
      <p:ext uri="{BB962C8B-B14F-4D97-AF65-F5344CB8AC3E}">
        <p14:creationId xmlns:p14="http://schemas.microsoft.com/office/powerpoint/2010/main" val="1227656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F709E8-666E-FBE6-05A0-C4E5B7124E79}"/>
              </a:ext>
            </a:extLst>
          </p:cNvPr>
          <p:cNvSpPr>
            <a:spLocks noGrp="1"/>
          </p:cNvSpPr>
          <p:nvPr>
            <p:ph type="body" idx="1"/>
          </p:nvPr>
        </p:nvSpPr>
        <p:spPr/>
        <p:txBody>
          <a:bodyPr/>
          <a:lstStyle/>
          <a:p>
            <a:endParaRPr lang="en-CA" dirty="0"/>
          </a:p>
        </p:txBody>
      </p:sp>
      <p:sp>
        <p:nvSpPr>
          <p:cNvPr id="3" name="Text Placeholder 2">
            <a:extLst>
              <a:ext uri="{FF2B5EF4-FFF2-40B4-BE49-F238E27FC236}">
                <a16:creationId xmlns:a16="http://schemas.microsoft.com/office/drawing/2014/main" id="{7F7B44C4-1D39-748A-957C-7B377B73D076}"/>
              </a:ext>
            </a:extLst>
          </p:cNvPr>
          <p:cNvSpPr>
            <a:spLocks noGrp="1"/>
          </p:cNvSpPr>
          <p:nvPr>
            <p:ph type="body" idx="2"/>
          </p:nvPr>
        </p:nvSpPr>
        <p:spPr>
          <a:xfrm>
            <a:off x="5785616" y="1507068"/>
            <a:ext cx="5753826" cy="4669896"/>
          </a:xfrm>
        </p:spPr>
        <p:txBody>
          <a:bodyPr/>
          <a:lstStyle/>
          <a:p>
            <a:r>
              <a:rPr lang="en-US" dirty="0"/>
              <a:t> </a:t>
            </a:r>
            <a:endParaRPr lang="en-CA" dirty="0"/>
          </a:p>
        </p:txBody>
      </p:sp>
      <p:sp>
        <p:nvSpPr>
          <p:cNvPr id="4" name="Title 3">
            <a:extLst>
              <a:ext uri="{FF2B5EF4-FFF2-40B4-BE49-F238E27FC236}">
                <a16:creationId xmlns:a16="http://schemas.microsoft.com/office/drawing/2014/main" id="{84504721-CFB8-FA84-1DE7-E39A1B038F5C}"/>
              </a:ext>
            </a:extLst>
          </p:cNvPr>
          <p:cNvSpPr>
            <a:spLocks noGrp="1"/>
          </p:cNvSpPr>
          <p:nvPr>
            <p:ph type="title"/>
          </p:nvPr>
        </p:nvSpPr>
        <p:spPr/>
        <p:txBody>
          <a:bodyPr/>
          <a:lstStyle/>
          <a:p>
            <a:r>
              <a:rPr lang="en-CA" dirty="0"/>
              <a:t>2D game perspectives reference</a:t>
            </a:r>
          </a:p>
        </p:txBody>
      </p:sp>
      <p:graphicFrame>
        <p:nvGraphicFramePr>
          <p:cNvPr id="5" name="Table 4">
            <a:extLst>
              <a:ext uri="{FF2B5EF4-FFF2-40B4-BE49-F238E27FC236}">
                <a16:creationId xmlns:a16="http://schemas.microsoft.com/office/drawing/2014/main" id="{6BAB051C-411E-8A4E-8E90-86B978C43E5D}"/>
              </a:ext>
            </a:extLst>
          </p:cNvPr>
          <p:cNvGraphicFramePr>
            <a:graphicFrameLocks noGrp="1"/>
          </p:cNvGraphicFramePr>
          <p:nvPr>
            <p:extLst>
              <p:ext uri="{D42A27DB-BD31-4B8C-83A1-F6EECF244321}">
                <p14:modId xmlns:p14="http://schemas.microsoft.com/office/powerpoint/2010/main" val="887029419"/>
              </p:ext>
            </p:extLst>
          </p:nvPr>
        </p:nvGraphicFramePr>
        <p:xfrm>
          <a:off x="604434" y="1421025"/>
          <a:ext cx="5181182" cy="4579624"/>
        </p:xfrm>
        <a:graphic>
          <a:graphicData uri="http://schemas.openxmlformats.org/drawingml/2006/table">
            <a:tbl>
              <a:tblPr>
                <a:tableStyleId>{5C22544A-7EE6-4342-B048-85BDC9FD1C3A}</a:tableStyleId>
              </a:tblPr>
              <a:tblGrid>
                <a:gridCol w="2590591">
                  <a:extLst>
                    <a:ext uri="{9D8B030D-6E8A-4147-A177-3AD203B41FA5}">
                      <a16:colId xmlns:a16="http://schemas.microsoft.com/office/drawing/2014/main" val="2082127294"/>
                    </a:ext>
                  </a:extLst>
                </a:gridCol>
                <a:gridCol w="2590591">
                  <a:extLst>
                    <a:ext uri="{9D8B030D-6E8A-4147-A177-3AD203B41FA5}">
                      <a16:colId xmlns:a16="http://schemas.microsoft.com/office/drawing/2014/main" val="853868645"/>
                    </a:ext>
                  </a:extLst>
                </a:gridCol>
              </a:tblGrid>
              <a:tr h="0">
                <a:tc>
                  <a:txBody>
                    <a:bodyPr/>
                    <a:lstStyle/>
                    <a:p>
                      <a:pPr marL="0" marR="0" algn="l">
                        <a:spcAft>
                          <a:spcPts val="1500"/>
                        </a:spcAft>
                        <a:buNone/>
                      </a:pPr>
                      <a:r>
                        <a:rPr lang="en-CA" sz="1200">
                          <a:effectLst/>
                        </a:rPr>
                        <a:t>Game perspective</a:t>
                      </a:r>
                      <a:endParaRPr lang="en-CA" sz="1200" b="0" i="0">
                        <a:solidFill>
                          <a:srgbClr val="455463"/>
                        </a:solidFill>
                        <a:effectLst/>
                        <a:latin typeface="Roboto" panose="02000000000000000000" pitchFamily="2" charset="0"/>
                      </a:endParaRPr>
                    </a:p>
                  </a:txBody>
                  <a:tcPr marL="47625" marR="47625" marT="23813" marB="23813"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7625" marR="47625" marT="23813" marB="23813" anchor="ctr"/>
                </a:tc>
                <a:extLst>
                  <a:ext uri="{0D108BD9-81ED-4DB2-BD59-A6C34878D82A}">
                    <a16:rowId xmlns:a16="http://schemas.microsoft.com/office/drawing/2014/main" val="4127947668"/>
                  </a:ext>
                </a:extLst>
              </a:tr>
              <a:tr h="0">
                <a:tc>
                  <a:txBody>
                    <a:bodyPr/>
                    <a:lstStyle/>
                    <a:p>
                      <a:pPr marL="0" marR="0" algn="l" fontAlgn="t">
                        <a:spcAft>
                          <a:spcPts val="1500"/>
                        </a:spcAft>
                        <a:buNone/>
                      </a:pPr>
                      <a:r>
                        <a:rPr lang="en-CA" sz="1200">
                          <a:effectLst/>
                        </a:rPr>
                        <a:t>Top-down</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A 2D game that provides an overhead or bird’s-eye view of the action.</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752367504"/>
                  </a:ext>
                </a:extLst>
              </a:tr>
              <a:tr h="0">
                <a:tc>
                  <a:txBody>
                    <a:bodyPr/>
                    <a:lstStyle/>
                    <a:p>
                      <a:pPr marL="0" marR="0" algn="l" fontAlgn="t">
                        <a:spcAft>
                          <a:spcPts val="1500"/>
                        </a:spcAft>
                        <a:buNone/>
                      </a:pPr>
                      <a:r>
                        <a:rPr lang="en-CA" sz="1200">
                          <a:effectLst/>
                        </a:rPr>
                        <a:t>Side-on</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A 2D game where the character moves left or right (or up and down) and the screen scrolls with them. The perspective is from the side.</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761272574"/>
                  </a:ext>
                </a:extLst>
              </a:tr>
              <a:tr h="0">
                <a:tc>
                  <a:txBody>
                    <a:bodyPr/>
                    <a:lstStyle/>
                    <a:p>
                      <a:pPr marL="0" marR="0" algn="l" fontAlgn="t">
                        <a:spcAft>
                          <a:spcPts val="1500"/>
                        </a:spcAft>
                        <a:buNone/>
                      </a:pPr>
                      <a:r>
                        <a:rPr lang="en-CA" sz="1200">
                          <a:effectLst/>
                        </a:rPr>
                        <a:t>Isometric and 2.5D (three-quarter view)</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dirty="0">
                          <a:effectLst/>
                        </a:rPr>
                        <a:t>2D games with isometric view simulate 3D geometry and a depth axis, but use an orthographic Camera instead of a perspective Camera. This gives the player a bird’s-eye view of the action. For information on orthographic and perspective Cameras, see </a:t>
                      </a:r>
                      <a:r>
                        <a:rPr lang="en-CA" sz="1200" u="sng" dirty="0">
                          <a:effectLst/>
                          <a:hlinkClick r:id="rId2"/>
                        </a:rPr>
                        <a:t>Cameras</a:t>
                      </a:r>
                      <a:br>
                        <a:rPr lang="en-CA" sz="1200" dirty="0">
                          <a:effectLst/>
                        </a:rPr>
                      </a:br>
                      <a:r>
                        <a:rPr lang="en-CA" sz="1200" dirty="0">
                          <a:effectLst/>
                        </a:rPr>
                        <a:t>.</a:t>
                      </a:r>
                      <a:br>
                        <a:rPr lang="en-CA" sz="1200" dirty="0">
                          <a:effectLst/>
                        </a:rPr>
                      </a:br>
                      <a:r>
                        <a:rPr lang="en-CA" sz="1200" dirty="0">
                          <a:effectLst/>
                        </a:rPr>
                        <a:t>2.5D (also known as three-quarter view) games are 2D games that use 3D geometry for the environment and characters, but restrict the gameplay to two dimensions. The 3D effect has a visual rather than functional purpose.</a:t>
                      </a:r>
                      <a:endParaRPr lang="en-CA" sz="1200" b="0" i="0" dirty="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872797060"/>
                  </a:ext>
                </a:extLst>
              </a:tr>
            </a:tbl>
          </a:graphicData>
        </a:graphic>
      </p:graphicFrame>
      <p:pic>
        <p:nvPicPr>
          <p:cNvPr id="6" name="Picture 5" descr="A top-down 2D game demo made with Unity">
            <a:extLst>
              <a:ext uri="{FF2B5EF4-FFF2-40B4-BE49-F238E27FC236}">
                <a16:creationId xmlns:a16="http://schemas.microsoft.com/office/drawing/2014/main" id="{5B08EFFA-8B91-864F-8DC2-670A12CE13E2}"/>
              </a:ext>
            </a:extLst>
          </p:cNvPr>
          <p:cNvPicPr>
            <a:picLocks noChangeAspect="1"/>
          </p:cNvPicPr>
          <p:nvPr/>
        </p:nvPicPr>
        <p:blipFill>
          <a:blip r:embed="rId3"/>
          <a:stretch>
            <a:fillRect/>
          </a:stretch>
        </p:blipFill>
        <p:spPr>
          <a:xfrm>
            <a:off x="6096001" y="1421024"/>
            <a:ext cx="2284206" cy="1911201"/>
          </a:xfrm>
          <a:prstGeom prst="rect">
            <a:avLst/>
          </a:prstGeom>
        </p:spPr>
      </p:pic>
      <p:pic>
        <p:nvPicPr>
          <p:cNvPr id="7" name="Picture 6" descr="A 2D side-on game demo made with Unity">
            <a:extLst>
              <a:ext uri="{FF2B5EF4-FFF2-40B4-BE49-F238E27FC236}">
                <a16:creationId xmlns:a16="http://schemas.microsoft.com/office/drawing/2014/main" id="{2BBA2523-899B-F365-7439-71B93B68F560}"/>
              </a:ext>
            </a:extLst>
          </p:cNvPr>
          <p:cNvPicPr>
            <a:picLocks noChangeAspect="1"/>
          </p:cNvPicPr>
          <p:nvPr/>
        </p:nvPicPr>
        <p:blipFill>
          <a:blip r:embed="rId4"/>
          <a:stretch>
            <a:fillRect/>
          </a:stretch>
        </p:blipFill>
        <p:spPr>
          <a:xfrm>
            <a:off x="6096000" y="3322834"/>
            <a:ext cx="2284206" cy="1351053"/>
          </a:xfrm>
          <a:prstGeom prst="rect">
            <a:avLst/>
          </a:prstGeom>
        </p:spPr>
      </p:pic>
      <p:pic>
        <p:nvPicPr>
          <p:cNvPr id="8" name="Picture 7" descr="An isometric 2D game demo made with Unity">
            <a:extLst>
              <a:ext uri="{FF2B5EF4-FFF2-40B4-BE49-F238E27FC236}">
                <a16:creationId xmlns:a16="http://schemas.microsoft.com/office/drawing/2014/main" id="{21D01666-D43B-817F-A893-6F99CA3AE6DF}"/>
              </a:ext>
            </a:extLst>
          </p:cNvPr>
          <p:cNvPicPr>
            <a:picLocks noChangeAspect="1"/>
          </p:cNvPicPr>
          <p:nvPr/>
        </p:nvPicPr>
        <p:blipFill>
          <a:blip r:embed="rId5"/>
          <a:stretch>
            <a:fillRect/>
          </a:stretch>
        </p:blipFill>
        <p:spPr>
          <a:xfrm>
            <a:off x="6107205" y="4673887"/>
            <a:ext cx="2273001" cy="1227420"/>
          </a:xfrm>
          <a:prstGeom prst="rect">
            <a:avLst/>
          </a:prstGeom>
        </p:spPr>
      </p:pic>
    </p:spTree>
    <p:extLst>
      <p:ext uri="{BB962C8B-B14F-4D97-AF65-F5344CB8AC3E}">
        <p14:creationId xmlns:p14="http://schemas.microsoft.com/office/powerpoint/2010/main" val="3987906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AAC74E-AC91-4748-1CE1-4191C4F1DD80}"/>
              </a:ext>
            </a:extLst>
          </p:cNvPr>
          <p:cNvSpPr>
            <a:spLocks noGrp="1"/>
          </p:cNvSpPr>
          <p:nvPr>
            <p:ph type="body" idx="1"/>
          </p:nvPr>
        </p:nvSpPr>
        <p:spPr/>
        <p:txBody>
          <a:bodyPr/>
          <a:lstStyle/>
          <a:p>
            <a:r>
              <a:rPr lang="en-US" dirty="0"/>
              <a:t> </a:t>
            </a:r>
            <a:endParaRPr lang="en-CA" dirty="0"/>
          </a:p>
        </p:txBody>
      </p:sp>
      <p:sp>
        <p:nvSpPr>
          <p:cNvPr id="4" name="Title 3">
            <a:extLst>
              <a:ext uri="{FF2B5EF4-FFF2-40B4-BE49-F238E27FC236}">
                <a16:creationId xmlns:a16="http://schemas.microsoft.com/office/drawing/2014/main" id="{F26A6035-03C0-044E-A771-5D2FF787D03C}"/>
              </a:ext>
            </a:extLst>
          </p:cNvPr>
          <p:cNvSpPr>
            <a:spLocks noGrp="1"/>
          </p:cNvSpPr>
          <p:nvPr>
            <p:ph type="title"/>
          </p:nvPr>
        </p:nvSpPr>
        <p:spPr/>
        <p:txBody>
          <a:bodyPr/>
          <a:lstStyle/>
          <a:p>
            <a:r>
              <a:rPr lang="en-CA" dirty="0"/>
              <a:t>2D game art style reference</a:t>
            </a:r>
          </a:p>
        </p:txBody>
      </p:sp>
      <p:sp>
        <p:nvSpPr>
          <p:cNvPr id="3" name="Text Placeholder 2">
            <a:extLst>
              <a:ext uri="{FF2B5EF4-FFF2-40B4-BE49-F238E27FC236}">
                <a16:creationId xmlns:a16="http://schemas.microsoft.com/office/drawing/2014/main" id="{CA3B244D-BCDC-796D-C20D-11E9904CC86A}"/>
              </a:ext>
            </a:extLst>
          </p:cNvPr>
          <p:cNvSpPr>
            <a:spLocks noGrp="1"/>
          </p:cNvSpPr>
          <p:nvPr>
            <p:ph type="body" idx="4294967295"/>
          </p:nvPr>
        </p:nvSpPr>
        <p:spPr>
          <a:xfrm>
            <a:off x="5048250" y="1506538"/>
            <a:ext cx="7143750" cy="4670425"/>
          </a:xfrm>
        </p:spPr>
        <p:txBody>
          <a:bodyPr/>
          <a:lstStyle/>
          <a:p>
            <a:r>
              <a:rPr lang="en-US" dirty="0"/>
              <a:t> </a:t>
            </a:r>
            <a:endParaRPr lang="en-CA" dirty="0"/>
          </a:p>
        </p:txBody>
      </p:sp>
      <p:graphicFrame>
        <p:nvGraphicFramePr>
          <p:cNvPr id="5" name="Table 4">
            <a:extLst>
              <a:ext uri="{FF2B5EF4-FFF2-40B4-BE49-F238E27FC236}">
                <a16:creationId xmlns:a16="http://schemas.microsoft.com/office/drawing/2014/main" id="{2C538D47-58B3-BF51-6579-DE2125E2B7F5}"/>
              </a:ext>
            </a:extLst>
          </p:cNvPr>
          <p:cNvGraphicFramePr>
            <a:graphicFrameLocks noGrp="1"/>
          </p:cNvGraphicFramePr>
          <p:nvPr>
            <p:extLst>
              <p:ext uri="{D42A27DB-BD31-4B8C-83A1-F6EECF244321}">
                <p14:modId xmlns:p14="http://schemas.microsoft.com/office/powerpoint/2010/main" val="821953152"/>
              </p:ext>
            </p:extLst>
          </p:nvPr>
        </p:nvGraphicFramePr>
        <p:xfrm>
          <a:off x="1027679" y="1507068"/>
          <a:ext cx="3255562" cy="4444370"/>
        </p:xfrm>
        <a:graphic>
          <a:graphicData uri="http://schemas.openxmlformats.org/drawingml/2006/table">
            <a:tbl>
              <a:tblPr>
                <a:tableStyleId>{5C22544A-7EE6-4342-B048-85BDC9FD1C3A}</a:tableStyleId>
              </a:tblPr>
              <a:tblGrid>
                <a:gridCol w="1627781">
                  <a:extLst>
                    <a:ext uri="{9D8B030D-6E8A-4147-A177-3AD203B41FA5}">
                      <a16:colId xmlns:a16="http://schemas.microsoft.com/office/drawing/2014/main" val="1946768314"/>
                    </a:ext>
                  </a:extLst>
                </a:gridCol>
                <a:gridCol w="1627781">
                  <a:extLst>
                    <a:ext uri="{9D8B030D-6E8A-4147-A177-3AD203B41FA5}">
                      <a16:colId xmlns:a16="http://schemas.microsoft.com/office/drawing/2014/main" val="1099623681"/>
                    </a:ext>
                  </a:extLst>
                </a:gridCol>
              </a:tblGrid>
              <a:tr h="0">
                <a:tc>
                  <a:txBody>
                    <a:bodyPr/>
                    <a:lstStyle/>
                    <a:p>
                      <a:pPr marL="0" marR="0" algn="l">
                        <a:spcAft>
                          <a:spcPts val="1500"/>
                        </a:spcAft>
                        <a:buNone/>
                      </a:pPr>
                      <a:r>
                        <a:rPr lang="en-CA" sz="1200">
                          <a:effectLst/>
                        </a:rPr>
                        <a:t>Art style / technique</a:t>
                      </a:r>
                      <a:endParaRPr lang="en-CA" sz="1200" b="0" i="0">
                        <a:solidFill>
                          <a:srgbClr val="455463"/>
                        </a:solidFill>
                        <a:effectLst/>
                        <a:latin typeface="Roboto" panose="02000000000000000000" pitchFamily="2" charset="0"/>
                      </a:endParaRPr>
                    </a:p>
                  </a:txBody>
                  <a:tcPr marL="47625" marR="47625" marT="23813" marB="23813" anchor="ctr"/>
                </a:tc>
                <a:tc>
                  <a:txBody>
                    <a:bodyPr/>
                    <a:lstStyle/>
                    <a:p>
                      <a:pPr marL="0" marR="0" algn="l">
                        <a:spcAft>
                          <a:spcPts val="1500"/>
                        </a:spcAft>
                        <a:buNone/>
                      </a:pPr>
                      <a:r>
                        <a:rPr lang="en-CA" sz="1200">
                          <a:effectLst/>
                        </a:rPr>
                        <a:t>Description</a:t>
                      </a:r>
                      <a:endParaRPr lang="en-CA" sz="1200" b="0" i="0">
                        <a:solidFill>
                          <a:srgbClr val="455463"/>
                        </a:solidFill>
                        <a:effectLst/>
                        <a:latin typeface="Roboto" panose="02000000000000000000" pitchFamily="2" charset="0"/>
                      </a:endParaRPr>
                    </a:p>
                  </a:txBody>
                  <a:tcPr marL="47625" marR="47625" marT="23813" marB="23813" anchor="ctr"/>
                </a:tc>
                <a:extLst>
                  <a:ext uri="{0D108BD9-81ED-4DB2-BD59-A6C34878D82A}">
                    <a16:rowId xmlns:a16="http://schemas.microsoft.com/office/drawing/2014/main" val="2054848822"/>
                  </a:ext>
                </a:extLst>
              </a:tr>
              <a:tr h="0">
                <a:tc>
                  <a:txBody>
                    <a:bodyPr/>
                    <a:lstStyle/>
                    <a:p>
                      <a:pPr marL="0" marR="0" algn="l" fontAlgn="t">
                        <a:spcAft>
                          <a:spcPts val="1500"/>
                        </a:spcAft>
                        <a:buNone/>
                      </a:pPr>
                      <a:r>
                        <a:rPr lang="en-CA" sz="1200">
                          <a:effectLst/>
                        </a:rPr>
                        <a:t>Minimalist</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Flat colors, clean lines and high readability, for example a mobile puzzle game.</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3574519470"/>
                  </a:ext>
                </a:extLst>
              </a:tr>
              <a:tr h="0">
                <a:tc>
                  <a:txBody>
                    <a:bodyPr/>
                    <a:lstStyle/>
                    <a:p>
                      <a:pPr marL="0" marR="0" algn="l" fontAlgn="t">
                        <a:spcAft>
                          <a:spcPts val="1500"/>
                        </a:spcAft>
                        <a:buNone/>
                      </a:pPr>
                      <a:r>
                        <a:rPr lang="en-CA" sz="1200">
                          <a:effectLst/>
                        </a:rPr>
                        <a:t>Pixel art</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Pixelated graphics, for example a retro gaming art style.</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4027928160"/>
                  </a:ext>
                </a:extLst>
              </a:tr>
              <a:tr h="0">
                <a:tc>
                  <a:txBody>
                    <a:bodyPr/>
                    <a:lstStyle/>
                    <a:p>
                      <a:pPr marL="0" marR="0" algn="l" fontAlgn="t">
                        <a:spcAft>
                          <a:spcPts val="1500"/>
                        </a:spcAft>
                        <a:buNone/>
                      </a:pPr>
                      <a:r>
                        <a:rPr lang="en-CA" sz="1200">
                          <a:effectLst/>
                        </a:rPr>
                        <a:t>Illustrative</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a:effectLst/>
                        </a:rPr>
                        <a:t>A cartoon, stylized or realistic art style.</a:t>
                      </a:r>
                      <a:endParaRPr lang="en-CA" sz="1200" b="0" i="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2901669618"/>
                  </a:ext>
                </a:extLst>
              </a:tr>
              <a:tr h="0">
                <a:tc>
                  <a:txBody>
                    <a:bodyPr/>
                    <a:lstStyle/>
                    <a:p>
                      <a:pPr marL="0" marR="0" algn="l" fontAlgn="t">
                        <a:spcAft>
                          <a:spcPts val="1500"/>
                        </a:spcAft>
                        <a:buNone/>
                      </a:pPr>
                      <a:r>
                        <a:rPr lang="en-CA" sz="1200">
                          <a:effectLst/>
                        </a:rPr>
                        <a:t>Pre-rendered 3D</a:t>
                      </a:r>
                      <a:endParaRPr lang="en-CA" sz="1200" b="0" i="0">
                        <a:solidFill>
                          <a:srgbClr val="455463"/>
                        </a:solidFill>
                        <a:effectLst/>
                        <a:latin typeface="Roboto" panose="02000000000000000000" pitchFamily="2" charset="0"/>
                      </a:endParaRPr>
                    </a:p>
                  </a:txBody>
                  <a:tcPr marL="47625" marR="47625" marT="23813" marB="23813"/>
                </a:tc>
                <a:tc>
                  <a:txBody>
                    <a:bodyPr/>
                    <a:lstStyle/>
                    <a:p>
                      <a:pPr marL="0" marR="0" algn="l" fontAlgn="t">
                        <a:spcAft>
                          <a:spcPts val="1500"/>
                        </a:spcAft>
                        <a:buNone/>
                      </a:pPr>
                      <a:r>
                        <a:rPr lang="en-CA" sz="1200" dirty="0">
                          <a:effectLst/>
                        </a:rPr>
                        <a:t>Use this technique to create 2D art with 3D tools. You create art that is rendered as Sprites or Sprite sequences. You can use this technique when you need multiple angles of an asset, for example for the 8- or 4-direction Sprite characters used in retro art.</a:t>
                      </a:r>
                      <a:endParaRPr lang="en-CA" sz="1200" b="0" i="0" dirty="0">
                        <a:solidFill>
                          <a:srgbClr val="455463"/>
                        </a:solidFill>
                        <a:effectLst/>
                        <a:latin typeface="Roboto" panose="02000000000000000000" pitchFamily="2" charset="0"/>
                      </a:endParaRPr>
                    </a:p>
                  </a:txBody>
                  <a:tcPr marL="47625" marR="47625" marT="23813" marB="23813"/>
                </a:tc>
                <a:extLst>
                  <a:ext uri="{0D108BD9-81ED-4DB2-BD59-A6C34878D82A}">
                    <a16:rowId xmlns:a16="http://schemas.microsoft.com/office/drawing/2014/main" val="4219289893"/>
                  </a:ext>
                </a:extLst>
              </a:tr>
            </a:tbl>
          </a:graphicData>
        </a:graphic>
      </p:graphicFrame>
      <p:pic>
        <p:nvPicPr>
          <p:cNvPr id="6" name="Picture 5" descr="Mini Metro, a 2D game made with Unity with a minimalist art style">
            <a:extLst>
              <a:ext uri="{FF2B5EF4-FFF2-40B4-BE49-F238E27FC236}">
                <a16:creationId xmlns:a16="http://schemas.microsoft.com/office/drawing/2014/main" id="{024B9B0C-D340-59D0-7356-F526DBF635E4}"/>
              </a:ext>
            </a:extLst>
          </p:cNvPr>
          <p:cNvPicPr>
            <a:picLocks noChangeAspect="1"/>
          </p:cNvPicPr>
          <p:nvPr/>
        </p:nvPicPr>
        <p:blipFill>
          <a:blip r:embed="rId2"/>
          <a:stretch>
            <a:fillRect/>
          </a:stretch>
        </p:blipFill>
        <p:spPr>
          <a:xfrm>
            <a:off x="4760259" y="1508161"/>
            <a:ext cx="2006301" cy="1050954"/>
          </a:xfrm>
          <a:prstGeom prst="rect">
            <a:avLst/>
          </a:prstGeom>
        </p:spPr>
      </p:pic>
      <p:pic>
        <p:nvPicPr>
          <p:cNvPr id="7" name="Picture 6" descr="Phased, a 2D game made with Unity with a pixel art style">
            <a:extLst>
              <a:ext uri="{FF2B5EF4-FFF2-40B4-BE49-F238E27FC236}">
                <a16:creationId xmlns:a16="http://schemas.microsoft.com/office/drawing/2014/main" id="{57F27C51-702C-3347-1E86-BD0FAA9A2A32}"/>
              </a:ext>
            </a:extLst>
          </p:cNvPr>
          <p:cNvPicPr>
            <a:picLocks noChangeAspect="1"/>
          </p:cNvPicPr>
          <p:nvPr/>
        </p:nvPicPr>
        <p:blipFill>
          <a:blip r:embed="rId3"/>
          <a:stretch>
            <a:fillRect/>
          </a:stretch>
        </p:blipFill>
        <p:spPr>
          <a:xfrm>
            <a:off x="4760259" y="2559115"/>
            <a:ext cx="1994050" cy="1121653"/>
          </a:xfrm>
          <a:prstGeom prst="rect">
            <a:avLst/>
          </a:prstGeom>
        </p:spPr>
      </p:pic>
      <p:pic>
        <p:nvPicPr>
          <p:cNvPr id="8" name="Picture 7" descr="Flipping Death, a 2D game made with Unity with an illustrative art style">
            <a:extLst>
              <a:ext uri="{FF2B5EF4-FFF2-40B4-BE49-F238E27FC236}">
                <a16:creationId xmlns:a16="http://schemas.microsoft.com/office/drawing/2014/main" id="{E9BA0D55-7C1E-4082-A971-4C082A3F4B98}"/>
              </a:ext>
            </a:extLst>
          </p:cNvPr>
          <p:cNvPicPr>
            <a:picLocks noChangeAspect="1"/>
          </p:cNvPicPr>
          <p:nvPr/>
        </p:nvPicPr>
        <p:blipFill>
          <a:blip r:embed="rId4"/>
          <a:stretch>
            <a:fillRect/>
          </a:stretch>
        </p:blipFill>
        <p:spPr>
          <a:xfrm>
            <a:off x="4748008" y="3680768"/>
            <a:ext cx="2006301" cy="1160290"/>
          </a:xfrm>
          <a:prstGeom prst="rect">
            <a:avLst/>
          </a:prstGeom>
        </p:spPr>
      </p:pic>
      <p:pic>
        <p:nvPicPr>
          <p:cNvPr id="9" name="Picture 8" descr="Rise of Kingdoms, a game made with Unity with the pre-rendered 3D technique">
            <a:extLst>
              <a:ext uri="{FF2B5EF4-FFF2-40B4-BE49-F238E27FC236}">
                <a16:creationId xmlns:a16="http://schemas.microsoft.com/office/drawing/2014/main" id="{74D47BC7-B24C-AF26-1D7F-9818E68FA517}"/>
              </a:ext>
            </a:extLst>
          </p:cNvPr>
          <p:cNvPicPr>
            <a:picLocks noChangeAspect="1"/>
          </p:cNvPicPr>
          <p:nvPr/>
        </p:nvPicPr>
        <p:blipFill>
          <a:blip r:embed="rId5"/>
          <a:stretch>
            <a:fillRect/>
          </a:stretch>
        </p:blipFill>
        <p:spPr>
          <a:xfrm>
            <a:off x="4760259" y="4841058"/>
            <a:ext cx="2006301" cy="1155156"/>
          </a:xfrm>
          <a:prstGeom prst="rect">
            <a:avLst/>
          </a:prstGeom>
        </p:spPr>
      </p:pic>
    </p:spTree>
    <p:extLst>
      <p:ext uri="{BB962C8B-B14F-4D97-AF65-F5344CB8AC3E}">
        <p14:creationId xmlns:p14="http://schemas.microsoft.com/office/powerpoint/2010/main" val="2445408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510B4F-E579-4373-5902-177F14DFB623}"/>
              </a:ext>
            </a:extLst>
          </p:cNvPr>
          <p:cNvSpPr>
            <a:spLocks noGrp="1"/>
          </p:cNvSpPr>
          <p:nvPr>
            <p:ph type="body" idx="1"/>
          </p:nvPr>
        </p:nvSpPr>
        <p:spPr/>
        <p:txBody>
          <a:bodyPr/>
          <a:lstStyle/>
          <a:p>
            <a:r>
              <a:rPr lang="en-US" dirty="0"/>
              <a:t>To convert 2D shaders, materials, and quality levels from the Built-In Render Pipeline to URP, do the following:</a:t>
            </a:r>
          </a:p>
          <a:p>
            <a:r>
              <a:rPr lang="en-US" dirty="0"/>
              <a:t>Go to Window &gt; Rendering &gt; Render Pipeline Converter.</a:t>
            </a:r>
          </a:p>
          <a:p>
            <a:r>
              <a:rPr lang="en-US" dirty="0"/>
              <a:t>Unity opens the Render Pipeline Converter window.</a:t>
            </a:r>
          </a:p>
          <a:p>
            <a:r>
              <a:rPr lang="en-US" dirty="0"/>
              <a:t>Set Source Pipeline to Built-in.</a:t>
            </a:r>
          </a:p>
          <a:p>
            <a:r>
              <a:rPr lang="en-US" dirty="0"/>
              <a:t>Set Target Pipeline to Universal Render Pipeline (2D Renderer).</a:t>
            </a:r>
          </a:p>
          <a:p>
            <a:r>
              <a:rPr lang="en-US" dirty="0"/>
              <a:t>In the Pipeline Converter tab, select the checkboxes next to Rendering Settings, Material Reference Converter, and Material Shader Converter.</a:t>
            </a:r>
          </a:p>
          <a:p>
            <a:r>
              <a:rPr lang="en-US" dirty="0"/>
              <a:t>If you have the 2D Pixel Perfect package installed in your project, also select the checkbox next to Pixel Perfect Camera Converter.</a:t>
            </a:r>
          </a:p>
          <a:p>
            <a:r>
              <a:rPr lang="en-US" dirty="0"/>
              <a:t>In the Pipeline Tools tab, select the checkboxes next to Parametric to Freeform Light Upgrade and Convert Built-in and URP (Universal Renderer) Materials to Mesh 2D-Lit-Default.</a:t>
            </a:r>
          </a:p>
          <a:p>
            <a:r>
              <a:rPr lang="en-US" dirty="0"/>
              <a:t>If you have Photoshop assets in your project, also select the checkbox next to Photoshop Assets Upgrader. For more information on these converters, refer to Render Pipeline Converter window for URP reference.</a:t>
            </a:r>
          </a:p>
          <a:p>
            <a:r>
              <a:rPr lang="en-US" dirty="0"/>
              <a:t>Select Scan.</a:t>
            </a:r>
          </a:p>
          <a:p>
            <a:r>
              <a:rPr lang="en-US" dirty="0"/>
              <a:t>Unity processes the assets in your project and displays the list of assets it can convert under your selected converters.</a:t>
            </a:r>
          </a:p>
          <a:p>
            <a:r>
              <a:rPr lang="en-US" dirty="0"/>
              <a:t>Select the checkboxes next to the assets you want to convert.</a:t>
            </a:r>
          </a:p>
          <a:p>
            <a:r>
              <a:rPr lang="en-US" dirty="0"/>
              <a:t>Select Convert Assets.</a:t>
            </a:r>
          </a:p>
          <a:p>
            <a:r>
              <a:rPr lang="en-US"/>
              <a:t>When Unity finishes the conversion process, the window displays the status of each conversion.</a:t>
            </a:r>
          </a:p>
          <a:p>
            <a:endParaRPr lang="en-CA"/>
          </a:p>
        </p:txBody>
      </p:sp>
      <p:sp>
        <p:nvSpPr>
          <p:cNvPr id="3" name="Title 2">
            <a:extLst>
              <a:ext uri="{FF2B5EF4-FFF2-40B4-BE49-F238E27FC236}">
                <a16:creationId xmlns:a16="http://schemas.microsoft.com/office/drawing/2014/main" id="{FA02E5EC-09D9-299C-6A77-533B0DABB3BA}"/>
              </a:ext>
            </a:extLst>
          </p:cNvPr>
          <p:cNvSpPr>
            <a:spLocks noGrp="1"/>
          </p:cNvSpPr>
          <p:nvPr>
            <p:ph type="title"/>
          </p:nvPr>
        </p:nvSpPr>
        <p:spPr/>
        <p:txBody>
          <a:bodyPr/>
          <a:lstStyle/>
          <a:p>
            <a:r>
              <a:rPr lang="en-US" dirty="0"/>
              <a:t>Convert 2D assets from the Built-In Render Pipeline to URP</a:t>
            </a:r>
            <a:endParaRPr lang="en-CA" dirty="0"/>
          </a:p>
        </p:txBody>
      </p:sp>
    </p:spTree>
    <p:extLst>
      <p:ext uri="{BB962C8B-B14F-4D97-AF65-F5344CB8AC3E}">
        <p14:creationId xmlns:p14="http://schemas.microsoft.com/office/powerpoint/2010/main" val="4247168183"/>
      </p:ext>
    </p:extLst>
  </p:cSld>
  <p:clrMapOvr>
    <a:masterClrMapping/>
  </p:clrMapOvr>
</p:sld>
</file>

<file path=ppt/theme/theme1.xml><?xml version="1.0" encoding="utf-8"?>
<a:theme xmlns:a="http://schemas.openxmlformats.org/drawingml/2006/main" name="Get Started with 3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1220</TotalTime>
  <Words>5139</Words>
  <Application>Microsoft Office PowerPoint</Application>
  <PresentationFormat>Widescreen</PresentationFormat>
  <Paragraphs>405</Paragraphs>
  <Slides>38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Quattrocento Sans</vt:lpstr>
      <vt:lpstr>Calibri</vt:lpstr>
      <vt:lpstr>Wingdings</vt:lpstr>
      <vt:lpstr>Roboto</vt:lpstr>
      <vt:lpstr>Arial</vt:lpstr>
      <vt:lpstr>Get Started with 3D</vt:lpstr>
      <vt:lpstr>Week 3 Game Engine Development Unity 2D Game Development</vt:lpstr>
      <vt:lpstr>Objective &amp; Concept</vt:lpstr>
      <vt:lpstr>Introduction to 2D</vt:lpstr>
      <vt:lpstr>2D graphics</vt:lpstr>
      <vt:lpstr>2D physics</vt:lpstr>
      <vt:lpstr>Set up a project for 2D games with the Universal 2D template</vt:lpstr>
      <vt:lpstr>2D game creation workflow</vt:lpstr>
      <vt:lpstr>Fundamentals</vt:lpstr>
      <vt:lpstr>Scripting</vt:lpstr>
      <vt:lpstr>Sprites</vt:lpstr>
      <vt:lpstr>Import a sprite or spritesheet texture</vt:lpstr>
      <vt:lpstr>Rendering Sprites</vt:lpstr>
      <vt:lpstr>Sprite Atlas</vt:lpstr>
      <vt:lpstr>9-slicing</vt:lpstr>
      <vt:lpstr>Tilemap</vt:lpstr>
      <vt:lpstr>Character animation</vt:lpstr>
      <vt:lpstr>Frame-by-frame</vt:lpstr>
      <vt:lpstr>Cutout</vt:lpstr>
      <vt:lpstr>Skeletal</vt:lpstr>
      <vt:lpstr>Lighting</vt:lpstr>
      <vt:lpstr>Shadows</vt:lpstr>
      <vt:lpstr>Particle systems</vt:lpstr>
      <vt:lpstr>Post-processing</vt:lpstr>
      <vt:lpstr>Physics 2D</vt:lpstr>
      <vt:lpstr>Rigidbody 2D</vt:lpstr>
      <vt:lpstr>Collider 2D</vt:lpstr>
      <vt:lpstr>Triggers</vt:lpstr>
      <vt:lpstr>2D Joints</vt:lpstr>
      <vt:lpstr>2D Effectors</vt:lpstr>
      <vt:lpstr>Audio</vt:lpstr>
      <vt:lpstr>User interface</vt:lpstr>
      <vt:lpstr>Accessibility</vt:lpstr>
      <vt:lpstr>Profiling, optimizing and testing a build</vt:lpstr>
      <vt:lpstr>Testing</vt:lpstr>
      <vt:lpstr>Building and publishing</vt:lpstr>
      <vt:lpstr>2D game perspectives reference</vt:lpstr>
      <vt:lpstr>2D game art style reference</vt:lpstr>
      <vt:lpstr>Convert 2D assets from the Built-In Render Pipeline to URP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Hooman Salamat</cp:lastModifiedBy>
  <cp:revision>44</cp:revision>
  <dcterms:created xsi:type="dcterms:W3CDTF">2020-06-08T20:23:19Z</dcterms:created>
  <dcterms:modified xsi:type="dcterms:W3CDTF">2026-09-18T13:06:27Z</dcterms:modified>
</cp:coreProperties>
</file>