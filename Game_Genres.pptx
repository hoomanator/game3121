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A5E"/>
        </a:solidFill>
      </p:bgPr>
    </p:bg>
    <p:spTree>
      <p:nvGrpSpPr>
        <p:cNvPr id="15" name="Shape 15"/>
        <p:cNvGrpSpPr/>
        <p:nvPr/>
      </p:nvGrpSpPr>
      <p:grpSpPr>
        <a:xfrm>
          <a:off x="0" y="0"/>
          <a:ext cx="0" cy="0"/>
          <a:chOff x="0" y="0"/>
          <a:chExt cx="0" cy="0"/>
        </a:xfrm>
      </p:grpSpPr>
      <p:sp>
        <p:nvSpPr>
          <p:cNvPr id="16" name="Google Shape;16;p3"/>
          <p:cNvSpPr/>
          <p:nvPr/>
        </p:nvSpPr>
        <p:spPr>
          <a:xfrm>
            <a:off x="9692640" y="-1188720"/>
            <a:ext cx="3840480" cy="3840480"/>
          </a:xfrm>
          <a:prstGeom prst="ellipse">
            <a:avLst/>
          </a:prstGeom>
          <a:solidFill>
            <a:srgbClr val="2F3C7E">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371600" y="4754880"/>
            <a:ext cx="3291840" cy="3291840"/>
          </a:xfrm>
          <a:prstGeom prst="ellipse">
            <a:avLst/>
          </a:prstGeom>
          <a:solidFill>
            <a:srgbClr val="F96167">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22960" y="196596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E795"/>
              </a:buClr>
              <a:buSzPts val="1400"/>
              <a:buFont typeface="Calibri"/>
              <a:buNone/>
            </a:pPr>
            <a:r>
              <a:rPr b="1" i="0" lang="en-US" sz="1400" u="none" cap="none" strike="noStrike">
                <a:solidFill>
                  <a:srgbClr val="F9E795"/>
                </a:solidFill>
                <a:latin typeface="Calibri"/>
                <a:ea typeface="Calibri"/>
                <a:cs typeface="Calibri"/>
                <a:sym typeface="Calibri"/>
              </a:rPr>
              <a:t>PLANNING A GAME · UNIT 4</a:t>
            </a:r>
            <a:endParaRPr b="0" i="0" sz="1400" u="none" cap="none" strike="noStrike">
              <a:solidFill>
                <a:schemeClr val="dk1"/>
              </a:solidFill>
              <a:latin typeface="Calibri"/>
              <a:ea typeface="Calibri"/>
              <a:cs typeface="Calibri"/>
              <a:sym typeface="Calibri"/>
            </a:endParaRPr>
          </a:p>
        </p:txBody>
      </p:sp>
      <p:sp>
        <p:nvSpPr>
          <p:cNvPr id="19" name="Google Shape;19;p3"/>
          <p:cNvSpPr/>
          <p:nvPr/>
        </p:nvSpPr>
        <p:spPr>
          <a:xfrm>
            <a:off x="777240" y="2331720"/>
            <a:ext cx="96012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Game Genres</a:t>
            </a:r>
            <a:endParaRPr b="0" i="0" sz="5400" u="none" cap="none" strike="noStrike">
              <a:solidFill>
                <a:schemeClr val="dk1"/>
              </a:solidFill>
              <a:latin typeface="Calibri"/>
              <a:ea typeface="Calibri"/>
              <a:cs typeface="Calibri"/>
              <a:sym typeface="Calibri"/>
            </a:endParaRPr>
          </a:p>
        </p:txBody>
      </p:sp>
      <p:sp>
        <p:nvSpPr>
          <p:cNvPr id="20" name="Google Shape;20;p3"/>
          <p:cNvSpPr/>
          <p:nvPr/>
        </p:nvSpPr>
        <p:spPr>
          <a:xfrm>
            <a:off x="822960" y="370332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DAF2"/>
              </a:buClr>
              <a:buSzPts val="1700"/>
              <a:buFont typeface="Calibri"/>
              <a:buNone/>
            </a:pPr>
            <a:r>
              <a:rPr b="0" i="0" lang="en-US" sz="1700" u="none" cap="none" strike="noStrike">
                <a:solidFill>
                  <a:srgbClr val="D8DAF2"/>
                </a:solidFill>
                <a:latin typeface="Calibri"/>
                <a:ea typeface="Calibri"/>
                <a:cs typeface="Calibri"/>
                <a:sym typeface="Calibri"/>
              </a:rPr>
              <a:t>Placing your game in the broader context of genres and player expectations</a:t>
            </a:r>
            <a:endParaRPr b="0" i="0" sz="1700" u="none" cap="none" strike="noStrike">
              <a:solidFill>
                <a:schemeClr val="dk1"/>
              </a:solidFill>
              <a:latin typeface="Calibri"/>
              <a:ea typeface="Calibri"/>
              <a:cs typeface="Calibri"/>
              <a:sym typeface="Calibri"/>
            </a:endParaRPr>
          </a:p>
        </p:txBody>
      </p:sp>
      <p:sp>
        <p:nvSpPr>
          <p:cNvPr id="21" name="Google Shape;21;p3"/>
          <p:cNvSpPr/>
          <p:nvPr/>
        </p:nvSpPr>
        <p:spPr>
          <a:xfrm>
            <a:off x="822960" y="4892040"/>
            <a:ext cx="21031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Beginner</a:t>
            </a:r>
            <a:br>
              <a:rPr b="1" i="0" lang="en-US" sz="2000" u="none" cap="none" strike="noStrike">
                <a:solidFill>
                  <a:srgbClr val="FFFFFF"/>
                </a:solidFill>
                <a:latin typeface="Calibri"/>
                <a:ea typeface="Calibri"/>
                <a:cs typeface="Calibri"/>
                <a:sym typeface="Calibri"/>
              </a:rPr>
            </a:b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EB4E0"/>
              </a:buClr>
              <a:buSzPts val="1100"/>
              <a:buFont typeface="Calibri"/>
              <a:buNone/>
            </a:pPr>
            <a:r>
              <a:rPr b="0" i="0" lang="en-US" sz="1100" u="none" cap="none" strike="noStrike">
                <a:solidFill>
                  <a:srgbClr val="AEB4E0"/>
                </a:solidFill>
                <a:latin typeface="Calibri"/>
                <a:ea typeface="Calibri"/>
                <a:cs typeface="Calibri"/>
                <a:sym typeface="Calibri"/>
              </a:rPr>
              <a:t>Level</a:t>
            </a:r>
            <a:endParaRPr b="0" i="0" sz="2000" u="none" cap="none" strike="noStrike">
              <a:solidFill>
                <a:schemeClr val="dk1"/>
              </a:solidFill>
              <a:latin typeface="Calibri"/>
              <a:ea typeface="Calibri"/>
              <a:cs typeface="Calibri"/>
              <a:sym typeface="Calibri"/>
            </a:endParaRPr>
          </a:p>
        </p:txBody>
      </p:sp>
      <p:sp>
        <p:nvSpPr>
          <p:cNvPr id="22" name="Google Shape;22;p3"/>
          <p:cNvSpPr/>
          <p:nvPr/>
        </p:nvSpPr>
        <p:spPr>
          <a:xfrm>
            <a:off x="3108960" y="4892040"/>
            <a:ext cx="21031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10 min</a:t>
            </a:r>
            <a:br>
              <a:rPr b="1" i="0" lang="en-US" sz="2000" u="none" cap="none" strike="noStrike">
                <a:solidFill>
                  <a:srgbClr val="FFFFFF"/>
                </a:solidFill>
                <a:latin typeface="Calibri"/>
                <a:ea typeface="Calibri"/>
                <a:cs typeface="Calibri"/>
                <a:sym typeface="Calibri"/>
              </a:rPr>
            </a:b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EB4E0"/>
              </a:buClr>
              <a:buSzPts val="1100"/>
              <a:buFont typeface="Calibri"/>
              <a:buNone/>
            </a:pPr>
            <a:r>
              <a:rPr b="0" i="0" lang="en-US" sz="1100" u="none" cap="none" strike="noStrike">
                <a:solidFill>
                  <a:srgbClr val="AEB4E0"/>
                </a:solidFill>
                <a:latin typeface="Calibri"/>
                <a:ea typeface="Calibri"/>
                <a:cs typeface="Calibri"/>
                <a:sym typeface="Calibri"/>
              </a:rPr>
              <a:t>Duration</a:t>
            </a:r>
            <a:endParaRPr b="0" i="0" sz="2000" u="none" cap="none" strike="noStrike">
              <a:solidFill>
                <a:schemeClr val="dk1"/>
              </a:solidFill>
              <a:latin typeface="Calibri"/>
              <a:ea typeface="Calibri"/>
              <a:cs typeface="Calibri"/>
              <a:sym typeface="Calibri"/>
            </a:endParaRPr>
          </a:p>
        </p:txBody>
      </p:sp>
      <p:sp>
        <p:nvSpPr>
          <p:cNvPr id="23" name="Google Shape;23;p3"/>
          <p:cNvSpPr/>
          <p:nvPr/>
        </p:nvSpPr>
        <p:spPr>
          <a:xfrm>
            <a:off x="5394960" y="4892040"/>
            <a:ext cx="21031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+10 XP</a:t>
            </a:r>
            <a:br>
              <a:rPr b="1" i="0" lang="en-US" sz="2000" u="none" cap="none" strike="noStrike">
                <a:solidFill>
                  <a:srgbClr val="FFFFFF"/>
                </a:solidFill>
                <a:latin typeface="Calibri"/>
                <a:ea typeface="Calibri"/>
                <a:cs typeface="Calibri"/>
                <a:sym typeface="Calibri"/>
              </a:rPr>
            </a:b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EB4E0"/>
              </a:buClr>
              <a:buSzPts val="1100"/>
              <a:buFont typeface="Calibri"/>
              <a:buNone/>
            </a:pPr>
            <a:r>
              <a:rPr b="0" i="0" lang="en-US" sz="1100" u="none" cap="none" strike="noStrike">
                <a:solidFill>
                  <a:srgbClr val="AEB4E0"/>
                </a:solidFill>
                <a:latin typeface="Calibri"/>
                <a:ea typeface="Calibri"/>
                <a:cs typeface="Calibri"/>
                <a:sym typeface="Calibri"/>
              </a:rPr>
              <a:t>Reward</a:t>
            </a:r>
            <a:endParaRPr b="0" i="0" sz="2000" u="none" cap="none" strike="noStrike">
              <a:solidFill>
                <a:schemeClr val="dk1"/>
              </a:solidFill>
              <a:latin typeface="Calibri"/>
              <a:ea typeface="Calibri"/>
              <a:cs typeface="Calibri"/>
              <a:sym typeface="Calibri"/>
            </a:endParaRPr>
          </a:p>
        </p:txBody>
      </p:sp>
      <p:sp>
        <p:nvSpPr>
          <p:cNvPr id="24" name="Google Shape;24;p3"/>
          <p:cNvSpPr/>
          <p:nvPr/>
        </p:nvSpPr>
        <p:spPr>
          <a:xfrm>
            <a:off x="822960" y="62636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C0"/>
              </a:buClr>
              <a:buSzPts val="1000"/>
              <a:buFont typeface="Calibri"/>
              <a:buNone/>
            </a:pPr>
            <a:r>
              <a:rPr b="0" i="0" lang="en-US" sz="1000" u="none" cap="none" strike="noStrike">
                <a:solidFill>
                  <a:srgbClr val="8A8FC0"/>
                </a:solidFill>
                <a:latin typeface="Calibri"/>
                <a:ea typeface="Calibri"/>
                <a:cs typeface="Calibri"/>
                <a:sym typeface="Calibri"/>
              </a:rPr>
              <a:t>Source: learn.unity.com — Unity Technologies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4"/>
          <p:cNvSpPr/>
          <p:nvPr/>
        </p:nvSpPr>
        <p:spPr>
          <a:xfrm>
            <a:off x="548640" y="411480"/>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A3C"/>
              </a:buClr>
              <a:buSzPts val="3200"/>
              <a:buFont typeface="Cambria"/>
              <a:buNone/>
            </a:pPr>
            <a:r>
              <a:rPr b="1" i="0" lang="en-US" sz="3200" u="none" cap="none" strike="noStrike">
                <a:solidFill>
                  <a:srgbClr val="2A2A3C"/>
                </a:solidFill>
                <a:latin typeface="Cambria"/>
                <a:ea typeface="Cambria"/>
                <a:cs typeface="Cambria"/>
                <a:sym typeface="Cambria"/>
              </a:rPr>
              <a:t>Overview</a:t>
            </a:r>
            <a:endParaRPr b="0" i="0" sz="3200" u="none" cap="none" strike="noStrike">
              <a:solidFill>
                <a:schemeClr val="dk1"/>
              </a:solidFill>
              <a:latin typeface="Calibri"/>
              <a:ea typeface="Calibri"/>
              <a:cs typeface="Calibri"/>
              <a:sym typeface="Calibri"/>
            </a:endParaRPr>
          </a:p>
        </p:txBody>
      </p:sp>
      <p:sp>
        <p:nvSpPr>
          <p:cNvPr id="31" name="Google Shape;31;p4"/>
          <p:cNvSpPr/>
          <p:nvPr/>
        </p:nvSpPr>
        <p:spPr>
          <a:xfrm>
            <a:off x="548640" y="1371600"/>
            <a:ext cx="5577840" cy="1737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A2A3C"/>
              </a:buClr>
              <a:buSzPts val="1500"/>
              <a:buFont typeface="Calibri"/>
              <a:buNone/>
            </a:pPr>
            <a:r>
              <a:rPr b="0" i="0" lang="en-US" sz="1500" u="none" cap="none" strike="noStrike">
                <a:solidFill>
                  <a:srgbClr val="2A2A3C"/>
                </a:solidFill>
                <a:latin typeface="Calibri"/>
                <a:ea typeface="Calibri"/>
                <a:cs typeface="Calibri"/>
                <a:sym typeface="Calibri"/>
              </a:rPr>
              <a:t>You now have a basic vocabulary for talking about game design: goals, rules, challenge, feedback, core loops, player experience, and game feel. This tutorial places your game — or any game — in the broader context of genres.</a:t>
            </a:r>
            <a:endParaRPr b="0" i="0" sz="1500" u="none" cap="none" strike="noStrike">
              <a:solidFill>
                <a:schemeClr val="dk1"/>
              </a:solidFill>
              <a:latin typeface="Calibri"/>
              <a:ea typeface="Calibri"/>
              <a:cs typeface="Calibri"/>
              <a:sym typeface="Calibri"/>
            </a:endParaRPr>
          </a:p>
        </p:txBody>
      </p:sp>
      <p:sp>
        <p:nvSpPr>
          <p:cNvPr id="32" name="Google Shape;32;p4"/>
          <p:cNvSpPr/>
          <p:nvPr/>
        </p:nvSpPr>
        <p:spPr>
          <a:xfrm>
            <a:off x="6446520" y="1417320"/>
            <a:ext cx="384048" cy="384048"/>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6446520" y="14173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34" name="Google Shape;34;p4"/>
          <p:cNvSpPr/>
          <p:nvPr/>
        </p:nvSpPr>
        <p:spPr>
          <a:xfrm>
            <a:off x="6995160" y="1362456"/>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00"/>
              <a:buFont typeface="Cambria"/>
              <a:buNone/>
            </a:pPr>
            <a:r>
              <a:rPr b="1" i="0" lang="en-US" sz="1500" u="none" cap="none" strike="noStrike">
                <a:solidFill>
                  <a:srgbClr val="2F3C7E"/>
                </a:solidFill>
                <a:latin typeface="Cambria"/>
                <a:ea typeface="Cambria"/>
                <a:cs typeface="Cambria"/>
                <a:sym typeface="Cambria"/>
              </a:rPr>
              <a:t>Why genres matter</a:t>
            </a:r>
            <a:endParaRPr b="0" i="0" sz="1500" u="none" cap="none" strike="noStrike">
              <a:solidFill>
                <a:schemeClr val="dk1"/>
              </a:solidFill>
              <a:latin typeface="Calibri"/>
              <a:ea typeface="Calibri"/>
              <a:cs typeface="Calibri"/>
              <a:sym typeface="Calibri"/>
            </a:endParaRPr>
          </a:p>
        </p:txBody>
      </p:sp>
      <p:sp>
        <p:nvSpPr>
          <p:cNvPr id="35" name="Google Shape;35;p4"/>
          <p:cNvSpPr/>
          <p:nvPr/>
        </p:nvSpPr>
        <p:spPr>
          <a:xfrm>
            <a:off x="6995160" y="1673352"/>
            <a:ext cx="45720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1150"/>
              <a:buFont typeface="Calibri"/>
              <a:buNone/>
            </a:pPr>
            <a:r>
              <a:rPr b="0" i="0" lang="en-US" sz="1150" u="none" cap="none" strike="noStrike">
                <a:solidFill>
                  <a:srgbClr val="6B6B80"/>
                </a:solidFill>
                <a:latin typeface="Calibri"/>
                <a:ea typeface="Calibri"/>
                <a:cs typeface="Calibri"/>
                <a:sym typeface="Calibri"/>
              </a:rPr>
              <a:t>Understand what players expect the moment they hear a genre label.</a:t>
            </a:r>
            <a:endParaRPr b="0" i="0" sz="1150" u="none" cap="none" strike="noStrike">
              <a:solidFill>
                <a:schemeClr val="dk1"/>
              </a:solidFill>
              <a:latin typeface="Calibri"/>
              <a:ea typeface="Calibri"/>
              <a:cs typeface="Calibri"/>
              <a:sym typeface="Calibri"/>
            </a:endParaRPr>
          </a:p>
        </p:txBody>
      </p:sp>
      <p:sp>
        <p:nvSpPr>
          <p:cNvPr id="36" name="Google Shape;36;p4"/>
          <p:cNvSpPr/>
          <p:nvPr/>
        </p:nvSpPr>
        <p:spPr>
          <a:xfrm>
            <a:off x="6446520" y="2468880"/>
            <a:ext cx="384048" cy="384048"/>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6446520" y="24688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38" name="Google Shape;38;p4"/>
          <p:cNvSpPr/>
          <p:nvPr/>
        </p:nvSpPr>
        <p:spPr>
          <a:xfrm>
            <a:off x="6995160" y="2414016"/>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00"/>
              <a:buFont typeface="Cambria"/>
              <a:buNone/>
            </a:pPr>
            <a:r>
              <a:rPr b="1" i="0" lang="en-US" sz="1500" u="none" cap="none" strike="noStrike">
                <a:solidFill>
                  <a:srgbClr val="2F3C7E"/>
                </a:solidFill>
                <a:latin typeface="Cambria"/>
                <a:ea typeface="Cambria"/>
                <a:cs typeface="Cambria"/>
                <a:sym typeface="Cambria"/>
              </a:rPr>
              <a:t>Common genres</a:t>
            </a:r>
            <a:endParaRPr b="0" i="0" sz="1500" u="none" cap="none" strike="noStrike">
              <a:solidFill>
                <a:schemeClr val="dk1"/>
              </a:solidFill>
              <a:latin typeface="Calibri"/>
              <a:ea typeface="Calibri"/>
              <a:cs typeface="Calibri"/>
              <a:sym typeface="Calibri"/>
            </a:endParaRPr>
          </a:p>
        </p:txBody>
      </p:sp>
      <p:sp>
        <p:nvSpPr>
          <p:cNvPr id="39" name="Google Shape;39;p4"/>
          <p:cNvSpPr/>
          <p:nvPr/>
        </p:nvSpPr>
        <p:spPr>
          <a:xfrm>
            <a:off x="6995160" y="2724912"/>
            <a:ext cx="45720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1150"/>
              <a:buFont typeface="Calibri"/>
              <a:buNone/>
            </a:pPr>
            <a:r>
              <a:rPr b="0" i="0" lang="en-US" sz="1150" u="none" cap="none" strike="noStrike">
                <a:solidFill>
                  <a:srgbClr val="6B6B80"/>
                </a:solidFill>
                <a:latin typeface="Calibri"/>
                <a:ea typeface="Calibri"/>
                <a:cs typeface="Calibri"/>
                <a:sym typeface="Calibri"/>
              </a:rPr>
              <a:t>Review major genres with typical gameplay and example games, including Unity titles.</a:t>
            </a:r>
            <a:endParaRPr b="0" i="0" sz="1150" u="none" cap="none" strike="noStrike">
              <a:solidFill>
                <a:schemeClr val="dk1"/>
              </a:solidFill>
              <a:latin typeface="Calibri"/>
              <a:ea typeface="Calibri"/>
              <a:cs typeface="Calibri"/>
              <a:sym typeface="Calibri"/>
            </a:endParaRPr>
          </a:p>
        </p:txBody>
      </p:sp>
      <p:sp>
        <p:nvSpPr>
          <p:cNvPr id="40" name="Google Shape;40;p4"/>
          <p:cNvSpPr/>
          <p:nvPr/>
        </p:nvSpPr>
        <p:spPr>
          <a:xfrm>
            <a:off x="6446520" y="3520440"/>
            <a:ext cx="384048" cy="384048"/>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6446520" y="35204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42" name="Google Shape;42;p4"/>
          <p:cNvSpPr/>
          <p:nvPr/>
        </p:nvSpPr>
        <p:spPr>
          <a:xfrm>
            <a:off x="6995160" y="3465576"/>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00"/>
              <a:buFont typeface="Cambria"/>
              <a:buNone/>
            </a:pPr>
            <a:r>
              <a:rPr b="1" i="0" lang="en-US" sz="1500" u="none" cap="none" strike="noStrike">
                <a:solidFill>
                  <a:srgbClr val="2F3C7E"/>
                </a:solidFill>
                <a:latin typeface="Cambria"/>
                <a:ea typeface="Cambria"/>
                <a:cs typeface="Cambria"/>
                <a:sym typeface="Cambria"/>
              </a:rPr>
              <a:t>Sharper GDD choices</a:t>
            </a:r>
            <a:endParaRPr b="0" i="0" sz="1500" u="none" cap="none" strike="noStrike">
              <a:solidFill>
                <a:schemeClr val="dk1"/>
              </a:solidFill>
              <a:latin typeface="Calibri"/>
              <a:ea typeface="Calibri"/>
              <a:cs typeface="Calibri"/>
              <a:sym typeface="Calibri"/>
            </a:endParaRPr>
          </a:p>
        </p:txBody>
      </p:sp>
      <p:sp>
        <p:nvSpPr>
          <p:cNvPr id="43" name="Google Shape;43;p4"/>
          <p:cNvSpPr/>
          <p:nvPr/>
        </p:nvSpPr>
        <p:spPr>
          <a:xfrm>
            <a:off x="6995160" y="3776472"/>
            <a:ext cx="45720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1150"/>
              <a:buFont typeface="Calibri"/>
              <a:buNone/>
            </a:pPr>
            <a:r>
              <a:rPr b="0" i="0" lang="en-US" sz="1150" u="none" cap="none" strike="noStrike">
                <a:solidFill>
                  <a:srgbClr val="6B6B80"/>
                </a:solidFill>
                <a:latin typeface="Calibri"/>
                <a:ea typeface="Calibri"/>
                <a:cs typeface="Calibri"/>
                <a:sym typeface="Calibri"/>
              </a:rPr>
              <a:t>Use this understanding to make clearer, more intentional genre decisions in your game design document.</a:t>
            </a:r>
            <a:endParaRPr b="0" i="0" sz="1150" u="none" cap="none" strike="noStrike">
              <a:solidFill>
                <a:schemeClr val="dk1"/>
              </a:solidFill>
              <a:latin typeface="Calibri"/>
              <a:ea typeface="Calibri"/>
              <a:cs typeface="Calibri"/>
              <a:sym typeface="Calibri"/>
            </a:endParaRPr>
          </a:p>
        </p:txBody>
      </p:sp>
      <p:sp>
        <p:nvSpPr>
          <p:cNvPr id="44" name="Google Shape;44;p4"/>
          <p:cNvSpPr/>
          <p:nvPr/>
        </p:nvSpPr>
        <p:spPr>
          <a:xfrm>
            <a:off x="548640" y="3429000"/>
            <a:ext cx="5577840" cy="2331720"/>
          </a:xfrm>
          <a:prstGeom prst="roundRect">
            <a:avLst>
              <a:gd fmla="val 3137"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822960" y="361188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400"/>
              <a:buFont typeface="Cambria"/>
              <a:buNone/>
            </a:pPr>
            <a:r>
              <a:rPr b="1" i="0" lang="en-US" sz="1400" u="none" cap="none" strike="noStrike">
                <a:solidFill>
                  <a:srgbClr val="2F3C7E"/>
                </a:solidFill>
                <a:latin typeface="Cambria"/>
                <a:ea typeface="Cambria"/>
                <a:cs typeface="Cambria"/>
                <a:sym typeface="Cambria"/>
              </a:rPr>
              <a:t>You'll learn to do the following:</a:t>
            </a:r>
            <a:endParaRPr b="0" i="0" sz="1400" u="none" cap="none" strike="noStrike">
              <a:solidFill>
                <a:schemeClr val="dk1"/>
              </a:solidFill>
              <a:latin typeface="Calibri"/>
              <a:ea typeface="Calibri"/>
              <a:cs typeface="Calibri"/>
              <a:sym typeface="Calibri"/>
            </a:endParaRPr>
          </a:p>
        </p:txBody>
      </p:sp>
      <p:sp>
        <p:nvSpPr>
          <p:cNvPr id="46" name="Google Shape;46;p4"/>
          <p:cNvSpPr/>
          <p:nvPr/>
        </p:nvSpPr>
        <p:spPr>
          <a:xfrm>
            <a:off x="822960" y="4023360"/>
            <a:ext cx="5120640" cy="16459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A2A3C"/>
              </a:buClr>
              <a:buSzPts val="1300"/>
              <a:buFont typeface="Calibri"/>
              <a:buChar char="•"/>
            </a:pPr>
            <a:r>
              <a:rPr b="0" i="0" lang="en-US" sz="1300" u="none" cap="none" strike="noStrike">
                <a:solidFill>
                  <a:srgbClr val="2A2A3C"/>
                </a:solidFill>
                <a:latin typeface="Calibri"/>
                <a:ea typeface="Calibri"/>
                <a:cs typeface="Calibri"/>
                <a:sym typeface="Calibri"/>
              </a:rPr>
              <a:t>Understand why genres matter and what players expect from them</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A2A3C"/>
              </a:buClr>
              <a:buSzPts val="1300"/>
              <a:buFont typeface="Calibri"/>
              <a:buChar char="•"/>
            </a:pPr>
            <a:r>
              <a:rPr b="0" i="0" lang="en-US" sz="1300" u="none" cap="none" strike="noStrike">
                <a:solidFill>
                  <a:srgbClr val="2A2A3C"/>
                </a:solidFill>
                <a:latin typeface="Calibri"/>
                <a:ea typeface="Calibri"/>
                <a:cs typeface="Calibri"/>
                <a:sym typeface="Calibri"/>
              </a:rPr>
              <a:t>Learn about common genres, with typical gameplay and example games (including Unity titles)</a:t>
            </a:r>
            <a:endParaRPr b="0" i="0" sz="13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A2A3C"/>
              </a:buClr>
              <a:buSzPts val="1300"/>
              <a:buFont typeface="Calibri"/>
              <a:buChar char="•"/>
            </a:pPr>
            <a:r>
              <a:rPr b="0" i="0" lang="en-US" sz="1300" u="none" cap="none" strike="noStrike">
                <a:solidFill>
                  <a:srgbClr val="2A2A3C"/>
                </a:solidFill>
                <a:latin typeface="Calibri"/>
                <a:ea typeface="Calibri"/>
                <a:cs typeface="Calibri"/>
                <a:sym typeface="Calibri"/>
              </a:rPr>
              <a:t>Make informed choices about genre in your GDD</a:t>
            </a:r>
            <a:endParaRPr b="0" i="0" sz="1300" u="none" cap="none" strike="noStrike">
              <a:solidFill>
                <a:schemeClr val="dk1"/>
              </a:solidFill>
              <a:latin typeface="Calibri"/>
              <a:ea typeface="Calibri"/>
              <a:cs typeface="Calibri"/>
              <a:sym typeface="Calibri"/>
            </a:endParaRPr>
          </a:p>
        </p:txBody>
      </p:sp>
      <p:sp>
        <p:nvSpPr>
          <p:cNvPr id="47" name="Google Shape;47;p4"/>
          <p:cNvSpPr/>
          <p:nvPr/>
        </p:nvSpPr>
        <p:spPr>
          <a:xfrm>
            <a:off x="54864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Game Genres — Unity Learn</a:t>
            </a:r>
            <a:endParaRPr b="0" i="0" sz="900" u="none" cap="none" strike="noStrike">
              <a:solidFill>
                <a:schemeClr val="dk1"/>
              </a:solidFill>
              <a:latin typeface="Calibri"/>
              <a:ea typeface="Calibri"/>
              <a:cs typeface="Calibri"/>
              <a:sym typeface="Calibri"/>
            </a:endParaRPr>
          </a:p>
        </p:txBody>
      </p:sp>
      <p:sp>
        <p:nvSpPr>
          <p:cNvPr id="48" name="Google Shape;48;p4"/>
          <p:cNvSpPr/>
          <p:nvPr/>
        </p:nvSpPr>
        <p:spPr>
          <a:xfrm>
            <a:off x="11185855"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5"/>
          <p:cNvSpPr/>
          <p:nvPr/>
        </p:nvSpPr>
        <p:spPr>
          <a:xfrm>
            <a:off x="548640" y="411480"/>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A3C"/>
              </a:buClr>
              <a:buSzPts val="3200"/>
              <a:buFont typeface="Cambria"/>
              <a:buNone/>
            </a:pPr>
            <a:r>
              <a:rPr b="1" i="0" lang="en-US" sz="3200" u="none" cap="none" strike="noStrike">
                <a:solidFill>
                  <a:srgbClr val="2A2A3C"/>
                </a:solidFill>
                <a:latin typeface="Cambria"/>
                <a:ea typeface="Cambria"/>
                <a:cs typeface="Cambria"/>
                <a:sym typeface="Cambria"/>
              </a:rPr>
              <a:t>Genres and Player Verbs</a:t>
            </a:r>
            <a:endParaRPr b="0" i="0" sz="3200" u="none" cap="none" strike="noStrike">
              <a:solidFill>
                <a:schemeClr val="dk1"/>
              </a:solidFill>
              <a:latin typeface="Calibri"/>
              <a:ea typeface="Calibri"/>
              <a:cs typeface="Calibri"/>
              <a:sym typeface="Calibri"/>
            </a:endParaRPr>
          </a:p>
        </p:txBody>
      </p:sp>
      <p:sp>
        <p:nvSpPr>
          <p:cNvPr id="55" name="Google Shape;55;p5"/>
          <p:cNvSpPr/>
          <p:nvPr/>
        </p:nvSpPr>
        <p:spPr>
          <a:xfrm>
            <a:off x="548640" y="1371600"/>
            <a:ext cx="5486400" cy="11887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A2A3C"/>
              </a:buClr>
              <a:buSzPts val="1450"/>
              <a:buFont typeface="Calibri"/>
              <a:buNone/>
            </a:pPr>
            <a:r>
              <a:rPr b="0" i="0" lang="en-US" sz="1450" u="none" cap="none" strike="noStrike">
                <a:solidFill>
                  <a:srgbClr val="2A2A3C"/>
                </a:solidFill>
                <a:latin typeface="Calibri"/>
                <a:ea typeface="Calibri"/>
                <a:cs typeface="Calibri"/>
                <a:sym typeface="Calibri"/>
              </a:rPr>
              <a:t>Genres are a useful shorthand. When players hear "puzzle game" or "action RPG," they can instantly picture what they'll be doing and what kind of challenge to expect.</a:t>
            </a:r>
            <a:endParaRPr b="0" i="0" sz="1450" u="none" cap="none" strike="noStrike">
              <a:solidFill>
                <a:schemeClr val="dk1"/>
              </a:solidFill>
              <a:latin typeface="Calibri"/>
              <a:ea typeface="Calibri"/>
              <a:cs typeface="Calibri"/>
              <a:sym typeface="Calibri"/>
            </a:endParaRPr>
          </a:p>
        </p:txBody>
      </p:sp>
      <p:sp>
        <p:nvSpPr>
          <p:cNvPr id="56" name="Google Shape;56;p5"/>
          <p:cNvSpPr/>
          <p:nvPr/>
        </p:nvSpPr>
        <p:spPr>
          <a:xfrm>
            <a:off x="548640" y="2697480"/>
            <a:ext cx="5486400" cy="13716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A2A3C"/>
              </a:buClr>
              <a:buSzPts val="1450"/>
              <a:buFont typeface="Calibri"/>
              <a:buNone/>
            </a:pPr>
            <a:r>
              <a:rPr b="0" i="0" lang="en-US" sz="1450" u="none" cap="none" strike="noStrike">
                <a:solidFill>
                  <a:srgbClr val="2A2A3C"/>
                </a:solidFill>
                <a:latin typeface="Calibri"/>
                <a:ea typeface="Calibri"/>
                <a:cs typeface="Calibri"/>
                <a:sym typeface="Calibri"/>
              </a:rPr>
              <a:t>One common way designers think about genres is through player verbs: simple action words describing what players actually do most of the time. It isn't the only framework, but it's a concrete, widely understood shorthand.</a:t>
            </a:r>
            <a:endParaRPr b="0" i="0" sz="1450" u="none" cap="none" strike="noStrike">
              <a:solidFill>
                <a:schemeClr val="dk1"/>
              </a:solidFill>
              <a:latin typeface="Calibri"/>
              <a:ea typeface="Calibri"/>
              <a:cs typeface="Calibri"/>
              <a:sym typeface="Calibri"/>
            </a:endParaRPr>
          </a:p>
        </p:txBody>
      </p:sp>
      <p:sp>
        <p:nvSpPr>
          <p:cNvPr id="57" name="Google Shape;57;p5"/>
          <p:cNvSpPr/>
          <p:nvPr/>
        </p:nvSpPr>
        <p:spPr>
          <a:xfrm>
            <a:off x="548640" y="416052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300"/>
              <a:buFont typeface="Calibri"/>
              <a:buNone/>
            </a:pPr>
            <a:r>
              <a:rPr b="0" i="1" lang="en-US" sz="1300" u="none" cap="none" strike="noStrike">
                <a:solidFill>
                  <a:srgbClr val="2F3C7E"/>
                </a:solidFill>
                <a:latin typeface="Calibri"/>
                <a:ea typeface="Calibri"/>
                <a:cs typeface="Calibri"/>
                <a:sym typeface="Calibri"/>
              </a:rPr>
              <a:t>e.g. "Common actions (verbs) in this genre are…"</a:t>
            </a:r>
            <a:endParaRPr b="0" i="0" sz="1300" u="none" cap="none" strike="noStrike">
              <a:solidFill>
                <a:schemeClr val="dk1"/>
              </a:solidFill>
              <a:latin typeface="Calibri"/>
              <a:ea typeface="Calibri"/>
              <a:cs typeface="Calibri"/>
              <a:sym typeface="Calibri"/>
            </a:endParaRPr>
          </a:p>
        </p:txBody>
      </p:sp>
      <p:sp>
        <p:nvSpPr>
          <p:cNvPr id="58" name="Google Shape;58;p5"/>
          <p:cNvSpPr/>
          <p:nvPr/>
        </p:nvSpPr>
        <p:spPr>
          <a:xfrm>
            <a:off x="548640" y="6035040"/>
            <a:ext cx="5669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50"/>
              <a:buFont typeface="Calibri"/>
              <a:buNone/>
            </a:pPr>
            <a:r>
              <a:rPr b="0" i="0" lang="en-US" sz="950" u="none" cap="none" strike="noStrike">
                <a:solidFill>
                  <a:srgbClr val="6B6B80"/>
                </a:solidFill>
                <a:latin typeface="Calibri"/>
                <a:ea typeface="Calibri"/>
                <a:cs typeface="Calibri"/>
                <a:sym typeface="Calibri"/>
              </a:rPr>
              <a:t>Screenshot reference: V Rising (case study) — unity.com/resources/stunlock-studios-v-rising</a:t>
            </a:r>
            <a:endParaRPr b="0" i="0" sz="950" u="none" cap="none" strike="noStrike">
              <a:solidFill>
                <a:schemeClr val="dk1"/>
              </a:solidFill>
              <a:latin typeface="Calibri"/>
              <a:ea typeface="Calibri"/>
              <a:cs typeface="Calibri"/>
              <a:sym typeface="Calibri"/>
            </a:endParaRPr>
          </a:p>
        </p:txBody>
      </p:sp>
      <p:sp>
        <p:nvSpPr>
          <p:cNvPr id="59" name="Google Shape;59;p5"/>
          <p:cNvSpPr/>
          <p:nvPr/>
        </p:nvSpPr>
        <p:spPr>
          <a:xfrm>
            <a:off x="6492240" y="1417320"/>
            <a:ext cx="2423160" cy="777240"/>
          </a:xfrm>
          <a:prstGeom prst="roundRect">
            <a:avLst>
              <a:gd fmla="val 8235"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6492240" y="1417320"/>
            <a:ext cx="2423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Run</a:t>
            </a:r>
            <a:endParaRPr b="0" i="0" sz="1800" u="none" cap="none" strike="noStrike">
              <a:solidFill>
                <a:schemeClr val="dk1"/>
              </a:solidFill>
              <a:latin typeface="Calibri"/>
              <a:ea typeface="Calibri"/>
              <a:cs typeface="Calibri"/>
              <a:sym typeface="Calibri"/>
            </a:endParaRPr>
          </a:p>
        </p:txBody>
      </p:sp>
      <p:sp>
        <p:nvSpPr>
          <p:cNvPr id="61" name="Google Shape;61;p5"/>
          <p:cNvSpPr/>
          <p:nvPr/>
        </p:nvSpPr>
        <p:spPr>
          <a:xfrm>
            <a:off x="9098280" y="1417320"/>
            <a:ext cx="2423160" cy="777240"/>
          </a:xfrm>
          <a:prstGeom prst="roundRect">
            <a:avLst>
              <a:gd fmla="val 8235"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9098280" y="1417320"/>
            <a:ext cx="2423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Jump</a:t>
            </a:r>
            <a:endParaRPr b="0" i="0" sz="1800" u="none" cap="none" strike="noStrike">
              <a:solidFill>
                <a:schemeClr val="dk1"/>
              </a:solidFill>
              <a:latin typeface="Calibri"/>
              <a:ea typeface="Calibri"/>
              <a:cs typeface="Calibri"/>
              <a:sym typeface="Calibri"/>
            </a:endParaRPr>
          </a:p>
        </p:txBody>
      </p:sp>
      <p:sp>
        <p:nvSpPr>
          <p:cNvPr id="63" name="Google Shape;63;p5"/>
          <p:cNvSpPr/>
          <p:nvPr/>
        </p:nvSpPr>
        <p:spPr>
          <a:xfrm>
            <a:off x="6492240" y="2377440"/>
            <a:ext cx="2423160" cy="777240"/>
          </a:xfrm>
          <a:prstGeom prst="roundRect">
            <a:avLst>
              <a:gd fmla="val 8235"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6492240" y="2377440"/>
            <a:ext cx="2423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Shoot</a:t>
            </a:r>
            <a:endParaRPr b="0" i="0" sz="1800" u="none" cap="none" strike="noStrike">
              <a:solidFill>
                <a:schemeClr val="dk1"/>
              </a:solidFill>
              <a:latin typeface="Calibri"/>
              <a:ea typeface="Calibri"/>
              <a:cs typeface="Calibri"/>
              <a:sym typeface="Calibri"/>
            </a:endParaRPr>
          </a:p>
        </p:txBody>
      </p:sp>
      <p:sp>
        <p:nvSpPr>
          <p:cNvPr id="65" name="Google Shape;65;p5"/>
          <p:cNvSpPr/>
          <p:nvPr/>
        </p:nvSpPr>
        <p:spPr>
          <a:xfrm>
            <a:off x="9098280" y="2377440"/>
            <a:ext cx="2423160" cy="777240"/>
          </a:xfrm>
          <a:prstGeom prst="roundRect">
            <a:avLst>
              <a:gd fmla="val 8235"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9098280" y="2377440"/>
            <a:ext cx="2423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Build</a:t>
            </a:r>
            <a:endParaRPr b="0" i="0" sz="1800" u="none" cap="none" strike="noStrike">
              <a:solidFill>
                <a:schemeClr val="dk1"/>
              </a:solidFill>
              <a:latin typeface="Calibri"/>
              <a:ea typeface="Calibri"/>
              <a:cs typeface="Calibri"/>
              <a:sym typeface="Calibri"/>
            </a:endParaRPr>
          </a:p>
        </p:txBody>
      </p:sp>
      <p:sp>
        <p:nvSpPr>
          <p:cNvPr id="67" name="Google Shape;67;p5"/>
          <p:cNvSpPr/>
          <p:nvPr/>
        </p:nvSpPr>
        <p:spPr>
          <a:xfrm>
            <a:off x="6492240" y="3337560"/>
            <a:ext cx="2423160" cy="777240"/>
          </a:xfrm>
          <a:prstGeom prst="roundRect">
            <a:avLst>
              <a:gd fmla="val 8235"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6492240" y="3337560"/>
            <a:ext cx="2423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Talk</a:t>
            </a:r>
            <a:endParaRPr b="0" i="0" sz="1800" u="none" cap="none" strike="noStrike">
              <a:solidFill>
                <a:schemeClr val="dk1"/>
              </a:solidFill>
              <a:latin typeface="Calibri"/>
              <a:ea typeface="Calibri"/>
              <a:cs typeface="Calibri"/>
              <a:sym typeface="Calibri"/>
            </a:endParaRPr>
          </a:p>
        </p:txBody>
      </p:sp>
      <p:sp>
        <p:nvSpPr>
          <p:cNvPr id="69" name="Google Shape;69;p5"/>
          <p:cNvSpPr/>
          <p:nvPr/>
        </p:nvSpPr>
        <p:spPr>
          <a:xfrm>
            <a:off x="9098280" y="3337560"/>
            <a:ext cx="2423160" cy="777240"/>
          </a:xfrm>
          <a:prstGeom prst="roundRect">
            <a:avLst>
              <a:gd fmla="val 8235"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9098280" y="3337560"/>
            <a:ext cx="2423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Solve</a:t>
            </a:r>
            <a:endParaRPr b="0" i="0" sz="1800" u="none" cap="none" strike="noStrike">
              <a:solidFill>
                <a:schemeClr val="dk1"/>
              </a:solidFill>
              <a:latin typeface="Calibri"/>
              <a:ea typeface="Calibri"/>
              <a:cs typeface="Calibri"/>
              <a:sym typeface="Calibri"/>
            </a:endParaRPr>
          </a:p>
        </p:txBody>
      </p:sp>
      <p:sp>
        <p:nvSpPr>
          <p:cNvPr id="71" name="Google Shape;71;p5"/>
          <p:cNvSpPr/>
          <p:nvPr/>
        </p:nvSpPr>
        <p:spPr>
          <a:xfrm>
            <a:off x="6492240" y="4297680"/>
            <a:ext cx="2423160" cy="777240"/>
          </a:xfrm>
          <a:prstGeom prst="roundRect">
            <a:avLst>
              <a:gd fmla="val 8235"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6492240" y="4297680"/>
            <a:ext cx="2423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Explore</a:t>
            </a:r>
            <a:endParaRPr b="0" i="0" sz="1800" u="none" cap="none" strike="noStrike">
              <a:solidFill>
                <a:schemeClr val="dk1"/>
              </a:solidFill>
              <a:latin typeface="Calibri"/>
              <a:ea typeface="Calibri"/>
              <a:cs typeface="Calibri"/>
              <a:sym typeface="Calibri"/>
            </a:endParaRPr>
          </a:p>
        </p:txBody>
      </p:sp>
      <p:sp>
        <p:nvSpPr>
          <p:cNvPr id="73" name="Google Shape;73;p5"/>
          <p:cNvSpPr/>
          <p:nvPr/>
        </p:nvSpPr>
        <p:spPr>
          <a:xfrm>
            <a:off x="9098280" y="4297680"/>
            <a:ext cx="2423160" cy="777240"/>
          </a:xfrm>
          <a:prstGeom prst="roundRect">
            <a:avLst>
              <a:gd fmla="val 8235"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9098280" y="4297680"/>
            <a:ext cx="24231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Craft</a:t>
            </a:r>
            <a:endParaRPr b="0" i="0" sz="1800" u="none" cap="none" strike="noStrike">
              <a:solidFill>
                <a:schemeClr val="dk1"/>
              </a:solidFill>
              <a:latin typeface="Calibri"/>
              <a:ea typeface="Calibri"/>
              <a:cs typeface="Calibri"/>
              <a:sym typeface="Calibri"/>
            </a:endParaRPr>
          </a:p>
        </p:txBody>
      </p:sp>
      <p:sp>
        <p:nvSpPr>
          <p:cNvPr id="75" name="Google Shape;75;p5"/>
          <p:cNvSpPr/>
          <p:nvPr/>
        </p:nvSpPr>
        <p:spPr>
          <a:xfrm>
            <a:off x="54864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Game Genres — Unity Learn</a:t>
            </a:r>
            <a:endParaRPr b="0" i="0" sz="900" u="none" cap="none" strike="noStrike">
              <a:solidFill>
                <a:schemeClr val="dk1"/>
              </a:solidFill>
              <a:latin typeface="Calibri"/>
              <a:ea typeface="Calibri"/>
              <a:cs typeface="Calibri"/>
              <a:sym typeface="Calibri"/>
            </a:endParaRPr>
          </a:p>
        </p:txBody>
      </p:sp>
      <p:sp>
        <p:nvSpPr>
          <p:cNvPr id="76" name="Google Shape;76;p5"/>
          <p:cNvSpPr/>
          <p:nvPr/>
        </p:nvSpPr>
        <p:spPr>
          <a:xfrm>
            <a:off x="11185855"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81" name="Shape 81"/>
        <p:cNvGrpSpPr/>
        <p:nvPr/>
      </p:nvGrpSpPr>
      <p:grpSpPr>
        <a:xfrm>
          <a:off x="0" y="0"/>
          <a:ext cx="0" cy="0"/>
          <a:chOff x="0" y="0"/>
          <a:chExt cx="0" cy="0"/>
        </a:xfrm>
      </p:grpSpPr>
      <p:sp>
        <p:nvSpPr>
          <p:cNvPr id="82" name="Google Shape;82;p6"/>
          <p:cNvSpPr/>
          <p:nvPr/>
        </p:nvSpPr>
        <p:spPr>
          <a:xfrm>
            <a:off x="548640" y="411480"/>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A3C"/>
              </a:buClr>
              <a:buSzPts val="3200"/>
              <a:buFont typeface="Cambria"/>
              <a:buNone/>
            </a:pPr>
            <a:r>
              <a:rPr b="1" i="0" lang="en-US" sz="3200" u="none" cap="none" strike="noStrike">
                <a:solidFill>
                  <a:srgbClr val="2A2A3C"/>
                </a:solidFill>
                <a:latin typeface="Cambria"/>
                <a:ea typeface="Cambria"/>
                <a:cs typeface="Cambria"/>
                <a:sym typeface="Cambria"/>
              </a:rPr>
              <a:t>Common Genres (1/2)</a:t>
            </a:r>
            <a:endParaRPr b="0" i="0" sz="3200" u="none" cap="none" strike="noStrike">
              <a:solidFill>
                <a:schemeClr val="dk1"/>
              </a:solidFill>
              <a:latin typeface="Calibri"/>
              <a:ea typeface="Calibri"/>
              <a:cs typeface="Calibri"/>
              <a:sym typeface="Calibri"/>
            </a:endParaRPr>
          </a:p>
        </p:txBody>
      </p:sp>
      <p:sp>
        <p:nvSpPr>
          <p:cNvPr id="83" name="Google Shape;83;p6"/>
          <p:cNvSpPr/>
          <p:nvPr/>
        </p:nvSpPr>
        <p:spPr>
          <a:xfrm>
            <a:off x="548640" y="105156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1250"/>
              <a:buFont typeface="Calibri"/>
              <a:buNone/>
            </a:pPr>
            <a:r>
              <a:rPr b="0" i="1" lang="en-US" sz="1250" u="none" cap="none" strike="noStrike">
                <a:solidFill>
                  <a:srgbClr val="6B6B80"/>
                </a:solidFill>
                <a:latin typeface="Calibri"/>
                <a:ea typeface="Calibri"/>
                <a:cs typeface="Calibri"/>
                <a:sym typeface="Calibri"/>
              </a:rPr>
              <a:t>Typical gameplay, common verbs, and example games — including Unity titles</a:t>
            </a:r>
            <a:endParaRPr b="0" i="0" sz="1250" u="none" cap="none" strike="noStrike">
              <a:solidFill>
                <a:schemeClr val="dk1"/>
              </a:solidFill>
              <a:latin typeface="Calibri"/>
              <a:ea typeface="Calibri"/>
              <a:cs typeface="Calibri"/>
              <a:sym typeface="Calibri"/>
            </a:endParaRPr>
          </a:p>
        </p:txBody>
      </p:sp>
      <p:sp>
        <p:nvSpPr>
          <p:cNvPr id="84" name="Google Shape;84;p6"/>
          <p:cNvSpPr/>
          <p:nvPr/>
        </p:nvSpPr>
        <p:spPr>
          <a:xfrm>
            <a:off x="548640" y="1600200"/>
            <a:ext cx="5349240" cy="2148840"/>
          </a:xfrm>
          <a:prstGeom prst="roundRect">
            <a:avLst>
              <a:gd fmla="val 3404" name="adj"/>
            </a:avLst>
          </a:prstGeom>
          <a:solidFill>
            <a:srgbClr val="FFFFFF"/>
          </a:solidFill>
          <a:ln cap="flat" cmpd="sng" w="12700">
            <a:solidFill>
              <a:srgbClr val="E4E4EE"/>
            </a:solidFill>
            <a:prstDash val="solid"/>
            <a:round/>
            <a:headEnd len="sm" w="sm" type="none"/>
            <a:tailEnd len="sm" w="sm" type="none"/>
          </a:ln>
          <a:effectLst>
            <a:outerShdw blurRad="76200" rotWithShape="0" algn="bl" dir="5400000" dist="25400">
              <a:srgbClr val="999999">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548640" y="1600200"/>
            <a:ext cx="82296" cy="2148840"/>
          </a:xfrm>
          <a:prstGeom prst="roundRect">
            <a:avLst>
              <a:gd fmla="val 16667"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804672" y="1728216"/>
            <a:ext cx="4892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50"/>
              <a:buFont typeface="Cambria"/>
              <a:buNone/>
            </a:pPr>
            <a:r>
              <a:rPr b="1" i="0" lang="en-US" sz="1550" u="none" cap="none" strike="noStrike">
                <a:solidFill>
                  <a:srgbClr val="2F3C7E"/>
                </a:solidFill>
                <a:latin typeface="Cambria"/>
                <a:ea typeface="Cambria"/>
                <a:cs typeface="Cambria"/>
                <a:sym typeface="Cambria"/>
              </a:rPr>
              <a:t>Action / Platformer</a:t>
            </a:r>
            <a:endParaRPr b="0" i="0" sz="1550" u="none" cap="none" strike="noStrike">
              <a:solidFill>
                <a:schemeClr val="dk1"/>
              </a:solidFill>
              <a:latin typeface="Calibri"/>
              <a:ea typeface="Calibri"/>
              <a:cs typeface="Calibri"/>
              <a:sym typeface="Calibri"/>
            </a:endParaRPr>
          </a:p>
        </p:txBody>
      </p:sp>
      <p:sp>
        <p:nvSpPr>
          <p:cNvPr id="87" name="Google Shape;87;p6"/>
          <p:cNvSpPr/>
          <p:nvPr/>
        </p:nvSpPr>
        <p:spPr>
          <a:xfrm>
            <a:off x="804672" y="2075688"/>
            <a:ext cx="489204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1050"/>
              <a:buFont typeface="Calibri"/>
              <a:buNone/>
            </a:pPr>
            <a:r>
              <a:rPr b="0" i="0" lang="en-US" sz="1050" u="none" cap="none" strike="noStrike">
                <a:solidFill>
                  <a:srgbClr val="2A2A3C"/>
                </a:solidFill>
                <a:latin typeface="Calibri"/>
                <a:ea typeface="Calibri"/>
                <a:cs typeface="Calibri"/>
                <a:sym typeface="Calibri"/>
              </a:rPr>
              <a:t>Navigate levels in real time, avoid hazards, and defeat enemies using responsive movement and attacks.</a:t>
            </a:r>
            <a:endParaRPr b="0" i="0" sz="1050" u="none" cap="none" strike="noStrike">
              <a:solidFill>
                <a:schemeClr val="dk1"/>
              </a:solidFill>
              <a:latin typeface="Calibri"/>
              <a:ea typeface="Calibri"/>
              <a:cs typeface="Calibri"/>
              <a:sym typeface="Calibri"/>
            </a:endParaRPr>
          </a:p>
        </p:txBody>
      </p:sp>
      <p:sp>
        <p:nvSpPr>
          <p:cNvPr id="88" name="Google Shape;88;p6"/>
          <p:cNvSpPr/>
          <p:nvPr/>
        </p:nvSpPr>
        <p:spPr>
          <a:xfrm>
            <a:off x="804672" y="2807208"/>
            <a:ext cx="4892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Verbs: </a:t>
            </a:r>
            <a:r>
              <a:rPr b="0" i="0" lang="en-US" sz="1000" u="none" cap="none" strike="noStrike">
                <a:solidFill>
                  <a:srgbClr val="2A2A3C"/>
                </a:solidFill>
                <a:latin typeface="Calibri"/>
                <a:ea typeface="Calibri"/>
                <a:cs typeface="Calibri"/>
                <a:sym typeface="Calibri"/>
              </a:rPr>
              <a:t>Run, jump, dodge, attack</a:t>
            </a:r>
            <a:endParaRPr b="0" i="0" sz="1000" u="none" cap="none" strike="noStrike">
              <a:solidFill>
                <a:schemeClr val="dk1"/>
              </a:solidFill>
              <a:latin typeface="Calibri"/>
              <a:ea typeface="Calibri"/>
              <a:cs typeface="Calibri"/>
              <a:sym typeface="Calibri"/>
            </a:endParaRPr>
          </a:p>
        </p:txBody>
      </p:sp>
      <p:sp>
        <p:nvSpPr>
          <p:cNvPr id="89" name="Google Shape;89;p6"/>
          <p:cNvSpPr/>
          <p:nvPr/>
        </p:nvSpPr>
        <p:spPr>
          <a:xfrm>
            <a:off x="804672" y="3136392"/>
            <a:ext cx="4892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Examples: </a:t>
            </a:r>
            <a:r>
              <a:rPr b="0" i="0" lang="en-US" sz="1000" u="none" cap="none" strike="noStrike">
                <a:solidFill>
                  <a:srgbClr val="2A2A3C"/>
                </a:solidFill>
                <a:latin typeface="Calibri"/>
                <a:ea typeface="Calibri"/>
                <a:cs typeface="Calibri"/>
                <a:sym typeface="Calibri"/>
              </a:rPr>
              <a:t>Celeste, Ori and the Blind Forest (Unity)</a:t>
            </a:r>
            <a:endParaRPr b="0" i="0" sz="1000" u="none" cap="none" strike="noStrike">
              <a:solidFill>
                <a:schemeClr val="dk1"/>
              </a:solidFill>
              <a:latin typeface="Calibri"/>
              <a:ea typeface="Calibri"/>
              <a:cs typeface="Calibri"/>
              <a:sym typeface="Calibri"/>
            </a:endParaRPr>
          </a:p>
        </p:txBody>
      </p:sp>
      <p:sp>
        <p:nvSpPr>
          <p:cNvPr id="90" name="Google Shape;90;p6"/>
          <p:cNvSpPr/>
          <p:nvPr/>
        </p:nvSpPr>
        <p:spPr>
          <a:xfrm>
            <a:off x="6172200" y="1600200"/>
            <a:ext cx="5349240" cy="2148840"/>
          </a:xfrm>
          <a:prstGeom prst="roundRect">
            <a:avLst>
              <a:gd fmla="val 3404" name="adj"/>
            </a:avLst>
          </a:prstGeom>
          <a:solidFill>
            <a:srgbClr val="FFFFFF"/>
          </a:solidFill>
          <a:ln cap="flat" cmpd="sng" w="12700">
            <a:solidFill>
              <a:srgbClr val="E4E4EE"/>
            </a:solidFill>
            <a:prstDash val="solid"/>
            <a:round/>
            <a:headEnd len="sm" w="sm" type="none"/>
            <a:tailEnd len="sm" w="sm" type="none"/>
          </a:ln>
          <a:effectLst>
            <a:outerShdw blurRad="76200" rotWithShape="0" algn="bl" dir="5400000" dist="25400">
              <a:srgbClr val="999999">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6172200" y="1600200"/>
            <a:ext cx="82296" cy="2148840"/>
          </a:xfrm>
          <a:prstGeom prst="roundRect">
            <a:avLst>
              <a:gd fmla="val 16667"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6428232" y="1728216"/>
            <a:ext cx="4892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50"/>
              <a:buFont typeface="Cambria"/>
              <a:buNone/>
            </a:pPr>
            <a:r>
              <a:rPr b="1" i="0" lang="en-US" sz="1550" u="none" cap="none" strike="noStrike">
                <a:solidFill>
                  <a:srgbClr val="2F3C7E"/>
                </a:solidFill>
                <a:latin typeface="Cambria"/>
                <a:ea typeface="Cambria"/>
                <a:cs typeface="Cambria"/>
                <a:sym typeface="Cambria"/>
              </a:rPr>
              <a:t>Puzzle</a:t>
            </a:r>
            <a:endParaRPr b="0" i="0" sz="1550" u="none" cap="none" strike="noStrike">
              <a:solidFill>
                <a:schemeClr val="dk1"/>
              </a:solidFill>
              <a:latin typeface="Calibri"/>
              <a:ea typeface="Calibri"/>
              <a:cs typeface="Calibri"/>
              <a:sym typeface="Calibri"/>
            </a:endParaRPr>
          </a:p>
        </p:txBody>
      </p:sp>
      <p:sp>
        <p:nvSpPr>
          <p:cNvPr id="93" name="Google Shape;93;p6"/>
          <p:cNvSpPr/>
          <p:nvPr/>
        </p:nvSpPr>
        <p:spPr>
          <a:xfrm>
            <a:off x="6428232" y="2075688"/>
            <a:ext cx="489204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1050"/>
              <a:buFont typeface="Calibri"/>
              <a:buNone/>
            </a:pPr>
            <a:r>
              <a:rPr b="0" i="0" lang="en-US" sz="1050" u="none" cap="none" strike="noStrike">
                <a:solidFill>
                  <a:srgbClr val="2A2A3C"/>
                </a:solidFill>
                <a:latin typeface="Calibri"/>
                <a:ea typeface="Calibri"/>
                <a:cs typeface="Calibri"/>
                <a:sym typeface="Calibri"/>
              </a:rPr>
              <a:t>Solve challenges by understanding the rules of a system.</a:t>
            </a:r>
            <a:endParaRPr b="0" i="0" sz="1050" u="none" cap="none" strike="noStrike">
              <a:solidFill>
                <a:schemeClr val="dk1"/>
              </a:solidFill>
              <a:latin typeface="Calibri"/>
              <a:ea typeface="Calibri"/>
              <a:cs typeface="Calibri"/>
              <a:sym typeface="Calibri"/>
            </a:endParaRPr>
          </a:p>
        </p:txBody>
      </p:sp>
      <p:sp>
        <p:nvSpPr>
          <p:cNvPr id="94" name="Google Shape;94;p6"/>
          <p:cNvSpPr/>
          <p:nvPr/>
        </p:nvSpPr>
        <p:spPr>
          <a:xfrm>
            <a:off x="6428232" y="2807208"/>
            <a:ext cx="4892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Verbs: </a:t>
            </a:r>
            <a:r>
              <a:rPr b="0" i="0" lang="en-US" sz="1000" u="none" cap="none" strike="noStrike">
                <a:solidFill>
                  <a:srgbClr val="2A2A3C"/>
                </a:solidFill>
                <a:latin typeface="Calibri"/>
                <a:ea typeface="Calibri"/>
                <a:cs typeface="Calibri"/>
                <a:sym typeface="Calibri"/>
              </a:rPr>
              <a:t>Think, plan, match, rotate, route, optimize</a:t>
            </a:r>
            <a:endParaRPr b="0" i="0" sz="1000" u="none" cap="none" strike="noStrike">
              <a:solidFill>
                <a:schemeClr val="dk1"/>
              </a:solidFill>
              <a:latin typeface="Calibri"/>
              <a:ea typeface="Calibri"/>
              <a:cs typeface="Calibri"/>
              <a:sym typeface="Calibri"/>
            </a:endParaRPr>
          </a:p>
        </p:txBody>
      </p:sp>
      <p:sp>
        <p:nvSpPr>
          <p:cNvPr id="95" name="Google Shape;95;p6"/>
          <p:cNvSpPr/>
          <p:nvPr/>
        </p:nvSpPr>
        <p:spPr>
          <a:xfrm>
            <a:off x="6428232" y="3136392"/>
            <a:ext cx="4892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Examples: </a:t>
            </a:r>
            <a:r>
              <a:rPr b="0" i="0" lang="en-US" sz="1000" u="none" cap="none" strike="noStrike">
                <a:solidFill>
                  <a:srgbClr val="2A2A3C"/>
                </a:solidFill>
                <a:latin typeface="Calibri"/>
                <a:ea typeface="Calibri"/>
                <a:cs typeface="Calibri"/>
                <a:sym typeface="Calibri"/>
              </a:rPr>
              <a:t>Tetris, Monument Valley</a:t>
            </a:r>
            <a:endParaRPr b="0" i="0" sz="1000" u="none" cap="none" strike="noStrike">
              <a:solidFill>
                <a:schemeClr val="dk1"/>
              </a:solidFill>
              <a:latin typeface="Calibri"/>
              <a:ea typeface="Calibri"/>
              <a:cs typeface="Calibri"/>
              <a:sym typeface="Calibri"/>
            </a:endParaRPr>
          </a:p>
        </p:txBody>
      </p:sp>
      <p:sp>
        <p:nvSpPr>
          <p:cNvPr id="96" name="Google Shape;96;p6"/>
          <p:cNvSpPr/>
          <p:nvPr/>
        </p:nvSpPr>
        <p:spPr>
          <a:xfrm>
            <a:off x="548640" y="4023360"/>
            <a:ext cx="5349240" cy="2148840"/>
          </a:xfrm>
          <a:prstGeom prst="roundRect">
            <a:avLst>
              <a:gd fmla="val 3404" name="adj"/>
            </a:avLst>
          </a:prstGeom>
          <a:solidFill>
            <a:srgbClr val="FFFFFF"/>
          </a:solidFill>
          <a:ln cap="flat" cmpd="sng" w="12700">
            <a:solidFill>
              <a:srgbClr val="E4E4EE"/>
            </a:solidFill>
            <a:prstDash val="solid"/>
            <a:round/>
            <a:headEnd len="sm" w="sm" type="none"/>
            <a:tailEnd len="sm" w="sm" type="none"/>
          </a:ln>
          <a:effectLst>
            <a:outerShdw blurRad="76200" rotWithShape="0" algn="bl" dir="5400000" dist="25400">
              <a:srgbClr val="999999">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548640" y="4023360"/>
            <a:ext cx="82296" cy="2148840"/>
          </a:xfrm>
          <a:prstGeom prst="roundRect">
            <a:avLst>
              <a:gd fmla="val 16667"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804672" y="4151376"/>
            <a:ext cx="4892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50"/>
              <a:buFont typeface="Cambria"/>
              <a:buNone/>
            </a:pPr>
            <a:r>
              <a:rPr b="1" i="0" lang="en-US" sz="1550" u="none" cap="none" strike="noStrike">
                <a:solidFill>
                  <a:srgbClr val="2F3C7E"/>
                </a:solidFill>
                <a:latin typeface="Cambria"/>
                <a:ea typeface="Cambria"/>
                <a:cs typeface="Cambria"/>
                <a:sym typeface="Cambria"/>
              </a:rPr>
              <a:t>Shooter / FPS</a:t>
            </a:r>
            <a:endParaRPr b="0" i="0" sz="1550" u="none" cap="none" strike="noStrike">
              <a:solidFill>
                <a:schemeClr val="dk1"/>
              </a:solidFill>
              <a:latin typeface="Calibri"/>
              <a:ea typeface="Calibri"/>
              <a:cs typeface="Calibri"/>
              <a:sym typeface="Calibri"/>
            </a:endParaRPr>
          </a:p>
        </p:txBody>
      </p:sp>
      <p:sp>
        <p:nvSpPr>
          <p:cNvPr id="99" name="Google Shape;99;p6"/>
          <p:cNvSpPr/>
          <p:nvPr/>
        </p:nvSpPr>
        <p:spPr>
          <a:xfrm>
            <a:off x="804672" y="4498848"/>
            <a:ext cx="489204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1050"/>
              <a:buFont typeface="Calibri"/>
              <a:buNone/>
            </a:pPr>
            <a:r>
              <a:rPr b="0" i="0" lang="en-US" sz="1050" u="none" cap="none" strike="noStrike">
                <a:solidFill>
                  <a:srgbClr val="2A2A3C"/>
                </a:solidFill>
                <a:latin typeface="Calibri"/>
                <a:ea typeface="Calibri"/>
                <a:cs typeface="Calibri"/>
                <a:sym typeface="Calibri"/>
              </a:rPr>
              <a:t>Use ranged weapons to defeat enemies while staying alive in real time.</a:t>
            </a:r>
            <a:endParaRPr b="0" i="0" sz="1050" u="none" cap="none" strike="noStrike">
              <a:solidFill>
                <a:schemeClr val="dk1"/>
              </a:solidFill>
              <a:latin typeface="Calibri"/>
              <a:ea typeface="Calibri"/>
              <a:cs typeface="Calibri"/>
              <a:sym typeface="Calibri"/>
            </a:endParaRPr>
          </a:p>
        </p:txBody>
      </p:sp>
      <p:sp>
        <p:nvSpPr>
          <p:cNvPr id="100" name="Google Shape;100;p6"/>
          <p:cNvSpPr/>
          <p:nvPr/>
        </p:nvSpPr>
        <p:spPr>
          <a:xfrm>
            <a:off x="804672" y="5230368"/>
            <a:ext cx="4892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Verbs: </a:t>
            </a:r>
            <a:r>
              <a:rPr b="0" i="0" lang="en-US" sz="1000" u="none" cap="none" strike="noStrike">
                <a:solidFill>
                  <a:srgbClr val="2A2A3C"/>
                </a:solidFill>
                <a:latin typeface="Calibri"/>
                <a:ea typeface="Calibri"/>
                <a:cs typeface="Calibri"/>
                <a:sym typeface="Calibri"/>
              </a:rPr>
              <a:t>Aim, shoot, evade, reload, reposition</a:t>
            </a:r>
            <a:endParaRPr b="0" i="0" sz="1000" u="none" cap="none" strike="noStrike">
              <a:solidFill>
                <a:schemeClr val="dk1"/>
              </a:solidFill>
              <a:latin typeface="Calibri"/>
              <a:ea typeface="Calibri"/>
              <a:cs typeface="Calibri"/>
              <a:sym typeface="Calibri"/>
            </a:endParaRPr>
          </a:p>
        </p:txBody>
      </p:sp>
      <p:sp>
        <p:nvSpPr>
          <p:cNvPr id="101" name="Google Shape;101;p6"/>
          <p:cNvSpPr/>
          <p:nvPr/>
        </p:nvSpPr>
        <p:spPr>
          <a:xfrm>
            <a:off x="804672" y="5559552"/>
            <a:ext cx="4892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Examples: </a:t>
            </a:r>
            <a:r>
              <a:rPr b="0" i="0" lang="en-US" sz="1000" u="none" cap="none" strike="noStrike">
                <a:solidFill>
                  <a:srgbClr val="2A2A3C"/>
                </a:solidFill>
                <a:latin typeface="Calibri"/>
                <a:ea typeface="Calibri"/>
                <a:cs typeface="Calibri"/>
                <a:sym typeface="Calibri"/>
              </a:rPr>
              <a:t>Overwatch, Call of Duty: Mobile (Unity)</a:t>
            </a:r>
            <a:endParaRPr b="0" i="0" sz="1000" u="none" cap="none" strike="noStrike">
              <a:solidFill>
                <a:schemeClr val="dk1"/>
              </a:solidFill>
              <a:latin typeface="Calibri"/>
              <a:ea typeface="Calibri"/>
              <a:cs typeface="Calibri"/>
              <a:sym typeface="Calibri"/>
            </a:endParaRPr>
          </a:p>
        </p:txBody>
      </p:sp>
      <p:sp>
        <p:nvSpPr>
          <p:cNvPr id="102" name="Google Shape;102;p6"/>
          <p:cNvSpPr/>
          <p:nvPr/>
        </p:nvSpPr>
        <p:spPr>
          <a:xfrm>
            <a:off x="6172200" y="4023360"/>
            <a:ext cx="5349240" cy="2148840"/>
          </a:xfrm>
          <a:prstGeom prst="roundRect">
            <a:avLst>
              <a:gd fmla="val 3404" name="adj"/>
            </a:avLst>
          </a:prstGeom>
          <a:solidFill>
            <a:srgbClr val="FFFFFF"/>
          </a:solidFill>
          <a:ln cap="flat" cmpd="sng" w="12700">
            <a:solidFill>
              <a:srgbClr val="E4E4EE"/>
            </a:solidFill>
            <a:prstDash val="solid"/>
            <a:round/>
            <a:headEnd len="sm" w="sm" type="none"/>
            <a:tailEnd len="sm" w="sm" type="none"/>
          </a:ln>
          <a:effectLst>
            <a:outerShdw blurRad="76200" rotWithShape="0" algn="bl" dir="5400000" dist="25400">
              <a:srgbClr val="999999">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6172200" y="4023360"/>
            <a:ext cx="82296" cy="2148840"/>
          </a:xfrm>
          <a:prstGeom prst="roundRect">
            <a:avLst>
              <a:gd fmla="val 16667"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6428232" y="4151376"/>
            <a:ext cx="4892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50"/>
              <a:buFont typeface="Cambria"/>
              <a:buNone/>
            </a:pPr>
            <a:r>
              <a:rPr b="1" i="0" lang="en-US" sz="1550" u="none" cap="none" strike="noStrike">
                <a:solidFill>
                  <a:srgbClr val="2F3C7E"/>
                </a:solidFill>
                <a:latin typeface="Cambria"/>
                <a:ea typeface="Cambria"/>
                <a:cs typeface="Cambria"/>
                <a:sym typeface="Cambria"/>
              </a:rPr>
              <a:t>Role-Playing Game</a:t>
            </a:r>
            <a:endParaRPr b="0" i="0" sz="1550" u="none" cap="none" strike="noStrike">
              <a:solidFill>
                <a:schemeClr val="dk1"/>
              </a:solidFill>
              <a:latin typeface="Calibri"/>
              <a:ea typeface="Calibri"/>
              <a:cs typeface="Calibri"/>
              <a:sym typeface="Calibri"/>
            </a:endParaRPr>
          </a:p>
        </p:txBody>
      </p:sp>
      <p:sp>
        <p:nvSpPr>
          <p:cNvPr id="105" name="Google Shape;105;p6"/>
          <p:cNvSpPr/>
          <p:nvPr/>
        </p:nvSpPr>
        <p:spPr>
          <a:xfrm>
            <a:off x="6428232" y="4498848"/>
            <a:ext cx="489204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1050"/>
              <a:buFont typeface="Calibri"/>
              <a:buNone/>
            </a:pPr>
            <a:r>
              <a:rPr b="0" i="0" lang="en-US" sz="1050" u="none" cap="none" strike="noStrike">
                <a:solidFill>
                  <a:srgbClr val="2A2A3C"/>
                </a:solidFill>
                <a:latin typeface="Calibri"/>
                <a:ea typeface="Calibri"/>
                <a:cs typeface="Calibri"/>
                <a:sym typeface="Calibri"/>
              </a:rPr>
              <a:t>Control one or more characters, grow their abilities, and make choices as you progress through a world or story.</a:t>
            </a:r>
            <a:endParaRPr b="0" i="0" sz="1050" u="none" cap="none" strike="noStrike">
              <a:solidFill>
                <a:schemeClr val="dk1"/>
              </a:solidFill>
              <a:latin typeface="Calibri"/>
              <a:ea typeface="Calibri"/>
              <a:cs typeface="Calibri"/>
              <a:sym typeface="Calibri"/>
            </a:endParaRPr>
          </a:p>
        </p:txBody>
      </p:sp>
      <p:sp>
        <p:nvSpPr>
          <p:cNvPr id="106" name="Google Shape;106;p6"/>
          <p:cNvSpPr/>
          <p:nvPr/>
        </p:nvSpPr>
        <p:spPr>
          <a:xfrm>
            <a:off x="6428232" y="5230368"/>
            <a:ext cx="4892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Verbs: </a:t>
            </a:r>
            <a:r>
              <a:rPr b="0" i="0" lang="en-US" sz="1000" u="none" cap="none" strike="noStrike">
                <a:solidFill>
                  <a:srgbClr val="2A2A3C"/>
                </a:solidFill>
                <a:latin typeface="Calibri"/>
                <a:ea typeface="Calibri"/>
                <a:cs typeface="Calibri"/>
                <a:sym typeface="Calibri"/>
              </a:rPr>
              <a:t>Explore, fight, level up, equip, talk to NPCs</a:t>
            </a:r>
            <a:endParaRPr b="0" i="0" sz="1000" u="none" cap="none" strike="noStrike">
              <a:solidFill>
                <a:schemeClr val="dk1"/>
              </a:solidFill>
              <a:latin typeface="Calibri"/>
              <a:ea typeface="Calibri"/>
              <a:cs typeface="Calibri"/>
              <a:sym typeface="Calibri"/>
            </a:endParaRPr>
          </a:p>
        </p:txBody>
      </p:sp>
      <p:sp>
        <p:nvSpPr>
          <p:cNvPr id="107" name="Google Shape;107;p6"/>
          <p:cNvSpPr/>
          <p:nvPr/>
        </p:nvSpPr>
        <p:spPr>
          <a:xfrm>
            <a:off x="6428232" y="5559552"/>
            <a:ext cx="4892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Examples: </a:t>
            </a:r>
            <a:r>
              <a:rPr b="0" i="0" lang="en-US" sz="1000" u="none" cap="none" strike="noStrike">
                <a:solidFill>
                  <a:srgbClr val="2A2A3C"/>
                </a:solidFill>
                <a:latin typeface="Calibri"/>
                <a:ea typeface="Calibri"/>
                <a:cs typeface="Calibri"/>
                <a:sym typeface="Calibri"/>
              </a:rPr>
              <a:t>Skyrim, Genshin Impact (Unity)</a:t>
            </a:r>
            <a:endParaRPr b="0" i="0" sz="1000" u="none" cap="none" strike="noStrike">
              <a:solidFill>
                <a:schemeClr val="dk1"/>
              </a:solidFill>
              <a:latin typeface="Calibri"/>
              <a:ea typeface="Calibri"/>
              <a:cs typeface="Calibri"/>
              <a:sym typeface="Calibri"/>
            </a:endParaRPr>
          </a:p>
        </p:txBody>
      </p:sp>
      <p:sp>
        <p:nvSpPr>
          <p:cNvPr id="108" name="Google Shape;108;p6"/>
          <p:cNvSpPr/>
          <p:nvPr/>
        </p:nvSpPr>
        <p:spPr>
          <a:xfrm>
            <a:off x="54864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Game Genres — Unity Learn</a:t>
            </a:r>
            <a:endParaRPr b="0" i="0" sz="900" u="none" cap="none" strike="noStrike">
              <a:solidFill>
                <a:schemeClr val="dk1"/>
              </a:solidFill>
              <a:latin typeface="Calibri"/>
              <a:ea typeface="Calibri"/>
              <a:cs typeface="Calibri"/>
              <a:sym typeface="Calibri"/>
            </a:endParaRPr>
          </a:p>
        </p:txBody>
      </p:sp>
      <p:sp>
        <p:nvSpPr>
          <p:cNvPr id="109" name="Google Shape;109;p6"/>
          <p:cNvSpPr/>
          <p:nvPr/>
        </p:nvSpPr>
        <p:spPr>
          <a:xfrm>
            <a:off x="11185855"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C"/>
        </a:solidFill>
      </p:bgPr>
    </p:bg>
    <p:spTree>
      <p:nvGrpSpPr>
        <p:cNvPr id="114" name="Shape 114"/>
        <p:cNvGrpSpPr/>
        <p:nvPr/>
      </p:nvGrpSpPr>
      <p:grpSpPr>
        <a:xfrm>
          <a:off x="0" y="0"/>
          <a:ext cx="0" cy="0"/>
          <a:chOff x="0" y="0"/>
          <a:chExt cx="0" cy="0"/>
        </a:xfrm>
      </p:grpSpPr>
      <p:sp>
        <p:nvSpPr>
          <p:cNvPr id="115" name="Google Shape;115;p7"/>
          <p:cNvSpPr/>
          <p:nvPr/>
        </p:nvSpPr>
        <p:spPr>
          <a:xfrm>
            <a:off x="548640" y="411480"/>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A3C"/>
              </a:buClr>
              <a:buSzPts val="3200"/>
              <a:buFont typeface="Cambria"/>
              <a:buNone/>
            </a:pPr>
            <a:r>
              <a:rPr b="1" i="0" lang="en-US" sz="3200" u="none" cap="none" strike="noStrike">
                <a:solidFill>
                  <a:srgbClr val="2A2A3C"/>
                </a:solidFill>
                <a:latin typeface="Cambria"/>
                <a:ea typeface="Cambria"/>
                <a:cs typeface="Cambria"/>
                <a:sym typeface="Cambria"/>
              </a:rPr>
              <a:t>Common Genres (2/2)</a:t>
            </a:r>
            <a:endParaRPr b="0" i="0" sz="3200" u="none" cap="none" strike="noStrike">
              <a:solidFill>
                <a:schemeClr val="dk1"/>
              </a:solidFill>
              <a:latin typeface="Calibri"/>
              <a:ea typeface="Calibri"/>
              <a:cs typeface="Calibri"/>
              <a:sym typeface="Calibri"/>
            </a:endParaRPr>
          </a:p>
        </p:txBody>
      </p:sp>
      <p:sp>
        <p:nvSpPr>
          <p:cNvPr id="116" name="Google Shape;116;p7"/>
          <p:cNvSpPr/>
          <p:nvPr/>
        </p:nvSpPr>
        <p:spPr>
          <a:xfrm>
            <a:off x="548640" y="105156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1250"/>
              <a:buFont typeface="Calibri"/>
              <a:buNone/>
            </a:pPr>
            <a:r>
              <a:rPr b="0" i="1" lang="en-US" sz="1250" u="none" cap="none" strike="noStrike">
                <a:solidFill>
                  <a:srgbClr val="6B6B80"/>
                </a:solidFill>
                <a:latin typeface="Calibri"/>
                <a:ea typeface="Calibri"/>
                <a:cs typeface="Calibri"/>
                <a:sym typeface="Calibri"/>
              </a:rPr>
              <a:t>Typical gameplay, common verbs, and example games — including Unity titles</a:t>
            </a:r>
            <a:endParaRPr b="0" i="0" sz="1250" u="none" cap="none" strike="noStrike">
              <a:solidFill>
                <a:schemeClr val="dk1"/>
              </a:solidFill>
              <a:latin typeface="Calibri"/>
              <a:ea typeface="Calibri"/>
              <a:cs typeface="Calibri"/>
              <a:sym typeface="Calibri"/>
            </a:endParaRPr>
          </a:p>
        </p:txBody>
      </p:sp>
      <p:sp>
        <p:nvSpPr>
          <p:cNvPr id="117" name="Google Shape;117;p7"/>
          <p:cNvSpPr/>
          <p:nvPr/>
        </p:nvSpPr>
        <p:spPr>
          <a:xfrm>
            <a:off x="548640" y="1600200"/>
            <a:ext cx="5349240" cy="2148840"/>
          </a:xfrm>
          <a:prstGeom prst="roundRect">
            <a:avLst>
              <a:gd fmla="val 3404" name="adj"/>
            </a:avLst>
          </a:prstGeom>
          <a:solidFill>
            <a:srgbClr val="FFFFFF"/>
          </a:solidFill>
          <a:ln cap="flat" cmpd="sng" w="12700">
            <a:solidFill>
              <a:srgbClr val="E4E4EE"/>
            </a:solidFill>
            <a:prstDash val="solid"/>
            <a:round/>
            <a:headEnd len="sm" w="sm" type="none"/>
            <a:tailEnd len="sm" w="sm" type="none"/>
          </a:ln>
          <a:effectLst>
            <a:outerShdw blurRad="76200" rotWithShape="0" algn="bl" dir="5400000" dist="25400">
              <a:srgbClr val="999999">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548640" y="1600200"/>
            <a:ext cx="82296" cy="2148840"/>
          </a:xfrm>
          <a:prstGeom prst="roundRect">
            <a:avLst>
              <a:gd fmla="val 16667"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804672" y="1728216"/>
            <a:ext cx="4892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50"/>
              <a:buFont typeface="Cambria"/>
              <a:buNone/>
            </a:pPr>
            <a:r>
              <a:rPr b="1" i="0" lang="en-US" sz="1550" u="none" cap="none" strike="noStrike">
                <a:solidFill>
                  <a:srgbClr val="2F3C7E"/>
                </a:solidFill>
                <a:latin typeface="Cambria"/>
                <a:ea typeface="Cambria"/>
                <a:cs typeface="Cambria"/>
                <a:sym typeface="Cambria"/>
              </a:rPr>
              <a:t>RTS / Tactics</a:t>
            </a:r>
            <a:endParaRPr b="0" i="0" sz="1550" u="none" cap="none" strike="noStrike">
              <a:solidFill>
                <a:schemeClr val="dk1"/>
              </a:solidFill>
              <a:latin typeface="Calibri"/>
              <a:ea typeface="Calibri"/>
              <a:cs typeface="Calibri"/>
              <a:sym typeface="Calibri"/>
            </a:endParaRPr>
          </a:p>
        </p:txBody>
      </p:sp>
      <p:sp>
        <p:nvSpPr>
          <p:cNvPr id="120" name="Google Shape;120;p7"/>
          <p:cNvSpPr/>
          <p:nvPr/>
        </p:nvSpPr>
        <p:spPr>
          <a:xfrm>
            <a:off x="804672" y="2075688"/>
            <a:ext cx="489204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1050"/>
              <a:buFont typeface="Calibri"/>
              <a:buNone/>
            </a:pPr>
            <a:r>
              <a:rPr b="0" i="0" lang="en-US" sz="1050" u="none" cap="none" strike="noStrike">
                <a:solidFill>
                  <a:srgbClr val="2A2A3C"/>
                </a:solidFill>
                <a:latin typeface="Calibri"/>
                <a:ea typeface="Calibri"/>
                <a:cs typeface="Calibri"/>
                <a:sym typeface="Calibri"/>
              </a:rPr>
              <a:t>Make medium- or long-term plans to outsmart opponents or manage systems, often from a top-down view.</a:t>
            </a:r>
            <a:endParaRPr b="0" i="0" sz="1050" u="none" cap="none" strike="noStrike">
              <a:solidFill>
                <a:schemeClr val="dk1"/>
              </a:solidFill>
              <a:latin typeface="Calibri"/>
              <a:ea typeface="Calibri"/>
              <a:cs typeface="Calibri"/>
              <a:sym typeface="Calibri"/>
            </a:endParaRPr>
          </a:p>
        </p:txBody>
      </p:sp>
      <p:sp>
        <p:nvSpPr>
          <p:cNvPr id="121" name="Google Shape;121;p7"/>
          <p:cNvSpPr/>
          <p:nvPr/>
        </p:nvSpPr>
        <p:spPr>
          <a:xfrm>
            <a:off x="804672" y="2807208"/>
            <a:ext cx="4892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Verbs: </a:t>
            </a:r>
            <a:r>
              <a:rPr b="0" i="0" lang="en-US" sz="1000" u="none" cap="none" strike="noStrike">
                <a:solidFill>
                  <a:srgbClr val="2A2A3C"/>
                </a:solidFill>
                <a:latin typeface="Calibri"/>
                <a:ea typeface="Calibri"/>
                <a:cs typeface="Calibri"/>
                <a:sym typeface="Calibri"/>
              </a:rPr>
              <a:t>Plan, manage, position, command, allocate</a:t>
            </a:r>
            <a:endParaRPr b="0" i="0" sz="1000" u="none" cap="none" strike="noStrike">
              <a:solidFill>
                <a:schemeClr val="dk1"/>
              </a:solidFill>
              <a:latin typeface="Calibri"/>
              <a:ea typeface="Calibri"/>
              <a:cs typeface="Calibri"/>
              <a:sym typeface="Calibri"/>
            </a:endParaRPr>
          </a:p>
        </p:txBody>
      </p:sp>
      <p:sp>
        <p:nvSpPr>
          <p:cNvPr id="122" name="Google Shape;122;p7"/>
          <p:cNvSpPr/>
          <p:nvPr/>
        </p:nvSpPr>
        <p:spPr>
          <a:xfrm>
            <a:off x="804672" y="3136392"/>
            <a:ext cx="4892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Examples: </a:t>
            </a:r>
            <a:r>
              <a:rPr b="0" i="0" lang="en-US" sz="1000" u="none" cap="none" strike="noStrike">
                <a:solidFill>
                  <a:srgbClr val="2A2A3C"/>
                </a:solidFill>
                <a:latin typeface="Calibri"/>
                <a:ea typeface="Calibri"/>
                <a:cs typeface="Calibri"/>
                <a:sym typeface="Calibri"/>
              </a:rPr>
              <a:t>StarCraft, RimWorld (Unity)</a:t>
            </a:r>
            <a:endParaRPr b="0" i="0" sz="1000" u="none" cap="none" strike="noStrike">
              <a:solidFill>
                <a:schemeClr val="dk1"/>
              </a:solidFill>
              <a:latin typeface="Calibri"/>
              <a:ea typeface="Calibri"/>
              <a:cs typeface="Calibri"/>
              <a:sym typeface="Calibri"/>
            </a:endParaRPr>
          </a:p>
        </p:txBody>
      </p:sp>
      <p:sp>
        <p:nvSpPr>
          <p:cNvPr id="123" name="Google Shape;123;p7"/>
          <p:cNvSpPr/>
          <p:nvPr/>
        </p:nvSpPr>
        <p:spPr>
          <a:xfrm>
            <a:off x="6172200" y="1600200"/>
            <a:ext cx="5349240" cy="2148840"/>
          </a:xfrm>
          <a:prstGeom prst="roundRect">
            <a:avLst>
              <a:gd fmla="val 3404" name="adj"/>
            </a:avLst>
          </a:prstGeom>
          <a:solidFill>
            <a:srgbClr val="FFFFFF"/>
          </a:solidFill>
          <a:ln cap="flat" cmpd="sng" w="12700">
            <a:solidFill>
              <a:srgbClr val="E4E4EE"/>
            </a:solidFill>
            <a:prstDash val="solid"/>
            <a:round/>
            <a:headEnd len="sm" w="sm" type="none"/>
            <a:tailEnd len="sm" w="sm" type="none"/>
          </a:ln>
          <a:effectLst>
            <a:outerShdw blurRad="76200" rotWithShape="0" algn="bl" dir="5400000" dist="25400">
              <a:srgbClr val="999999">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6172200" y="1600200"/>
            <a:ext cx="82296" cy="2148840"/>
          </a:xfrm>
          <a:prstGeom prst="roundRect">
            <a:avLst>
              <a:gd fmla="val 16667"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6428232" y="1728216"/>
            <a:ext cx="4892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50"/>
              <a:buFont typeface="Cambria"/>
              <a:buNone/>
            </a:pPr>
            <a:r>
              <a:rPr b="1" i="0" lang="en-US" sz="1550" u="none" cap="none" strike="noStrike">
                <a:solidFill>
                  <a:srgbClr val="2F3C7E"/>
                </a:solidFill>
                <a:latin typeface="Cambria"/>
                <a:ea typeface="Cambria"/>
                <a:cs typeface="Cambria"/>
                <a:sym typeface="Cambria"/>
              </a:rPr>
              <a:t>Simulation / Sandbox</a:t>
            </a:r>
            <a:endParaRPr b="0" i="0" sz="1550" u="none" cap="none" strike="noStrike">
              <a:solidFill>
                <a:schemeClr val="dk1"/>
              </a:solidFill>
              <a:latin typeface="Calibri"/>
              <a:ea typeface="Calibri"/>
              <a:cs typeface="Calibri"/>
              <a:sym typeface="Calibri"/>
            </a:endParaRPr>
          </a:p>
        </p:txBody>
      </p:sp>
      <p:sp>
        <p:nvSpPr>
          <p:cNvPr id="126" name="Google Shape;126;p7"/>
          <p:cNvSpPr/>
          <p:nvPr/>
        </p:nvSpPr>
        <p:spPr>
          <a:xfrm>
            <a:off x="6428232" y="2075688"/>
            <a:ext cx="489204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1050"/>
              <a:buFont typeface="Calibri"/>
              <a:buNone/>
            </a:pPr>
            <a:r>
              <a:rPr b="0" i="0" lang="en-US" sz="1050" u="none" cap="none" strike="noStrike">
                <a:solidFill>
                  <a:srgbClr val="2A2A3C"/>
                </a:solidFill>
                <a:latin typeface="Calibri"/>
                <a:ea typeface="Calibri"/>
                <a:cs typeface="Calibri"/>
                <a:sym typeface="Calibri"/>
              </a:rPr>
              <a:t>Experiment with systems, build or manage things, and create your own goals in an open-ended environment.</a:t>
            </a:r>
            <a:endParaRPr b="0" i="0" sz="1050" u="none" cap="none" strike="noStrike">
              <a:solidFill>
                <a:schemeClr val="dk1"/>
              </a:solidFill>
              <a:latin typeface="Calibri"/>
              <a:ea typeface="Calibri"/>
              <a:cs typeface="Calibri"/>
              <a:sym typeface="Calibri"/>
            </a:endParaRPr>
          </a:p>
        </p:txBody>
      </p:sp>
      <p:sp>
        <p:nvSpPr>
          <p:cNvPr id="127" name="Google Shape;127;p7"/>
          <p:cNvSpPr/>
          <p:nvPr/>
        </p:nvSpPr>
        <p:spPr>
          <a:xfrm>
            <a:off x="6428232" y="2807208"/>
            <a:ext cx="4892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Verbs: </a:t>
            </a:r>
            <a:r>
              <a:rPr b="0" i="0" lang="en-US" sz="1000" u="none" cap="none" strike="noStrike">
                <a:solidFill>
                  <a:srgbClr val="2A2A3C"/>
                </a:solidFill>
                <a:latin typeface="Calibri"/>
                <a:ea typeface="Calibri"/>
                <a:cs typeface="Calibri"/>
                <a:sym typeface="Calibri"/>
              </a:rPr>
              <a:t>Build, place, tweak, manage, customize</a:t>
            </a:r>
            <a:endParaRPr b="0" i="0" sz="1000" u="none" cap="none" strike="noStrike">
              <a:solidFill>
                <a:schemeClr val="dk1"/>
              </a:solidFill>
              <a:latin typeface="Calibri"/>
              <a:ea typeface="Calibri"/>
              <a:cs typeface="Calibri"/>
              <a:sym typeface="Calibri"/>
            </a:endParaRPr>
          </a:p>
        </p:txBody>
      </p:sp>
      <p:sp>
        <p:nvSpPr>
          <p:cNvPr id="128" name="Google Shape;128;p7"/>
          <p:cNvSpPr/>
          <p:nvPr/>
        </p:nvSpPr>
        <p:spPr>
          <a:xfrm>
            <a:off x="6428232" y="3136392"/>
            <a:ext cx="4892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Examples: </a:t>
            </a:r>
            <a:r>
              <a:rPr b="0" i="0" lang="en-US" sz="1000" u="none" cap="none" strike="noStrike">
                <a:solidFill>
                  <a:srgbClr val="2A2A3C"/>
                </a:solidFill>
                <a:latin typeface="Calibri"/>
                <a:ea typeface="Calibri"/>
                <a:cs typeface="Calibri"/>
                <a:sym typeface="Calibri"/>
              </a:rPr>
              <a:t>The Sims, Minecraft, Cities: Skylines (Unity)</a:t>
            </a:r>
            <a:endParaRPr b="0" i="0" sz="1000" u="none" cap="none" strike="noStrike">
              <a:solidFill>
                <a:schemeClr val="dk1"/>
              </a:solidFill>
              <a:latin typeface="Calibri"/>
              <a:ea typeface="Calibri"/>
              <a:cs typeface="Calibri"/>
              <a:sym typeface="Calibri"/>
            </a:endParaRPr>
          </a:p>
        </p:txBody>
      </p:sp>
      <p:sp>
        <p:nvSpPr>
          <p:cNvPr id="129" name="Google Shape;129;p7"/>
          <p:cNvSpPr/>
          <p:nvPr/>
        </p:nvSpPr>
        <p:spPr>
          <a:xfrm>
            <a:off x="548640" y="4023360"/>
            <a:ext cx="5349240" cy="2148840"/>
          </a:xfrm>
          <a:prstGeom prst="roundRect">
            <a:avLst>
              <a:gd fmla="val 3404" name="adj"/>
            </a:avLst>
          </a:prstGeom>
          <a:solidFill>
            <a:srgbClr val="FFFFFF"/>
          </a:solidFill>
          <a:ln cap="flat" cmpd="sng" w="12700">
            <a:solidFill>
              <a:srgbClr val="E4E4EE"/>
            </a:solidFill>
            <a:prstDash val="solid"/>
            <a:round/>
            <a:headEnd len="sm" w="sm" type="none"/>
            <a:tailEnd len="sm" w="sm" type="none"/>
          </a:ln>
          <a:effectLst>
            <a:outerShdw blurRad="76200" rotWithShape="0" algn="bl" dir="5400000" dist="25400">
              <a:srgbClr val="999999">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548640" y="4023360"/>
            <a:ext cx="82296" cy="2148840"/>
          </a:xfrm>
          <a:prstGeom prst="roundRect">
            <a:avLst>
              <a:gd fmla="val 16667"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804672" y="4151376"/>
            <a:ext cx="4892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50"/>
              <a:buFont typeface="Cambria"/>
              <a:buNone/>
            </a:pPr>
            <a:r>
              <a:rPr b="1" i="0" lang="en-US" sz="1550" u="none" cap="none" strike="noStrike">
                <a:solidFill>
                  <a:srgbClr val="2F3C7E"/>
                </a:solidFill>
                <a:latin typeface="Cambria"/>
                <a:ea typeface="Cambria"/>
                <a:cs typeface="Cambria"/>
                <a:sym typeface="Cambria"/>
              </a:rPr>
              <a:t>Fighting</a:t>
            </a:r>
            <a:endParaRPr b="0" i="0" sz="1550" u="none" cap="none" strike="noStrike">
              <a:solidFill>
                <a:schemeClr val="dk1"/>
              </a:solidFill>
              <a:latin typeface="Calibri"/>
              <a:ea typeface="Calibri"/>
              <a:cs typeface="Calibri"/>
              <a:sym typeface="Calibri"/>
            </a:endParaRPr>
          </a:p>
        </p:txBody>
      </p:sp>
      <p:sp>
        <p:nvSpPr>
          <p:cNvPr id="132" name="Google Shape;132;p7"/>
          <p:cNvSpPr/>
          <p:nvPr/>
        </p:nvSpPr>
        <p:spPr>
          <a:xfrm>
            <a:off x="804672" y="4498848"/>
            <a:ext cx="489204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1050"/>
              <a:buFont typeface="Calibri"/>
              <a:buNone/>
            </a:pPr>
            <a:r>
              <a:rPr b="0" i="0" lang="en-US" sz="1050" u="none" cap="none" strike="noStrike">
                <a:solidFill>
                  <a:srgbClr val="2A2A3C"/>
                </a:solidFill>
                <a:latin typeface="Calibri"/>
                <a:ea typeface="Calibri"/>
                <a:cs typeface="Calibri"/>
                <a:sym typeface="Calibri"/>
              </a:rPr>
              <a:t>One-on-one or small group matches with an emphasis on timing and move sets.</a:t>
            </a:r>
            <a:endParaRPr b="0" i="0" sz="1050" u="none" cap="none" strike="noStrike">
              <a:solidFill>
                <a:schemeClr val="dk1"/>
              </a:solidFill>
              <a:latin typeface="Calibri"/>
              <a:ea typeface="Calibri"/>
              <a:cs typeface="Calibri"/>
              <a:sym typeface="Calibri"/>
            </a:endParaRPr>
          </a:p>
        </p:txBody>
      </p:sp>
      <p:sp>
        <p:nvSpPr>
          <p:cNvPr id="133" name="Google Shape;133;p7"/>
          <p:cNvSpPr/>
          <p:nvPr/>
        </p:nvSpPr>
        <p:spPr>
          <a:xfrm>
            <a:off x="804672" y="5230368"/>
            <a:ext cx="4892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Verbs: </a:t>
            </a:r>
            <a:r>
              <a:rPr b="0" i="0" lang="en-US" sz="1000" u="none" cap="none" strike="noStrike">
                <a:solidFill>
                  <a:srgbClr val="2A2A3C"/>
                </a:solidFill>
                <a:latin typeface="Calibri"/>
                <a:ea typeface="Calibri"/>
                <a:cs typeface="Calibri"/>
                <a:sym typeface="Calibri"/>
              </a:rPr>
              <a:t>Time attacks, combo, block, dodge, counter</a:t>
            </a:r>
            <a:endParaRPr b="0" i="0" sz="1000" u="none" cap="none" strike="noStrike">
              <a:solidFill>
                <a:schemeClr val="dk1"/>
              </a:solidFill>
              <a:latin typeface="Calibri"/>
              <a:ea typeface="Calibri"/>
              <a:cs typeface="Calibri"/>
              <a:sym typeface="Calibri"/>
            </a:endParaRPr>
          </a:p>
        </p:txBody>
      </p:sp>
      <p:sp>
        <p:nvSpPr>
          <p:cNvPr id="134" name="Google Shape;134;p7"/>
          <p:cNvSpPr/>
          <p:nvPr/>
        </p:nvSpPr>
        <p:spPr>
          <a:xfrm>
            <a:off x="804672" y="5559552"/>
            <a:ext cx="4892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Examples: </a:t>
            </a:r>
            <a:r>
              <a:rPr b="0" i="0" lang="en-US" sz="1000" u="none" cap="none" strike="noStrike">
                <a:solidFill>
                  <a:srgbClr val="2A2A3C"/>
                </a:solidFill>
                <a:latin typeface="Calibri"/>
                <a:ea typeface="Calibri"/>
                <a:cs typeface="Calibri"/>
                <a:sym typeface="Calibri"/>
              </a:rPr>
              <a:t>Street Fighter, Fantasy Strike (Unity)</a:t>
            </a:r>
            <a:endParaRPr b="0" i="0" sz="1000" u="none" cap="none" strike="noStrike">
              <a:solidFill>
                <a:schemeClr val="dk1"/>
              </a:solidFill>
              <a:latin typeface="Calibri"/>
              <a:ea typeface="Calibri"/>
              <a:cs typeface="Calibri"/>
              <a:sym typeface="Calibri"/>
            </a:endParaRPr>
          </a:p>
        </p:txBody>
      </p:sp>
      <p:sp>
        <p:nvSpPr>
          <p:cNvPr id="135" name="Google Shape;135;p7"/>
          <p:cNvSpPr/>
          <p:nvPr/>
        </p:nvSpPr>
        <p:spPr>
          <a:xfrm>
            <a:off x="6172200" y="4023360"/>
            <a:ext cx="5349240" cy="2148840"/>
          </a:xfrm>
          <a:prstGeom prst="roundRect">
            <a:avLst>
              <a:gd fmla="val 3404" name="adj"/>
            </a:avLst>
          </a:prstGeom>
          <a:solidFill>
            <a:srgbClr val="FFFFFF"/>
          </a:solidFill>
          <a:ln cap="flat" cmpd="sng" w="12700">
            <a:solidFill>
              <a:srgbClr val="E4E4EE"/>
            </a:solidFill>
            <a:prstDash val="solid"/>
            <a:round/>
            <a:headEnd len="sm" w="sm" type="none"/>
            <a:tailEnd len="sm" w="sm" type="none"/>
          </a:ln>
          <a:effectLst>
            <a:outerShdw blurRad="76200" rotWithShape="0" algn="bl" dir="5400000" dist="25400">
              <a:srgbClr val="999999">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6172200" y="4023360"/>
            <a:ext cx="82296" cy="2148840"/>
          </a:xfrm>
          <a:prstGeom prst="roundRect">
            <a:avLst>
              <a:gd fmla="val 16667"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
          <p:cNvSpPr/>
          <p:nvPr/>
        </p:nvSpPr>
        <p:spPr>
          <a:xfrm>
            <a:off x="6428232" y="4151376"/>
            <a:ext cx="4892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50"/>
              <a:buFont typeface="Cambria"/>
              <a:buNone/>
            </a:pPr>
            <a:r>
              <a:rPr b="1" i="0" lang="en-US" sz="1550" u="none" cap="none" strike="noStrike">
                <a:solidFill>
                  <a:srgbClr val="2F3C7E"/>
                </a:solidFill>
                <a:latin typeface="Cambria"/>
                <a:ea typeface="Cambria"/>
                <a:cs typeface="Cambria"/>
                <a:sym typeface="Cambria"/>
              </a:rPr>
              <a:t>Racing / Sports</a:t>
            </a:r>
            <a:endParaRPr b="0" i="0" sz="1550" u="none" cap="none" strike="noStrike">
              <a:solidFill>
                <a:schemeClr val="dk1"/>
              </a:solidFill>
              <a:latin typeface="Calibri"/>
              <a:ea typeface="Calibri"/>
              <a:cs typeface="Calibri"/>
              <a:sym typeface="Calibri"/>
            </a:endParaRPr>
          </a:p>
        </p:txBody>
      </p:sp>
      <p:sp>
        <p:nvSpPr>
          <p:cNvPr id="138" name="Google Shape;138;p7"/>
          <p:cNvSpPr/>
          <p:nvPr/>
        </p:nvSpPr>
        <p:spPr>
          <a:xfrm>
            <a:off x="6428232" y="4498848"/>
            <a:ext cx="4892040"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1050"/>
              <a:buFont typeface="Calibri"/>
              <a:buNone/>
            </a:pPr>
            <a:r>
              <a:rPr b="0" i="0" lang="en-US" sz="1050" u="none" cap="none" strike="noStrike">
                <a:solidFill>
                  <a:srgbClr val="2A2A3C"/>
                </a:solidFill>
                <a:latin typeface="Calibri"/>
                <a:ea typeface="Calibri"/>
                <a:cs typeface="Calibri"/>
                <a:sym typeface="Calibri"/>
              </a:rPr>
              <a:t>Compete to finish fastest or score more points within a familiar sport or race format.</a:t>
            </a:r>
            <a:endParaRPr b="0" i="0" sz="1050" u="none" cap="none" strike="noStrike">
              <a:solidFill>
                <a:schemeClr val="dk1"/>
              </a:solidFill>
              <a:latin typeface="Calibri"/>
              <a:ea typeface="Calibri"/>
              <a:cs typeface="Calibri"/>
              <a:sym typeface="Calibri"/>
            </a:endParaRPr>
          </a:p>
        </p:txBody>
      </p:sp>
      <p:sp>
        <p:nvSpPr>
          <p:cNvPr id="139" name="Google Shape;139;p7"/>
          <p:cNvSpPr/>
          <p:nvPr/>
        </p:nvSpPr>
        <p:spPr>
          <a:xfrm>
            <a:off x="6428232" y="5230368"/>
            <a:ext cx="4892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Verbs: </a:t>
            </a:r>
            <a:r>
              <a:rPr b="0" i="0" lang="en-US" sz="1000" u="none" cap="none" strike="noStrike">
                <a:solidFill>
                  <a:srgbClr val="2A2A3C"/>
                </a:solidFill>
                <a:latin typeface="Calibri"/>
                <a:ea typeface="Calibri"/>
                <a:cs typeface="Calibri"/>
                <a:sym typeface="Calibri"/>
              </a:rPr>
              <a:t>Steer, accelerate, brake, aim shots or passes</a:t>
            </a:r>
            <a:endParaRPr b="0" i="0" sz="1000" u="none" cap="none" strike="noStrike">
              <a:solidFill>
                <a:schemeClr val="dk1"/>
              </a:solidFill>
              <a:latin typeface="Calibri"/>
              <a:ea typeface="Calibri"/>
              <a:cs typeface="Calibri"/>
              <a:sym typeface="Calibri"/>
            </a:endParaRPr>
          </a:p>
        </p:txBody>
      </p:sp>
      <p:sp>
        <p:nvSpPr>
          <p:cNvPr id="140" name="Google Shape;140;p7"/>
          <p:cNvSpPr/>
          <p:nvPr/>
        </p:nvSpPr>
        <p:spPr>
          <a:xfrm>
            <a:off x="6428232" y="5559552"/>
            <a:ext cx="4892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000"/>
              <a:buFont typeface="Calibri"/>
              <a:buNone/>
            </a:pPr>
            <a:r>
              <a:rPr b="1" i="0" lang="en-US" sz="1000" u="none" cap="none" strike="noStrike">
                <a:solidFill>
                  <a:srgbClr val="2F3C7E"/>
                </a:solidFill>
                <a:latin typeface="Calibri"/>
                <a:ea typeface="Calibri"/>
                <a:cs typeface="Calibri"/>
                <a:sym typeface="Calibri"/>
              </a:rPr>
              <a:t>Examples: </a:t>
            </a:r>
            <a:r>
              <a:rPr b="0" i="0" lang="en-US" sz="1000" u="none" cap="none" strike="noStrike">
                <a:solidFill>
                  <a:srgbClr val="2A2A3C"/>
                </a:solidFill>
                <a:latin typeface="Calibri"/>
                <a:ea typeface="Calibri"/>
                <a:cs typeface="Calibri"/>
                <a:sym typeface="Calibri"/>
              </a:rPr>
              <a:t>EA SPORTS FC, Golf With Your Friends (Unity)</a:t>
            </a:r>
            <a:endParaRPr b="0" i="0" sz="1000" u="none" cap="none" strike="noStrike">
              <a:solidFill>
                <a:schemeClr val="dk1"/>
              </a:solidFill>
              <a:latin typeface="Calibri"/>
              <a:ea typeface="Calibri"/>
              <a:cs typeface="Calibri"/>
              <a:sym typeface="Calibri"/>
            </a:endParaRPr>
          </a:p>
        </p:txBody>
      </p:sp>
      <p:sp>
        <p:nvSpPr>
          <p:cNvPr id="141" name="Google Shape;141;p7"/>
          <p:cNvSpPr/>
          <p:nvPr/>
        </p:nvSpPr>
        <p:spPr>
          <a:xfrm>
            <a:off x="54864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Game Genres — Unity Learn</a:t>
            </a:r>
            <a:endParaRPr b="0" i="0" sz="900" u="none" cap="none" strike="noStrike">
              <a:solidFill>
                <a:schemeClr val="dk1"/>
              </a:solidFill>
              <a:latin typeface="Calibri"/>
              <a:ea typeface="Calibri"/>
              <a:cs typeface="Calibri"/>
              <a:sym typeface="Calibri"/>
            </a:endParaRPr>
          </a:p>
        </p:txBody>
      </p:sp>
      <p:sp>
        <p:nvSpPr>
          <p:cNvPr id="142" name="Google Shape;142;p7"/>
          <p:cNvSpPr/>
          <p:nvPr/>
        </p:nvSpPr>
        <p:spPr>
          <a:xfrm>
            <a:off x="11185855"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A5E"/>
        </a:solidFill>
      </p:bgPr>
    </p:bg>
    <p:spTree>
      <p:nvGrpSpPr>
        <p:cNvPr id="147" name="Shape 147"/>
        <p:cNvGrpSpPr/>
        <p:nvPr/>
      </p:nvGrpSpPr>
      <p:grpSpPr>
        <a:xfrm>
          <a:off x="0" y="0"/>
          <a:ext cx="0" cy="0"/>
          <a:chOff x="0" y="0"/>
          <a:chExt cx="0" cy="0"/>
        </a:xfrm>
      </p:grpSpPr>
      <p:sp>
        <p:nvSpPr>
          <p:cNvPr id="148" name="Google Shape;148;p8"/>
          <p:cNvSpPr/>
          <p:nvPr/>
        </p:nvSpPr>
        <p:spPr>
          <a:xfrm>
            <a:off x="-1463040" y="-1463040"/>
            <a:ext cx="3657600" cy="3657600"/>
          </a:xfrm>
          <a:prstGeom prst="ellipse">
            <a:avLst/>
          </a:prstGeom>
          <a:solidFill>
            <a:srgbClr val="2F3C7E">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822960" y="137160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E795"/>
              </a:buClr>
              <a:buSzPts val="1300"/>
              <a:buFont typeface="Calibri"/>
              <a:buNone/>
            </a:pPr>
            <a:r>
              <a:rPr b="1" i="0" lang="en-US" sz="1300" u="none" cap="none" strike="noStrike">
                <a:solidFill>
                  <a:srgbClr val="F9E795"/>
                </a:solidFill>
                <a:latin typeface="Calibri"/>
                <a:ea typeface="Calibri"/>
                <a:cs typeface="Calibri"/>
                <a:sym typeface="Calibri"/>
              </a:rPr>
              <a:t>A NOTE ON GENRES</a:t>
            </a:r>
            <a:endParaRPr b="0" i="0" sz="1300" u="none" cap="none" strike="noStrike">
              <a:solidFill>
                <a:schemeClr val="dk1"/>
              </a:solidFill>
              <a:latin typeface="Calibri"/>
              <a:ea typeface="Calibri"/>
              <a:cs typeface="Calibri"/>
              <a:sym typeface="Calibri"/>
            </a:endParaRPr>
          </a:p>
        </p:txBody>
      </p:sp>
      <p:sp>
        <p:nvSpPr>
          <p:cNvPr id="150" name="Google Shape;150;p8"/>
          <p:cNvSpPr/>
          <p:nvPr/>
        </p:nvSpPr>
        <p:spPr>
          <a:xfrm>
            <a:off x="822960" y="1737360"/>
            <a:ext cx="9601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Genres are descriptive tools, not rigid boxes.</a:t>
            </a:r>
            <a:endParaRPr b="0" i="0" sz="3000" u="none" cap="none" strike="noStrike">
              <a:solidFill>
                <a:schemeClr val="dk1"/>
              </a:solidFill>
              <a:latin typeface="Calibri"/>
              <a:ea typeface="Calibri"/>
              <a:cs typeface="Calibri"/>
              <a:sym typeface="Calibri"/>
            </a:endParaRPr>
          </a:p>
        </p:txBody>
      </p:sp>
      <p:sp>
        <p:nvSpPr>
          <p:cNvPr id="151" name="Google Shape;151;p8"/>
          <p:cNvSpPr/>
          <p:nvPr/>
        </p:nvSpPr>
        <p:spPr>
          <a:xfrm>
            <a:off x="822960" y="2834640"/>
            <a:ext cx="8778240" cy="21945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D8DAF2"/>
              </a:buClr>
              <a:buSzPts val="1600"/>
              <a:buFont typeface="Calibri"/>
              <a:buNone/>
            </a:pPr>
            <a:r>
              <a:rPr b="0" i="0" lang="en-US" sz="1600" u="none" cap="none" strike="noStrike">
                <a:solidFill>
                  <a:srgbClr val="D8DAF2"/>
                </a:solidFill>
                <a:latin typeface="Calibri"/>
                <a:ea typeface="Calibri"/>
                <a:cs typeface="Calibri"/>
                <a:sym typeface="Calibri"/>
              </a:rPr>
              <a:t>These descriptions are generalizations — individual games within a genre can feel dramatically different based on their specific mechanics, pacing, and style. Genre boundaries are rarely clean or fixed. Most modern games are hybrids that blend elements from multiple genres — a "roguelike action platformer with RPG progression," or a "puzzle game with narrative adventure elements."</a:t>
            </a:r>
            <a:endParaRPr b="0" i="0" sz="1600" u="none" cap="none" strike="noStrike">
              <a:solidFill>
                <a:schemeClr val="dk1"/>
              </a:solidFill>
              <a:latin typeface="Calibri"/>
              <a:ea typeface="Calibri"/>
              <a:cs typeface="Calibri"/>
              <a:sym typeface="Calibri"/>
            </a:endParaRPr>
          </a:p>
        </p:txBody>
      </p:sp>
      <p:sp>
        <p:nvSpPr>
          <p:cNvPr id="152" name="Google Shape;152;p8"/>
          <p:cNvSpPr/>
          <p:nvPr/>
        </p:nvSpPr>
        <p:spPr>
          <a:xfrm>
            <a:off x="54864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EE0"/>
              </a:buClr>
              <a:buSzPts val="900"/>
              <a:buFont typeface="Calibri"/>
              <a:buNone/>
            </a:pPr>
            <a:r>
              <a:rPr b="0" i="0" lang="en-US" sz="900" u="none" cap="none" strike="noStrike">
                <a:solidFill>
                  <a:srgbClr val="B9BEE0"/>
                </a:solidFill>
                <a:latin typeface="Calibri"/>
                <a:ea typeface="Calibri"/>
                <a:cs typeface="Calibri"/>
                <a:sym typeface="Calibri"/>
              </a:rPr>
              <a:t>Game Genres — Unity Learn</a:t>
            </a:r>
            <a:endParaRPr b="0" i="0" sz="900" u="none" cap="none" strike="noStrike">
              <a:solidFill>
                <a:schemeClr val="dk1"/>
              </a:solidFill>
              <a:latin typeface="Calibri"/>
              <a:ea typeface="Calibri"/>
              <a:cs typeface="Calibri"/>
              <a:sym typeface="Calibri"/>
            </a:endParaRPr>
          </a:p>
        </p:txBody>
      </p:sp>
      <p:sp>
        <p:nvSpPr>
          <p:cNvPr id="153" name="Google Shape;153;p8"/>
          <p:cNvSpPr/>
          <p:nvPr/>
        </p:nvSpPr>
        <p:spPr>
          <a:xfrm>
            <a:off x="11185855"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9BEE0"/>
              </a:buClr>
              <a:buSzPts val="900"/>
              <a:buFont typeface="Calibri"/>
              <a:buNone/>
            </a:pPr>
            <a:r>
              <a:rPr b="0" i="0" lang="en-US" sz="900" u="none" cap="none" strike="noStrike">
                <a:solidFill>
                  <a:srgbClr val="B9BEE0"/>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9"/>
          <p:cNvSpPr/>
          <p:nvPr/>
        </p:nvSpPr>
        <p:spPr>
          <a:xfrm>
            <a:off x="548640" y="411480"/>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A3C"/>
              </a:buClr>
              <a:buSzPts val="3200"/>
              <a:buFont typeface="Cambria"/>
              <a:buNone/>
            </a:pPr>
            <a:r>
              <a:rPr b="1" i="0" lang="en-US" sz="3200" u="none" cap="none" strike="noStrike">
                <a:solidFill>
                  <a:srgbClr val="2A2A3C"/>
                </a:solidFill>
                <a:latin typeface="Cambria"/>
                <a:ea typeface="Cambria"/>
                <a:cs typeface="Cambria"/>
                <a:sym typeface="Cambria"/>
              </a:rPr>
              <a:t>Other Genres, Sub-Genres &amp; Hybrids</a:t>
            </a:r>
            <a:endParaRPr b="0" i="0" sz="3200" u="none" cap="none" strike="noStrike">
              <a:solidFill>
                <a:schemeClr val="dk1"/>
              </a:solidFill>
              <a:latin typeface="Calibri"/>
              <a:ea typeface="Calibri"/>
              <a:cs typeface="Calibri"/>
              <a:sym typeface="Calibri"/>
            </a:endParaRPr>
          </a:p>
        </p:txBody>
      </p:sp>
      <p:sp>
        <p:nvSpPr>
          <p:cNvPr id="160" name="Google Shape;160;p9"/>
          <p:cNvSpPr/>
          <p:nvPr/>
        </p:nvSpPr>
        <p:spPr>
          <a:xfrm>
            <a:off x="548640" y="105156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1250"/>
              <a:buFont typeface="Calibri"/>
              <a:buNone/>
            </a:pPr>
            <a:r>
              <a:rPr b="0" i="1" lang="en-US" sz="1250" u="none" cap="none" strike="noStrike">
                <a:solidFill>
                  <a:srgbClr val="6B6B80"/>
                </a:solidFill>
                <a:latin typeface="Calibri"/>
                <a:ea typeface="Calibri"/>
                <a:cs typeface="Calibri"/>
                <a:sym typeface="Calibri"/>
              </a:rPr>
              <a:t>Especially common in indie and Unity development, where games often blend multiple categories.</a:t>
            </a:r>
            <a:endParaRPr b="0" i="0" sz="1250" u="none" cap="none" strike="noStrike">
              <a:solidFill>
                <a:schemeClr val="dk1"/>
              </a:solidFill>
              <a:latin typeface="Calibri"/>
              <a:ea typeface="Calibri"/>
              <a:cs typeface="Calibri"/>
              <a:sym typeface="Calibri"/>
            </a:endParaRPr>
          </a:p>
        </p:txBody>
      </p:sp>
      <p:sp>
        <p:nvSpPr>
          <p:cNvPr id="161" name="Google Shape;161;p9"/>
          <p:cNvSpPr/>
          <p:nvPr/>
        </p:nvSpPr>
        <p:spPr>
          <a:xfrm>
            <a:off x="548640" y="1600200"/>
            <a:ext cx="2724912" cy="2286000"/>
          </a:xfrm>
          <a:prstGeom prst="roundRect">
            <a:avLst>
              <a:gd fmla="val 3200"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713232" y="1764792"/>
            <a:ext cx="457200" cy="457200"/>
          </a:xfrm>
          <a:prstGeom prst="roundRect">
            <a:avLst>
              <a:gd fmla="val 500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713232" y="176479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164" name="Google Shape;164;p9"/>
          <p:cNvSpPr/>
          <p:nvPr/>
        </p:nvSpPr>
        <p:spPr>
          <a:xfrm>
            <a:off x="713232" y="2313432"/>
            <a:ext cx="23957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250"/>
              <a:buFont typeface="Cambria"/>
              <a:buNone/>
            </a:pPr>
            <a:r>
              <a:rPr b="1" i="0" lang="en-US" sz="1250" u="none" cap="none" strike="noStrike">
                <a:solidFill>
                  <a:srgbClr val="2F3C7E"/>
                </a:solidFill>
                <a:latin typeface="Cambria"/>
                <a:ea typeface="Cambria"/>
                <a:cs typeface="Cambria"/>
                <a:sym typeface="Cambria"/>
              </a:rPr>
              <a:t>Action-Adventure</a:t>
            </a:r>
            <a:endParaRPr b="0" i="0" sz="1250" u="none" cap="none" strike="noStrike">
              <a:solidFill>
                <a:schemeClr val="dk1"/>
              </a:solidFill>
              <a:latin typeface="Calibri"/>
              <a:ea typeface="Calibri"/>
              <a:cs typeface="Calibri"/>
              <a:sym typeface="Calibri"/>
            </a:endParaRPr>
          </a:p>
        </p:txBody>
      </p:sp>
      <p:sp>
        <p:nvSpPr>
          <p:cNvPr id="165" name="Google Shape;165;p9"/>
          <p:cNvSpPr/>
          <p:nvPr/>
        </p:nvSpPr>
        <p:spPr>
          <a:xfrm>
            <a:off x="713232" y="2834640"/>
            <a:ext cx="2395728"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900"/>
              <a:buFont typeface="Calibri"/>
              <a:buNone/>
            </a:pPr>
            <a:r>
              <a:rPr b="0" i="0" lang="en-US" sz="900" u="none" cap="none" strike="noStrike">
                <a:solidFill>
                  <a:srgbClr val="2A2A3C"/>
                </a:solidFill>
                <a:latin typeface="Calibri"/>
                <a:ea typeface="Calibri"/>
                <a:cs typeface="Calibri"/>
                <a:sym typeface="Calibri"/>
              </a:rPr>
              <a:t>Real-time combat and traversal blended with exploration, puzzles, and narrative.</a:t>
            </a:r>
            <a:endParaRPr b="0" i="0" sz="900" u="none" cap="none" strike="noStrike">
              <a:solidFill>
                <a:schemeClr val="dk1"/>
              </a:solidFill>
              <a:latin typeface="Calibri"/>
              <a:ea typeface="Calibri"/>
              <a:cs typeface="Calibri"/>
              <a:sym typeface="Calibri"/>
            </a:endParaRPr>
          </a:p>
        </p:txBody>
      </p:sp>
      <p:sp>
        <p:nvSpPr>
          <p:cNvPr id="166" name="Google Shape;166;p9"/>
          <p:cNvSpPr/>
          <p:nvPr/>
        </p:nvSpPr>
        <p:spPr>
          <a:xfrm>
            <a:off x="713232" y="3566160"/>
            <a:ext cx="23957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850"/>
              <a:buFont typeface="Calibri"/>
              <a:buNone/>
            </a:pPr>
            <a:r>
              <a:rPr b="0" i="1" lang="en-US" sz="850" u="none" cap="none" strike="noStrike">
                <a:solidFill>
                  <a:srgbClr val="6B6B80"/>
                </a:solidFill>
                <a:latin typeface="Calibri"/>
                <a:ea typeface="Calibri"/>
                <a:cs typeface="Calibri"/>
                <a:sym typeface="Calibri"/>
              </a:rPr>
              <a:t>God of War, Arashi: Castles of Sin</a:t>
            </a:r>
            <a:endParaRPr b="0" i="0" sz="850" u="none" cap="none" strike="noStrike">
              <a:solidFill>
                <a:schemeClr val="dk1"/>
              </a:solidFill>
              <a:latin typeface="Calibri"/>
              <a:ea typeface="Calibri"/>
              <a:cs typeface="Calibri"/>
              <a:sym typeface="Calibri"/>
            </a:endParaRPr>
          </a:p>
        </p:txBody>
      </p:sp>
      <p:sp>
        <p:nvSpPr>
          <p:cNvPr id="167" name="Google Shape;167;p9"/>
          <p:cNvSpPr/>
          <p:nvPr/>
        </p:nvSpPr>
        <p:spPr>
          <a:xfrm>
            <a:off x="3419856" y="1600200"/>
            <a:ext cx="2724912" cy="2286000"/>
          </a:xfrm>
          <a:prstGeom prst="roundRect">
            <a:avLst>
              <a:gd fmla="val 3200"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3584448" y="1764792"/>
            <a:ext cx="457200" cy="457200"/>
          </a:xfrm>
          <a:prstGeom prst="roundRect">
            <a:avLst>
              <a:gd fmla="val 50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3584448" y="176479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170" name="Google Shape;170;p9"/>
          <p:cNvSpPr/>
          <p:nvPr/>
        </p:nvSpPr>
        <p:spPr>
          <a:xfrm>
            <a:off x="3584448" y="2313432"/>
            <a:ext cx="23957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250"/>
              <a:buFont typeface="Cambria"/>
              <a:buNone/>
            </a:pPr>
            <a:r>
              <a:rPr b="1" i="0" lang="en-US" sz="1250" u="none" cap="none" strike="noStrike">
                <a:solidFill>
                  <a:srgbClr val="2F3C7E"/>
                </a:solidFill>
                <a:latin typeface="Cambria"/>
                <a:ea typeface="Cambria"/>
                <a:cs typeface="Cambria"/>
                <a:sym typeface="Cambria"/>
              </a:rPr>
              <a:t>Roguelike / Roguelite</a:t>
            </a:r>
            <a:endParaRPr b="0" i="0" sz="1250" u="none" cap="none" strike="noStrike">
              <a:solidFill>
                <a:schemeClr val="dk1"/>
              </a:solidFill>
              <a:latin typeface="Calibri"/>
              <a:ea typeface="Calibri"/>
              <a:cs typeface="Calibri"/>
              <a:sym typeface="Calibri"/>
            </a:endParaRPr>
          </a:p>
        </p:txBody>
      </p:sp>
      <p:sp>
        <p:nvSpPr>
          <p:cNvPr id="171" name="Google Shape;171;p9"/>
          <p:cNvSpPr/>
          <p:nvPr/>
        </p:nvSpPr>
        <p:spPr>
          <a:xfrm>
            <a:off x="3584448" y="2834640"/>
            <a:ext cx="2395728"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900"/>
              <a:buFont typeface="Calibri"/>
              <a:buNone/>
            </a:pPr>
            <a:r>
              <a:rPr b="0" i="0" lang="en-US" sz="900" u="none" cap="none" strike="noStrike">
                <a:solidFill>
                  <a:srgbClr val="2A2A3C"/>
                </a:solidFill>
                <a:latin typeface="Calibri"/>
                <a:ea typeface="Calibri"/>
                <a:cs typeface="Calibri"/>
                <a:sym typeface="Calibri"/>
              </a:rPr>
              <a:t>Procedural generation, permanent death, and run-based structure.</a:t>
            </a:r>
            <a:endParaRPr b="0" i="0" sz="900" u="none" cap="none" strike="noStrike">
              <a:solidFill>
                <a:schemeClr val="dk1"/>
              </a:solidFill>
              <a:latin typeface="Calibri"/>
              <a:ea typeface="Calibri"/>
              <a:cs typeface="Calibri"/>
              <a:sym typeface="Calibri"/>
            </a:endParaRPr>
          </a:p>
        </p:txBody>
      </p:sp>
      <p:sp>
        <p:nvSpPr>
          <p:cNvPr id="172" name="Google Shape;172;p9"/>
          <p:cNvSpPr/>
          <p:nvPr/>
        </p:nvSpPr>
        <p:spPr>
          <a:xfrm>
            <a:off x="3584448" y="3566160"/>
            <a:ext cx="23957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850"/>
              <a:buFont typeface="Calibri"/>
              <a:buNone/>
            </a:pPr>
            <a:r>
              <a:rPr b="0" i="1" lang="en-US" sz="850" u="none" cap="none" strike="noStrike">
                <a:solidFill>
                  <a:srgbClr val="6B6B80"/>
                </a:solidFill>
                <a:latin typeface="Calibri"/>
                <a:ea typeface="Calibri"/>
                <a:cs typeface="Calibri"/>
                <a:sym typeface="Calibri"/>
              </a:rPr>
              <a:t>Hades, Slay the Spire</a:t>
            </a:r>
            <a:endParaRPr b="0" i="0" sz="850" u="none" cap="none" strike="noStrike">
              <a:solidFill>
                <a:schemeClr val="dk1"/>
              </a:solidFill>
              <a:latin typeface="Calibri"/>
              <a:ea typeface="Calibri"/>
              <a:cs typeface="Calibri"/>
              <a:sym typeface="Calibri"/>
            </a:endParaRPr>
          </a:p>
        </p:txBody>
      </p:sp>
      <p:sp>
        <p:nvSpPr>
          <p:cNvPr id="173" name="Google Shape;173;p9"/>
          <p:cNvSpPr/>
          <p:nvPr/>
        </p:nvSpPr>
        <p:spPr>
          <a:xfrm>
            <a:off x="6291072" y="1600200"/>
            <a:ext cx="2724912" cy="2286000"/>
          </a:xfrm>
          <a:prstGeom prst="roundRect">
            <a:avLst>
              <a:gd fmla="val 3200"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6455664" y="1764792"/>
            <a:ext cx="457200" cy="457200"/>
          </a:xfrm>
          <a:prstGeom prst="roundRect">
            <a:avLst>
              <a:gd fmla="val 50000" name="adj"/>
            </a:avLst>
          </a:prstGeom>
          <a:solidFill>
            <a:srgbClr val="F9E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6455664" y="176479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A3C"/>
              </a:buClr>
              <a:buSzPts val="1500"/>
              <a:buFont typeface="Cambria"/>
              <a:buNone/>
            </a:pPr>
            <a:r>
              <a:rPr b="1" i="0" lang="en-US" sz="1500" u="none" cap="none" strike="noStrike">
                <a:solidFill>
                  <a:srgbClr val="2A2A3C"/>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176" name="Google Shape;176;p9"/>
          <p:cNvSpPr/>
          <p:nvPr/>
        </p:nvSpPr>
        <p:spPr>
          <a:xfrm>
            <a:off x="6455664" y="2313432"/>
            <a:ext cx="23957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250"/>
              <a:buFont typeface="Cambria"/>
              <a:buNone/>
            </a:pPr>
            <a:r>
              <a:rPr b="1" i="0" lang="en-US" sz="1250" u="none" cap="none" strike="noStrike">
                <a:solidFill>
                  <a:srgbClr val="2F3C7E"/>
                </a:solidFill>
                <a:latin typeface="Cambria"/>
                <a:ea typeface="Cambria"/>
                <a:cs typeface="Cambria"/>
                <a:sym typeface="Cambria"/>
              </a:rPr>
              <a:t>Metroidvania</a:t>
            </a:r>
            <a:endParaRPr b="0" i="0" sz="1250" u="none" cap="none" strike="noStrike">
              <a:solidFill>
                <a:schemeClr val="dk1"/>
              </a:solidFill>
              <a:latin typeface="Calibri"/>
              <a:ea typeface="Calibri"/>
              <a:cs typeface="Calibri"/>
              <a:sym typeface="Calibri"/>
            </a:endParaRPr>
          </a:p>
        </p:txBody>
      </p:sp>
      <p:sp>
        <p:nvSpPr>
          <p:cNvPr id="177" name="Google Shape;177;p9"/>
          <p:cNvSpPr/>
          <p:nvPr/>
        </p:nvSpPr>
        <p:spPr>
          <a:xfrm>
            <a:off x="6455664" y="2834640"/>
            <a:ext cx="2395728"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900"/>
              <a:buFont typeface="Calibri"/>
              <a:buNone/>
            </a:pPr>
            <a:r>
              <a:rPr b="0" i="0" lang="en-US" sz="900" u="none" cap="none" strike="noStrike">
                <a:solidFill>
                  <a:srgbClr val="2A2A3C"/>
                </a:solidFill>
                <a:latin typeface="Calibri"/>
                <a:ea typeface="Calibri"/>
                <a:cs typeface="Calibri"/>
                <a:sym typeface="Calibri"/>
              </a:rPr>
              <a:t>Action platformers with interconnected worlds and ability-gated exploration.</a:t>
            </a:r>
            <a:endParaRPr b="0" i="0" sz="900" u="none" cap="none" strike="noStrike">
              <a:solidFill>
                <a:schemeClr val="dk1"/>
              </a:solidFill>
              <a:latin typeface="Calibri"/>
              <a:ea typeface="Calibri"/>
              <a:cs typeface="Calibri"/>
              <a:sym typeface="Calibri"/>
            </a:endParaRPr>
          </a:p>
        </p:txBody>
      </p:sp>
      <p:sp>
        <p:nvSpPr>
          <p:cNvPr id="178" name="Google Shape;178;p9"/>
          <p:cNvSpPr/>
          <p:nvPr/>
        </p:nvSpPr>
        <p:spPr>
          <a:xfrm>
            <a:off x="6455664" y="3566160"/>
            <a:ext cx="23957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850"/>
              <a:buFont typeface="Calibri"/>
              <a:buNone/>
            </a:pPr>
            <a:r>
              <a:rPr b="0" i="1" lang="en-US" sz="850" u="none" cap="none" strike="noStrike">
                <a:solidFill>
                  <a:srgbClr val="6B6B80"/>
                </a:solidFill>
                <a:latin typeface="Calibri"/>
                <a:ea typeface="Calibri"/>
                <a:cs typeface="Calibri"/>
                <a:sym typeface="Calibri"/>
              </a:rPr>
              <a:t>Hollow Knight, Ori and the Blind Forest</a:t>
            </a:r>
            <a:endParaRPr b="0" i="0" sz="850" u="none" cap="none" strike="noStrike">
              <a:solidFill>
                <a:schemeClr val="dk1"/>
              </a:solidFill>
              <a:latin typeface="Calibri"/>
              <a:ea typeface="Calibri"/>
              <a:cs typeface="Calibri"/>
              <a:sym typeface="Calibri"/>
            </a:endParaRPr>
          </a:p>
        </p:txBody>
      </p:sp>
      <p:sp>
        <p:nvSpPr>
          <p:cNvPr id="179" name="Google Shape;179;p9"/>
          <p:cNvSpPr/>
          <p:nvPr/>
        </p:nvSpPr>
        <p:spPr>
          <a:xfrm>
            <a:off x="9162288" y="1600200"/>
            <a:ext cx="2724912" cy="2286000"/>
          </a:xfrm>
          <a:prstGeom prst="roundRect">
            <a:avLst>
              <a:gd fmla="val 3200"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9326880" y="1764792"/>
            <a:ext cx="457200" cy="457200"/>
          </a:xfrm>
          <a:prstGeom prst="roundRect">
            <a:avLst>
              <a:gd fmla="val 500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9326880" y="176479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a:t>
            </a:r>
            <a:endParaRPr b="0" i="0" sz="1500" u="none" cap="none" strike="noStrike">
              <a:solidFill>
                <a:schemeClr val="dk1"/>
              </a:solidFill>
              <a:latin typeface="Calibri"/>
              <a:ea typeface="Calibri"/>
              <a:cs typeface="Calibri"/>
              <a:sym typeface="Calibri"/>
            </a:endParaRPr>
          </a:p>
        </p:txBody>
      </p:sp>
      <p:sp>
        <p:nvSpPr>
          <p:cNvPr id="182" name="Google Shape;182;p9"/>
          <p:cNvSpPr/>
          <p:nvPr/>
        </p:nvSpPr>
        <p:spPr>
          <a:xfrm>
            <a:off x="9326880" y="2313432"/>
            <a:ext cx="23957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250"/>
              <a:buFont typeface="Cambria"/>
              <a:buNone/>
            </a:pPr>
            <a:r>
              <a:rPr b="1" i="0" lang="en-US" sz="1250" u="none" cap="none" strike="noStrike">
                <a:solidFill>
                  <a:srgbClr val="2F3C7E"/>
                </a:solidFill>
                <a:latin typeface="Cambria"/>
                <a:ea typeface="Cambria"/>
                <a:cs typeface="Cambria"/>
                <a:sym typeface="Cambria"/>
              </a:rPr>
              <a:t>Battle Royale</a:t>
            </a:r>
            <a:endParaRPr b="0" i="0" sz="1250" u="none" cap="none" strike="noStrike">
              <a:solidFill>
                <a:schemeClr val="dk1"/>
              </a:solidFill>
              <a:latin typeface="Calibri"/>
              <a:ea typeface="Calibri"/>
              <a:cs typeface="Calibri"/>
              <a:sym typeface="Calibri"/>
            </a:endParaRPr>
          </a:p>
        </p:txBody>
      </p:sp>
      <p:sp>
        <p:nvSpPr>
          <p:cNvPr id="183" name="Google Shape;183;p9"/>
          <p:cNvSpPr/>
          <p:nvPr/>
        </p:nvSpPr>
        <p:spPr>
          <a:xfrm>
            <a:off x="9326880" y="2834640"/>
            <a:ext cx="2395728"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900"/>
              <a:buFont typeface="Calibri"/>
              <a:buNone/>
            </a:pPr>
            <a:r>
              <a:rPr b="0" i="0" lang="en-US" sz="900" u="none" cap="none" strike="noStrike">
                <a:solidFill>
                  <a:srgbClr val="2A2A3C"/>
                </a:solidFill>
                <a:latin typeface="Calibri"/>
                <a:ea typeface="Calibri"/>
                <a:cs typeface="Calibri"/>
                <a:sym typeface="Calibri"/>
              </a:rPr>
              <a:t>Multiplayer games where many players compete until one remains.</a:t>
            </a:r>
            <a:endParaRPr b="0" i="0" sz="900" u="none" cap="none" strike="noStrike">
              <a:solidFill>
                <a:schemeClr val="dk1"/>
              </a:solidFill>
              <a:latin typeface="Calibri"/>
              <a:ea typeface="Calibri"/>
              <a:cs typeface="Calibri"/>
              <a:sym typeface="Calibri"/>
            </a:endParaRPr>
          </a:p>
        </p:txBody>
      </p:sp>
      <p:sp>
        <p:nvSpPr>
          <p:cNvPr id="184" name="Google Shape;184;p9"/>
          <p:cNvSpPr/>
          <p:nvPr/>
        </p:nvSpPr>
        <p:spPr>
          <a:xfrm>
            <a:off x="9326880" y="3566160"/>
            <a:ext cx="23957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850"/>
              <a:buFont typeface="Calibri"/>
              <a:buNone/>
            </a:pPr>
            <a:r>
              <a:rPr b="0" i="1" lang="en-US" sz="850" u="none" cap="none" strike="noStrike">
                <a:solidFill>
                  <a:srgbClr val="6B6B80"/>
                </a:solidFill>
                <a:latin typeface="Calibri"/>
                <a:ea typeface="Calibri"/>
                <a:cs typeface="Calibri"/>
                <a:sym typeface="Calibri"/>
              </a:rPr>
              <a:t>Fortnite, Apex Legends</a:t>
            </a:r>
            <a:endParaRPr b="0" i="0" sz="850" u="none" cap="none" strike="noStrike">
              <a:solidFill>
                <a:schemeClr val="dk1"/>
              </a:solidFill>
              <a:latin typeface="Calibri"/>
              <a:ea typeface="Calibri"/>
              <a:cs typeface="Calibri"/>
              <a:sym typeface="Calibri"/>
            </a:endParaRPr>
          </a:p>
        </p:txBody>
      </p:sp>
      <p:sp>
        <p:nvSpPr>
          <p:cNvPr id="185" name="Google Shape;185;p9"/>
          <p:cNvSpPr/>
          <p:nvPr/>
        </p:nvSpPr>
        <p:spPr>
          <a:xfrm>
            <a:off x="548640" y="4069080"/>
            <a:ext cx="2724912" cy="2286000"/>
          </a:xfrm>
          <a:prstGeom prst="roundRect">
            <a:avLst>
              <a:gd fmla="val 3200"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713232" y="4233672"/>
            <a:ext cx="457200" cy="457200"/>
          </a:xfrm>
          <a:prstGeom prst="roundRect">
            <a:avLst>
              <a:gd fmla="val 50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713232" y="42336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5</a:t>
            </a:r>
            <a:endParaRPr b="0" i="0" sz="1500" u="none" cap="none" strike="noStrike">
              <a:solidFill>
                <a:schemeClr val="dk1"/>
              </a:solidFill>
              <a:latin typeface="Calibri"/>
              <a:ea typeface="Calibri"/>
              <a:cs typeface="Calibri"/>
              <a:sym typeface="Calibri"/>
            </a:endParaRPr>
          </a:p>
        </p:txBody>
      </p:sp>
      <p:sp>
        <p:nvSpPr>
          <p:cNvPr id="188" name="Google Shape;188;p9"/>
          <p:cNvSpPr/>
          <p:nvPr/>
        </p:nvSpPr>
        <p:spPr>
          <a:xfrm>
            <a:off x="713232" y="4782312"/>
            <a:ext cx="23957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250"/>
              <a:buFont typeface="Cambria"/>
              <a:buNone/>
            </a:pPr>
            <a:r>
              <a:rPr b="1" i="0" lang="en-US" sz="1250" u="none" cap="none" strike="noStrike">
                <a:solidFill>
                  <a:srgbClr val="2F3C7E"/>
                </a:solidFill>
                <a:latin typeface="Cambria"/>
                <a:ea typeface="Cambria"/>
                <a:cs typeface="Cambria"/>
                <a:sym typeface="Cambria"/>
              </a:rPr>
              <a:t>Soulslike</a:t>
            </a:r>
            <a:endParaRPr b="0" i="0" sz="1250" u="none" cap="none" strike="noStrike">
              <a:solidFill>
                <a:schemeClr val="dk1"/>
              </a:solidFill>
              <a:latin typeface="Calibri"/>
              <a:ea typeface="Calibri"/>
              <a:cs typeface="Calibri"/>
              <a:sym typeface="Calibri"/>
            </a:endParaRPr>
          </a:p>
        </p:txBody>
      </p:sp>
      <p:sp>
        <p:nvSpPr>
          <p:cNvPr id="189" name="Google Shape;189;p9"/>
          <p:cNvSpPr/>
          <p:nvPr/>
        </p:nvSpPr>
        <p:spPr>
          <a:xfrm>
            <a:off x="713232" y="5303520"/>
            <a:ext cx="2395728"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900"/>
              <a:buFont typeface="Calibri"/>
              <a:buNone/>
            </a:pPr>
            <a:r>
              <a:rPr b="0" i="0" lang="en-US" sz="900" u="none" cap="none" strike="noStrike">
                <a:solidFill>
                  <a:srgbClr val="2A2A3C"/>
                </a:solidFill>
                <a:latin typeface="Calibri"/>
                <a:ea typeface="Calibri"/>
                <a:cs typeface="Calibri"/>
                <a:sym typeface="Calibri"/>
              </a:rPr>
              <a:t>Action RPGs emphasizing precise combat, environmental storytelling, punishing difficulty.</a:t>
            </a:r>
            <a:endParaRPr b="0" i="0" sz="900" u="none" cap="none" strike="noStrike">
              <a:solidFill>
                <a:schemeClr val="dk1"/>
              </a:solidFill>
              <a:latin typeface="Calibri"/>
              <a:ea typeface="Calibri"/>
              <a:cs typeface="Calibri"/>
              <a:sym typeface="Calibri"/>
            </a:endParaRPr>
          </a:p>
        </p:txBody>
      </p:sp>
      <p:sp>
        <p:nvSpPr>
          <p:cNvPr id="190" name="Google Shape;190;p9"/>
          <p:cNvSpPr/>
          <p:nvPr/>
        </p:nvSpPr>
        <p:spPr>
          <a:xfrm>
            <a:off x="713232" y="6035040"/>
            <a:ext cx="23957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850"/>
              <a:buFont typeface="Calibri"/>
              <a:buNone/>
            </a:pPr>
            <a:r>
              <a:rPr b="0" i="1" lang="en-US" sz="850" u="none" cap="none" strike="noStrike">
                <a:solidFill>
                  <a:srgbClr val="6B6B80"/>
                </a:solidFill>
                <a:latin typeface="Calibri"/>
                <a:ea typeface="Calibri"/>
                <a:cs typeface="Calibri"/>
                <a:sym typeface="Calibri"/>
              </a:rPr>
              <a:t>Dark Souls, Elden Ring</a:t>
            </a:r>
            <a:endParaRPr b="0" i="0" sz="850" u="none" cap="none" strike="noStrike">
              <a:solidFill>
                <a:schemeClr val="dk1"/>
              </a:solidFill>
              <a:latin typeface="Calibri"/>
              <a:ea typeface="Calibri"/>
              <a:cs typeface="Calibri"/>
              <a:sym typeface="Calibri"/>
            </a:endParaRPr>
          </a:p>
        </p:txBody>
      </p:sp>
      <p:sp>
        <p:nvSpPr>
          <p:cNvPr id="191" name="Google Shape;191;p9"/>
          <p:cNvSpPr/>
          <p:nvPr/>
        </p:nvSpPr>
        <p:spPr>
          <a:xfrm>
            <a:off x="3419856" y="4069080"/>
            <a:ext cx="2724912" cy="2286000"/>
          </a:xfrm>
          <a:prstGeom prst="roundRect">
            <a:avLst>
              <a:gd fmla="val 3200"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3584448" y="4233672"/>
            <a:ext cx="457200" cy="457200"/>
          </a:xfrm>
          <a:prstGeom prst="roundRect">
            <a:avLst>
              <a:gd fmla="val 50000" name="adj"/>
            </a:avLst>
          </a:prstGeom>
          <a:solidFill>
            <a:srgbClr val="F9E7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3584448" y="42336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A3C"/>
              </a:buClr>
              <a:buSzPts val="1500"/>
              <a:buFont typeface="Cambria"/>
              <a:buNone/>
            </a:pPr>
            <a:r>
              <a:rPr b="1" i="0" lang="en-US" sz="1500" u="none" cap="none" strike="noStrike">
                <a:solidFill>
                  <a:srgbClr val="2A2A3C"/>
                </a:solidFill>
                <a:latin typeface="Cambria"/>
                <a:ea typeface="Cambria"/>
                <a:cs typeface="Cambria"/>
                <a:sym typeface="Cambria"/>
              </a:rPr>
              <a:t>6</a:t>
            </a:r>
            <a:endParaRPr b="0" i="0" sz="1500" u="none" cap="none" strike="noStrike">
              <a:solidFill>
                <a:schemeClr val="dk1"/>
              </a:solidFill>
              <a:latin typeface="Calibri"/>
              <a:ea typeface="Calibri"/>
              <a:cs typeface="Calibri"/>
              <a:sym typeface="Calibri"/>
            </a:endParaRPr>
          </a:p>
        </p:txBody>
      </p:sp>
      <p:sp>
        <p:nvSpPr>
          <p:cNvPr id="194" name="Google Shape;194;p9"/>
          <p:cNvSpPr/>
          <p:nvPr/>
        </p:nvSpPr>
        <p:spPr>
          <a:xfrm>
            <a:off x="3584448" y="4782312"/>
            <a:ext cx="23957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250"/>
              <a:buFont typeface="Cambria"/>
              <a:buNone/>
            </a:pPr>
            <a:r>
              <a:rPr b="1" i="0" lang="en-US" sz="1250" u="none" cap="none" strike="noStrike">
                <a:solidFill>
                  <a:srgbClr val="2F3C7E"/>
                </a:solidFill>
                <a:latin typeface="Cambria"/>
                <a:ea typeface="Cambria"/>
                <a:cs typeface="Cambria"/>
                <a:sym typeface="Cambria"/>
              </a:rPr>
              <a:t>Idle / Incremental</a:t>
            </a:r>
            <a:endParaRPr b="0" i="0" sz="1250" u="none" cap="none" strike="noStrike">
              <a:solidFill>
                <a:schemeClr val="dk1"/>
              </a:solidFill>
              <a:latin typeface="Calibri"/>
              <a:ea typeface="Calibri"/>
              <a:cs typeface="Calibri"/>
              <a:sym typeface="Calibri"/>
            </a:endParaRPr>
          </a:p>
        </p:txBody>
      </p:sp>
      <p:sp>
        <p:nvSpPr>
          <p:cNvPr id="195" name="Google Shape;195;p9"/>
          <p:cNvSpPr/>
          <p:nvPr/>
        </p:nvSpPr>
        <p:spPr>
          <a:xfrm>
            <a:off x="3584448" y="5303520"/>
            <a:ext cx="2395728"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900"/>
              <a:buFont typeface="Calibri"/>
              <a:buNone/>
            </a:pPr>
            <a:r>
              <a:rPr b="0" i="0" lang="en-US" sz="900" u="none" cap="none" strike="noStrike">
                <a:solidFill>
                  <a:srgbClr val="2A2A3C"/>
                </a:solidFill>
                <a:latin typeface="Calibri"/>
                <a:ea typeface="Calibri"/>
                <a:cs typeface="Calibri"/>
                <a:sym typeface="Calibri"/>
              </a:rPr>
              <a:t>Games that progress even when you're not playing, focused on optimization.</a:t>
            </a:r>
            <a:endParaRPr b="0" i="0" sz="900" u="none" cap="none" strike="noStrike">
              <a:solidFill>
                <a:schemeClr val="dk1"/>
              </a:solidFill>
              <a:latin typeface="Calibri"/>
              <a:ea typeface="Calibri"/>
              <a:cs typeface="Calibri"/>
              <a:sym typeface="Calibri"/>
            </a:endParaRPr>
          </a:p>
        </p:txBody>
      </p:sp>
      <p:sp>
        <p:nvSpPr>
          <p:cNvPr id="196" name="Google Shape;196;p9"/>
          <p:cNvSpPr/>
          <p:nvPr/>
        </p:nvSpPr>
        <p:spPr>
          <a:xfrm>
            <a:off x="3584448" y="6035040"/>
            <a:ext cx="23957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850"/>
              <a:buFont typeface="Calibri"/>
              <a:buNone/>
            </a:pPr>
            <a:r>
              <a:rPr b="0" i="1" lang="en-US" sz="850" u="none" cap="none" strike="noStrike">
                <a:solidFill>
                  <a:srgbClr val="6B6B80"/>
                </a:solidFill>
                <a:latin typeface="Calibri"/>
                <a:ea typeface="Calibri"/>
                <a:cs typeface="Calibri"/>
                <a:sym typeface="Calibri"/>
              </a:rPr>
              <a:t>Cookie Clicker, AdVenture Capitalist</a:t>
            </a:r>
            <a:endParaRPr b="0" i="0" sz="850" u="none" cap="none" strike="noStrike">
              <a:solidFill>
                <a:schemeClr val="dk1"/>
              </a:solidFill>
              <a:latin typeface="Calibri"/>
              <a:ea typeface="Calibri"/>
              <a:cs typeface="Calibri"/>
              <a:sym typeface="Calibri"/>
            </a:endParaRPr>
          </a:p>
        </p:txBody>
      </p:sp>
      <p:sp>
        <p:nvSpPr>
          <p:cNvPr id="197" name="Google Shape;197;p9"/>
          <p:cNvSpPr/>
          <p:nvPr/>
        </p:nvSpPr>
        <p:spPr>
          <a:xfrm>
            <a:off x="6291072" y="4069080"/>
            <a:ext cx="2724912" cy="2286000"/>
          </a:xfrm>
          <a:prstGeom prst="roundRect">
            <a:avLst>
              <a:gd fmla="val 3200"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6455664" y="4233672"/>
            <a:ext cx="457200" cy="457200"/>
          </a:xfrm>
          <a:prstGeom prst="roundRect">
            <a:avLst>
              <a:gd fmla="val 500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6455664" y="42336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7</a:t>
            </a:r>
            <a:endParaRPr b="0" i="0" sz="1500" u="none" cap="none" strike="noStrike">
              <a:solidFill>
                <a:schemeClr val="dk1"/>
              </a:solidFill>
              <a:latin typeface="Calibri"/>
              <a:ea typeface="Calibri"/>
              <a:cs typeface="Calibri"/>
              <a:sym typeface="Calibri"/>
            </a:endParaRPr>
          </a:p>
        </p:txBody>
      </p:sp>
      <p:sp>
        <p:nvSpPr>
          <p:cNvPr id="200" name="Google Shape;200;p9"/>
          <p:cNvSpPr/>
          <p:nvPr/>
        </p:nvSpPr>
        <p:spPr>
          <a:xfrm>
            <a:off x="6455664" y="4782312"/>
            <a:ext cx="23957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250"/>
              <a:buFont typeface="Cambria"/>
              <a:buNone/>
            </a:pPr>
            <a:r>
              <a:rPr b="1" i="0" lang="en-US" sz="1250" u="none" cap="none" strike="noStrike">
                <a:solidFill>
                  <a:srgbClr val="2F3C7E"/>
                </a:solidFill>
                <a:latin typeface="Cambria"/>
                <a:ea typeface="Cambria"/>
                <a:cs typeface="Cambria"/>
                <a:sym typeface="Cambria"/>
              </a:rPr>
              <a:t>Walking Sim / Narrative Adventure</a:t>
            </a:r>
            <a:endParaRPr b="0" i="0" sz="1250" u="none" cap="none" strike="noStrike">
              <a:solidFill>
                <a:schemeClr val="dk1"/>
              </a:solidFill>
              <a:latin typeface="Calibri"/>
              <a:ea typeface="Calibri"/>
              <a:cs typeface="Calibri"/>
              <a:sym typeface="Calibri"/>
            </a:endParaRPr>
          </a:p>
        </p:txBody>
      </p:sp>
      <p:sp>
        <p:nvSpPr>
          <p:cNvPr id="201" name="Google Shape;201;p9"/>
          <p:cNvSpPr/>
          <p:nvPr/>
        </p:nvSpPr>
        <p:spPr>
          <a:xfrm>
            <a:off x="6455664" y="5303520"/>
            <a:ext cx="2395728"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2A3C"/>
              </a:buClr>
              <a:buSzPts val="900"/>
              <a:buFont typeface="Calibri"/>
              <a:buNone/>
            </a:pPr>
            <a:r>
              <a:rPr b="0" i="0" lang="en-US" sz="900" u="none" cap="none" strike="noStrike">
                <a:solidFill>
                  <a:srgbClr val="2A2A3C"/>
                </a:solidFill>
                <a:latin typeface="Calibri"/>
                <a:ea typeface="Calibri"/>
                <a:cs typeface="Calibri"/>
                <a:sym typeface="Calibri"/>
              </a:rPr>
              <a:t>Exploration-focused games emphasizing story and atmosphere over challenge.</a:t>
            </a:r>
            <a:endParaRPr b="0" i="0" sz="900" u="none" cap="none" strike="noStrike">
              <a:solidFill>
                <a:schemeClr val="dk1"/>
              </a:solidFill>
              <a:latin typeface="Calibri"/>
              <a:ea typeface="Calibri"/>
              <a:cs typeface="Calibri"/>
              <a:sym typeface="Calibri"/>
            </a:endParaRPr>
          </a:p>
        </p:txBody>
      </p:sp>
      <p:sp>
        <p:nvSpPr>
          <p:cNvPr id="202" name="Google Shape;202;p9"/>
          <p:cNvSpPr/>
          <p:nvPr/>
        </p:nvSpPr>
        <p:spPr>
          <a:xfrm>
            <a:off x="6455664" y="6035040"/>
            <a:ext cx="239572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850"/>
              <a:buFont typeface="Calibri"/>
              <a:buNone/>
            </a:pPr>
            <a:r>
              <a:rPr b="0" i="1" lang="en-US" sz="850" u="none" cap="none" strike="noStrike">
                <a:solidFill>
                  <a:srgbClr val="6B6B80"/>
                </a:solidFill>
                <a:latin typeface="Calibri"/>
                <a:ea typeface="Calibri"/>
                <a:cs typeface="Calibri"/>
                <a:sym typeface="Calibri"/>
              </a:rPr>
              <a:t>Firewatch, What Remains of Edith Finch</a:t>
            </a:r>
            <a:endParaRPr b="0" i="0" sz="850" u="none" cap="none" strike="noStrike">
              <a:solidFill>
                <a:schemeClr val="dk1"/>
              </a:solidFill>
              <a:latin typeface="Calibri"/>
              <a:ea typeface="Calibri"/>
              <a:cs typeface="Calibri"/>
              <a:sym typeface="Calibri"/>
            </a:endParaRPr>
          </a:p>
        </p:txBody>
      </p:sp>
      <p:sp>
        <p:nvSpPr>
          <p:cNvPr id="203" name="Google Shape;203;p9"/>
          <p:cNvSpPr/>
          <p:nvPr/>
        </p:nvSpPr>
        <p:spPr>
          <a:xfrm>
            <a:off x="54864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Game Genres — Unity Learn</a:t>
            </a:r>
            <a:endParaRPr b="0" i="0" sz="900" u="none" cap="none" strike="noStrike">
              <a:solidFill>
                <a:schemeClr val="dk1"/>
              </a:solidFill>
              <a:latin typeface="Calibri"/>
              <a:ea typeface="Calibri"/>
              <a:cs typeface="Calibri"/>
              <a:sym typeface="Calibri"/>
            </a:endParaRPr>
          </a:p>
        </p:txBody>
      </p:sp>
      <p:sp>
        <p:nvSpPr>
          <p:cNvPr id="204" name="Google Shape;204;p9"/>
          <p:cNvSpPr/>
          <p:nvPr/>
        </p:nvSpPr>
        <p:spPr>
          <a:xfrm>
            <a:off x="11185855"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8"/>
        </a:solidFill>
      </p:bgPr>
    </p:bg>
    <p:spTree>
      <p:nvGrpSpPr>
        <p:cNvPr id="209" name="Shape 209"/>
        <p:cNvGrpSpPr/>
        <p:nvPr/>
      </p:nvGrpSpPr>
      <p:grpSpPr>
        <a:xfrm>
          <a:off x="0" y="0"/>
          <a:ext cx="0" cy="0"/>
          <a:chOff x="0" y="0"/>
          <a:chExt cx="0" cy="0"/>
        </a:xfrm>
      </p:grpSpPr>
      <p:sp>
        <p:nvSpPr>
          <p:cNvPr id="210" name="Google Shape;210;p10"/>
          <p:cNvSpPr/>
          <p:nvPr/>
        </p:nvSpPr>
        <p:spPr>
          <a:xfrm>
            <a:off x="548640" y="411480"/>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A3C"/>
              </a:buClr>
              <a:buSzPts val="3200"/>
              <a:buFont typeface="Cambria"/>
              <a:buNone/>
            </a:pPr>
            <a:r>
              <a:rPr b="1" i="0" lang="en-US" sz="3200" u="none" cap="none" strike="noStrike">
                <a:solidFill>
                  <a:srgbClr val="2A2A3C"/>
                </a:solidFill>
                <a:latin typeface="Cambria"/>
                <a:ea typeface="Cambria"/>
                <a:cs typeface="Cambria"/>
                <a:sym typeface="Cambria"/>
              </a:rPr>
              <a:t>Case Study: Blending Genres</a:t>
            </a:r>
            <a:endParaRPr b="0" i="0" sz="3200" u="none" cap="none" strike="noStrike">
              <a:solidFill>
                <a:schemeClr val="dk1"/>
              </a:solidFill>
              <a:latin typeface="Calibri"/>
              <a:ea typeface="Calibri"/>
              <a:cs typeface="Calibri"/>
              <a:sym typeface="Calibri"/>
            </a:endParaRPr>
          </a:p>
        </p:txBody>
      </p:sp>
      <p:sp>
        <p:nvSpPr>
          <p:cNvPr id="211" name="Google Shape;211;p10"/>
          <p:cNvSpPr/>
          <p:nvPr/>
        </p:nvSpPr>
        <p:spPr>
          <a:xfrm>
            <a:off x="548640" y="1371600"/>
            <a:ext cx="5852160" cy="4846320"/>
          </a:xfrm>
          <a:prstGeom prst="roundRect">
            <a:avLst>
              <a:gd fmla="val 1887" name="adj"/>
            </a:avLst>
          </a:prstGeom>
          <a:solidFill>
            <a:srgbClr val="FFFFFF"/>
          </a:solidFill>
          <a:ln>
            <a:noFill/>
          </a:ln>
          <a:effectLst>
            <a:outerShdw blurRad="101600" rotWithShape="0" algn="bl" dir="5400000" dist="38100">
              <a:srgbClr val="999999">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868680" y="1645920"/>
            <a:ext cx="5303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SLIME RANCHER 2</a:t>
            </a:r>
            <a:endParaRPr b="0" i="0" sz="1200" u="none" cap="none" strike="noStrike">
              <a:solidFill>
                <a:schemeClr val="dk1"/>
              </a:solidFill>
              <a:latin typeface="Calibri"/>
              <a:ea typeface="Calibri"/>
              <a:cs typeface="Calibri"/>
              <a:sym typeface="Calibri"/>
            </a:endParaRPr>
          </a:p>
        </p:txBody>
      </p:sp>
      <p:sp>
        <p:nvSpPr>
          <p:cNvPr id="213" name="Google Shape;213;p10"/>
          <p:cNvSpPr/>
          <p:nvPr/>
        </p:nvSpPr>
        <p:spPr>
          <a:xfrm>
            <a:off x="868680" y="1965960"/>
            <a:ext cx="5303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2200"/>
              <a:buFont typeface="Cambria"/>
              <a:buNone/>
            </a:pPr>
            <a:r>
              <a:rPr b="1" i="0" lang="en-US" sz="2200" u="none" cap="none" strike="noStrike">
                <a:solidFill>
                  <a:srgbClr val="2F3C7E"/>
                </a:solidFill>
                <a:latin typeface="Cambria"/>
                <a:ea typeface="Cambria"/>
                <a:cs typeface="Cambria"/>
                <a:sym typeface="Cambria"/>
              </a:rPr>
              <a:t>Made with Unity</a:t>
            </a:r>
            <a:endParaRPr b="0" i="0" sz="2200" u="none" cap="none" strike="noStrike">
              <a:solidFill>
                <a:schemeClr val="dk1"/>
              </a:solidFill>
              <a:latin typeface="Calibri"/>
              <a:ea typeface="Calibri"/>
              <a:cs typeface="Calibri"/>
              <a:sym typeface="Calibri"/>
            </a:endParaRPr>
          </a:p>
        </p:txBody>
      </p:sp>
      <p:sp>
        <p:nvSpPr>
          <p:cNvPr id="214" name="Google Shape;214;p10"/>
          <p:cNvSpPr/>
          <p:nvPr/>
        </p:nvSpPr>
        <p:spPr>
          <a:xfrm>
            <a:off x="868680" y="2606040"/>
            <a:ext cx="5257800" cy="12801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A2A3C"/>
              </a:buClr>
              <a:buSzPts val="1350"/>
              <a:buFont typeface="Calibri"/>
              <a:buNone/>
            </a:pPr>
            <a:r>
              <a:rPr b="0" i="0" lang="en-US" sz="1350" u="none" cap="none" strike="noStrike">
                <a:solidFill>
                  <a:srgbClr val="2A2A3C"/>
                </a:solidFill>
                <a:latin typeface="Calibri"/>
                <a:ea typeface="Calibri"/>
                <a:cs typeface="Calibri"/>
                <a:sym typeface="Calibri"/>
              </a:rPr>
              <a:t>It plays like a first-person adventure game, but its core loop is a cozy farm life sim where you explore a colorful open world, collect and raise slimes, and manage a ranch economy.</a:t>
            </a:r>
            <a:endParaRPr b="0" i="0" sz="1350" u="none" cap="none" strike="noStrike">
              <a:solidFill>
                <a:schemeClr val="dk1"/>
              </a:solidFill>
              <a:latin typeface="Calibri"/>
              <a:ea typeface="Calibri"/>
              <a:cs typeface="Calibri"/>
              <a:sym typeface="Calibri"/>
            </a:endParaRPr>
          </a:p>
        </p:txBody>
      </p:sp>
      <p:sp>
        <p:nvSpPr>
          <p:cNvPr id="215" name="Google Shape;215;p10"/>
          <p:cNvSpPr/>
          <p:nvPr/>
        </p:nvSpPr>
        <p:spPr>
          <a:xfrm>
            <a:off x="868680" y="5669280"/>
            <a:ext cx="5303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50"/>
              <a:buFont typeface="Calibri"/>
              <a:buNone/>
            </a:pPr>
            <a:r>
              <a:rPr b="0" i="0" lang="en-US" sz="950" u="none" cap="none" strike="noStrike">
                <a:solidFill>
                  <a:srgbClr val="6B6B80"/>
                </a:solidFill>
                <a:latin typeface="Calibri"/>
                <a:ea typeface="Calibri"/>
                <a:cs typeface="Calibri"/>
                <a:sym typeface="Calibri"/>
              </a:rPr>
              <a:t>store.steampowered.com/app/1657630/Slime_Rancher_2</a:t>
            </a:r>
            <a:endParaRPr b="0" i="0" sz="950" u="none" cap="none" strike="noStrike">
              <a:solidFill>
                <a:schemeClr val="dk1"/>
              </a:solidFill>
              <a:latin typeface="Calibri"/>
              <a:ea typeface="Calibri"/>
              <a:cs typeface="Calibri"/>
              <a:sym typeface="Calibri"/>
            </a:endParaRPr>
          </a:p>
        </p:txBody>
      </p:sp>
      <p:sp>
        <p:nvSpPr>
          <p:cNvPr id="216" name="Google Shape;216;p10"/>
          <p:cNvSpPr/>
          <p:nvPr/>
        </p:nvSpPr>
        <p:spPr>
          <a:xfrm>
            <a:off x="6720840" y="1463040"/>
            <a:ext cx="4892040" cy="1371600"/>
          </a:xfrm>
          <a:prstGeom prst="roundRect">
            <a:avLst>
              <a:gd fmla="val 5333" name="adj"/>
            </a:avLst>
          </a:prstGeom>
          <a:solidFill>
            <a:srgbClr val="FFFFFF"/>
          </a:solidFill>
          <a:ln>
            <a:noFill/>
          </a:ln>
          <a:effectLst>
            <a:outerShdw blurRad="76200" rotWithShape="0" algn="bl" dir="5400000" dist="25400">
              <a:srgbClr val="999999">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6949440" y="1627632"/>
            <a:ext cx="4480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450"/>
              <a:buFont typeface="Cambria"/>
              <a:buNone/>
            </a:pPr>
            <a:r>
              <a:rPr b="1" i="0" lang="en-US" sz="1450" u="none" cap="none" strike="noStrike">
                <a:solidFill>
                  <a:srgbClr val="2F3C7E"/>
                </a:solidFill>
                <a:latin typeface="Cambria"/>
                <a:ea typeface="Cambria"/>
                <a:cs typeface="Cambria"/>
                <a:sym typeface="Cambria"/>
              </a:rPr>
              <a:t>Simulation / Sandbox</a:t>
            </a:r>
            <a:endParaRPr b="0" i="0" sz="1450" u="none" cap="none" strike="noStrike">
              <a:solidFill>
                <a:schemeClr val="dk1"/>
              </a:solidFill>
              <a:latin typeface="Calibri"/>
              <a:ea typeface="Calibri"/>
              <a:cs typeface="Calibri"/>
              <a:sym typeface="Calibri"/>
            </a:endParaRPr>
          </a:p>
        </p:txBody>
      </p:sp>
      <p:sp>
        <p:nvSpPr>
          <p:cNvPr id="218" name="Google Shape;218;p10"/>
          <p:cNvSpPr/>
          <p:nvPr/>
        </p:nvSpPr>
        <p:spPr>
          <a:xfrm>
            <a:off x="6949440" y="2029968"/>
            <a:ext cx="4480560" cy="685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A2A3C"/>
              </a:buClr>
              <a:buSzPts val="1150"/>
              <a:buFont typeface="Calibri"/>
              <a:buNone/>
            </a:pPr>
            <a:r>
              <a:rPr b="0" i="0" lang="en-US" sz="1150" u="none" cap="none" strike="noStrike">
                <a:solidFill>
                  <a:srgbClr val="2A2A3C"/>
                </a:solidFill>
                <a:latin typeface="Calibri"/>
                <a:ea typeface="Calibri"/>
                <a:cs typeface="Calibri"/>
                <a:sym typeface="Calibri"/>
              </a:rPr>
              <a:t>Building and optimizing your ranch</a:t>
            </a:r>
            <a:endParaRPr b="0" i="0" sz="1150" u="none" cap="none" strike="noStrike">
              <a:solidFill>
                <a:schemeClr val="dk1"/>
              </a:solidFill>
              <a:latin typeface="Calibri"/>
              <a:ea typeface="Calibri"/>
              <a:cs typeface="Calibri"/>
              <a:sym typeface="Calibri"/>
            </a:endParaRPr>
          </a:p>
        </p:txBody>
      </p:sp>
      <p:sp>
        <p:nvSpPr>
          <p:cNvPr id="219" name="Google Shape;219;p10"/>
          <p:cNvSpPr/>
          <p:nvPr/>
        </p:nvSpPr>
        <p:spPr>
          <a:xfrm>
            <a:off x="6720840" y="3063240"/>
            <a:ext cx="4892040" cy="1371600"/>
          </a:xfrm>
          <a:prstGeom prst="roundRect">
            <a:avLst>
              <a:gd fmla="val 5333" name="adj"/>
            </a:avLst>
          </a:prstGeom>
          <a:solidFill>
            <a:srgbClr val="2F3C7E"/>
          </a:solidFill>
          <a:ln>
            <a:noFill/>
          </a:ln>
          <a:effectLst>
            <a:outerShdw blurRad="76200" rotWithShape="0" algn="bl" dir="5400000" dist="25400">
              <a:srgbClr val="999999">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6949440" y="3227832"/>
            <a:ext cx="4480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E795"/>
              </a:buClr>
              <a:buSzPts val="1450"/>
              <a:buFont typeface="Cambria"/>
              <a:buNone/>
            </a:pPr>
            <a:r>
              <a:rPr b="1" i="0" lang="en-US" sz="1450" u="none" cap="none" strike="noStrike">
                <a:solidFill>
                  <a:srgbClr val="F9E795"/>
                </a:solidFill>
                <a:latin typeface="Cambria"/>
                <a:ea typeface="Cambria"/>
                <a:cs typeface="Cambria"/>
                <a:sym typeface="Cambria"/>
              </a:rPr>
              <a:t>Exploration</a:t>
            </a:r>
            <a:endParaRPr b="0" i="0" sz="1450" u="none" cap="none" strike="noStrike">
              <a:solidFill>
                <a:schemeClr val="dk1"/>
              </a:solidFill>
              <a:latin typeface="Calibri"/>
              <a:ea typeface="Calibri"/>
              <a:cs typeface="Calibri"/>
              <a:sym typeface="Calibri"/>
            </a:endParaRPr>
          </a:p>
        </p:txBody>
      </p:sp>
      <p:sp>
        <p:nvSpPr>
          <p:cNvPr id="221" name="Google Shape;221;p10"/>
          <p:cNvSpPr/>
          <p:nvPr/>
        </p:nvSpPr>
        <p:spPr>
          <a:xfrm>
            <a:off x="6949440" y="3630168"/>
            <a:ext cx="4480560" cy="685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Discovering new regions and secrets on Rainbow Island</a:t>
            </a:r>
            <a:endParaRPr b="0" i="0" sz="1150" u="none" cap="none" strike="noStrike">
              <a:solidFill>
                <a:schemeClr val="dk1"/>
              </a:solidFill>
              <a:latin typeface="Calibri"/>
              <a:ea typeface="Calibri"/>
              <a:cs typeface="Calibri"/>
              <a:sym typeface="Calibri"/>
            </a:endParaRPr>
          </a:p>
        </p:txBody>
      </p:sp>
      <p:sp>
        <p:nvSpPr>
          <p:cNvPr id="222" name="Google Shape;222;p10"/>
          <p:cNvSpPr/>
          <p:nvPr/>
        </p:nvSpPr>
        <p:spPr>
          <a:xfrm>
            <a:off x="6720840" y="4663440"/>
            <a:ext cx="4892040" cy="1371600"/>
          </a:xfrm>
          <a:prstGeom prst="roundRect">
            <a:avLst>
              <a:gd fmla="val 5333" name="adj"/>
            </a:avLst>
          </a:prstGeom>
          <a:solidFill>
            <a:srgbClr val="FFFFFF"/>
          </a:solidFill>
          <a:ln>
            <a:noFill/>
          </a:ln>
          <a:effectLst>
            <a:outerShdw blurRad="76200" rotWithShape="0" algn="bl" dir="5400000" dist="25400">
              <a:srgbClr val="999999">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6949440" y="4828032"/>
            <a:ext cx="4480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450"/>
              <a:buFont typeface="Cambria"/>
              <a:buNone/>
            </a:pPr>
            <a:r>
              <a:rPr b="1" i="0" lang="en-US" sz="1450" u="none" cap="none" strike="noStrike">
                <a:solidFill>
                  <a:srgbClr val="2F3C7E"/>
                </a:solidFill>
                <a:latin typeface="Cambria"/>
                <a:ea typeface="Cambria"/>
                <a:cs typeface="Cambria"/>
                <a:sym typeface="Cambria"/>
              </a:rPr>
              <a:t>Shooter-style</a:t>
            </a:r>
            <a:endParaRPr b="0" i="0" sz="1450" u="none" cap="none" strike="noStrike">
              <a:solidFill>
                <a:schemeClr val="dk1"/>
              </a:solidFill>
              <a:latin typeface="Calibri"/>
              <a:ea typeface="Calibri"/>
              <a:cs typeface="Calibri"/>
              <a:sym typeface="Calibri"/>
            </a:endParaRPr>
          </a:p>
        </p:txBody>
      </p:sp>
      <p:sp>
        <p:nvSpPr>
          <p:cNvPr id="224" name="Google Shape;224;p10"/>
          <p:cNvSpPr/>
          <p:nvPr/>
        </p:nvSpPr>
        <p:spPr>
          <a:xfrm>
            <a:off x="6949440" y="5230368"/>
            <a:ext cx="4480560" cy="685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A2A3C"/>
              </a:buClr>
              <a:buSzPts val="1150"/>
              <a:buFont typeface="Calibri"/>
              <a:buNone/>
            </a:pPr>
            <a:r>
              <a:rPr b="0" i="0" lang="en-US" sz="1150" u="none" cap="none" strike="noStrike">
                <a:solidFill>
                  <a:srgbClr val="2A2A3C"/>
                </a:solidFill>
                <a:latin typeface="Calibri"/>
                <a:ea typeface="Calibri"/>
                <a:cs typeface="Calibri"/>
                <a:sym typeface="Calibri"/>
              </a:rPr>
              <a:t>Using your Vacpack to aim, vacuum, and launch slimes and resources</a:t>
            </a:r>
            <a:endParaRPr b="0" i="0" sz="1150" u="none" cap="none" strike="noStrike">
              <a:solidFill>
                <a:schemeClr val="dk1"/>
              </a:solidFill>
              <a:latin typeface="Calibri"/>
              <a:ea typeface="Calibri"/>
              <a:cs typeface="Calibri"/>
              <a:sym typeface="Calibri"/>
            </a:endParaRPr>
          </a:p>
        </p:txBody>
      </p:sp>
      <p:sp>
        <p:nvSpPr>
          <p:cNvPr id="225" name="Google Shape;225;p10"/>
          <p:cNvSpPr/>
          <p:nvPr/>
        </p:nvSpPr>
        <p:spPr>
          <a:xfrm>
            <a:off x="54864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Game Genres — Unity Learn</a:t>
            </a:r>
            <a:endParaRPr b="0" i="0" sz="900" u="none" cap="none" strike="noStrike">
              <a:solidFill>
                <a:schemeClr val="dk1"/>
              </a:solidFill>
              <a:latin typeface="Calibri"/>
              <a:ea typeface="Calibri"/>
              <a:cs typeface="Calibri"/>
              <a:sym typeface="Calibri"/>
            </a:endParaRPr>
          </a:p>
        </p:txBody>
      </p:sp>
      <p:sp>
        <p:nvSpPr>
          <p:cNvPr id="226" name="Google Shape;226;p10"/>
          <p:cNvSpPr/>
          <p:nvPr/>
        </p:nvSpPr>
        <p:spPr>
          <a:xfrm>
            <a:off x="11185855"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11"/>
          <p:cNvSpPr/>
          <p:nvPr/>
        </p:nvSpPr>
        <p:spPr>
          <a:xfrm>
            <a:off x="548640" y="411480"/>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A3C"/>
              </a:buClr>
              <a:buSzPts val="3200"/>
              <a:buFont typeface="Cambria"/>
              <a:buNone/>
            </a:pPr>
            <a:r>
              <a:rPr b="1" i="0" lang="en-US" sz="3200" u="none" cap="none" strike="noStrike">
                <a:solidFill>
                  <a:srgbClr val="2A2A3C"/>
                </a:solidFill>
                <a:latin typeface="Cambria"/>
                <a:ea typeface="Cambria"/>
                <a:cs typeface="Cambria"/>
                <a:sym typeface="Cambria"/>
              </a:rPr>
              <a:t>Activity: Watch and Identify</a:t>
            </a:r>
            <a:endParaRPr b="0" i="0" sz="3200" u="none" cap="none" strike="noStrike">
              <a:solidFill>
                <a:schemeClr val="dk1"/>
              </a:solidFill>
              <a:latin typeface="Calibri"/>
              <a:ea typeface="Calibri"/>
              <a:cs typeface="Calibri"/>
              <a:sym typeface="Calibri"/>
            </a:endParaRPr>
          </a:p>
        </p:txBody>
      </p:sp>
      <p:sp>
        <p:nvSpPr>
          <p:cNvPr id="233" name="Google Shape;233;p11"/>
          <p:cNvSpPr/>
          <p:nvPr/>
        </p:nvSpPr>
        <p:spPr>
          <a:xfrm>
            <a:off x="548640" y="109728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1300"/>
              <a:buFont typeface="Calibri"/>
              <a:buNone/>
            </a:pPr>
            <a:r>
              <a:rPr b="0" i="1" lang="en-US" sz="1300" u="none" cap="none" strike="noStrike">
                <a:solidFill>
                  <a:srgbClr val="6B6B80"/>
                </a:solidFill>
                <a:latin typeface="Calibri"/>
                <a:ea typeface="Calibri"/>
                <a:cs typeface="Calibri"/>
                <a:sym typeface="Calibri"/>
              </a:rPr>
              <a:t>Before classifying your own game in your GDD, practice analyzing an existing one.</a:t>
            </a:r>
            <a:endParaRPr b="0" i="0" sz="1300" u="none" cap="none" strike="noStrike">
              <a:solidFill>
                <a:schemeClr val="dk1"/>
              </a:solidFill>
              <a:latin typeface="Calibri"/>
              <a:ea typeface="Calibri"/>
              <a:cs typeface="Calibri"/>
              <a:sym typeface="Calibri"/>
            </a:endParaRPr>
          </a:p>
        </p:txBody>
      </p:sp>
      <p:sp>
        <p:nvSpPr>
          <p:cNvPr id="234" name="Google Shape;234;p11"/>
          <p:cNvSpPr/>
          <p:nvPr/>
        </p:nvSpPr>
        <p:spPr>
          <a:xfrm>
            <a:off x="548640" y="1691640"/>
            <a:ext cx="2606040" cy="2103120"/>
          </a:xfrm>
          <a:prstGeom prst="roundRect">
            <a:avLst>
              <a:gd fmla="val 3478"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731520" y="1874520"/>
            <a:ext cx="502920" cy="50292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731520" y="18745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1</a:t>
            </a:r>
            <a:endParaRPr b="0" i="0" sz="1300" u="none" cap="none" strike="noStrike">
              <a:solidFill>
                <a:schemeClr val="dk1"/>
              </a:solidFill>
              <a:latin typeface="Calibri"/>
              <a:ea typeface="Calibri"/>
              <a:cs typeface="Calibri"/>
              <a:sym typeface="Calibri"/>
            </a:endParaRPr>
          </a:p>
        </p:txBody>
      </p:sp>
      <p:sp>
        <p:nvSpPr>
          <p:cNvPr id="237" name="Google Shape;237;p11"/>
          <p:cNvSpPr/>
          <p:nvPr/>
        </p:nvSpPr>
        <p:spPr>
          <a:xfrm>
            <a:off x="731520" y="246888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350"/>
              <a:buFont typeface="Cambria"/>
              <a:buNone/>
            </a:pPr>
            <a:r>
              <a:rPr b="1" i="0" lang="en-US" sz="1350" u="none" cap="none" strike="noStrike">
                <a:solidFill>
                  <a:srgbClr val="2F3C7E"/>
                </a:solidFill>
                <a:latin typeface="Cambria"/>
                <a:ea typeface="Cambria"/>
                <a:cs typeface="Cambria"/>
                <a:sym typeface="Cambria"/>
              </a:rPr>
              <a:t>Explore</a:t>
            </a:r>
            <a:endParaRPr b="0" i="0" sz="1350" u="none" cap="none" strike="noStrike">
              <a:solidFill>
                <a:schemeClr val="dk1"/>
              </a:solidFill>
              <a:latin typeface="Calibri"/>
              <a:ea typeface="Calibri"/>
              <a:cs typeface="Calibri"/>
              <a:sym typeface="Calibri"/>
            </a:endParaRPr>
          </a:p>
        </p:txBody>
      </p:sp>
      <p:sp>
        <p:nvSpPr>
          <p:cNvPr id="238" name="Google Shape;238;p11"/>
          <p:cNvSpPr/>
          <p:nvPr/>
        </p:nvSpPr>
        <p:spPr>
          <a:xfrm>
            <a:off x="731520" y="2834640"/>
            <a:ext cx="224028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A2A3C"/>
              </a:buClr>
              <a:buSzPts val="1000"/>
              <a:buFont typeface="Calibri"/>
              <a:buNone/>
            </a:pPr>
            <a:r>
              <a:rPr b="0" i="0" lang="en-US" sz="1000" u="none" cap="none" strike="noStrike">
                <a:solidFill>
                  <a:srgbClr val="2A2A3C"/>
                </a:solidFill>
                <a:latin typeface="Calibri"/>
                <a:ea typeface="Calibri"/>
                <a:cs typeface="Calibri"/>
                <a:sym typeface="Calibri"/>
              </a:rPr>
              <a:t>Visit the Steam page of one game below — trailers, screenshots, and descriptions.</a:t>
            </a:r>
            <a:endParaRPr b="0" i="0" sz="1000" u="none" cap="none" strike="noStrike">
              <a:solidFill>
                <a:schemeClr val="dk1"/>
              </a:solidFill>
              <a:latin typeface="Calibri"/>
              <a:ea typeface="Calibri"/>
              <a:cs typeface="Calibri"/>
              <a:sym typeface="Calibri"/>
            </a:endParaRPr>
          </a:p>
        </p:txBody>
      </p:sp>
      <p:sp>
        <p:nvSpPr>
          <p:cNvPr id="239" name="Google Shape;239;p11"/>
          <p:cNvSpPr/>
          <p:nvPr/>
        </p:nvSpPr>
        <p:spPr>
          <a:xfrm>
            <a:off x="3337560" y="1691640"/>
            <a:ext cx="2606040" cy="2103120"/>
          </a:xfrm>
          <a:prstGeom prst="roundRect">
            <a:avLst>
              <a:gd fmla="val 3478"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3520440" y="1874520"/>
            <a:ext cx="502920" cy="50292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3520440" y="18745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2a</a:t>
            </a:r>
            <a:endParaRPr b="0" i="0" sz="1300" u="none" cap="none" strike="noStrike">
              <a:solidFill>
                <a:schemeClr val="dk1"/>
              </a:solidFill>
              <a:latin typeface="Calibri"/>
              <a:ea typeface="Calibri"/>
              <a:cs typeface="Calibri"/>
              <a:sym typeface="Calibri"/>
            </a:endParaRPr>
          </a:p>
        </p:txBody>
      </p:sp>
      <p:sp>
        <p:nvSpPr>
          <p:cNvPr id="242" name="Google Shape;242;p11"/>
          <p:cNvSpPr/>
          <p:nvPr/>
        </p:nvSpPr>
        <p:spPr>
          <a:xfrm>
            <a:off x="3520440" y="246888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350"/>
              <a:buFont typeface="Cambria"/>
              <a:buNone/>
            </a:pPr>
            <a:r>
              <a:rPr b="1" i="0" lang="en-US" sz="1350" u="none" cap="none" strike="noStrike">
                <a:solidFill>
                  <a:srgbClr val="2F3C7E"/>
                </a:solidFill>
                <a:latin typeface="Cambria"/>
                <a:ea typeface="Cambria"/>
                <a:cs typeface="Cambria"/>
                <a:sym typeface="Cambria"/>
              </a:rPr>
              <a:t>Primary genre</a:t>
            </a:r>
            <a:endParaRPr b="0" i="0" sz="1350" u="none" cap="none" strike="noStrike">
              <a:solidFill>
                <a:schemeClr val="dk1"/>
              </a:solidFill>
              <a:latin typeface="Calibri"/>
              <a:ea typeface="Calibri"/>
              <a:cs typeface="Calibri"/>
              <a:sym typeface="Calibri"/>
            </a:endParaRPr>
          </a:p>
        </p:txBody>
      </p:sp>
      <p:sp>
        <p:nvSpPr>
          <p:cNvPr id="243" name="Google Shape;243;p11"/>
          <p:cNvSpPr/>
          <p:nvPr/>
        </p:nvSpPr>
        <p:spPr>
          <a:xfrm>
            <a:off x="3520440" y="2834640"/>
            <a:ext cx="224028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A2A3C"/>
              </a:buClr>
              <a:buSzPts val="1000"/>
              <a:buFont typeface="Calibri"/>
              <a:buNone/>
            </a:pPr>
            <a:r>
              <a:rPr b="0" i="0" lang="en-US" sz="1000" u="none" cap="none" strike="noStrike">
                <a:solidFill>
                  <a:srgbClr val="2A2A3C"/>
                </a:solidFill>
                <a:latin typeface="Calibri"/>
                <a:ea typeface="Calibri"/>
                <a:cs typeface="Calibri"/>
                <a:sym typeface="Calibri"/>
              </a:rPr>
              <a:t>Identify the primary genre of the game.</a:t>
            </a:r>
            <a:endParaRPr b="0" i="0" sz="1000" u="none" cap="none" strike="noStrike">
              <a:solidFill>
                <a:schemeClr val="dk1"/>
              </a:solidFill>
              <a:latin typeface="Calibri"/>
              <a:ea typeface="Calibri"/>
              <a:cs typeface="Calibri"/>
              <a:sym typeface="Calibri"/>
            </a:endParaRPr>
          </a:p>
        </p:txBody>
      </p:sp>
      <p:sp>
        <p:nvSpPr>
          <p:cNvPr id="244" name="Google Shape;244;p11"/>
          <p:cNvSpPr/>
          <p:nvPr/>
        </p:nvSpPr>
        <p:spPr>
          <a:xfrm>
            <a:off x="6126480" y="1691640"/>
            <a:ext cx="2606040" cy="2103120"/>
          </a:xfrm>
          <a:prstGeom prst="roundRect">
            <a:avLst>
              <a:gd fmla="val 3478"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6309360" y="1874520"/>
            <a:ext cx="502920" cy="50292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6309360" y="18745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2b</a:t>
            </a:r>
            <a:endParaRPr b="0" i="0" sz="1300" u="none" cap="none" strike="noStrike">
              <a:solidFill>
                <a:schemeClr val="dk1"/>
              </a:solidFill>
              <a:latin typeface="Calibri"/>
              <a:ea typeface="Calibri"/>
              <a:cs typeface="Calibri"/>
              <a:sym typeface="Calibri"/>
            </a:endParaRPr>
          </a:p>
        </p:txBody>
      </p:sp>
      <p:sp>
        <p:nvSpPr>
          <p:cNvPr id="247" name="Google Shape;247;p11"/>
          <p:cNvSpPr/>
          <p:nvPr/>
        </p:nvSpPr>
        <p:spPr>
          <a:xfrm>
            <a:off x="6309360" y="246888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350"/>
              <a:buFont typeface="Cambria"/>
              <a:buNone/>
            </a:pPr>
            <a:r>
              <a:rPr b="1" i="0" lang="en-US" sz="1350" u="none" cap="none" strike="noStrike">
                <a:solidFill>
                  <a:srgbClr val="2F3C7E"/>
                </a:solidFill>
                <a:latin typeface="Cambria"/>
                <a:ea typeface="Cambria"/>
                <a:cs typeface="Cambria"/>
                <a:sym typeface="Cambria"/>
              </a:rPr>
              <a:t>Core verbs</a:t>
            </a:r>
            <a:endParaRPr b="0" i="0" sz="1350" u="none" cap="none" strike="noStrike">
              <a:solidFill>
                <a:schemeClr val="dk1"/>
              </a:solidFill>
              <a:latin typeface="Calibri"/>
              <a:ea typeface="Calibri"/>
              <a:cs typeface="Calibri"/>
              <a:sym typeface="Calibri"/>
            </a:endParaRPr>
          </a:p>
        </p:txBody>
      </p:sp>
      <p:sp>
        <p:nvSpPr>
          <p:cNvPr id="248" name="Google Shape;248;p11"/>
          <p:cNvSpPr/>
          <p:nvPr/>
        </p:nvSpPr>
        <p:spPr>
          <a:xfrm>
            <a:off x="6309360" y="2834640"/>
            <a:ext cx="224028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A2A3C"/>
              </a:buClr>
              <a:buSzPts val="1000"/>
              <a:buFont typeface="Calibri"/>
              <a:buNone/>
            </a:pPr>
            <a:r>
              <a:rPr b="0" i="0" lang="en-US" sz="1000" u="none" cap="none" strike="noStrike">
                <a:solidFill>
                  <a:srgbClr val="2A2A3C"/>
                </a:solidFill>
                <a:latin typeface="Calibri"/>
                <a:ea typeface="Calibri"/>
                <a:cs typeface="Calibri"/>
                <a:sym typeface="Calibri"/>
              </a:rPr>
              <a:t>Name 3–5 core player verbs — what actions repeat most often?</a:t>
            </a:r>
            <a:endParaRPr b="0" i="0" sz="1000" u="none" cap="none" strike="noStrike">
              <a:solidFill>
                <a:schemeClr val="dk1"/>
              </a:solidFill>
              <a:latin typeface="Calibri"/>
              <a:ea typeface="Calibri"/>
              <a:cs typeface="Calibri"/>
              <a:sym typeface="Calibri"/>
            </a:endParaRPr>
          </a:p>
        </p:txBody>
      </p:sp>
      <p:sp>
        <p:nvSpPr>
          <p:cNvPr id="249" name="Google Shape;249;p11"/>
          <p:cNvSpPr/>
          <p:nvPr/>
        </p:nvSpPr>
        <p:spPr>
          <a:xfrm>
            <a:off x="8915400" y="1691640"/>
            <a:ext cx="2606040" cy="2103120"/>
          </a:xfrm>
          <a:prstGeom prst="roundRect">
            <a:avLst>
              <a:gd fmla="val 3478"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a:off x="9098280" y="1874520"/>
            <a:ext cx="502920" cy="50292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9098280" y="18745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2c</a:t>
            </a:r>
            <a:endParaRPr b="0" i="0" sz="1300" u="none" cap="none" strike="noStrike">
              <a:solidFill>
                <a:schemeClr val="dk1"/>
              </a:solidFill>
              <a:latin typeface="Calibri"/>
              <a:ea typeface="Calibri"/>
              <a:cs typeface="Calibri"/>
              <a:sym typeface="Calibri"/>
            </a:endParaRPr>
          </a:p>
        </p:txBody>
      </p:sp>
      <p:sp>
        <p:nvSpPr>
          <p:cNvPr id="252" name="Google Shape;252;p11"/>
          <p:cNvSpPr/>
          <p:nvPr/>
        </p:nvSpPr>
        <p:spPr>
          <a:xfrm>
            <a:off x="9098280" y="2468880"/>
            <a:ext cx="2240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350"/>
              <a:buFont typeface="Cambria"/>
              <a:buNone/>
            </a:pPr>
            <a:r>
              <a:rPr b="1" i="0" lang="en-US" sz="1350" u="none" cap="none" strike="noStrike">
                <a:solidFill>
                  <a:srgbClr val="2F3C7E"/>
                </a:solidFill>
                <a:latin typeface="Cambria"/>
                <a:ea typeface="Cambria"/>
                <a:cs typeface="Cambria"/>
                <a:sym typeface="Cambria"/>
              </a:rPr>
              <a:t>Hybrid elements</a:t>
            </a:r>
            <a:endParaRPr b="0" i="0" sz="1350" u="none" cap="none" strike="noStrike">
              <a:solidFill>
                <a:schemeClr val="dk1"/>
              </a:solidFill>
              <a:latin typeface="Calibri"/>
              <a:ea typeface="Calibri"/>
              <a:cs typeface="Calibri"/>
              <a:sym typeface="Calibri"/>
            </a:endParaRPr>
          </a:p>
        </p:txBody>
      </p:sp>
      <p:sp>
        <p:nvSpPr>
          <p:cNvPr id="253" name="Google Shape;253;p11"/>
          <p:cNvSpPr/>
          <p:nvPr/>
        </p:nvSpPr>
        <p:spPr>
          <a:xfrm>
            <a:off x="9098280" y="2834640"/>
            <a:ext cx="224028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2A2A3C"/>
              </a:buClr>
              <a:buSzPts val="1000"/>
              <a:buFont typeface="Calibri"/>
              <a:buNone/>
            </a:pPr>
            <a:r>
              <a:rPr b="0" i="0" lang="en-US" sz="1000" u="none" cap="none" strike="noStrike">
                <a:solidFill>
                  <a:srgbClr val="2A2A3C"/>
                </a:solidFill>
                <a:latin typeface="Calibri"/>
                <a:ea typeface="Calibri"/>
                <a:cs typeface="Calibri"/>
                <a:sym typeface="Calibri"/>
              </a:rPr>
              <a:t>Note any hybrid or sub-genre elements you notice.</a:t>
            </a:r>
            <a:endParaRPr b="0" i="0" sz="1000" u="none" cap="none" strike="noStrike">
              <a:solidFill>
                <a:schemeClr val="dk1"/>
              </a:solidFill>
              <a:latin typeface="Calibri"/>
              <a:ea typeface="Calibri"/>
              <a:cs typeface="Calibri"/>
              <a:sym typeface="Calibri"/>
            </a:endParaRPr>
          </a:p>
        </p:txBody>
      </p:sp>
      <p:sp>
        <p:nvSpPr>
          <p:cNvPr id="254" name="Google Shape;254;p11"/>
          <p:cNvSpPr/>
          <p:nvPr/>
        </p:nvSpPr>
        <p:spPr>
          <a:xfrm>
            <a:off x="548640" y="4023360"/>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00"/>
              <a:buFont typeface="Cambria"/>
              <a:buNone/>
            </a:pPr>
            <a:r>
              <a:rPr b="1" i="0" lang="en-US" sz="1500" u="none" cap="none" strike="noStrike">
                <a:solidFill>
                  <a:srgbClr val="2F3C7E"/>
                </a:solidFill>
                <a:latin typeface="Cambria"/>
                <a:ea typeface="Cambria"/>
                <a:cs typeface="Cambria"/>
                <a:sym typeface="Cambria"/>
              </a:rPr>
              <a:t>Links to trailers</a:t>
            </a:r>
            <a:endParaRPr b="0" i="0" sz="1500" u="none" cap="none" strike="noStrike">
              <a:solidFill>
                <a:schemeClr val="dk1"/>
              </a:solidFill>
              <a:latin typeface="Calibri"/>
              <a:ea typeface="Calibri"/>
              <a:cs typeface="Calibri"/>
              <a:sym typeface="Calibri"/>
            </a:endParaRPr>
          </a:p>
        </p:txBody>
      </p:sp>
      <p:sp>
        <p:nvSpPr>
          <p:cNvPr id="255" name="Google Shape;255;p11"/>
          <p:cNvSpPr/>
          <p:nvPr/>
        </p:nvSpPr>
        <p:spPr>
          <a:xfrm>
            <a:off x="548640" y="4407408"/>
            <a:ext cx="3840480" cy="438912"/>
          </a:xfrm>
          <a:prstGeom prst="roundRect">
            <a:avLst>
              <a:gd fmla="val 125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777240" y="4407408"/>
            <a:ext cx="33832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Cuphead</a:t>
            </a:r>
            <a:endParaRPr b="0" i="0" sz="1300" u="none" cap="none" strike="noStrike">
              <a:solidFill>
                <a:schemeClr val="dk1"/>
              </a:solidFill>
              <a:latin typeface="Calibri"/>
              <a:ea typeface="Calibri"/>
              <a:cs typeface="Calibri"/>
              <a:sym typeface="Calibri"/>
            </a:endParaRPr>
          </a:p>
        </p:txBody>
      </p:sp>
      <p:sp>
        <p:nvSpPr>
          <p:cNvPr id="257" name="Google Shape;257;p11"/>
          <p:cNvSpPr/>
          <p:nvPr/>
        </p:nvSpPr>
        <p:spPr>
          <a:xfrm>
            <a:off x="548640" y="4919472"/>
            <a:ext cx="3840480" cy="438912"/>
          </a:xfrm>
          <a:prstGeom prst="roundRect">
            <a:avLst>
              <a:gd fmla="val 125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777240" y="4919472"/>
            <a:ext cx="33832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Kerbal Space Program</a:t>
            </a:r>
            <a:endParaRPr b="0" i="0" sz="1300" u="none" cap="none" strike="noStrike">
              <a:solidFill>
                <a:schemeClr val="dk1"/>
              </a:solidFill>
              <a:latin typeface="Calibri"/>
              <a:ea typeface="Calibri"/>
              <a:cs typeface="Calibri"/>
              <a:sym typeface="Calibri"/>
            </a:endParaRPr>
          </a:p>
        </p:txBody>
      </p:sp>
      <p:sp>
        <p:nvSpPr>
          <p:cNvPr id="259" name="Google Shape;259;p11"/>
          <p:cNvSpPr/>
          <p:nvPr/>
        </p:nvSpPr>
        <p:spPr>
          <a:xfrm>
            <a:off x="548640" y="5431536"/>
            <a:ext cx="3840480" cy="438912"/>
          </a:xfrm>
          <a:prstGeom prst="roundRect">
            <a:avLst>
              <a:gd fmla="val 125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1"/>
          <p:cNvSpPr/>
          <p:nvPr/>
        </p:nvSpPr>
        <p:spPr>
          <a:xfrm>
            <a:off x="777240" y="5431536"/>
            <a:ext cx="33832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Rust</a:t>
            </a:r>
            <a:endParaRPr b="0" i="0" sz="1300" u="none" cap="none" strike="noStrike">
              <a:solidFill>
                <a:schemeClr val="dk1"/>
              </a:solidFill>
              <a:latin typeface="Calibri"/>
              <a:ea typeface="Calibri"/>
              <a:cs typeface="Calibri"/>
              <a:sym typeface="Calibri"/>
            </a:endParaRPr>
          </a:p>
        </p:txBody>
      </p:sp>
      <p:sp>
        <p:nvSpPr>
          <p:cNvPr id="261" name="Google Shape;261;p11"/>
          <p:cNvSpPr/>
          <p:nvPr/>
        </p:nvSpPr>
        <p:spPr>
          <a:xfrm>
            <a:off x="548640" y="5998464"/>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50"/>
              <a:buFont typeface="Calibri"/>
              <a:buNone/>
            </a:pPr>
            <a:r>
              <a:rPr b="0" i="1" lang="en-US" sz="950" u="none" cap="none" strike="noStrike">
                <a:solidFill>
                  <a:srgbClr val="6B6B80"/>
                </a:solidFill>
                <a:latin typeface="Calibri"/>
                <a:ea typeface="Calibri"/>
                <a:cs typeface="Calibri"/>
                <a:sym typeface="Calibri"/>
              </a:rPr>
              <a:t>store.steampowered.com — search each title</a:t>
            </a:r>
            <a:endParaRPr b="0" i="0" sz="950" u="none" cap="none" strike="noStrike">
              <a:solidFill>
                <a:schemeClr val="dk1"/>
              </a:solidFill>
              <a:latin typeface="Calibri"/>
              <a:ea typeface="Calibri"/>
              <a:cs typeface="Calibri"/>
              <a:sym typeface="Calibri"/>
            </a:endParaRPr>
          </a:p>
        </p:txBody>
      </p:sp>
      <p:sp>
        <p:nvSpPr>
          <p:cNvPr id="262" name="Google Shape;262;p11"/>
          <p:cNvSpPr/>
          <p:nvPr/>
        </p:nvSpPr>
        <p:spPr>
          <a:xfrm>
            <a:off x="4892040" y="4114800"/>
            <a:ext cx="6720840" cy="2148840"/>
          </a:xfrm>
          <a:prstGeom prst="roundRect">
            <a:avLst>
              <a:gd fmla="val 3404"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a:off x="5166360" y="4315968"/>
            <a:ext cx="6217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6167"/>
              </a:buClr>
              <a:buSzPts val="1300"/>
              <a:buFont typeface="Cambria"/>
              <a:buNone/>
            </a:pPr>
            <a:r>
              <a:rPr b="1" i="0" lang="en-US" sz="1300" u="none" cap="none" strike="noStrike">
                <a:solidFill>
                  <a:srgbClr val="F96167"/>
                </a:solidFill>
                <a:latin typeface="Cambria"/>
                <a:ea typeface="Cambria"/>
                <a:cs typeface="Cambria"/>
                <a:sym typeface="Cambria"/>
              </a:rPr>
              <a:t>Tip</a:t>
            </a:r>
            <a:endParaRPr b="0" i="0" sz="1300" u="none" cap="none" strike="noStrike">
              <a:solidFill>
                <a:schemeClr val="dk1"/>
              </a:solidFill>
              <a:latin typeface="Calibri"/>
              <a:ea typeface="Calibri"/>
              <a:cs typeface="Calibri"/>
              <a:sym typeface="Calibri"/>
            </a:endParaRPr>
          </a:p>
        </p:txBody>
      </p:sp>
      <p:sp>
        <p:nvSpPr>
          <p:cNvPr id="264" name="Google Shape;264;p11"/>
          <p:cNvSpPr/>
          <p:nvPr/>
        </p:nvSpPr>
        <p:spPr>
          <a:xfrm>
            <a:off x="5166360" y="4663440"/>
            <a:ext cx="6217920" cy="1371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2A2A3C"/>
              </a:buClr>
              <a:buSzPts val="1300"/>
              <a:buFont typeface="Calibri"/>
              <a:buNone/>
            </a:pPr>
            <a:r>
              <a:rPr b="0" i="1" lang="en-US" sz="1300" u="none" cap="none" strike="noStrike">
                <a:solidFill>
                  <a:srgbClr val="2A2A3C"/>
                </a:solidFill>
                <a:latin typeface="Calibri"/>
                <a:ea typeface="Calibri"/>
                <a:cs typeface="Calibri"/>
                <a:sym typeface="Calibri"/>
              </a:rPr>
              <a:t>If you want, post your responses for one of the games in the Q&amp;A section of this tutorial to share with other learners.</a:t>
            </a:r>
            <a:endParaRPr b="0" i="0" sz="1300" u="none" cap="none" strike="noStrike">
              <a:solidFill>
                <a:schemeClr val="dk1"/>
              </a:solidFill>
              <a:latin typeface="Calibri"/>
              <a:ea typeface="Calibri"/>
              <a:cs typeface="Calibri"/>
              <a:sym typeface="Calibri"/>
            </a:endParaRPr>
          </a:p>
        </p:txBody>
      </p:sp>
      <p:sp>
        <p:nvSpPr>
          <p:cNvPr id="265" name="Google Shape;265;p11"/>
          <p:cNvSpPr/>
          <p:nvPr/>
        </p:nvSpPr>
        <p:spPr>
          <a:xfrm>
            <a:off x="54864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Game Genres — Unity Learn</a:t>
            </a:r>
            <a:endParaRPr b="0" i="0" sz="900" u="none" cap="none" strike="noStrike">
              <a:solidFill>
                <a:schemeClr val="dk1"/>
              </a:solidFill>
              <a:latin typeface="Calibri"/>
              <a:ea typeface="Calibri"/>
              <a:cs typeface="Calibri"/>
              <a:sym typeface="Calibri"/>
            </a:endParaRPr>
          </a:p>
        </p:txBody>
      </p:sp>
      <p:sp>
        <p:nvSpPr>
          <p:cNvPr id="266" name="Google Shape;266;p11"/>
          <p:cNvSpPr/>
          <p:nvPr/>
        </p:nvSpPr>
        <p:spPr>
          <a:xfrm>
            <a:off x="11185855"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12"/>
          <p:cNvSpPr/>
          <p:nvPr/>
        </p:nvSpPr>
        <p:spPr>
          <a:xfrm>
            <a:off x="548640" y="411480"/>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A3C"/>
              </a:buClr>
              <a:buSzPts val="3200"/>
              <a:buFont typeface="Cambria"/>
              <a:buNone/>
            </a:pPr>
            <a:r>
              <a:rPr b="1" i="0" lang="en-US" sz="3200" u="none" cap="none" strike="noStrike">
                <a:solidFill>
                  <a:srgbClr val="2A2A3C"/>
                </a:solidFill>
                <a:latin typeface="Cambria"/>
                <a:ea typeface="Cambria"/>
                <a:cs typeface="Cambria"/>
                <a:sym typeface="Cambria"/>
              </a:rPr>
              <a:t>GDD Section: Art and Visuals</a:t>
            </a:r>
            <a:endParaRPr b="0" i="0" sz="3200" u="none" cap="none" strike="noStrike">
              <a:solidFill>
                <a:schemeClr val="dk1"/>
              </a:solidFill>
              <a:latin typeface="Calibri"/>
              <a:ea typeface="Calibri"/>
              <a:cs typeface="Calibri"/>
              <a:sym typeface="Calibri"/>
            </a:endParaRPr>
          </a:p>
        </p:txBody>
      </p:sp>
      <p:sp>
        <p:nvSpPr>
          <p:cNvPr id="273" name="Google Shape;273;p12"/>
          <p:cNvSpPr/>
          <p:nvPr/>
        </p:nvSpPr>
        <p:spPr>
          <a:xfrm>
            <a:off x="548640" y="1097280"/>
            <a:ext cx="10698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2A3C"/>
              </a:buClr>
              <a:buSzPts val="1300"/>
              <a:buFont typeface="Calibri"/>
              <a:buNone/>
            </a:pPr>
            <a:r>
              <a:rPr b="0" i="0" lang="en-US" sz="1300" u="none" cap="none" strike="noStrike">
                <a:solidFill>
                  <a:srgbClr val="2A2A3C"/>
                </a:solidFill>
                <a:latin typeface="Calibri"/>
                <a:ea typeface="Calibri"/>
                <a:cs typeface="Calibri"/>
                <a:sym typeface="Calibri"/>
              </a:rPr>
              <a:t>Now that you've been exposed to many genres and styles, fill out the Art and Visuals section of your GDD — the aesthetic identity of your game.</a:t>
            </a:r>
            <a:endParaRPr b="0" i="0" sz="1300" u="none" cap="none" strike="noStrike">
              <a:solidFill>
                <a:schemeClr val="dk1"/>
              </a:solidFill>
              <a:latin typeface="Calibri"/>
              <a:ea typeface="Calibri"/>
              <a:cs typeface="Calibri"/>
              <a:sym typeface="Calibri"/>
            </a:endParaRPr>
          </a:p>
        </p:txBody>
      </p:sp>
      <p:sp>
        <p:nvSpPr>
          <p:cNvPr id="274" name="Google Shape;274;p12"/>
          <p:cNvSpPr/>
          <p:nvPr/>
        </p:nvSpPr>
        <p:spPr>
          <a:xfrm>
            <a:off x="548640" y="1737360"/>
            <a:ext cx="5349240" cy="4206240"/>
          </a:xfrm>
          <a:prstGeom prst="roundRect">
            <a:avLst>
              <a:gd fmla="val 1739" name="adj"/>
            </a:avLst>
          </a:prstGeom>
          <a:solidFill>
            <a:srgbClr val="F2F2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
          <p:cNvSpPr/>
          <p:nvPr/>
        </p:nvSpPr>
        <p:spPr>
          <a:xfrm>
            <a:off x="822960" y="192024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550"/>
              <a:buFont typeface="Cambria"/>
              <a:buNone/>
            </a:pPr>
            <a:r>
              <a:rPr b="1" i="0" lang="en-US" sz="1550" u="none" cap="none" strike="noStrike">
                <a:solidFill>
                  <a:srgbClr val="2F3C7E"/>
                </a:solidFill>
                <a:latin typeface="Cambria"/>
                <a:ea typeface="Cambria"/>
                <a:cs typeface="Cambria"/>
                <a:sym typeface="Cambria"/>
              </a:rPr>
              <a:t>Inspiration &amp; Reference Images</a:t>
            </a:r>
            <a:endParaRPr b="0" i="0" sz="1550" u="none" cap="none" strike="noStrike">
              <a:solidFill>
                <a:schemeClr val="dk1"/>
              </a:solidFill>
              <a:latin typeface="Calibri"/>
              <a:ea typeface="Calibri"/>
              <a:cs typeface="Calibri"/>
              <a:sym typeface="Calibri"/>
            </a:endParaRPr>
          </a:p>
        </p:txBody>
      </p:sp>
      <p:sp>
        <p:nvSpPr>
          <p:cNvPr id="276" name="Google Shape;276;p12"/>
          <p:cNvSpPr/>
          <p:nvPr/>
        </p:nvSpPr>
        <p:spPr>
          <a:xfrm>
            <a:off x="822960" y="2331720"/>
            <a:ext cx="484632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A2A3C"/>
              </a:buClr>
              <a:buSzPts val="1150"/>
              <a:buFont typeface="Calibri"/>
              <a:buNone/>
            </a:pPr>
            <a:r>
              <a:rPr b="0" i="0" lang="en-US" sz="1150" u="none" cap="none" strike="noStrike">
                <a:solidFill>
                  <a:srgbClr val="2A2A3C"/>
                </a:solidFill>
                <a:latin typeface="Calibri"/>
                <a:ea typeface="Calibri"/>
                <a:cs typeface="Calibri"/>
                <a:sym typeface="Calibri"/>
              </a:rPr>
              <a:t>Concept art is visual artwork created during pre-production to explore and communicate a game's aesthetic vision. Curating images from the internet that inspire your game's aesthetic can be very effective.</a:t>
            </a:r>
            <a:endParaRPr b="0" i="0" sz="1150" u="none" cap="none" strike="noStrike">
              <a:solidFill>
                <a:schemeClr val="dk1"/>
              </a:solidFill>
              <a:latin typeface="Calibri"/>
              <a:ea typeface="Calibri"/>
              <a:cs typeface="Calibri"/>
              <a:sym typeface="Calibri"/>
            </a:endParaRPr>
          </a:p>
        </p:txBody>
      </p:sp>
      <p:sp>
        <p:nvSpPr>
          <p:cNvPr id="277" name="Google Shape;277;p12"/>
          <p:cNvSpPr/>
          <p:nvPr/>
        </p:nvSpPr>
        <p:spPr>
          <a:xfrm>
            <a:off x="822960" y="324612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3C7E"/>
              </a:buClr>
              <a:buSzPts val="1150"/>
              <a:buFont typeface="Calibri"/>
              <a:buNone/>
            </a:pPr>
            <a:r>
              <a:rPr b="1" i="0" lang="en-US" sz="1150" u="none" cap="none" strike="noStrike">
                <a:solidFill>
                  <a:srgbClr val="2F3C7E"/>
                </a:solidFill>
                <a:latin typeface="Calibri"/>
                <a:ea typeface="Calibri"/>
                <a:cs typeface="Calibri"/>
                <a:sym typeface="Calibri"/>
              </a:rPr>
              <a:t>Sources can include:</a:t>
            </a:r>
            <a:endParaRPr b="0" i="0" sz="1150" u="none" cap="none" strike="noStrike">
              <a:solidFill>
                <a:schemeClr val="dk1"/>
              </a:solidFill>
              <a:latin typeface="Calibri"/>
              <a:ea typeface="Calibri"/>
              <a:cs typeface="Calibri"/>
              <a:sym typeface="Calibri"/>
            </a:endParaRPr>
          </a:p>
        </p:txBody>
      </p:sp>
      <p:sp>
        <p:nvSpPr>
          <p:cNvPr id="278" name="Google Shape;278;p12"/>
          <p:cNvSpPr/>
          <p:nvPr/>
        </p:nvSpPr>
        <p:spPr>
          <a:xfrm>
            <a:off x="822960" y="3566160"/>
            <a:ext cx="4846320" cy="11887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2A2A3C"/>
              </a:buClr>
              <a:buSzPts val="1100"/>
              <a:buFont typeface="Calibri"/>
              <a:buChar char="•"/>
            </a:pPr>
            <a:r>
              <a:rPr b="0" i="0" lang="en-US" sz="1100" u="none" cap="none" strike="noStrike">
                <a:solidFill>
                  <a:srgbClr val="2A2A3C"/>
                </a:solidFill>
                <a:latin typeface="Calibri"/>
                <a:ea typeface="Calibri"/>
                <a:cs typeface="Calibri"/>
                <a:sym typeface="Calibri"/>
              </a:rPr>
              <a:t>Screenshots from games with similar aesthetics</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A2A3C"/>
              </a:buClr>
              <a:buSzPts val="1100"/>
              <a:buFont typeface="Calibri"/>
              <a:buChar char="•"/>
            </a:pPr>
            <a:r>
              <a:rPr b="0" i="0" lang="en-US" sz="1100" u="none" cap="none" strike="noStrike">
                <a:solidFill>
                  <a:srgbClr val="2A2A3C"/>
                </a:solidFill>
                <a:latin typeface="Calibri"/>
                <a:ea typeface="Calibri"/>
                <a:cs typeface="Calibri"/>
                <a:sym typeface="Calibri"/>
              </a:rPr>
              <a:t>Concept art</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A2A3C"/>
              </a:buClr>
              <a:buSzPts val="1100"/>
              <a:buFont typeface="Calibri"/>
              <a:buChar char="•"/>
            </a:pPr>
            <a:r>
              <a:rPr b="0" i="0" lang="en-US" sz="1100" u="none" cap="none" strike="noStrike">
                <a:solidFill>
                  <a:srgbClr val="2A2A3C"/>
                </a:solidFill>
                <a:latin typeface="Calibri"/>
                <a:ea typeface="Calibri"/>
                <a:cs typeface="Calibri"/>
                <a:sym typeface="Calibri"/>
              </a:rPr>
              <a:t>Photos or artwork that capture the mood you're aiming for</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2A2A3C"/>
              </a:buClr>
              <a:buSzPts val="1100"/>
              <a:buFont typeface="Calibri"/>
              <a:buChar char="•"/>
            </a:pPr>
            <a:r>
              <a:rPr b="0" i="0" lang="en-US" sz="1100" u="none" cap="none" strike="noStrike">
                <a:solidFill>
                  <a:srgbClr val="2A2A3C"/>
                </a:solidFill>
                <a:latin typeface="Calibri"/>
                <a:ea typeface="Calibri"/>
                <a:cs typeface="Calibri"/>
                <a:sym typeface="Calibri"/>
              </a:rPr>
              <a:t>Color palette references</a:t>
            </a:r>
            <a:endParaRPr b="0" i="0" sz="1100" u="none" cap="none" strike="noStrike">
              <a:solidFill>
                <a:schemeClr val="dk1"/>
              </a:solidFill>
              <a:latin typeface="Calibri"/>
              <a:ea typeface="Calibri"/>
              <a:cs typeface="Calibri"/>
              <a:sym typeface="Calibri"/>
            </a:endParaRPr>
          </a:p>
        </p:txBody>
      </p:sp>
      <p:sp>
        <p:nvSpPr>
          <p:cNvPr id="279" name="Google Shape;279;p12"/>
          <p:cNvSpPr/>
          <p:nvPr/>
        </p:nvSpPr>
        <p:spPr>
          <a:xfrm>
            <a:off x="822960" y="4892040"/>
            <a:ext cx="48463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1000"/>
              <a:buFont typeface="Calibri"/>
              <a:buNone/>
            </a:pPr>
            <a:r>
              <a:rPr b="0" i="1" lang="en-US" sz="1000" u="none" cap="none" strike="noStrike">
                <a:solidFill>
                  <a:srgbClr val="6B6B80"/>
                </a:solidFill>
                <a:latin typeface="Calibri"/>
                <a:ea typeface="Calibri"/>
                <a:cs typeface="Calibri"/>
                <a:sym typeface="Calibri"/>
              </a:rPr>
              <a:t>For each image: a brief description of what inspired you + credit/source link.</a:t>
            </a:r>
            <a:endParaRPr b="0" i="0" sz="1000" u="none" cap="none" strike="noStrike">
              <a:solidFill>
                <a:schemeClr val="dk1"/>
              </a:solidFill>
              <a:latin typeface="Calibri"/>
              <a:ea typeface="Calibri"/>
              <a:cs typeface="Calibri"/>
              <a:sym typeface="Calibri"/>
            </a:endParaRPr>
          </a:p>
        </p:txBody>
      </p:sp>
      <p:sp>
        <p:nvSpPr>
          <p:cNvPr id="280" name="Google Shape;280;p12"/>
          <p:cNvSpPr/>
          <p:nvPr/>
        </p:nvSpPr>
        <p:spPr>
          <a:xfrm>
            <a:off x="6172200" y="1737360"/>
            <a:ext cx="5440680" cy="4206240"/>
          </a:xfrm>
          <a:prstGeom prst="roundRect">
            <a:avLst>
              <a:gd fmla="val 1739" name="adj"/>
            </a:avLst>
          </a:prstGeom>
          <a:solidFill>
            <a:srgbClr val="1F2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6446520" y="192024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E795"/>
              </a:buClr>
              <a:buSzPts val="1550"/>
              <a:buFont typeface="Cambria"/>
              <a:buNone/>
            </a:pPr>
            <a:r>
              <a:rPr b="1" i="0" lang="en-US" sz="1550" u="none" cap="none" strike="noStrike">
                <a:solidFill>
                  <a:srgbClr val="F9E795"/>
                </a:solidFill>
                <a:latin typeface="Cambria"/>
                <a:ea typeface="Cambria"/>
                <a:cs typeface="Cambria"/>
                <a:sym typeface="Cambria"/>
              </a:rPr>
              <a:t>Unifying Colors</a:t>
            </a:r>
            <a:endParaRPr b="0" i="0" sz="1550" u="none" cap="none" strike="noStrike">
              <a:solidFill>
                <a:schemeClr val="dk1"/>
              </a:solidFill>
              <a:latin typeface="Calibri"/>
              <a:ea typeface="Calibri"/>
              <a:cs typeface="Calibri"/>
              <a:sym typeface="Calibri"/>
            </a:endParaRPr>
          </a:p>
        </p:txBody>
      </p:sp>
      <p:sp>
        <p:nvSpPr>
          <p:cNvPr id="282" name="Google Shape;282;p12"/>
          <p:cNvSpPr/>
          <p:nvPr/>
        </p:nvSpPr>
        <p:spPr>
          <a:xfrm>
            <a:off x="6446520" y="2331720"/>
            <a:ext cx="4937760" cy="10515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D8DAF2"/>
              </a:buClr>
              <a:buSzPts val="1150"/>
              <a:buFont typeface="Calibri"/>
              <a:buNone/>
            </a:pPr>
            <a:r>
              <a:rPr b="0" i="0" lang="en-US" sz="1150" u="none" cap="none" strike="noStrike">
                <a:solidFill>
                  <a:srgbClr val="D8DAF2"/>
                </a:solidFill>
                <a:latin typeface="Calibri"/>
                <a:ea typeface="Calibri"/>
                <a:cs typeface="Calibri"/>
                <a:sym typeface="Calibri"/>
              </a:rPr>
              <a:t>A well-chosen color scheme makes your game visually cohesive and influences its mood. Limbo uses a monochromatic scheme to create an eerie, mysterious mood. Tools like Adobe Color or Coolors help generate palettes.</a:t>
            </a:r>
            <a:endParaRPr b="0" i="0" sz="1150" u="none" cap="none" strike="noStrike">
              <a:solidFill>
                <a:schemeClr val="dk1"/>
              </a:solidFill>
              <a:latin typeface="Calibri"/>
              <a:ea typeface="Calibri"/>
              <a:cs typeface="Calibri"/>
              <a:sym typeface="Calibri"/>
            </a:endParaRPr>
          </a:p>
        </p:txBody>
      </p:sp>
      <p:sp>
        <p:nvSpPr>
          <p:cNvPr id="283" name="Google Shape;283;p12"/>
          <p:cNvSpPr/>
          <p:nvPr/>
        </p:nvSpPr>
        <p:spPr>
          <a:xfrm>
            <a:off x="6446520" y="3520440"/>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Example — Primary Colors:</a:t>
            </a:r>
            <a:endParaRPr b="0" i="0" sz="1150" u="none" cap="none" strike="noStrike">
              <a:solidFill>
                <a:schemeClr val="dk1"/>
              </a:solidFill>
              <a:latin typeface="Calibri"/>
              <a:ea typeface="Calibri"/>
              <a:cs typeface="Calibri"/>
              <a:sym typeface="Calibri"/>
            </a:endParaRPr>
          </a:p>
        </p:txBody>
      </p:sp>
      <p:sp>
        <p:nvSpPr>
          <p:cNvPr id="284" name="Google Shape;284;p12"/>
          <p:cNvSpPr/>
          <p:nvPr/>
        </p:nvSpPr>
        <p:spPr>
          <a:xfrm>
            <a:off x="6446520" y="3886200"/>
            <a:ext cx="1554480" cy="1005840"/>
          </a:xfrm>
          <a:prstGeom prst="roundRect">
            <a:avLst>
              <a:gd fmla="val 5455" name="adj"/>
            </a:avLst>
          </a:prstGeom>
          <a:solidFill>
            <a:srgbClr val="F4D35E"/>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6446520" y="4937760"/>
            <a:ext cx="1554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Sandy Yellow</a:t>
            </a:r>
            <a:endParaRPr b="0" i="0" sz="900" u="none" cap="none" strike="noStrike">
              <a:solidFill>
                <a:schemeClr val="dk1"/>
              </a:solidFill>
              <a:latin typeface="Calibri"/>
              <a:ea typeface="Calibri"/>
              <a:cs typeface="Calibri"/>
              <a:sym typeface="Calibri"/>
            </a:endParaRPr>
          </a:p>
        </p:txBody>
      </p:sp>
      <p:sp>
        <p:nvSpPr>
          <p:cNvPr id="286" name="Google Shape;286;p12"/>
          <p:cNvSpPr/>
          <p:nvPr/>
        </p:nvSpPr>
        <p:spPr>
          <a:xfrm>
            <a:off x="6446520" y="5166360"/>
            <a:ext cx="1554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EB4E0"/>
              </a:buClr>
              <a:buSzPts val="850"/>
              <a:buFont typeface="Calibri"/>
              <a:buNone/>
            </a:pPr>
            <a:r>
              <a:rPr b="0" i="0" lang="en-US" sz="850" u="none" cap="none" strike="noStrike">
                <a:solidFill>
                  <a:srgbClr val="AEB4E0"/>
                </a:solidFill>
                <a:latin typeface="Calibri"/>
                <a:ea typeface="Calibri"/>
                <a:cs typeface="Calibri"/>
                <a:sym typeface="Calibri"/>
              </a:rPr>
              <a:t>#F4D35E</a:t>
            </a:r>
            <a:endParaRPr b="0" i="0" sz="850" u="none" cap="none" strike="noStrike">
              <a:solidFill>
                <a:schemeClr val="dk1"/>
              </a:solidFill>
              <a:latin typeface="Calibri"/>
              <a:ea typeface="Calibri"/>
              <a:cs typeface="Calibri"/>
              <a:sym typeface="Calibri"/>
            </a:endParaRPr>
          </a:p>
        </p:txBody>
      </p:sp>
      <p:sp>
        <p:nvSpPr>
          <p:cNvPr id="287" name="Google Shape;287;p12"/>
          <p:cNvSpPr/>
          <p:nvPr/>
        </p:nvSpPr>
        <p:spPr>
          <a:xfrm>
            <a:off x="8156448" y="3886200"/>
            <a:ext cx="1554480" cy="1005840"/>
          </a:xfrm>
          <a:prstGeom prst="roundRect">
            <a:avLst>
              <a:gd fmla="val 5455" name="adj"/>
            </a:avLst>
          </a:prstGeom>
          <a:solidFill>
            <a:srgbClr val="0D3B66"/>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2"/>
          <p:cNvSpPr/>
          <p:nvPr/>
        </p:nvSpPr>
        <p:spPr>
          <a:xfrm>
            <a:off x="8156448" y="4937760"/>
            <a:ext cx="1554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Ocean Blue</a:t>
            </a:r>
            <a:endParaRPr b="0" i="0" sz="900" u="none" cap="none" strike="noStrike">
              <a:solidFill>
                <a:schemeClr val="dk1"/>
              </a:solidFill>
              <a:latin typeface="Calibri"/>
              <a:ea typeface="Calibri"/>
              <a:cs typeface="Calibri"/>
              <a:sym typeface="Calibri"/>
            </a:endParaRPr>
          </a:p>
        </p:txBody>
      </p:sp>
      <p:sp>
        <p:nvSpPr>
          <p:cNvPr id="289" name="Google Shape;289;p12"/>
          <p:cNvSpPr/>
          <p:nvPr/>
        </p:nvSpPr>
        <p:spPr>
          <a:xfrm>
            <a:off x="8156448" y="5166360"/>
            <a:ext cx="1554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EB4E0"/>
              </a:buClr>
              <a:buSzPts val="850"/>
              <a:buFont typeface="Calibri"/>
              <a:buNone/>
            </a:pPr>
            <a:r>
              <a:rPr b="0" i="0" lang="en-US" sz="850" u="none" cap="none" strike="noStrike">
                <a:solidFill>
                  <a:srgbClr val="AEB4E0"/>
                </a:solidFill>
                <a:latin typeface="Calibri"/>
                <a:ea typeface="Calibri"/>
                <a:cs typeface="Calibri"/>
                <a:sym typeface="Calibri"/>
              </a:rPr>
              <a:t>#0D3B66</a:t>
            </a:r>
            <a:endParaRPr b="0" i="0" sz="850" u="none" cap="none" strike="noStrike">
              <a:solidFill>
                <a:schemeClr val="dk1"/>
              </a:solidFill>
              <a:latin typeface="Calibri"/>
              <a:ea typeface="Calibri"/>
              <a:cs typeface="Calibri"/>
              <a:sym typeface="Calibri"/>
            </a:endParaRPr>
          </a:p>
        </p:txBody>
      </p:sp>
      <p:sp>
        <p:nvSpPr>
          <p:cNvPr id="290" name="Google Shape;290;p12"/>
          <p:cNvSpPr/>
          <p:nvPr/>
        </p:nvSpPr>
        <p:spPr>
          <a:xfrm>
            <a:off x="9866376" y="3886200"/>
            <a:ext cx="1554480" cy="1005840"/>
          </a:xfrm>
          <a:prstGeom prst="roundRect">
            <a:avLst>
              <a:gd fmla="val 5455" name="adj"/>
            </a:avLst>
          </a:prstGeom>
          <a:solidFill>
            <a:srgbClr val="EE635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2"/>
          <p:cNvSpPr/>
          <p:nvPr/>
        </p:nvSpPr>
        <p:spPr>
          <a:xfrm>
            <a:off x="9866376" y="4937760"/>
            <a:ext cx="1554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Coral Pink</a:t>
            </a:r>
            <a:endParaRPr b="0" i="0" sz="900" u="none" cap="none" strike="noStrike">
              <a:solidFill>
                <a:schemeClr val="dk1"/>
              </a:solidFill>
              <a:latin typeface="Calibri"/>
              <a:ea typeface="Calibri"/>
              <a:cs typeface="Calibri"/>
              <a:sym typeface="Calibri"/>
            </a:endParaRPr>
          </a:p>
        </p:txBody>
      </p:sp>
      <p:sp>
        <p:nvSpPr>
          <p:cNvPr id="292" name="Google Shape;292;p12"/>
          <p:cNvSpPr/>
          <p:nvPr/>
        </p:nvSpPr>
        <p:spPr>
          <a:xfrm>
            <a:off x="9866376" y="5166360"/>
            <a:ext cx="15544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EB4E0"/>
              </a:buClr>
              <a:buSzPts val="850"/>
              <a:buFont typeface="Calibri"/>
              <a:buNone/>
            </a:pPr>
            <a:r>
              <a:rPr b="0" i="0" lang="en-US" sz="850" u="none" cap="none" strike="noStrike">
                <a:solidFill>
                  <a:srgbClr val="AEB4E0"/>
                </a:solidFill>
                <a:latin typeface="Calibri"/>
                <a:ea typeface="Calibri"/>
                <a:cs typeface="Calibri"/>
                <a:sym typeface="Calibri"/>
              </a:rPr>
              <a:t>#EE6352</a:t>
            </a:r>
            <a:endParaRPr b="0" i="0" sz="850" u="none" cap="none" strike="noStrike">
              <a:solidFill>
                <a:schemeClr val="dk1"/>
              </a:solidFill>
              <a:latin typeface="Calibri"/>
              <a:ea typeface="Calibri"/>
              <a:cs typeface="Calibri"/>
              <a:sym typeface="Calibri"/>
            </a:endParaRPr>
          </a:p>
        </p:txBody>
      </p:sp>
      <p:sp>
        <p:nvSpPr>
          <p:cNvPr id="293" name="Google Shape;293;p12"/>
          <p:cNvSpPr/>
          <p:nvPr/>
        </p:nvSpPr>
        <p:spPr>
          <a:xfrm>
            <a:off x="6446520" y="5577840"/>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4E0"/>
              </a:buClr>
              <a:buSzPts val="950"/>
              <a:buFont typeface="Calibri"/>
              <a:buNone/>
            </a:pPr>
            <a:r>
              <a:rPr b="0" i="1" lang="en-US" sz="950" u="none" cap="none" strike="noStrike">
                <a:solidFill>
                  <a:srgbClr val="AEB4E0"/>
                </a:solidFill>
                <a:latin typeface="Calibri"/>
                <a:ea typeface="Calibri"/>
                <a:cs typeface="Calibri"/>
                <a:sym typeface="Calibri"/>
              </a:rPr>
              <a:t>To do: fill out the Unifying Colors section with three swatches for your own game.</a:t>
            </a:r>
            <a:endParaRPr b="0" i="0" sz="950" u="none" cap="none" strike="noStrike">
              <a:solidFill>
                <a:schemeClr val="dk1"/>
              </a:solidFill>
              <a:latin typeface="Calibri"/>
              <a:ea typeface="Calibri"/>
              <a:cs typeface="Calibri"/>
              <a:sym typeface="Calibri"/>
            </a:endParaRPr>
          </a:p>
        </p:txBody>
      </p:sp>
      <p:sp>
        <p:nvSpPr>
          <p:cNvPr id="294" name="Google Shape;294;p12"/>
          <p:cNvSpPr/>
          <p:nvPr/>
        </p:nvSpPr>
        <p:spPr>
          <a:xfrm>
            <a:off x="54864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Game Genres — Unity Learn</a:t>
            </a:r>
            <a:endParaRPr b="0" i="0" sz="900" u="none" cap="none" strike="noStrike">
              <a:solidFill>
                <a:schemeClr val="dk1"/>
              </a:solidFill>
              <a:latin typeface="Calibri"/>
              <a:ea typeface="Calibri"/>
              <a:cs typeface="Calibri"/>
              <a:sym typeface="Calibri"/>
            </a:endParaRPr>
          </a:p>
        </p:txBody>
      </p:sp>
      <p:sp>
        <p:nvSpPr>
          <p:cNvPr id="295" name="Google Shape;295;p12"/>
          <p:cNvSpPr/>
          <p:nvPr/>
        </p:nvSpPr>
        <p:spPr>
          <a:xfrm>
            <a:off x="11185855"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80"/>
              </a:buClr>
              <a:buSzPts val="900"/>
              <a:buFont typeface="Calibri"/>
              <a:buNone/>
            </a:pPr>
            <a:r>
              <a:rPr b="0" i="0" lang="en-US" sz="900" u="none" cap="none" strike="noStrike">
                <a:solidFill>
                  <a:srgbClr val="6B6B80"/>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A5E"/>
        </a:solidFill>
      </p:bgPr>
    </p:bg>
    <p:spTree>
      <p:nvGrpSpPr>
        <p:cNvPr id="300" name="Shape 300"/>
        <p:cNvGrpSpPr/>
        <p:nvPr/>
      </p:nvGrpSpPr>
      <p:grpSpPr>
        <a:xfrm>
          <a:off x="0" y="0"/>
          <a:ext cx="0" cy="0"/>
          <a:chOff x="0" y="0"/>
          <a:chExt cx="0" cy="0"/>
        </a:xfrm>
      </p:grpSpPr>
      <p:sp>
        <p:nvSpPr>
          <p:cNvPr id="301" name="Google Shape;301;p13"/>
          <p:cNvSpPr/>
          <p:nvPr/>
        </p:nvSpPr>
        <p:spPr>
          <a:xfrm>
            <a:off x="9418320" y="4114800"/>
            <a:ext cx="4114800" cy="4114800"/>
          </a:xfrm>
          <a:prstGeom prst="ellipse">
            <a:avLst/>
          </a:prstGeom>
          <a:solidFill>
            <a:srgbClr val="2F3C7E">
              <a:alpha val="5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822960" y="11887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E795"/>
              </a:buClr>
              <a:buSzPts val="1300"/>
              <a:buFont typeface="Calibri"/>
              <a:buNone/>
            </a:pPr>
            <a:r>
              <a:rPr b="1" i="0" lang="en-US" sz="1300" u="none" cap="none" strike="noStrike">
                <a:solidFill>
                  <a:srgbClr val="F9E795"/>
                </a:solidFill>
                <a:latin typeface="Calibri"/>
                <a:ea typeface="Calibri"/>
                <a:cs typeface="Calibri"/>
                <a:sym typeface="Calibri"/>
              </a:rPr>
              <a:t>NEXT STEPS</a:t>
            </a:r>
            <a:endParaRPr b="0" i="0" sz="1300" u="none" cap="none" strike="noStrike">
              <a:solidFill>
                <a:schemeClr val="dk1"/>
              </a:solidFill>
              <a:latin typeface="Calibri"/>
              <a:ea typeface="Calibri"/>
              <a:cs typeface="Calibri"/>
              <a:sym typeface="Calibri"/>
            </a:endParaRPr>
          </a:p>
        </p:txBody>
      </p:sp>
      <p:sp>
        <p:nvSpPr>
          <p:cNvPr id="303" name="Google Shape;303;p13"/>
          <p:cNvSpPr/>
          <p:nvPr/>
        </p:nvSpPr>
        <p:spPr>
          <a:xfrm>
            <a:off x="822960" y="1554480"/>
            <a:ext cx="9144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What you accomplished</a:t>
            </a:r>
            <a:endParaRPr b="0" i="0" sz="3200" u="none" cap="none" strike="noStrike">
              <a:solidFill>
                <a:schemeClr val="dk1"/>
              </a:solidFill>
              <a:latin typeface="Calibri"/>
              <a:ea typeface="Calibri"/>
              <a:cs typeface="Calibri"/>
              <a:sym typeface="Calibri"/>
            </a:endParaRPr>
          </a:p>
        </p:txBody>
      </p:sp>
      <p:sp>
        <p:nvSpPr>
          <p:cNvPr id="304" name="Google Shape;304;p13"/>
          <p:cNvSpPr/>
          <p:nvPr/>
        </p:nvSpPr>
        <p:spPr>
          <a:xfrm>
            <a:off x="822960" y="2514600"/>
            <a:ext cx="7863840" cy="11887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D8DAF2"/>
              </a:buClr>
              <a:buSzPts val="1500"/>
              <a:buFont typeface="Calibri"/>
              <a:buChar char="•"/>
            </a:pPr>
            <a:r>
              <a:rPr b="0" i="0" lang="en-US" sz="1500" u="none" cap="none" strike="noStrike">
                <a:solidFill>
                  <a:srgbClr val="D8DAF2"/>
                </a:solidFill>
                <a:latin typeface="Calibri"/>
                <a:ea typeface="Calibri"/>
                <a:cs typeface="Calibri"/>
                <a:sym typeface="Calibri"/>
              </a:rPr>
              <a:t>Explored genres and player actions (verbs) to think about what players do and expect in a game</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D8DAF2"/>
              </a:buClr>
              <a:buSzPts val="1500"/>
              <a:buFont typeface="Calibri"/>
              <a:buChar char="•"/>
            </a:pPr>
            <a:r>
              <a:rPr b="0" i="0" lang="en-US" sz="1500" u="none" cap="none" strike="noStrike">
                <a:solidFill>
                  <a:srgbClr val="D8DAF2"/>
                </a:solidFill>
                <a:latin typeface="Calibri"/>
                <a:ea typeface="Calibri"/>
                <a:cs typeface="Calibri"/>
                <a:sym typeface="Calibri"/>
              </a:rPr>
              <a:t>Filled out the Art and Visuals section of your Game Design Document</a:t>
            </a:r>
            <a:endParaRPr b="0" i="0" sz="1500" u="none" cap="none" strike="noStrike">
              <a:solidFill>
                <a:schemeClr val="dk1"/>
              </a:solidFill>
              <a:latin typeface="Calibri"/>
              <a:ea typeface="Calibri"/>
              <a:cs typeface="Calibri"/>
              <a:sym typeface="Calibri"/>
            </a:endParaRPr>
          </a:p>
        </p:txBody>
      </p:sp>
      <p:sp>
        <p:nvSpPr>
          <p:cNvPr id="305" name="Google Shape;305;p13"/>
          <p:cNvSpPr/>
          <p:nvPr/>
        </p:nvSpPr>
        <p:spPr>
          <a:xfrm>
            <a:off x="822960" y="4023360"/>
            <a:ext cx="8503920" cy="1737360"/>
          </a:xfrm>
          <a:prstGeom prst="roundRect">
            <a:avLst>
              <a:gd fmla="val 4211"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p:nvPr/>
        </p:nvSpPr>
        <p:spPr>
          <a:xfrm>
            <a:off x="1097280" y="4224528"/>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E795"/>
              </a:buClr>
              <a:buSzPts val="1200"/>
              <a:buFont typeface="Calibri"/>
              <a:buNone/>
            </a:pPr>
            <a:r>
              <a:rPr b="1" i="0" lang="en-US" sz="1200" u="none" cap="none" strike="noStrike">
                <a:solidFill>
                  <a:srgbClr val="F9E795"/>
                </a:solidFill>
                <a:latin typeface="Calibri"/>
                <a:ea typeface="Calibri"/>
                <a:cs typeface="Calibri"/>
                <a:sym typeface="Calibri"/>
              </a:rPr>
              <a:t>Up next</a:t>
            </a:r>
            <a:endParaRPr b="0" i="0" sz="1200" u="none" cap="none" strike="noStrike">
              <a:solidFill>
                <a:schemeClr val="dk1"/>
              </a:solidFill>
              <a:latin typeface="Calibri"/>
              <a:ea typeface="Calibri"/>
              <a:cs typeface="Calibri"/>
              <a:sym typeface="Calibri"/>
            </a:endParaRPr>
          </a:p>
        </p:txBody>
      </p:sp>
      <p:sp>
        <p:nvSpPr>
          <p:cNvPr id="307" name="Google Shape;307;p13"/>
          <p:cNvSpPr/>
          <p:nvPr/>
        </p:nvSpPr>
        <p:spPr>
          <a:xfrm>
            <a:off x="1097280" y="4553712"/>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Game Platforms</a:t>
            </a:r>
            <a:endParaRPr b="0" i="0" sz="2000" u="none" cap="none" strike="noStrike">
              <a:solidFill>
                <a:schemeClr val="dk1"/>
              </a:solidFill>
              <a:latin typeface="Calibri"/>
              <a:ea typeface="Calibri"/>
              <a:cs typeface="Calibri"/>
              <a:sym typeface="Calibri"/>
            </a:endParaRPr>
          </a:p>
        </p:txBody>
      </p:sp>
      <p:sp>
        <p:nvSpPr>
          <p:cNvPr id="308" name="Google Shape;308;p13"/>
          <p:cNvSpPr/>
          <p:nvPr/>
        </p:nvSpPr>
        <p:spPr>
          <a:xfrm>
            <a:off x="1097280" y="5029200"/>
            <a:ext cx="7772400" cy="64008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D8DAF2"/>
              </a:buClr>
              <a:buSzPts val="1250"/>
              <a:buFont typeface="Calibri"/>
              <a:buNone/>
            </a:pPr>
            <a:r>
              <a:rPr b="0" i="0" lang="en-US" sz="1250" u="none" cap="none" strike="noStrike">
                <a:solidFill>
                  <a:srgbClr val="D8DAF2"/>
                </a:solidFill>
                <a:latin typeface="Calibri"/>
                <a:ea typeface="Calibri"/>
                <a:cs typeface="Calibri"/>
                <a:sym typeface="Calibri"/>
              </a:rPr>
              <a:t>You'll learn about platforms and monetization, and how those interact with game design and game genres.</a:t>
            </a:r>
            <a:endParaRPr b="0" i="0" sz="1250" u="none" cap="none" strike="noStrike">
              <a:solidFill>
                <a:schemeClr val="dk1"/>
              </a:solidFill>
              <a:latin typeface="Calibri"/>
              <a:ea typeface="Calibri"/>
              <a:cs typeface="Calibri"/>
              <a:sym typeface="Calibri"/>
            </a:endParaRPr>
          </a:p>
        </p:txBody>
      </p:sp>
      <p:sp>
        <p:nvSpPr>
          <p:cNvPr id="309" name="Google Shape;309;p13"/>
          <p:cNvSpPr/>
          <p:nvPr/>
        </p:nvSpPr>
        <p:spPr>
          <a:xfrm>
            <a:off x="54864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EE0"/>
              </a:buClr>
              <a:buSzPts val="900"/>
              <a:buFont typeface="Calibri"/>
              <a:buNone/>
            </a:pPr>
            <a:r>
              <a:rPr b="0" i="0" lang="en-US" sz="900" u="none" cap="none" strike="noStrike">
                <a:solidFill>
                  <a:srgbClr val="B9BEE0"/>
                </a:solidFill>
                <a:latin typeface="Calibri"/>
                <a:ea typeface="Calibri"/>
                <a:cs typeface="Calibri"/>
                <a:sym typeface="Calibri"/>
              </a:rPr>
              <a:t>Game Genres — Unity Learn</a:t>
            </a:r>
            <a:endParaRPr b="0" i="0" sz="900" u="none" cap="none" strike="noStrike">
              <a:solidFill>
                <a:schemeClr val="dk1"/>
              </a:solidFill>
              <a:latin typeface="Calibri"/>
              <a:ea typeface="Calibri"/>
              <a:cs typeface="Calibri"/>
              <a:sym typeface="Calibri"/>
            </a:endParaRPr>
          </a:p>
        </p:txBody>
      </p:sp>
      <p:sp>
        <p:nvSpPr>
          <p:cNvPr id="310" name="Google Shape;310;p13"/>
          <p:cNvSpPr/>
          <p:nvPr/>
        </p:nvSpPr>
        <p:spPr>
          <a:xfrm>
            <a:off x="11185855" y="644652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9BEE0"/>
              </a:buClr>
              <a:buSzPts val="900"/>
              <a:buFont typeface="Calibri"/>
              <a:buNone/>
            </a:pPr>
            <a:r>
              <a:rPr b="0" i="0" lang="en-US" sz="900" u="none" cap="none" strike="noStrike">
                <a:solidFill>
                  <a:srgbClr val="B9BEE0"/>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