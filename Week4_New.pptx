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60" r:id="rId3"/>
    <p:sldId id="258" r:id="rId4"/>
    <p:sldId id="267" r:id="rId5"/>
    <p:sldId id="268" r:id="rId6"/>
    <p:sldId id="269" r:id="rId7"/>
    <p:sldId id="270" r:id="rId8"/>
    <p:sldId id="271" r:id="rId9"/>
    <p:sldId id="288" r:id="rId10"/>
    <p:sldId id="289" r:id="rId11"/>
    <p:sldId id="290" r:id="rId12"/>
    <p:sldId id="291" r:id="rId13"/>
    <p:sldId id="292" r:id="rId14"/>
    <p:sldId id="293" r:id="rId15"/>
    <p:sldId id="294" r:id="rId16"/>
    <p:sldId id="295"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08" r:id="rId30"/>
  </p:sldIdLst>
  <p:sldSz cx="12192000" cy="6858000"/>
  <p:notesSz cx="6858000" cy="9144000"/>
  <p:embeddedFontLst>
    <p:embeddedFont>
      <p:font typeface="Quattrocento Sans" panose="020B0502050000020003" pitchFamily="34" charset="0"/>
      <p:regular r:id="rId32"/>
      <p:bold r:id="rId33"/>
      <p:italic r:id="rId34"/>
      <p:boldItalic r:id="rId35"/>
    </p:embeddedFont>
    <p:embeddedFont>
      <p:font typeface="Roboto" panose="020000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8" roundtripDataSignature="AMtx7miTxcueKrpZyVcEX48scNkCJ54u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4630"/>
  </p:normalViewPr>
  <p:slideViewPr>
    <p:cSldViewPr snapToGrid="0">
      <p:cViewPr varScale="1">
        <p:scale>
          <a:sx n="118" d="100"/>
          <a:sy n="118" d="100"/>
        </p:scale>
        <p:origin x="4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10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100" Type="http://schemas.openxmlformats.org/officeDocument/2006/relationships/viewProps" Target="viewProps.xml"/><Relationship Id="rId8" Type="http://schemas.openxmlformats.org/officeDocument/2006/relationships/slide" Target="slides/slide7.xml"/><Relationship Id="rId98"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62"/>
          <p:cNvSpPr/>
          <p:nvPr/>
        </p:nvSpPr>
        <p:spPr>
          <a:xfrm>
            <a:off x="254950" y="262784"/>
            <a:ext cx="11682101" cy="633243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9" name="Google Shape;19;p62"/>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2"/>
          <p:cNvSpPr txBox="1">
            <a:spLocks noGrp="1"/>
          </p:cNvSpPr>
          <p:nvPr>
            <p:ph type="subTitle" idx="1"/>
          </p:nvPr>
        </p:nvSpPr>
        <p:spPr>
          <a:xfrm>
            <a:off x="1524000" y="3128009"/>
            <a:ext cx="9144000" cy="1287675"/>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2400"/>
              <a:buNone/>
              <a:defRPr sz="2400">
                <a:solidFill>
                  <a:schemeClr val="lt1"/>
                </a:solidFill>
                <a:latin typeface="Quattrocento Sans"/>
                <a:ea typeface="Quattrocento Sans"/>
                <a:cs typeface="Quattrocento Sans"/>
                <a:sym typeface="Quattrocento Sans"/>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pic>
        <p:nvPicPr>
          <p:cNvPr id="21" name="Google Shape;21;p62"/>
          <p:cNvPicPr preferRelativeResize="0"/>
          <p:nvPr/>
        </p:nvPicPr>
        <p:blipFill rotWithShape="1">
          <a:blip r:embed="rId2">
            <a:alphaModFix/>
          </a:blip>
          <a:srcRect l="1648" r="13926" b="71478"/>
          <a:stretch/>
        </p:blipFill>
        <p:spPr>
          <a:xfrm>
            <a:off x="342899" y="4546601"/>
            <a:ext cx="11715751" cy="2025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
        <p:cNvGrpSpPr/>
        <p:nvPr/>
      </p:nvGrpSpPr>
      <p:grpSpPr>
        <a:xfrm>
          <a:off x="0" y="0"/>
          <a:ext cx="0" cy="0"/>
          <a:chOff x="0" y="0"/>
          <a:chExt cx="0" cy="0"/>
        </a:xfrm>
      </p:grpSpPr>
      <p:pic>
        <p:nvPicPr>
          <p:cNvPr id="26" name="Google Shape;26;p64"/>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27" name="Google Shape;27;p64"/>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64"/>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pic>
        <p:nvPicPr>
          <p:cNvPr id="30" name="Google Shape;30;p65"/>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31" name="Google Shape;31;p65"/>
          <p:cNvSpPr txBox="1">
            <a:spLocks noGrp="1"/>
          </p:cNvSpPr>
          <p:nvPr>
            <p:ph type="body" idx="1"/>
          </p:nvPr>
        </p:nvSpPr>
        <p:spPr>
          <a:xfrm>
            <a:off x="1090862" y="1507068"/>
            <a:ext cx="3192379" cy="4669896"/>
          </a:xfrm>
          <a:prstGeom prst="rect">
            <a:avLst/>
          </a:prstGeom>
          <a:noFill/>
          <a:ln>
            <a:noFill/>
          </a:ln>
        </p:spPr>
        <p:txBody>
          <a:bodyPr spcFirstLastPara="1" wrap="square" lIns="91425" tIns="45700" rIns="91425" bIns="45700" anchor="ctr" anchorCtr="0">
            <a:normAutofit/>
          </a:bodyPr>
          <a:lstStyle>
            <a:lvl1pPr marL="457200" lvl="0" indent="-247650" algn="l">
              <a:lnSpc>
                <a:spcPct val="15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5"/>
          <p:cNvSpPr txBox="1">
            <a:spLocks noGrp="1"/>
          </p:cNvSpPr>
          <p:nvPr>
            <p:ph type="body" idx="2"/>
          </p:nvPr>
        </p:nvSpPr>
        <p:spPr>
          <a:xfrm>
            <a:off x="4395537" y="1507068"/>
            <a:ext cx="7143905" cy="4669896"/>
          </a:xfrm>
          <a:prstGeom prst="rect">
            <a:avLst/>
          </a:prstGeom>
          <a:noFill/>
          <a:ln>
            <a:noFill/>
          </a:ln>
        </p:spPr>
        <p:txBody>
          <a:bodyPr spcFirstLastPara="1" wrap="square" lIns="91425" tIns="45700" rIns="91425" bIns="45700" anchor="ctr"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5"/>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4"/>
        <p:cNvGrpSpPr/>
        <p:nvPr/>
      </p:nvGrpSpPr>
      <p:grpSpPr>
        <a:xfrm>
          <a:off x="0" y="0"/>
          <a:ext cx="0" cy="0"/>
          <a:chOff x="0" y="0"/>
          <a:chExt cx="0" cy="0"/>
        </a:xfrm>
      </p:grpSpPr>
      <p:sp>
        <p:nvSpPr>
          <p:cNvPr id="35" name="Google Shape;35;p66"/>
          <p:cNvSpPr/>
          <p:nvPr/>
        </p:nvSpPr>
        <p:spPr>
          <a:xfrm>
            <a:off x="254951" y="262784"/>
            <a:ext cx="11683049" cy="6332433"/>
          </a:xfrm>
          <a:prstGeom prst="rect">
            <a:avLst/>
          </a:prstGeom>
          <a:solidFill>
            <a:srgbClr val="F5F5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6" name="Google Shape;36;p66"/>
          <p:cNvSpPr/>
          <p:nvPr/>
        </p:nvSpPr>
        <p:spPr>
          <a:xfrm>
            <a:off x="254950" y="262784"/>
            <a:ext cx="11682101" cy="207264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7" name="Google Shape;37;p66"/>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6"/>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3F3F3F"/>
              </a:buClr>
              <a:buSzPts val="2400"/>
              <a:buChar char="•"/>
              <a:defRPr sz="2400">
                <a:solidFill>
                  <a:srgbClr val="3F3F3F"/>
                </a:solidFill>
                <a:latin typeface="Quattrocento Sans"/>
                <a:ea typeface="Quattrocento Sans"/>
                <a:cs typeface="Quattrocento Sans"/>
                <a:sym typeface="Quattrocento Sans"/>
              </a:defRPr>
            </a:lvl1pPr>
            <a:lvl2pPr marL="914400" lvl="1" indent="-304800" algn="l">
              <a:lnSpc>
                <a:spcPct val="90000"/>
              </a:lnSpc>
              <a:spcBef>
                <a:spcPts val="500"/>
              </a:spcBef>
              <a:spcAft>
                <a:spcPts val="0"/>
              </a:spcAft>
              <a:buClr>
                <a:srgbClr val="3F3F3F"/>
              </a:buClr>
              <a:buSzPts val="1200"/>
              <a:buChar char="•"/>
              <a:defRPr sz="1200">
                <a:solidFill>
                  <a:srgbClr val="3F3F3F"/>
                </a:solidFill>
              </a:defRPr>
            </a:lvl2pPr>
            <a:lvl3pPr marL="1371600" lvl="2" indent="-304800" algn="l">
              <a:lnSpc>
                <a:spcPct val="90000"/>
              </a:lnSpc>
              <a:spcBef>
                <a:spcPts val="500"/>
              </a:spcBef>
              <a:spcAft>
                <a:spcPts val="0"/>
              </a:spcAft>
              <a:buClr>
                <a:srgbClr val="3F3F3F"/>
              </a:buClr>
              <a:buSzPts val="1200"/>
              <a:buChar char="•"/>
              <a:defRPr sz="1200">
                <a:solidFill>
                  <a:srgbClr val="3F3F3F"/>
                </a:solidFill>
              </a:defRPr>
            </a:lvl3pPr>
            <a:lvl4pPr marL="1828800" lvl="3" indent="-304800" algn="l">
              <a:lnSpc>
                <a:spcPct val="90000"/>
              </a:lnSpc>
              <a:spcBef>
                <a:spcPts val="500"/>
              </a:spcBef>
              <a:spcAft>
                <a:spcPts val="0"/>
              </a:spcAft>
              <a:buClr>
                <a:srgbClr val="3F3F3F"/>
              </a:buClr>
              <a:buSzPts val="1200"/>
              <a:buChar char="•"/>
              <a:defRPr sz="1200">
                <a:solidFill>
                  <a:srgbClr val="3F3F3F"/>
                </a:solidFill>
              </a:defRPr>
            </a:lvl4pPr>
            <a:lvl5pPr marL="2286000" lvl="4" indent="-304800" algn="l">
              <a:lnSpc>
                <a:spcPct val="90000"/>
              </a:lnSpc>
              <a:spcBef>
                <a:spcPts val="500"/>
              </a:spcBef>
              <a:spcAft>
                <a:spcPts val="0"/>
              </a:spcAft>
              <a:buClr>
                <a:srgbClr val="3F3F3F"/>
              </a:buClr>
              <a:buSzPts val="1200"/>
              <a:buChar char="•"/>
              <a:defRPr sz="12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3"/>
        <p:cNvGrpSpPr/>
        <p:nvPr/>
      </p:nvGrpSpPr>
      <p:grpSpPr>
        <a:xfrm>
          <a:off x="0" y="0"/>
          <a:ext cx="0" cy="0"/>
          <a:chOff x="0" y="0"/>
          <a:chExt cx="0" cy="0"/>
        </a:xfrm>
      </p:grpSpPr>
      <p:sp>
        <p:nvSpPr>
          <p:cNvPr id="44" name="Google Shape;44;p68"/>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5" name="Google Shape;45;p68"/>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
        <p:nvSpPr>
          <p:cNvPr id="46" name="Google Shape;46;p6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tandard">
  <p:cSld name="Standard">
    <p:spTree>
      <p:nvGrpSpPr>
        <p:cNvPr id="1" name="Shape 47"/>
        <p:cNvGrpSpPr/>
        <p:nvPr/>
      </p:nvGrpSpPr>
      <p:grpSpPr>
        <a:xfrm>
          <a:off x="0" y="0"/>
          <a:ext cx="0" cy="0"/>
          <a:chOff x="0" y="0"/>
          <a:chExt cx="0" cy="0"/>
        </a:xfrm>
      </p:grpSpPr>
      <p:sp>
        <p:nvSpPr>
          <p:cNvPr id="48" name="Google Shape;48;p69"/>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9" name="Google Shape;49;p69"/>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pic>
        <p:nvPicPr>
          <p:cNvPr id="50" name="Google Shape;50;p69"/>
          <p:cNvPicPr preferRelativeResize="0"/>
          <p:nvPr/>
        </p:nvPicPr>
        <p:blipFill rotWithShape="1">
          <a:blip r:embed="rId2">
            <a:alphaModFix/>
          </a:blip>
          <a:srcRect l="-41783" t="-3"/>
          <a:stretch/>
        </p:blipFill>
        <p:spPr>
          <a:xfrm>
            <a:off x="269032" y="4801396"/>
            <a:ext cx="11653936" cy="1786228"/>
          </a:xfrm>
          <a:prstGeom prst="rect">
            <a:avLst/>
          </a:prstGeom>
          <a:noFill/>
          <a:ln>
            <a:noFill/>
          </a:ln>
        </p:spPr>
      </p:pic>
      <p:sp>
        <p:nvSpPr>
          <p:cNvPr id="51" name="Google Shape;51;p6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1" name="Google Shape;11;p61"/>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3A3838"/>
              </a:buClr>
              <a:buSzPts val="2800"/>
              <a:buFont typeface="Quattrocento Sans"/>
              <a:buNone/>
              <a:defRPr sz="2800" b="0" i="0" u="none" strike="noStrike" cap="none">
                <a:solidFill>
                  <a:srgbClr val="3A3838"/>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5" name="Google Shape;15;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1pPr>
            <a:lvl2pPr marL="0" marR="0" lvl="1"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2pPr>
            <a:lvl3pPr marL="0" marR="0" lvl="2"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3pPr>
            <a:lvl4pPr marL="0" marR="0" lvl="3"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4pPr>
            <a:lvl5pPr marL="0" marR="0" lvl="4"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5pPr>
            <a:lvl6pPr marL="0" marR="0" lvl="5"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6pPr>
            <a:lvl7pPr marL="0" marR="0" lvl="6"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7pPr>
            <a:lvl8pPr marL="0" marR="0" lvl="7"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8pPr>
            <a:lvl9pPr marL="0" marR="0" lvl="8"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cxnSp>
        <p:nvCxnSpPr>
          <p:cNvPr id="16" name="Google Shape;16;p61"/>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docs.unity3d.com/6000.6/Documentation/ScriptReference/Microphone.html"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docs.unity3d.com/6000.6/Documentation/Manual/class-AudioSource.html" TargetMode="External"/><Relationship Id="rId2" Type="http://schemas.openxmlformats.org/officeDocument/2006/relationships/hyperlink" Target="https://docs.unity3d.com/6000.6/Documentation/Manual/class-AudioClip.html"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docs.unity3d.com/6000.6/Documentation/Manual/TrackerModules.html" TargetMode="External"/><Relationship Id="rId2" Type="http://schemas.openxmlformats.org/officeDocument/2006/relationships/hyperlink" Target="https://docs.unity3d.com/6000.6/Documentation/Manual/AudioFiles-compression.html"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docs.unity3d.com/6000.6/Documentation/Manual/class-AudioClip.html" TargetMode="External"/><Relationship Id="rId2" Type="http://schemas.openxmlformats.org/officeDocument/2006/relationships/hyperlink" Target="https://docs.unity3d.com/6000.6/Documentation/Manual/AudioFiles-import.html"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docs.unity3d.com/6000.6/Documentation/Manual/audio-scriptable-processors-generators.html" TargetMode="External"/><Relationship Id="rId2" Type="http://schemas.openxmlformats.org/officeDocument/2006/relationships/hyperlink" Target="https://docs.unity3d.com/6000.6/Documentation/Manual/audio-scriptable-processors-concepts.html" TargetMode="External"/><Relationship Id="rId1" Type="http://schemas.openxmlformats.org/officeDocument/2006/relationships/slideLayout" Target="../slideLayouts/slideLayout3.xml"/><Relationship Id="rId6" Type="http://schemas.openxmlformats.org/officeDocument/2006/relationships/hyperlink" Target="https://docs.unity3d.com/6000.6/Documentation/Manual/audio-scriptable-processors-example-creating-a-root-output.html" TargetMode="External"/><Relationship Id="rId5" Type="http://schemas.openxmlformats.org/officeDocument/2006/relationships/hyperlink" Target="https://docs.unity3d.com/6000.6/Documentation/Manual/audio-scriptable-processors-example-creating-a-generator.html" TargetMode="External"/><Relationship Id="rId4" Type="http://schemas.openxmlformats.org/officeDocument/2006/relationships/hyperlink" Target="https://docs.unity3d.com/6000.6/Documentation/Manual/audio-scriptable-processors-root-output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ocs.unity3d.com/6000.6/Documentation/Manual/webgl-audio.html"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docs.unity3d.com/6000.6/Documentation/Manual/class-AudioSource.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ocs.unity3d.com/6000.6/Documentation/Manual/AudioNativeCustomGUI.html" TargetMode="External"/><Relationship Id="rId2" Type="http://schemas.openxmlformats.org/officeDocument/2006/relationships/hyperlink" Target="https://docs.unity3d.com/6000.6/Documentation/Manual/AudioNativeDSPPlugin.html" TargetMode="External"/><Relationship Id="rId1" Type="http://schemas.openxmlformats.org/officeDocument/2006/relationships/slideLayout" Target="../slideLayouts/slideLayout3.xml"/><Relationship Id="rId6" Type="http://schemas.openxmlformats.org/officeDocument/2006/relationships/hyperlink" Target="https://docs.unity3d.com/6000.6/Documentation/Manual/AudioSpatializerSDK.html" TargetMode="External"/><Relationship Id="rId5" Type="http://schemas.openxmlformats.org/officeDocument/2006/relationships/hyperlink" Target="https://docs.unity3d.com/6000.6/Documentation/Manual/AudioNativePluginExamples.html" TargetMode="External"/><Relationship Id="rId4" Type="http://schemas.openxmlformats.org/officeDocument/2006/relationships/hyperlink" Target="https://docs.unity3d.com/6000.6/Documentation/Manual/AudioNativePluginImport.html"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docs.unity3d.com/6000.6/Documentation/Manual/AudioRandomContainer-fundamentals.html" TargetMode="External"/><Relationship Id="rId2" Type="http://schemas.openxmlformats.org/officeDocument/2006/relationships/hyperlink" Target="https://docs.unity3d.com/6000.6/Documentation/Manual/AudioRandomContainer-UI.html" TargetMode="External"/><Relationship Id="rId1" Type="http://schemas.openxmlformats.org/officeDocument/2006/relationships/slideLayout" Target="../slideLayouts/slideLayout3.xml"/><Relationship Id="rId4" Type="http://schemas.openxmlformats.org/officeDocument/2006/relationships/hyperlink" Target="https://docs.unity3d.com/6000.6/Documentation/Manual/Create-randomized-playlist.html"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docs.unity3d.com/6000.6/Documentation/Manual/audio-ambisonic-instructions.html" TargetMode="External"/><Relationship Id="rId2" Type="http://schemas.openxmlformats.org/officeDocument/2006/relationships/hyperlink" Target="https://docs.unity3d.com/6000.6/Documentation/Manual/AmbisonicAudio.html" TargetMode="External"/><Relationship Id="rId1" Type="http://schemas.openxmlformats.org/officeDocument/2006/relationships/slideLayout" Target="../slideLayouts/slideLayout3.xml"/><Relationship Id="rId5" Type="http://schemas.openxmlformats.org/officeDocument/2006/relationships/hyperlink" Target="https://docs.unity3d.com/6000.6/Documentation/Manual/AudioDevelopAmbisonicDecoder.html" TargetMode="External"/><Relationship Id="rId4" Type="http://schemas.openxmlformats.org/officeDocument/2006/relationships/hyperlink" Target="https://docs.unity3d.com/6000.6/Documentation/Manual/audio-ambisonic-decoder.html"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docs.unity3d.com/6000.6/Documentation/Manual/class-AudioReverbZone.html" TargetMode="External"/><Relationship Id="rId3" Type="http://schemas.openxmlformats.org/officeDocument/2006/relationships/hyperlink" Target="https://docs.unity3d.com/6000.6/Documentation/Manual/class-AudioListener.html" TargetMode="External"/><Relationship Id="rId7" Type="http://schemas.openxmlformats.org/officeDocument/2006/relationships/hyperlink" Target="https://docs.unity3d.com/6000.6/Documentation/Manual/audio-effects.html" TargetMode="External"/><Relationship Id="rId2" Type="http://schemas.openxmlformats.org/officeDocument/2006/relationships/hyperlink" Target="https://docs.unity3d.com/6000.6/Documentation/Manual/class-AudioClip.html" TargetMode="External"/><Relationship Id="rId1" Type="http://schemas.openxmlformats.org/officeDocument/2006/relationships/slideLayout" Target="../slideLayouts/slideLayout2.xml"/><Relationship Id="rId6" Type="http://schemas.openxmlformats.org/officeDocument/2006/relationships/hyperlink" Target="https://docs.unity3d.com/6000.6/Documentation/Manual/audio-filters.html" TargetMode="External"/><Relationship Id="rId5" Type="http://schemas.openxmlformats.org/officeDocument/2006/relationships/hyperlink" Target="https://docs.unity3d.com/6000.6/Documentation/Manual/class-AudioMixer.html" TargetMode="External"/><Relationship Id="rId10" Type="http://schemas.openxmlformats.org/officeDocument/2006/relationships/hyperlink" Target="https://docs.unity3d.com/6000.6/Documentation/Manual/class-AudioSettings.html" TargetMode="External"/><Relationship Id="rId4" Type="http://schemas.openxmlformats.org/officeDocument/2006/relationships/hyperlink" Target="https://docs.unity3d.com/6000.6/Documentation/Manual/class-AudioSource.html" TargetMode="External"/><Relationship Id="rId9" Type="http://schemas.openxmlformats.org/officeDocument/2006/relationships/hyperlink" Target="https://docs.unity3d.com/6000.6/Documentation/Manual/class-Microphon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p>
            <a:pPr marL="0" lvl="0" indent="0" algn="l" rtl="0">
              <a:lnSpc>
                <a:spcPct val="100000"/>
              </a:lnSpc>
              <a:spcBef>
                <a:spcPts val="0"/>
              </a:spcBef>
              <a:spcAft>
                <a:spcPts val="0"/>
              </a:spcAft>
              <a:buClr>
                <a:schemeClr val="lt1"/>
              </a:buClr>
              <a:buSzPts val="4800"/>
              <a:buFont typeface="Quattrocento Sans"/>
              <a:buNone/>
            </a:pPr>
            <a:r>
              <a:rPr lang="en-US" dirty="0"/>
              <a:t>Week 4</a:t>
            </a:r>
            <a:br>
              <a:rPr lang="en-US" dirty="0"/>
            </a:br>
            <a:r>
              <a:rPr lang="en-US" dirty="0"/>
              <a:t>Game Engine Development Unity</a:t>
            </a:r>
            <a:br>
              <a:rPr lang="en-US" dirty="0"/>
            </a:br>
            <a:r>
              <a:rPr lang="en-US" dirty="0"/>
              <a:t>Audio</a:t>
            </a:r>
            <a:endParaRPr dirty="0"/>
          </a:p>
        </p:txBody>
      </p:sp>
      <p:sp>
        <p:nvSpPr>
          <p:cNvPr id="58" name="Google Shape;58;p1"/>
          <p:cNvSpPr txBox="1"/>
          <p:nvPr/>
        </p:nvSpPr>
        <p:spPr>
          <a:xfrm>
            <a:off x="8077762" y="5255593"/>
            <a:ext cx="2447364" cy="49523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lt1"/>
              </a:buClr>
              <a:buSzPts val="1800"/>
              <a:buFont typeface="Quattrocento Sans"/>
              <a:buNone/>
            </a:pPr>
            <a:r>
              <a:rPr lang="en-US" sz="1800" b="0" i="0" u="none" strike="noStrike" cap="none">
                <a:solidFill>
                  <a:schemeClr val="lt1"/>
                </a:solidFill>
                <a:latin typeface="Quattrocento Sans"/>
                <a:ea typeface="Quattrocento Sans"/>
                <a:cs typeface="Quattrocento Sans"/>
                <a:sym typeface="Quattrocento Sans"/>
              </a:rPr>
              <a:t>Hooman Salamat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Quattrocento Sans"/>
              <a:buNone/>
            </a:pPr>
            <a:r>
              <a:rPr lang="en-US"/>
              <a:t>Objective &amp; Concept</a:t>
            </a:r>
            <a:endParaRPr/>
          </a:p>
        </p:txBody>
      </p:sp>
      <p:sp>
        <p:nvSpPr>
          <p:cNvPr id="87" name="Google Shape;87;p5"/>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F3F3F"/>
              </a:buClr>
              <a:buSzPts val="1500"/>
              <a:buNone/>
            </a:pPr>
            <a:r>
              <a:rPr lang="en-US" sz="1500" b="1" dirty="0"/>
              <a:t>Objective</a:t>
            </a:r>
            <a:endParaRPr sz="1500" dirty="0"/>
          </a:p>
          <a:p>
            <a:pPr marL="228600" lvl="0" indent="-228600">
              <a:buSzPts val="1500"/>
            </a:pPr>
            <a:r>
              <a:rPr lang="en-CA" sz="1600" dirty="0"/>
              <a:t>Unity’s audio features include full 3D spatial sound, real-time mixing and mastering, hierarchies of mixers, snapshots, and predefined effects. Read this section to learn about audio in Unity, including clips, sources, listeners, importing, and sound settings.</a:t>
            </a:r>
          </a:p>
          <a:p>
            <a:pPr marL="0" lvl="0" indent="0">
              <a:buSzPts val="1500"/>
              <a:buNone/>
            </a:pPr>
            <a:r>
              <a:rPr lang="en-US" sz="1500" b="1" dirty="0"/>
              <a:t>Concepts </a:t>
            </a:r>
            <a:endParaRPr dirty="0"/>
          </a:p>
          <a:p>
            <a:pPr marL="228600" lvl="0" indent="-228600">
              <a:buSzPts val="1500"/>
            </a:pPr>
            <a:r>
              <a:rPr lang="en-CA" sz="1600" dirty="0"/>
              <a:t>A game would be incomplete without some kind of audio, be it background music or sound effects. Unity’s audio system can import most standard audio file formats, play sounds in 3D space, and apply optional effects such as echo and filtering. Unity can also record audio from any available microphone on your machine for use during gameplay or for storage and transmission.</a:t>
            </a:r>
            <a:endParaRPr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r>
              <a:rPr lang="en-CA" dirty="0"/>
              <a:t>In real life, objects emit sounds that listeners hear. </a:t>
            </a:r>
          </a:p>
          <a:p>
            <a:r>
              <a:rPr lang="en-CA" dirty="0"/>
              <a:t>The way a sound is perceived depends on many factors. </a:t>
            </a:r>
          </a:p>
          <a:p>
            <a:r>
              <a:rPr lang="en-CA" dirty="0"/>
              <a:t>A listener can tell roughly which direction a sound is coming from and may also get some sense of its distance from its loudness and quality. </a:t>
            </a:r>
          </a:p>
          <a:p>
            <a:r>
              <a:rPr lang="en-CA" dirty="0"/>
              <a:t>A fast-moving sound source (such as a falling bomb or a passing police car) changes in pitch as it moves as a result of the Doppler Effect. </a:t>
            </a:r>
          </a:p>
          <a:p>
            <a:r>
              <a:rPr lang="en-CA" dirty="0"/>
              <a:t>Surroundings also affect the way sound is reflected. A voice inside a cave has an echo, but the same voice in the open air doesn’t.</a:t>
            </a:r>
          </a:p>
          <a:p>
            <a:r>
              <a:rPr lang="en-CA" dirty="0"/>
              <a:t>To simulate the effects of position, Unity requires sounds to originate from Audio Sources attached to objects. </a:t>
            </a:r>
          </a:p>
          <a:p>
            <a:r>
              <a:rPr lang="en-CA" dirty="0"/>
              <a:t>The sounds emitted are then picked up by an Audio Listener attached to another object, most often the main camera. </a:t>
            </a:r>
          </a:p>
          <a:p>
            <a:r>
              <a:rPr lang="en-CA" dirty="0"/>
              <a:t>Unity can then simulate the effects of a source’s distance and position from the listener object and play them to you accordingly. </a:t>
            </a:r>
          </a:p>
          <a:p>
            <a:r>
              <a:rPr lang="en-CA" dirty="0"/>
              <a:t>You can also use the relative speed of the source and listener objects to simulate the Doppler Effect for added realism.</a:t>
            </a:r>
          </a:p>
          <a:p>
            <a:br>
              <a:rPr lang="en-CA" dirty="0"/>
            </a:br>
            <a:endParaRPr dirty="0"/>
          </a:p>
        </p:txBody>
      </p:sp>
      <p:sp>
        <p:nvSpPr>
          <p:cNvPr id="73" name="Google Shape;73;p3"/>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a:buSzPts val="2800"/>
            </a:pPr>
            <a:r>
              <a:rPr lang="en-CA" b="1" dirty="0"/>
              <a:t>Audio overview</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215599-8B74-5693-14C6-0C155CBB5286}"/>
              </a:ext>
            </a:extLst>
          </p:cNvPr>
          <p:cNvSpPr>
            <a:spLocks noGrp="1"/>
          </p:cNvSpPr>
          <p:nvPr>
            <p:ph type="body" idx="1"/>
          </p:nvPr>
        </p:nvSpPr>
        <p:spPr/>
        <p:txBody>
          <a:bodyPr/>
          <a:lstStyle/>
          <a:p>
            <a:r>
              <a:rPr lang="en-CA" dirty="0"/>
              <a:t>Unity can’t calculate echoes purely from scene geometry, but you can simulate them by adding Audio Filters to objects. </a:t>
            </a:r>
          </a:p>
          <a:p>
            <a:r>
              <a:rPr lang="en-CA" dirty="0"/>
              <a:t>For example, you could apply the Echo filter to a sound that is supposed to be coming from inside a cave. </a:t>
            </a:r>
          </a:p>
          <a:p>
            <a:r>
              <a:rPr lang="en-CA" dirty="0"/>
              <a:t>In situations where objects can move in and out of a place with a strong echo, you can add a Reverb Zone to the scene. </a:t>
            </a:r>
          </a:p>
          <a:p>
            <a:r>
              <a:rPr lang="en-CA" dirty="0"/>
              <a:t>For example, your game might involve cars driving through a tunnel. If you place a reverb zone inside the tunnel, the cars’ engine sounds start to echo as they enter. The echo quiets as the cars emerge from the other side.</a:t>
            </a:r>
          </a:p>
          <a:p>
            <a:r>
              <a:rPr lang="en-CA" dirty="0"/>
              <a:t>With the Unity Audio Mixer, you can mix various audio sources, apply effects to them, and perform mastering.</a:t>
            </a:r>
          </a:p>
          <a:p>
            <a:endParaRPr lang="en-US" dirty="0"/>
          </a:p>
        </p:txBody>
      </p:sp>
      <p:sp>
        <p:nvSpPr>
          <p:cNvPr id="3" name="Title 2">
            <a:extLst>
              <a:ext uri="{FF2B5EF4-FFF2-40B4-BE49-F238E27FC236}">
                <a16:creationId xmlns:a16="http://schemas.microsoft.com/office/drawing/2014/main" id="{12B16689-48D1-9893-3A89-F47903BD57EC}"/>
              </a:ext>
            </a:extLst>
          </p:cNvPr>
          <p:cNvSpPr>
            <a:spLocks noGrp="1"/>
          </p:cNvSpPr>
          <p:nvPr>
            <p:ph type="title"/>
          </p:nvPr>
        </p:nvSpPr>
        <p:spPr/>
        <p:txBody>
          <a:bodyPr>
            <a:normAutofit/>
          </a:bodyPr>
          <a:lstStyle/>
          <a:p>
            <a:r>
              <a:rPr lang="en-CA" b="1" dirty="0"/>
              <a:t>Basic theory</a:t>
            </a:r>
            <a:endParaRPr lang="en-US" dirty="0"/>
          </a:p>
        </p:txBody>
      </p:sp>
      <p:pic>
        <p:nvPicPr>
          <p:cNvPr id="4" name="Picture 3">
            <a:extLst>
              <a:ext uri="{FF2B5EF4-FFF2-40B4-BE49-F238E27FC236}">
                <a16:creationId xmlns:a16="http://schemas.microsoft.com/office/drawing/2014/main" id="{B7DDA715-F9E9-19A2-FDFA-159E201C7C53}"/>
              </a:ext>
            </a:extLst>
          </p:cNvPr>
          <p:cNvPicPr>
            <a:picLocks noChangeAspect="1"/>
          </p:cNvPicPr>
          <p:nvPr/>
        </p:nvPicPr>
        <p:blipFill>
          <a:blip r:embed="rId2"/>
          <a:stretch>
            <a:fillRect/>
          </a:stretch>
        </p:blipFill>
        <p:spPr>
          <a:xfrm>
            <a:off x="2605529" y="3590365"/>
            <a:ext cx="4984215" cy="1968126"/>
          </a:xfrm>
          <a:prstGeom prst="rect">
            <a:avLst/>
          </a:prstGeom>
        </p:spPr>
      </p:pic>
    </p:spTree>
    <p:extLst>
      <p:ext uri="{BB962C8B-B14F-4D97-AF65-F5344CB8AC3E}">
        <p14:creationId xmlns:p14="http://schemas.microsoft.com/office/powerpoint/2010/main" val="3284622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C1CA3C-31B7-05D0-BAD0-D357A577CA15}"/>
              </a:ext>
            </a:extLst>
          </p:cNvPr>
          <p:cNvSpPr>
            <a:spLocks noGrp="1"/>
          </p:cNvSpPr>
          <p:nvPr>
            <p:ph type="body" idx="1"/>
          </p:nvPr>
        </p:nvSpPr>
        <p:spPr>
          <a:xfrm>
            <a:off x="1090862" y="1507068"/>
            <a:ext cx="5320571" cy="4669896"/>
          </a:xfrm>
        </p:spPr>
        <p:txBody>
          <a:bodyPr>
            <a:normAutofit/>
          </a:bodyPr>
          <a:lstStyle/>
          <a:p>
            <a:r>
              <a:rPr lang="en-CA" dirty="0"/>
              <a:t>Unity can import audio files in </a:t>
            </a:r>
            <a:r>
              <a:rPr lang="en-CA" b="1" dirty="0"/>
              <a:t>AIFF</a:t>
            </a:r>
            <a:r>
              <a:rPr lang="en-CA" dirty="0"/>
              <a:t>, </a:t>
            </a:r>
            <a:r>
              <a:rPr lang="en-CA" b="1" dirty="0"/>
              <a:t>WAV</a:t>
            </a:r>
            <a:r>
              <a:rPr lang="en-CA" dirty="0"/>
              <a:t>, </a:t>
            </a:r>
            <a:r>
              <a:rPr lang="en-CA" b="1" dirty="0"/>
              <a:t>MP3</a:t>
            </a:r>
            <a:r>
              <a:rPr lang="en-CA" dirty="0"/>
              <a:t>, and </a:t>
            </a:r>
            <a:r>
              <a:rPr lang="en-CA" b="1" dirty="0"/>
              <a:t>Ogg</a:t>
            </a:r>
            <a:r>
              <a:rPr lang="en-CA" dirty="0"/>
              <a:t> formats in the same way as other assets. </a:t>
            </a:r>
          </a:p>
          <a:p>
            <a:r>
              <a:rPr lang="en-CA" dirty="0"/>
              <a:t>Drag the files into the Project panel. </a:t>
            </a:r>
          </a:p>
          <a:p>
            <a:r>
              <a:rPr lang="en-CA" dirty="0"/>
              <a:t>Import an audio file to create an Audio Clip that you can then drag to an Audio Source or use from a script. </a:t>
            </a:r>
          </a:p>
          <a:p>
            <a:r>
              <a:rPr lang="en-CA" dirty="0"/>
              <a:t>The Audio Clip reference page has more details about the import options available for audio files.</a:t>
            </a:r>
          </a:p>
          <a:p>
            <a:r>
              <a:rPr lang="en-CA" dirty="0"/>
              <a:t>For music, Unity also supports tracker modules, which use short audio samples as “instruments” that you can arrange to play tunes. </a:t>
            </a:r>
          </a:p>
          <a:p>
            <a:r>
              <a:rPr lang="en-CA" dirty="0"/>
              <a:t>You can import tracker modules from </a:t>
            </a:r>
            <a:r>
              <a:rPr lang="en-CA" b="1" dirty="0"/>
              <a:t>.</a:t>
            </a:r>
            <a:r>
              <a:rPr lang="en-CA" b="1" dirty="0" err="1"/>
              <a:t>xm</a:t>
            </a:r>
            <a:r>
              <a:rPr lang="en-CA" dirty="0"/>
              <a:t>, </a:t>
            </a:r>
            <a:r>
              <a:rPr lang="en-CA" b="1" dirty="0"/>
              <a:t>.mod</a:t>
            </a:r>
            <a:r>
              <a:rPr lang="en-CA" dirty="0"/>
              <a:t>, </a:t>
            </a:r>
            <a:r>
              <a:rPr lang="en-CA" b="1" dirty="0"/>
              <a:t>.it</a:t>
            </a:r>
            <a:r>
              <a:rPr lang="en-CA" dirty="0"/>
              <a:t>, and </a:t>
            </a:r>
            <a:r>
              <a:rPr lang="en-CA" b="1" dirty="0"/>
              <a:t>.s3m</a:t>
            </a:r>
            <a:r>
              <a:rPr lang="en-CA" dirty="0"/>
              <a:t> files and use them the same way you use other audio clips.</a:t>
            </a:r>
          </a:p>
          <a:p>
            <a:br>
              <a:rPr lang="en-CA" dirty="0"/>
            </a:br>
            <a:endParaRPr lang="en-US" dirty="0"/>
          </a:p>
        </p:txBody>
      </p:sp>
      <p:sp>
        <p:nvSpPr>
          <p:cNvPr id="4" name="Text Placeholder 3">
            <a:extLst>
              <a:ext uri="{FF2B5EF4-FFF2-40B4-BE49-F238E27FC236}">
                <a16:creationId xmlns:a16="http://schemas.microsoft.com/office/drawing/2014/main" id="{AAEC3ABC-668F-4581-8FCD-2904D2DF8A63}"/>
              </a:ext>
            </a:extLst>
          </p:cNvPr>
          <p:cNvSpPr>
            <a:spLocks noGrp="1"/>
          </p:cNvSpPr>
          <p:nvPr>
            <p:ph type="body" idx="2"/>
          </p:nvPr>
        </p:nvSpPr>
        <p:spPr>
          <a:xfrm>
            <a:off x="6911163" y="1507068"/>
            <a:ext cx="4628279" cy="4669896"/>
          </a:xfrm>
        </p:spPr>
        <p:txBody>
          <a:bodyPr/>
          <a:lstStyle/>
          <a:p>
            <a:r>
              <a:rPr lang="en-US" dirty="0"/>
              <a:t> </a:t>
            </a:r>
          </a:p>
        </p:txBody>
      </p:sp>
      <p:sp>
        <p:nvSpPr>
          <p:cNvPr id="3" name="Title 2">
            <a:extLst>
              <a:ext uri="{FF2B5EF4-FFF2-40B4-BE49-F238E27FC236}">
                <a16:creationId xmlns:a16="http://schemas.microsoft.com/office/drawing/2014/main" id="{27BF1D4C-6CE5-B34E-9747-FB00808DE388}"/>
              </a:ext>
            </a:extLst>
          </p:cNvPr>
          <p:cNvSpPr>
            <a:spLocks noGrp="1"/>
          </p:cNvSpPr>
          <p:nvPr>
            <p:ph type="title"/>
          </p:nvPr>
        </p:nvSpPr>
        <p:spPr/>
        <p:txBody>
          <a:bodyPr>
            <a:normAutofit/>
          </a:bodyPr>
          <a:lstStyle/>
          <a:p>
            <a:r>
              <a:rPr lang="en-CA" b="1" dirty="0"/>
              <a:t>Working with audio assets</a:t>
            </a:r>
            <a:endParaRPr lang="en-US" dirty="0"/>
          </a:p>
        </p:txBody>
      </p:sp>
    </p:spTree>
    <p:extLst>
      <p:ext uri="{BB962C8B-B14F-4D97-AF65-F5344CB8AC3E}">
        <p14:creationId xmlns:p14="http://schemas.microsoft.com/office/powerpoint/2010/main" val="2842546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CCBC46-0CD6-8042-1266-326666C7E87D}"/>
              </a:ext>
            </a:extLst>
          </p:cNvPr>
          <p:cNvSpPr>
            <a:spLocks noGrp="1"/>
          </p:cNvSpPr>
          <p:nvPr>
            <p:ph type="body" idx="1"/>
          </p:nvPr>
        </p:nvSpPr>
        <p:spPr>
          <a:xfrm>
            <a:off x="1090862" y="1507068"/>
            <a:ext cx="6502337" cy="4669896"/>
          </a:xfrm>
        </p:spPr>
        <p:txBody>
          <a:bodyPr/>
          <a:lstStyle/>
          <a:p>
            <a:r>
              <a:rPr lang="en-CA" dirty="0"/>
              <a:t>Unity can access the computer’s microphones from a script and create Audio Clips by direct recording. </a:t>
            </a:r>
          </a:p>
          <a:p>
            <a:r>
              <a:rPr lang="en-CA" dirty="0"/>
              <a:t>The Microphone class provides an API to find available microphones, query their capabilities, and start and end a recording session. </a:t>
            </a:r>
          </a:p>
          <a:p>
            <a:r>
              <a:rPr lang="en-CA" dirty="0"/>
              <a:t>The script reference page for </a:t>
            </a:r>
            <a:r>
              <a:rPr lang="en-CA" u="sng" dirty="0">
                <a:hlinkClick r:id="rId2"/>
              </a:rPr>
              <a:t>Microphone</a:t>
            </a:r>
            <a:r>
              <a:rPr lang="en-CA" dirty="0"/>
              <a:t> has further information and code samples for audio recording.</a:t>
            </a:r>
            <a:br>
              <a:rPr lang="en-CA" dirty="0"/>
            </a:br>
            <a:endParaRPr lang="en-US" dirty="0"/>
          </a:p>
        </p:txBody>
      </p:sp>
      <p:sp>
        <p:nvSpPr>
          <p:cNvPr id="3" name="Text Placeholder 2">
            <a:extLst>
              <a:ext uri="{FF2B5EF4-FFF2-40B4-BE49-F238E27FC236}">
                <a16:creationId xmlns:a16="http://schemas.microsoft.com/office/drawing/2014/main" id="{D0C25D4B-2E2C-464A-8E79-2C93DAE55AEB}"/>
              </a:ext>
            </a:extLst>
          </p:cNvPr>
          <p:cNvSpPr>
            <a:spLocks noGrp="1"/>
          </p:cNvSpPr>
          <p:nvPr>
            <p:ph type="body" idx="2"/>
          </p:nvPr>
        </p:nvSpPr>
        <p:spPr>
          <a:xfrm>
            <a:off x="7908759" y="1507068"/>
            <a:ext cx="3630683" cy="4669896"/>
          </a:xfrm>
        </p:spPr>
        <p:txBody>
          <a:bodyPr/>
          <a:lstStyle/>
          <a:p>
            <a:r>
              <a:rPr lang="en-US" dirty="0"/>
              <a:t> </a:t>
            </a:r>
          </a:p>
        </p:txBody>
      </p:sp>
      <p:sp>
        <p:nvSpPr>
          <p:cNvPr id="4" name="Title 3">
            <a:extLst>
              <a:ext uri="{FF2B5EF4-FFF2-40B4-BE49-F238E27FC236}">
                <a16:creationId xmlns:a16="http://schemas.microsoft.com/office/drawing/2014/main" id="{223B6CE6-1049-756E-2393-80401A79B0C3}"/>
              </a:ext>
            </a:extLst>
          </p:cNvPr>
          <p:cNvSpPr>
            <a:spLocks noGrp="1"/>
          </p:cNvSpPr>
          <p:nvPr>
            <p:ph type="title"/>
          </p:nvPr>
        </p:nvSpPr>
        <p:spPr/>
        <p:txBody>
          <a:bodyPr>
            <a:normAutofit/>
          </a:bodyPr>
          <a:lstStyle/>
          <a:p>
            <a:r>
              <a:rPr lang="en-CA" b="1" dirty="0"/>
              <a:t>Audio recording</a:t>
            </a:r>
          </a:p>
        </p:txBody>
      </p:sp>
    </p:spTree>
    <p:extLst>
      <p:ext uri="{BB962C8B-B14F-4D97-AF65-F5344CB8AC3E}">
        <p14:creationId xmlns:p14="http://schemas.microsoft.com/office/powerpoint/2010/main" val="605186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7F1BC5-D5FC-921D-E602-6BF3BD738F5B}"/>
              </a:ext>
            </a:extLst>
          </p:cNvPr>
          <p:cNvSpPr>
            <a:spLocks noGrp="1"/>
          </p:cNvSpPr>
          <p:nvPr>
            <p:ph type="body" idx="1"/>
          </p:nvPr>
        </p:nvSpPr>
        <p:spPr>
          <a:xfrm>
            <a:off x="604434" y="1507068"/>
            <a:ext cx="10983132" cy="5087370"/>
          </a:xfrm>
        </p:spPr>
        <p:txBody>
          <a:bodyPr>
            <a:normAutofit fontScale="85000" lnSpcReduction="20000"/>
          </a:bodyPr>
          <a:lstStyle/>
          <a:p>
            <a:r>
              <a:rPr lang="en-CA" dirty="0"/>
              <a:t>As with Meshes or Textures, the workflow for </a:t>
            </a:r>
            <a:r>
              <a:rPr lang="en-CA" b="1" dirty="0"/>
              <a:t>Audio File</a:t>
            </a:r>
            <a:r>
              <a:rPr lang="en-CA" dirty="0"/>
              <a:t> assets is designed to be smooth and simple. Unity can import almost every common file format, but there are a few details that are useful to be aware of when you work with audio files.</a:t>
            </a:r>
          </a:p>
          <a:p>
            <a:r>
              <a:rPr lang="en-CA" dirty="0"/>
              <a:t>For an extensive description of the compression formats and other options available for encoding audio data, refer to </a:t>
            </a:r>
            <a:r>
              <a:rPr lang="en-CA" u="sng" dirty="0">
                <a:hlinkClick r:id="rId2"/>
              </a:rPr>
              <a:t>Audio Clip</a:t>
            </a:r>
            <a:endParaRPr lang="en-CA" dirty="0"/>
          </a:p>
          <a:p>
            <a:r>
              <a:rPr lang="en-CA" b="1" dirty="0"/>
              <a:t>Audio data and Audio Clips</a:t>
            </a:r>
          </a:p>
          <a:p>
            <a:r>
              <a:rPr lang="en-CA" dirty="0"/>
              <a:t>Unity audio data is separate from the actual Audio Clips. Audio data is the raw information about an audio file. It contains information such as length, channel count, sample rate, and compression format.</a:t>
            </a:r>
          </a:p>
          <a:p>
            <a:r>
              <a:rPr lang="en-CA" dirty="0"/>
              <a:t>Audio Clips are assets that contain the audio data and processes the audio data for use with Unity Engine. Audio Clips contain the audio data used by </a:t>
            </a:r>
            <a:r>
              <a:rPr lang="en-CA" u="sng" dirty="0">
                <a:hlinkClick r:id="rId3"/>
              </a:rPr>
              <a:t>Audio Sources</a:t>
            </a:r>
            <a:endParaRPr lang="en-CA" dirty="0"/>
          </a:p>
          <a:p>
            <a:r>
              <a:rPr lang="en-CA" b="1" dirty="0"/>
              <a:t>Alter the settings of your audio file</a:t>
            </a:r>
          </a:p>
          <a:p>
            <a:r>
              <a:rPr lang="en-CA" dirty="0"/>
              <a:t>Use the settings in the </a:t>
            </a:r>
            <a:r>
              <a:rPr lang="en-CA" u="sng" dirty="0">
                <a:hlinkClick r:id="rId2"/>
              </a:rPr>
              <a:t>Audio Clip Import Settings</a:t>
            </a:r>
            <a:r>
              <a:rPr lang="en-CA" dirty="0"/>
              <a:t> to determine how the clips will load at runtime. These settings let you decide which audio assets will stay in memory. This is ideal for frequent or unpredictable sounds like footsteps, weapons, or impacts.</a:t>
            </a:r>
          </a:p>
          <a:p>
            <a:r>
              <a:rPr lang="en-CA" dirty="0"/>
              <a:t>For other assets, such as speech, background music, or ambient loops, you can set them to load on-demand or as the player progresses. This approach optimizes memory usage and improves performance.</a:t>
            </a:r>
          </a:p>
          <a:p>
            <a:r>
              <a:rPr lang="en-CA" b="1" dirty="0"/>
              <a:t>Use audio files in your scripts</a:t>
            </a:r>
          </a:p>
          <a:p>
            <a:r>
              <a:rPr lang="en-CA" dirty="0"/>
              <a:t>Any audio file imported into Unity is available from scripts as an </a:t>
            </a:r>
            <a:r>
              <a:rPr lang="en-CA" dirty="0" err="1"/>
              <a:t>AudioClip</a:t>
            </a:r>
            <a:r>
              <a:rPr lang="en-CA" dirty="0"/>
              <a:t> instance. This provides a way for the game runtime of the audio system to access the encoded audio data. The game might access meta-information about the audio data via the </a:t>
            </a:r>
            <a:r>
              <a:rPr lang="en-CA" dirty="0" err="1"/>
              <a:t>AudioClip</a:t>
            </a:r>
            <a:r>
              <a:rPr lang="en-CA" dirty="0"/>
              <a:t> even before the actual audio data loads.</a:t>
            </a:r>
          </a:p>
          <a:p>
            <a:r>
              <a:rPr lang="en-CA" dirty="0"/>
              <a:t>The import process extracts information such as length, channel count and sample rate from the encoded audio data and stores these details in the </a:t>
            </a:r>
            <a:r>
              <a:rPr lang="en-CA" dirty="0" err="1"/>
              <a:t>AudioClip</a:t>
            </a:r>
            <a:r>
              <a:rPr lang="en-CA" dirty="0"/>
              <a:t>. This information can be useful for automatic dialog or music sequencing systems, because the music engine can use the length to schedule music playback before the data loads. It also helps to reduce memory usage because it only keeps the audio clips in memory the application needs at a certain time.</a:t>
            </a:r>
          </a:p>
          <a:p>
            <a:endParaRPr lang="en-US" dirty="0"/>
          </a:p>
        </p:txBody>
      </p:sp>
      <p:sp>
        <p:nvSpPr>
          <p:cNvPr id="3" name="Text Placeholder 2">
            <a:extLst>
              <a:ext uri="{FF2B5EF4-FFF2-40B4-BE49-F238E27FC236}">
                <a16:creationId xmlns:a16="http://schemas.microsoft.com/office/drawing/2014/main" id="{47CEC131-C387-2C2B-D91B-D742DF971D3D}"/>
              </a:ext>
            </a:extLst>
          </p:cNvPr>
          <p:cNvSpPr>
            <a:spLocks noGrp="1"/>
          </p:cNvSpPr>
          <p:nvPr>
            <p:ph type="body" idx="2"/>
          </p:nvPr>
        </p:nvSpPr>
        <p:spPr>
          <a:xfrm>
            <a:off x="8250865" y="1507068"/>
            <a:ext cx="3288577" cy="4669896"/>
          </a:xfrm>
        </p:spPr>
        <p:txBody>
          <a:bodyPr/>
          <a:lstStyle/>
          <a:p>
            <a:r>
              <a:rPr lang="en-US" dirty="0"/>
              <a:t> </a:t>
            </a:r>
          </a:p>
        </p:txBody>
      </p:sp>
      <p:sp>
        <p:nvSpPr>
          <p:cNvPr id="4" name="Title 3">
            <a:extLst>
              <a:ext uri="{FF2B5EF4-FFF2-40B4-BE49-F238E27FC236}">
                <a16:creationId xmlns:a16="http://schemas.microsoft.com/office/drawing/2014/main" id="{1FB15F44-0784-5366-CCBD-2013612EA34D}"/>
              </a:ext>
            </a:extLst>
          </p:cNvPr>
          <p:cNvSpPr>
            <a:spLocks noGrp="1"/>
          </p:cNvSpPr>
          <p:nvPr>
            <p:ph type="title"/>
          </p:nvPr>
        </p:nvSpPr>
        <p:spPr/>
        <p:txBody>
          <a:bodyPr>
            <a:normAutofit/>
          </a:bodyPr>
          <a:lstStyle/>
          <a:p>
            <a:r>
              <a:rPr lang="en-CA" b="1" dirty="0"/>
              <a:t>Introduction to audio files</a:t>
            </a:r>
          </a:p>
        </p:txBody>
      </p:sp>
    </p:spTree>
    <p:extLst>
      <p:ext uri="{BB962C8B-B14F-4D97-AF65-F5344CB8AC3E}">
        <p14:creationId xmlns:p14="http://schemas.microsoft.com/office/powerpoint/2010/main" val="1621329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E7668CC6-8EB1-7358-0143-3E9C1B354A9C}"/>
              </a:ext>
            </a:extLst>
          </p:cNvPr>
          <p:cNvSpPr>
            <a:spLocks noGrp="1"/>
          </p:cNvSpPr>
          <p:nvPr>
            <p:ph type="body" idx="1"/>
          </p:nvPr>
        </p:nvSpPr>
        <p:spPr>
          <a:xfrm>
            <a:off x="763793" y="1507068"/>
            <a:ext cx="3851237" cy="4669896"/>
          </a:xfrm>
        </p:spPr>
        <p:txBody>
          <a:bodyPr>
            <a:normAutofit/>
          </a:bodyPr>
          <a:lstStyle/>
          <a:p>
            <a:pPr marL="209550" indent="0">
              <a:buNone/>
            </a:pPr>
            <a:endParaRPr lang="en-CA" dirty="0">
              <a:solidFill>
                <a:srgbClr val="000000"/>
              </a:solidFill>
              <a:latin typeface="Arial"/>
            </a:endParaRPr>
          </a:p>
          <a:p>
            <a:pPr marL="0" indent="0">
              <a:spcAft>
                <a:spcPts val="1125"/>
              </a:spcAft>
              <a:buNone/>
            </a:pPr>
            <a:r>
              <a:rPr lang="en-CA" dirty="0">
                <a:solidFill>
                  <a:srgbClr val="000000"/>
                </a:solidFill>
                <a:latin typeface="Arial"/>
              </a:rPr>
              <a:t>Unity supports mono, stereo, and multichannel audio assets up to eight channels.</a:t>
            </a:r>
          </a:p>
          <a:p>
            <a:pPr marL="0" indent="0">
              <a:spcAft>
                <a:spcPts val="1125"/>
              </a:spcAft>
              <a:buNone/>
            </a:pPr>
            <a:r>
              <a:rPr lang="en-CA" dirty="0">
                <a:solidFill>
                  <a:srgbClr val="000000"/>
                </a:solidFill>
                <a:latin typeface="Arial"/>
              </a:rPr>
              <a:t>You can import the following audio file formats into Unity: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Text Placeholder 2">
            <a:extLst>
              <a:ext uri="{FF2B5EF4-FFF2-40B4-BE49-F238E27FC236}">
                <a16:creationId xmlns:a16="http://schemas.microsoft.com/office/drawing/2014/main" id="{5797E7C9-4383-F30E-7C92-852A610D73CB}"/>
              </a:ext>
            </a:extLst>
          </p:cNvPr>
          <p:cNvSpPr>
            <a:spLocks noGrp="1"/>
          </p:cNvSpPr>
          <p:nvPr>
            <p:ph type="body" idx="2"/>
          </p:nvPr>
        </p:nvSpPr>
        <p:spPr/>
        <p:txBody>
          <a:bodyPr/>
          <a:lstStyle/>
          <a:p>
            <a:r>
              <a:rPr lang="en-US" dirty="0"/>
              <a:t> </a:t>
            </a:r>
          </a:p>
        </p:txBody>
      </p:sp>
      <p:sp>
        <p:nvSpPr>
          <p:cNvPr id="10" name="Title 9">
            <a:extLst>
              <a:ext uri="{FF2B5EF4-FFF2-40B4-BE49-F238E27FC236}">
                <a16:creationId xmlns:a16="http://schemas.microsoft.com/office/drawing/2014/main" id="{3B638986-5FEB-086E-CE8B-A9A61A39785E}"/>
              </a:ext>
            </a:extLst>
          </p:cNvPr>
          <p:cNvSpPr>
            <a:spLocks noGrp="1"/>
          </p:cNvSpPr>
          <p:nvPr>
            <p:ph type="title"/>
          </p:nvPr>
        </p:nvSpPr>
        <p:spPr/>
        <p:txBody>
          <a:bodyPr/>
          <a:lstStyle/>
          <a:p>
            <a:r>
              <a:rPr lang="en-US" dirty="0"/>
              <a:t>Supported Audio file formats</a:t>
            </a:r>
          </a:p>
        </p:txBody>
      </p:sp>
      <p:graphicFrame>
        <p:nvGraphicFramePr>
          <p:cNvPr id="6" name="Table 5">
            <a:extLst>
              <a:ext uri="{FF2B5EF4-FFF2-40B4-BE49-F238E27FC236}">
                <a16:creationId xmlns:a16="http://schemas.microsoft.com/office/drawing/2014/main" id="{2A7F1AB6-057B-EA01-EB7B-FF16AA9D308A}"/>
              </a:ext>
            </a:extLst>
          </p:cNvPr>
          <p:cNvGraphicFramePr>
            <a:graphicFrameLocks noGrp="1"/>
          </p:cNvGraphicFramePr>
          <p:nvPr>
            <p:extLst>
              <p:ext uri="{D42A27DB-BD31-4B8C-83A1-F6EECF244321}">
                <p14:modId xmlns:p14="http://schemas.microsoft.com/office/powerpoint/2010/main" val="3668810906"/>
              </p:ext>
            </p:extLst>
          </p:nvPr>
        </p:nvGraphicFramePr>
        <p:xfrm>
          <a:off x="964530" y="4129091"/>
          <a:ext cx="3445042" cy="2030424"/>
        </p:xfrm>
        <a:graphic>
          <a:graphicData uri="http://schemas.openxmlformats.org/drawingml/2006/table">
            <a:tbl>
              <a:tblPr>
                <a:tableStyleId>{5C22544A-7EE6-4342-B048-85BDC9FD1C3A}</a:tableStyleId>
              </a:tblPr>
              <a:tblGrid>
                <a:gridCol w="1722521">
                  <a:extLst>
                    <a:ext uri="{9D8B030D-6E8A-4147-A177-3AD203B41FA5}">
                      <a16:colId xmlns:a16="http://schemas.microsoft.com/office/drawing/2014/main" val="398810911"/>
                    </a:ext>
                  </a:extLst>
                </a:gridCol>
                <a:gridCol w="1722521">
                  <a:extLst>
                    <a:ext uri="{9D8B030D-6E8A-4147-A177-3AD203B41FA5}">
                      <a16:colId xmlns:a16="http://schemas.microsoft.com/office/drawing/2014/main" val="1475608504"/>
                    </a:ext>
                  </a:extLst>
                </a:gridCol>
              </a:tblGrid>
              <a:tr h="276129">
                <a:tc>
                  <a:txBody>
                    <a:bodyPr/>
                    <a:lstStyle/>
                    <a:p>
                      <a:pPr marL="0" marR="0" algn="l">
                        <a:spcAft>
                          <a:spcPts val="1500"/>
                        </a:spcAft>
                        <a:buNone/>
                      </a:pPr>
                      <a:r>
                        <a:rPr lang="en-CA" sz="1200">
                          <a:effectLst/>
                        </a:rPr>
                        <a:t>Format</a:t>
                      </a:r>
                      <a:endParaRPr lang="en-CA" sz="1200" b="0" i="0">
                        <a:solidFill>
                          <a:srgbClr val="455463"/>
                        </a:solidFill>
                        <a:effectLst/>
                        <a:latin typeface="Roboto" panose="02000000000000000000" pitchFamily="2" charset="0"/>
                      </a:endParaRPr>
                    </a:p>
                  </a:txBody>
                  <a:tcPr marL="94565" marR="94565" marT="47282" marB="47282" anchor="ctr"/>
                </a:tc>
                <a:tc>
                  <a:txBody>
                    <a:bodyPr/>
                    <a:lstStyle/>
                    <a:p>
                      <a:pPr marL="0" marR="0" algn="l">
                        <a:spcAft>
                          <a:spcPts val="1500"/>
                        </a:spcAft>
                        <a:buNone/>
                      </a:pPr>
                      <a:r>
                        <a:rPr lang="en-CA" sz="1200">
                          <a:effectLst/>
                        </a:rPr>
                        <a:t>Extensions</a:t>
                      </a:r>
                      <a:endParaRPr lang="en-CA" sz="1200" b="0" i="0">
                        <a:solidFill>
                          <a:srgbClr val="455463"/>
                        </a:solidFill>
                        <a:effectLst/>
                        <a:latin typeface="Roboto" panose="02000000000000000000" pitchFamily="2" charset="0"/>
                      </a:endParaRPr>
                    </a:p>
                  </a:txBody>
                  <a:tcPr marL="94565" marR="94565" marT="47282" marB="47282" anchor="ctr"/>
                </a:tc>
                <a:extLst>
                  <a:ext uri="{0D108BD9-81ED-4DB2-BD59-A6C34878D82A}">
                    <a16:rowId xmlns:a16="http://schemas.microsoft.com/office/drawing/2014/main" val="1953824828"/>
                  </a:ext>
                </a:extLst>
              </a:tr>
              <a:tr h="276129">
                <a:tc>
                  <a:txBody>
                    <a:bodyPr/>
                    <a:lstStyle/>
                    <a:p>
                      <a:pPr marL="0" marR="0" algn="l" fontAlgn="t">
                        <a:spcAft>
                          <a:spcPts val="1500"/>
                        </a:spcAft>
                        <a:buNone/>
                      </a:pPr>
                      <a:r>
                        <a:rPr lang="en-CA" sz="1200" dirty="0">
                          <a:effectLst/>
                        </a:rPr>
                        <a:t>MPEG layer 3</a:t>
                      </a:r>
                      <a:endParaRPr lang="en-CA" sz="1200" b="0" i="0" dirty="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.mp3</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994436173"/>
                  </a:ext>
                </a:extLst>
              </a:tr>
              <a:tr h="276129">
                <a:tc>
                  <a:txBody>
                    <a:bodyPr/>
                    <a:lstStyle/>
                    <a:p>
                      <a:pPr marL="0" marR="0" algn="l" fontAlgn="t">
                        <a:spcAft>
                          <a:spcPts val="1500"/>
                        </a:spcAft>
                        <a:buNone/>
                      </a:pPr>
                      <a:r>
                        <a:rPr lang="en-CA" sz="1200">
                          <a:effectLst/>
                        </a:rPr>
                        <a:t>Audio Interchange File Format</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.aiff / .aif</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864036015"/>
                  </a:ext>
                </a:extLst>
              </a:tr>
              <a:tr h="276129">
                <a:tc>
                  <a:txBody>
                    <a:bodyPr/>
                    <a:lstStyle/>
                    <a:p>
                      <a:pPr marL="0" marR="0" algn="l" fontAlgn="t">
                        <a:spcAft>
                          <a:spcPts val="1500"/>
                        </a:spcAft>
                        <a:buNone/>
                      </a:pPr>
                      <a:r>
                        <a:rPr lang="en-CA" sz="1200">
                          <a:effectLst/>
                        </a:rPr>
                        <a:t>Microsoft Wave</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.wav</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133386235"/>
                  </a:ext>
                </a:extLst>
              </a:tr>
              <a:tr h="276129">
                <a:tc>
                  <a:txBody>
                    <a:bodyPr/>
                    <a:lstStyle/>
                    <a:p>
                      <a:pPr marL="0" marR="0" algn="l" fontAlgn="t">
                        <a:spcAft>
                          <a:spcPts val="1500"/>
                        </a:spcAft>
                        <a:buNone/>
                      </a:pPr>
                      <a:r>
                        <a:rPr lang="en-CA" sz="1200">
                          <a:effectLst/>
                        </a:rPr>
                        <a:t>Ogg Vorbis</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.ogg</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3007948377"/>
                  </a:ext>
                </a:extLst>
              </a:tr>
              <a:tr h="276129">
                <a:tc>
                  <a:txBody>
                    <a:bodyPr/>
                    <a:lstStyle/>
                    <a:p>
                      <a:pPr marL="0" marR="0" algn="l" fontAlgn="t">
                        <a:spcAft>
                          <a:spcPts val="1500"/>
                        </a:spcAft>
                        <a:buNone/>
                      </a:pPr>
                      <a:r>
                        <a:rPr lang="en-CA" sz="1200">
                          <a:effectLst/>
                        </a:rPr>
                        <a:t>Free Lossless Audio Codec (FLAC)</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dirty="0">
                          <a:effectLst/>
                        </a:rPr>
                        <a:t>.</a:t>
                      </a:r>
                      <a:r>
                        <a:rPr lang="en-CA" sz="1200" dirty="0" err="1">
                          <a:effectLst/>
                        </a:rPr>
                        <a:t>flac</a:t>
                      </a:r>
                      <a:endParaRPr lang="en-CA" sz="1200" b="0" i="0" dirty="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3798863158"/>
                  </a:ext>
                </a:extLst>
              </a:tr>
            </a:tbl>
          </a:graphicData>
        </a:graphic>
      </p:graphicFrame>
      <p:graphicFrame>
        <p:nvGraphicFramePr>
          <p:cNvPr id="7" name="Table 6">
            <a:extLst>
              <a:ext uri="{FF2B5EF4-FFF2-40B4-BE49-F238E27FC236}">
                <a16:creationId xmlns:a16="http://schemas.microsoft.com/office/drawing/2014/main" id="{51769905-F7E5-49BC-2323-5874DF7A1BC3}"/>
              </a:ext>
            </a:extLst>
          </p:cNvPr>
          <p:cNvGraphicFramePr>
            <a:graphicFrameLocks noGrp="1"/>
          </p:cNvGraphicFramePr>
          <p:nvPr>
            <p:extLst>
              <p:ext uri="{D42A27DB-BD31-4B8C-83A1-F6EECF244321}">
                <p14:modId xmlns:p14="http://schemas.microsoft.com/office/powerpoint/2010/main" val="911467933"/>
              </p:ext>
            </p:extLst>
          </p:nvPr>
        </p:nvGraphicFramePr>
        <p:xfrm>
          <a:off x="4830184" y="4450693"/>
          <a:ext cx="6776278" cy="1387220"/>
        </p:xfrm>
        <a:graphic>
          <a:graphicData uri="http://schemas.openxmlformats.org/drawingml/2006/table">
            <a:tbl>
              <a:tblPr>
                <a:tableStyleId>{5C22544A-7EE6-4342-B048-85BDC9FD1C3A}</a:tableStyleId>
              </a:tblPr>
              <a:tblGrid>
                <a:gridCol w="3388139">
                  <a:extLst>
                    <a:ext uri="{9D8B030D-6E8A-4147-A177-3AD203B41FA5}">
                      <a16:colId xmlns:a16="http://schemas.microsoft.com/office/drawing/2014/main" val="3359777392"/>
                    </a:ext>
                  </a:extLst>
                </a:gridCol>
                <a:gridCol w="3388139">
                  <a:extLst>
                    <a:ext uri="{9D8B030D-6E8A-4147-A177-3AD203B41FA5}">
                      <a16:colId xmlns:a16="http://schemas.microsoft.com/office/drawing/2014/main" val="2526441037"/>
                    </a:ext>
                  </a:extLst>
                </a:gridCol>
              </a:tblGrid>
              <a:tr h="276129">
                <a:tc>
                  <a:txBody>
                    <a:bodyPr/>
                    <a:lstStyle/>
                    <a:p>
                      <a:pPr marL="0" marR="0" algn="l">
                        <a:spcAft>
                          <a:spcPts val="1500"/>
                        </a:spcAft>
                        <a:buNone/>
                      </a:pPr>
                      <a:r>
                        <a:rPr lang="en-CA" sz="1200">
                          <a:effectLst/>
                        </a:rPr>
                        <a:t>Format</a:t>
                      </a:r>
                      <a:endParaRPr lang="en-CA" sz="1200" b="0" i="0">
                        <a:solidFill>
                          <a:srgbClr val="455463"/>
                        </a:solidFill>
                        <a:effectLst/>
                        <a:latin typeface="Roboto" panose="02000000000000000000" pitchFamily="2" charset="0"/>
                      </a:endParaRPr>
                    </a:p>
                  </a:txBody>
                  <a:tcPr marL="94565" marR="94565" marT="47282" marB="47282" anchor="ctr"/>
                </a:tc>
                <a:tc>
                  <a:txBody>
                    <a:bodyPr/>
                    <a:lstStyle/>
                    <a:p>
                      <a:pPr marL="0" marR="0" algn="l">
                        <a:spcAft>
                          <a:spcPts val="1500"/>
                        </a:spcAft>
                        <a:buNone/>
                      </a:pPr>
                      <a:r>
                        <a:rPr lang="en-CA" sz="1200">
                          <a:effectLst/>
                        </a:rPr>
                        <a:t>Extensions</a:t>
                      </a:r>
                      <a:endParaRPr lang="en-CA" sz="1200" b="0" i="0">
                        <a:solidFill>
                          <a:srgbClr val="455463"/>
                        </a:solidFill>
                        <a:effectLst/>
                        <a:latin typeface="Roboto" panose="02000000000000000000" pitchFamily="2" charset="0"/>
                      </a:endParaRPr>
                    </a:p>
                  </a:txBody>
                  <a:tcPr marL="94565" marR="94565" marT="47282" marB="47282" anchor="ctr"/>
                </a:tc>
                <a:extLst>
                  <a:ext uri="{0D108BD9-81ED-4DB2-BD59-A6C34878D82A}">
                    <a16:rowId xmlns:a16="http://schemas.microsoft.com/office/drawing/2014/main" val="319974837"/>
                  </a:ext>
                </a:extLst>
              </a:tr>
              <a:tr h="276129">
                <a:tc>
                  <a:txBody>
                    <a:bodyPr/>
                    <a:lstStyle/>
                    <a:p>
                      <a:pPr marL="0" marR="0" algn="l" fontAlgn="t">
                        <a:spcAft>
                          <a:spcPts val="1500"/>
                        </a:spcAft>
                        <a:buNone/>
                      </a:pPr>
                      <a:r>
                        <a:rPr lang="en-CA" sz="1200">
                          <a:effectLst/>
                        </a:rPr>
                        <a:t>Ultimate Soundtracker module</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.mod</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2382119211"/>
                  </a:ext>
                </a:extLst>
              </a:tr>
              <a:tr h="276129">
                <a:tc>
                  <a:txBody>
                    <a:bodyPr/>
                    <a:lstStyle/>
                    <a:p>
                      <a:pPr marL="0" marR="0" algn="l" fontAlgn="t">
                        <a:spcAft>
                          <a:spcPts val="1500"/>
                        </a:spcAft>
                        <a:buNone/>
                      </a:pPr>
                      <a:r>
                        <a:rPr lang="en-CA" sz="1200">
                          <a:effectLst/>
                        </a:rPr>
                        <a:t>FastTracker 2 module</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.xm</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3577417728"/>
                  </a:ext>
                </a:extLst>
              </a:tr>
              <a:tr h="276129">
                <a:tc>
                  <a:txBody>
                    <a:bodyPr/>
                    <a:lstStyle/>
                    <a:p>
                      <a:pPr marL="0" marR="0" algn="l" fontAlgn="t">
                        <a:spcAft>
                          <a:spcPts val="1500"/>
                        </a:spcAft>
                        <a:buNone/>
                      </a:pPr>
                      <a:r>
                        <a:rPr lang="en-CA" sz="1200">
                          <a:effectLst/>
                        </a:rPr>
                        <a:t>Impulse Tracker module</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.it</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3989494071"/>
                  </a:ext>
                </a:extLst>
              </a:tr>
              <a:tr h="276129">
                <a:tc>
                  <a:txBody>
                    <a:bodyPr/>
                    <a:lstStyle/>
                    <a:p>
                      <a:pPr marL="0" marR="0" algn="l" fontAlgn="t">
                        <a:spcAft>
                          <a:spcPts val="1500"/>
                        </a:spcAft>
                        <a:buNone/>
                      </a:pPr>
                      <a:r>
                        <a:rPr lang="en-CA" sz="1200">
                          <a:effectLst/>
                        </a:rPr>
                        <a:t>Scream Tracker module</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dirty="0">
                          <a:effectLst/>
                        </a:rPr>
                        <a:t>.s3m</a:t>
                      </a:r>
                      <a:endParaRPr lang="en-CA" sz="1200" b="0" i="0" dirty="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2834034318"/>
                  </a:ext>
                </a:extLst>
              </a:tr>
            </a:tbl>
          </a:graphicData>
        </a:graphic>
      </p:graphicFrame>
      <p:sp>
        <p:nvSpPr>
          <p:cNvPr id="9" name="TextBox 8">
            <a:extLst>
              <a:ext uri="{FF2B5EF4-FFF2-40B4-BE49-F238E27FC236}">
                <a16:creationId xmlns:a16="http://schemas.microsoft.com/office/drawing/2014/main" id="{43BF6340-3DBF-E9C6-7DB7-E7E8CFA8697F}"/>
              </a:ext>
            </a:extLst>
          </p:cNvPr>
          <p:cNvSpPr txBox="1"/>
          <p:nvPr/>
        </p:nvSpPr>
        <p:spPr>
          <a:xfrm>
            <a:off x="4917696" y="1507068"/>
            <a:ext cx="6099586" cy="1808187"/>
          </a:xfrm>
          <a:prstGeom prst="rect">
            <a:avLst/>
          </a:prstGeom>
          <a:noFill/>
        </p:spPr>
        <p:txBody>
          <a:bodyPr wrap="square">
            <a:spAutoFit/>
          </a:bodyPr>
          <a:lstStyle/>
          <a:p>
            <a:pPr marL="209550">
              <a:spcAft>
                <a:spcPts val="1125"/>
              </a:spcAft>
              <a:buClr>
                <a:schemeClr val="dk1"/>
              </a:buClr>
              <a:buSzPts val="300"/>
            </a:pPr>
            <a:r>
              <a:rPr lang="en-CA" dirty="0"/>
              <a:t>For information about how Unity encodes your files once they are imported, refer to </a:t>
            </a:r>
            <a:r>
              <a:rPr lang="en-CA" u="sng" dirty="0">
                <a:hlinkClick r:id="rId2"/>
              </a:rPr>
              <a:t>Audio file compression in Unity</a:t>
            </a:r>
            <a:r>
              <a:rPr lang="en-CA" dirty="0"/>
              <a:t>.</a:t>
            </a:r>
          </a:p>
          <a:p>
            <a:pPr marL="0" marR="0" indent="0" algn="l">
              <a:spcAft>
                <a:spcPts val="1125"/>
              </a:spcAft>
              <a:buNone/>
            </a:pPr>
            <a:endParaRPr lang="en-CA" b="0" i="0" dirty="0">
              <a:solidFill>
                <a:srgbClr val="000000"/>
              </a:solidFill>
              <a:effectLst/>
              <a:latin typeface="Arial"/>
            </a:endParaRPr>
          </a:p>
          <a:p>
            <a:pPr marL="0" marR="0" indent="0" algn="l">
              <a:spcAft>
                <a:spcPts val="1125"/>
              </a:spcAft>
              <a:buNone/>
            </a:pPr>
            <a:r>
              <a:rPr lang="en-CA" b="0" i="0" dirty="0">
                <a:solidFill>
                  <a:srgbClr val="000000"/>
                </a:solidFill>
                <a:effectLst/>
                <a:latin typeface="Arial"/>
              </a:rPr>
              <a:t>Unity also lets you import </a:t>
            </a:r>
            <a:r>
              <a:rPr lang="en-CA" b="0" i="0" u="sng" dirty="0">
                <a:solidFill>
                  <a:srgbClr val="000000"/>
                </a:solidFill>
                <a:effectLst/>
                <a:latin typeface="Arial"/>
                <a:hlinkClick r:id="rId3"/>
              </a:rPr>
              <a:t>tracker modules</a:t>
            </a:r>
            <a:r>
              <a:rPr lang="en-CA" b="0" i="0" dirty="0">
                <a:solidFill>
                  <a:srgbClr val="000000"/>
                </a:solidFill>
                <a:effectLst/>
                <a:latin typeface="Arial"/>
              </a:rPr>
              <a:t> in the following formats:</a:t>
            </a:r>
          </a:p>
          <a:p>
            <a:pPr>
              <a:buNone/>
            </a:pPr>
            <a:br>
              <a:rPr lang="en-CA" dirty="0"/>
            </a:br>
            <a:endParaRPr lang="en-US" dirty="0"/>
          </a:p>
        </p:txBody>
      </p:sp>
    </p:spTree>
    <p:extLst>
      <p:ext uri="{BB962C8B-B14F-4D97-AF65-F5344CB8AC3E}">
        <p14:creationId xmlns:p14="http://schemas.microsoft.com/office/powerpoint/2010/main" val="162047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957235-6C54-1139-AB65-0BBE84F2C1EC}"/>
              </a:ext>
            </a:extLst>
          </p:cNvPr>
          <p:cNvSpPr>
            <a:spLocks noGrp="1"/>
          </p:cNvSpPr>
          <p:nvPr>
            <p:ph type="body" idx="1"/>
          </p:nvPr>
        </p:nvSpPr>
        <p:spPr>
          <a:xfrm>
            <a:off x="652558" y="1507068"/>
            <a:ext cx="3630683" cy="4669896"/>
          </a:xfrm>
        </p:spPr>
        <p:txBody>
          <a:bodyPr>
            <a:normAutofit fontScale="85000" lnSpcReduction="10000"/>
          </a:bodyPr>
          <a:lstStyle/>
          <a:p>
            <a:pPr marL="209550" indent="0">
              <a:buNone/>
            </a:pPr>
            <a:r>
              <a:rPr lang="en-CA" dirty="0"/>
              <a:t>Audio file compression is an essential way to optimize your application’s performance. When you </a:t>
            </a:r>
            <a:r>
              <a:rPr lang="en-CA" u="sng" dirty="0">
                <a:hlinkClick r:id="rId2"/>
              </a:rPr>
              <a:t>import an audio file</a:t>
            </a:r>
            <a:r>
              <a:rPr lang="en-CA" dirty="0"/>
              <a:t>, Unity transcodes the file to a format suitable for the build target and the type of sound.</a:t>
            </a:r>
          </a:p>
          <a:p>
            <a:pPr marL="209550" indent="0">
              <a:buNone/>
            </a:pPr>
            <a:r>
              <a:rPr lang="en-CA" dirty="0"/>
              <a:t>This page gives an overview of some of the different compression formats and their impact on file size, performance, and audio quality.</a:t>
            </a:r>
          </a:p>
          <a:p>
            <a:pPr marL="209550" indent="0">
              <a:buNone/>
            </a:pPr>
            <a:r>
              <a:rPr lang="en-CA" dirty="0"/>
              <a:t>To change the compression format of an audio file, use the </a:t>
            </a:r>
            <a:r>
              <a:rPr lang="en-CA" b="1" dirty="0"/>
              <a:t>Compression Format</a:t>
            </a:r>
            <a:r>
              <a:rPr lang="en-CA" dirty="0"/>
              <a:t> setting in the </a:t>
            </a:r>
            <a:r>
              <a:rPr lang="en-CA" u="sng" dirty="0">
                <a:hlinkClick r:id="rId3"/>
              </a:rPr>
              <a:t>Audio Clip Import Settings</a:t>
            </a:r>
            <a:r>
              <a:rPr lang="en-CA" dirty="0"/>
              <a:t>.</a:t>
            </a:r>
          </a:p>
          <a:p>
            <a:pPr marL="209550" indent="0">
              <a:buNone/>
            </a:pPr>
            <a:r>
              <a:rPr lang="en-CA" b="1" dirty="0"/>
              <a:t>Audio file compression format types</a:t>
            </a:r>
          </a:p>
          <a:p>
            <a:pPr marL="209550" indent="0">
              <a:buNone/>
            </a:pPr>
            <a:r>
              <a:rPr lang="en-CA" dirty="0"/>
              <a:t>When Unity encodes audio, the main compression formats for how Unity stores the audio on disk are the following:</a:t>
            </a:r>
          </a:p>
          <a:p>
            <a:pPr lvl="0"/>
            <a:r>
              <a:rPr lang="en-CA" dirty="0"/>
              <a:t>PCM</a:t>
            </a:r>
          </a:p>
          <a:p>
            <a:pPr lvl="0"/>
            <a:r>
              <a:rPr lang="en-CA" dirty="0"/>
              <a:t>ADPCM</a:t>
            </a:r>
          </a:p>
          <a:p>
            <a:pPr lvl="0"/>
            <a:r>
              <a:rPr lang="en-CA" dirty="0"/>
              <a:t>Compressed</a:t>
            </a:r>
          </a:p>
          <a:p>
            <a:endParaRPr lang="en-US" dirty="0"/>
          </a:p>
        </p:txBody>
      </p:sp>
      <p:sp>
        <p:nvSpPr>
          <p:cNvPr id="3" name="Text Placeholder 2">
            <a:extLst>
              <a:ext uri="{FF2B5EF4-FFF2-40B4-BE49-F238E27FC236}">
                <a16:creationId xmlns:a16="http://schemas.microsoft.com/office/drawing/2014/main" id="{D3C858DE-611F-AE7B-7054-70AC7C24F6EE}"/>
              </a:ext>
            </a:extLst>
          </p:cNvPr>
          <p:cNvSpPr>
            <a:spLocks noGrp="1"/>
          </p:cNvSpPr>
          <p:nvPr>
            <p:ph type="body" idx="2"/>
          </p:nvPr>
        </p:nvSpPr>
        <p:spPr/>
        <p:txBody>
          <a:bodyPr>
            <a:normAutofit fontScale="92500" lnSpcReduction="10000"/>
          </a:bodyPr>
          <a:lstStyle/>
          <a:p>
            <a:pPr marL="209550" indent="0">
              <a:buNone/>
            </a:pPr>
            <a:r>
              <a:rPr lang="en-CA" b="1" dirty="0"/>
              <a:t>PCM or </a:t>
            </a:r>
            <a:r>
              <a:rPr lang="en-CA" b="1" dirty="0" err="1"/>
              <a:t>Vorbis</a:t>
            </a:r>
            <a:r>
              <a:rPr lang="en-CA" b="1" dirty="0"/>
              <a:t>/MP3</a:t>
            </a:r>
          </a:p>
          <a:p>
            <a:pPr marL="209550" indent="0">
              <a:buNone/>
            </a:pPr>
            <a:r>
              <a:rPr lang="en-CA" dirty="0"/>
              <a:t>PCM and </a:t>
            </a:r>
            <a:r>
              <a:rPr lang="en-CA" dirty="0" err="1"/>
              <a:t>Vorbis</a:t>
            </a:r>
            <a:r>
              <a:rPr lang="en-CA" dirty="0"/>
              <a:t>/MP3 formats keep audio as close as possible to the original sound.</a:t>
            </a:r>
          </a:p>
          <a:p>
            <a:pPr marL="209550" indent="0">
              <a:buNone/>
            </a:pPr>
            <a:r>
              <a:rPr lang="en-CA" dirty="0"/>
              <a:t>PCM is an uncompressed compression format. PCM is easy for the CPU to handle because the sound is uncompressed, so it plays directly from memory without extra processing.</a:t>
            </a:r>
          </a:p>
          <a:p>
            <a:pPr marL="209550" indent="0">
              <a:buNone/>
            </a:pPr>
            <a:r>
              <a:rPr lang="en-CA" dirty="0"/>
              <a:t>The </a:t>
            </a:r>
            <a:r>
              <a:rPr lang="en-CA" dirty="0" err="1"/>
              <a:t>Vorbis</a:t>
            </a:r>
            <a:r>
              <a:rPr lang="en-CA" dirty="0"/>
              <a:t> or MP3 formats are compressed formats. These formats let you use the Quality slider to adjust the compression, which removes less noticeable audio to save space but keeps the sound as clear as possible.</a:t>
            </a:r>
          </a:p>
          <a:p>
            <a:pPr marL="209550" indent="0">
              <a:buNone/>
            </a:pPr>
            <a:r>
              <a:rPr lang="en-CA" b="1" dirty="0"/>
              <a:t>ADPCM</a:t>
            </a:r>
          </a:p>
          <a:p>
            <a:pPr marL="209550" indent="0">
              <a:buNone/>
            </a:pPr>
            <a:r>
              <a:rPr lang="en-CA" dirty="0"/>
              <a:t>ADPCM uses slightly more CPU than the uncompressed PCM option, but yields a constant 3.5 compression factor, which is usually about 3 times worse than the compression that can be achieved with </a:t>
            </a:r>
            <a:r>
              <a:rPr lang="en-CA" dirty="0" err="1"/>
              <a:t>Vorbis</a:t>
            </a:r>
            <a:r>
              <a:rPr lang="en-CA" dirty="0"/>
              <a:t> or MP3 compression. Like PCM, ADPCM lets you automatically optimize or manually adjust the sample rate to further reduce file size, depending on the sound’s frequency content and the acceptable loss of quality.</a:t>
            </a:r>
          </a:p>
          <a:p>
            <a:pPr marL="209550" indent="0">
              <a:buNone/>
            </a:pPr>
            <a:r>
              <a:rPr lang="en-CA" dirty="0"/>
              <a:t>ADPCM is less suitable for smooth signals like music or ambient sounds because it introduces noticeable artefacts that affect audio quality.</a:t>
            </a:r>
          </a:p>
          <a:p>
            <a:pPr marL="209550" indent="0">
              <a:buNone/>
            </a:pPr>
            <a:r>
              <a:rPr lang="en-CA" b="1" dirty="0"/>
              <a:t>Module files</a:t>
            </a:r>
          </a:p>
          <a:p>
            <a:pPr marL="209550" indent="0">
              <a:buNone/>
            </a:pPr>
            <a:r>
              <a:rPr lang="en-CA" dirty="0"/>
              <a:t>Module files (.mod,.it,.s3m..xm) can deliver high quality sounds with a low footprint. When you use module files, make sure that the </a:t>
            </a:r>
            <a:r>
              <a:rPr lang="en-CA" b="1" dirty="0"/>
              <a:t>Load Type</a:t>
            </a:r>
            <a:r>
              <a:rPr lang="en-CA" dirty="0"/>
              <a:t> is set to </a:t>
            </a:r>
            <a:r>
              <a:rPr lang="en-CA" b="1" dirty="0"/>
              <a:t>Compressed In Memory</a:t>
            </a:r>
            <a:r>
              <a:rPr lang="en-CA" dirty="0"/>
              <a:t> in the Audio Clip Import Settings. If it’s set to </a:t>
            </a:r>
            <a:r>
              <a:rPr lang="en-CA" b="1" dirty="0"/>
              <a:t>Decompress On Load</a:t>
            </a:r>
            <a:r>
              <a:rPr lang="en-CA" dirty="0"/>
              <a:t>, the whole song will be decompressed.</a:t>
            </a:r>
          </a:p>
          <a:p>
            <a:pPr marL="209550" indent="0">
              <a:buNone/>
            </a:pPr>
            <a:r>
              <a:rPr lang="en-CA" b="1" dirty="0"/>
              <a:t>Compressed audio</a:t>
            </a:r>
          </a:p>
          <a:p>
            <a:pPr marL="209550" indent="0">
              <a:buNone/>
            </a:pPr>
            <a:r>
              <a:rPr lang="en-CA" dirty="0"/>
              <a:t>Compressed audio (or modules) are best for long files like background music or dialog. Use the </a:t>
            </a:r>
            <a:r>
              <a:rPr lang="en-CA" b="1" dirty="0"/>
              <a:t>Quality</a:t>
            </a:r>
            <a:r>
              <a:rPr lang="en-CA" dirty="0"/>
              <a:t> slider to change the amount of compression. Start with high-quality compression and gradually reduce the setting to the point where the loss of sound quality is perceptible. Then, increase it again slightly until the perceived loss of quality disappears.</a:t>
            </a:r>
          </a:p>
          <a:p>
            <a:endParaRPr lang="en-US" dirty="0"/>
          </a:p>
        </p:txBody>
      </p:sp>
      <p:sp>
        <p:nvSpPr>
          <p:cNvPr id="4" name="Title 3">
            <a:extLst>
              <a:ext uri="{FF2B5EF4-FFF2-40B4-BE49-F238E27FC236}">
                <a16:creationId xmlns:a16="http://schemas.microsoft.com/office/drawing/2014/main" id="{955F8803-734B-4E5E-BC30-3AD8E4A2198E}"/>
              </a:ext>
            </a:extLst>
          </p:cNvPr>
          <p:cNvSpPr>
            <a:spLocks noGrp="1"/>
          </p:cNvSpPr>
          <p:nvPr>
            <p:ph type="title"/>
          </p:nvPr>
        </p:nvSpPr>
        <p:spPr/>
        <p:txBody>
          <a:bodyPr>
            <a:normAutofit/>
          </a:bodyPr>
          <a:lstStyle/>
          <a:p>
            <a:r>
              <a:rPr lang="en-CA" b="1" dirty="0"/>
              <a:t>Audio file compression in Unity</a:t>
            </a:r>
            <a:endParaRPr lang="en-US" dirty="0"/>
          </a:p>
        </p:txBody>
      </p:sp>
    </p:spTree>
    <p:extLst>
      <p:ext uri="{BB962C8B-B14F-4D97-AF65-F5344CB8AC3E}">
        <p14:creationId xmlns:p14="http://schemas.microsoft.com/office/powerpoint/2010/main" val="2713047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73555A-4788-609B-2AC4-92C0933A2C79}"/>
              </a:ext>
            </a:extLst>
          </p:cNvPr>
          <p:cNvSpPr>
            <a:spLocks noGrp="1"/>
          </p:cNvSpPr>
          <p:nvPr>
            <p:ph type="body" idx="1"/>
          </p:nvPr>
        </p:nvSpPr>
        <p:spPr/>
        <p:txBody>
          <a:bodyPr/>
          <a:lstStyle/>
          <a:p>
            <a:r>
              <a:rPr lang="en-CA" dirty="0"/>
              <a:t>The scriptable audio pipeline framework lets you extend the Unity audio engine at specific integration points using Burst-compatible HPC#. </a:t>
            </a:r>
            <a:endParaRPr lang="en-US" dirty="0"/>
          </a:p>
        </p:txBody>
      </p:sp>
      <p:sp>
        <p:nvSpPr>
          <p:cNvPr id="3" name="Text Placeholder 2">
            <a:extLst>
              <a:ext uri="{FF2B5EF4-FFF2-40B4-BE49-F238E27FC236}">
                <a16:creationId xmlns:a16="http://schemas.microsoft.com/office/drawing/2014/main" id="{00230DEC-BC76-0C5E-6234-02D16C184AA4}"/>
              </a:ext>
            </a:extLst>
          </p:cNvPr>
          <p:cNvSpPr>
            <a:spLocks noGrp="1"/>
          </p:cNvSpPr>
          <p:nvPr>
            <p:ph type="body" idx="2"/>
          </p:nvPr>
        </p:nvSpPr>
        <p:spPr/>
        <p:txBody>
          <a:bodyPr/>
          <a:lstStyle/>
          <a:p>
            <a:endParaRPr lang="en-US" dirty="0"/>
          </a:p>
        </p:txBody>
      </p:sp>
      <p:sp>
        <p:nvSpPr>
          <p:cNvPr id="4" name="Title 3">
            <a:extLst>
              <a:ext uri="{FF2B5EF4-FFF2-40B4-BE49-F238E27FC236}">
                <a16:creationId xmlns:a16="http://schemas.microsoft.com/office/drawing/2014/main" id="{9E8A5927-9AF4-9F46-609A-5DDB7778345E}"/>
              </a:ext>
            </a:extLst>
          </p:cNvPr>
          <p:cNvSpPr>
            <a:spLocks noGrp="1"/>
          </p:cNvSpPr>
          <p:nvPr>
            <p:ph type="title"/>
          </p:nvPr>
        </p:nvSpPr>
        <p:spPr/>
        <p:txBody>
          <a:bodyPr>
            <a:normAutofit/>
          </a:bodyPr>
          <a:lstStyle/>
          <a:p>
            <a:r>
              <a:rPr lang="en-CA" b="1" dirty="0"/>
              <a:t>Scriptable audio pipeline</a:t>
            </a:r>
            <a:endParaRPr lang="en-US" dirty="0"/>
          </a:p>
        </p:txBody>
      </p:sp>
      <p:graphicFrame>
        <p:nvGraphicFramePr>
          <p:cNvPr id="5" name="Table 4">
            <a:extLst>
              <a:ext uri="{FF2B5EF4-FFF2-40B4-BE49-F238E27FC236}">
                <a16:creationId xmlns:a16="http://schemas.microsoft.com/office/drawing/2014/main" id="{AFD08A44-9CB9-CFD2-C3AD-BBED114AE6F4}"/>
              </a:ext>
            </a:extLst>
          </p:cNvPr>
          <p:cNvGraphicFramePr>
            <a:graphicFrameLocks noGrp="1"/>
          </p:cNvGraphicFramePr>
          <p:nvPr>
            <p:extLst>
              <p:ext uri="{D42A27DB-BD31-4B8C-83A1-F6EECF244321}">
                <p14:modId xmlns:p14="http://schemas.microsoft.com/office/powerpoint/2010/main" val="1571288713"/>
              </p:ext>
            </p:extLst>
          </p:nvPr>
        </p:nvGraphicFramePr>
        <p:xfrm>
          <a:off x="4604272" y="3168962"/>
          <a:ext cx="6749528" cy="2213304"/>
        </p:xfrm>
        <a:graphic>
          <a:graphicData uri="http://schemas.openxmlformats.org/drawingml/2006/table">
            <a:tbl>
              <a:tblPr>
                <a:tableStyleId>{5C22544A-7EE6-4342-B048-85BDC9FD1C3A}</a:tableStyleId>
              </a:tblPr>
              <a:tblGrid>
                <a:gridCol w="3374764">
                  <a:extLst>
                    <a:ext uri="{9D8B030D-6E8A-4147-A177-3AD203B41FA5}">
                      <a16:colId xmlns:a16="http://schemas.microsoft.com/office/drawing/2014/main" val="3223150570"/>
                    </a:ext>
                  </a:extLst>
                </a:gridCol>
                <a:gridCol w="3374764">
                  <a:extLst>
                    <a:ext uri="{9D8B030D-6E8A-4147-A177-3AD203B41FA5}">
                      <a16:colId xmlns:a16="http://schemas.microsoft.com/office/drawing/2014/main" val="1295400048"/>
                    </a:ext>
                  </a:extLst>
                </a:gridCol>
              </a:tblGrid>
              <a:tr h="276129">
                <a:tc>
                  <a:txBody>
                    <a:bodyPr/>
                    <a:lstStyle/>
                    <a:p>
                      <a:pPr marL="0" marR="0" algn="l">
                        <a:spcAft>
                          <a:spcPts val="1500"/>
                        </a:spcAft>
                        <a:buNone/>
                      </a:pPr>
                      <a:r>
                        <a:rPr lang="en-CA" sz="1200">
                          <a:effectLst/>
                        </a:rPr>
                        <a:t>Topic</a:t>
                      </a:r>
                      <a:endParaRPr lang="en-CA" sz="1200" b="0" i="0">
                        <a:solidFill>
                          <a:srgbClr val="455463"/>
                        </a:solidFill>
                        <a:effectLst/>
                        <a:latin typeface="Roboto" panose="02000000000000000000" pitchFamily="2" charset="0"/>
                      </a:endParaRPr>
                    </a:p>
                  </a:txBody>
                  <a:tcPr marL="94565" marR="94565" marT="47282" marB="47282"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94565" marR="94565" marT="47282" marB="47282" anchor="ctr"/>
                </a:tc>
                <a:extLst>
                  <a:ext uri="{0D108BD9-81ED-4DB2-BD59-A6C34878D82A}">
                    <a16:rowId xmlns:a16="http://schemas.microsoft.com/office/drawing/2014/main" val="1901069174"/>
                  </a:ext>
                </a:extLst>
              </a:tr>
              <a:tr h="276129">
                <a:tc>
                  <a:txBody>
                    <a:bodyPr/>
                    <a:lstStyle/>
                    <a:p>
                      <a:pPr marL="0" marR="0" algn="l" fontAlgn="t">
                        <a:spcAft>
                          <a:spcPts val="1500"/>
                        </a:spcAft>
                        <a:buNone/>
                      </a:pPr>
                      <a:r>
                        <a:rPr lang="en-CA" sz="1200" u="sng">
                          <a:effectLst/>
                          <a:hlinkClick r:id="rId2"/>
                        </a:rPr>
                        <a:t>Scriptable processors concepts</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Learn the core concepts required to work with scriptable processors.</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1196804249"/>
                  </a:ext>
                </a:extLst>
              </a:tr>
              <a:tr h="276129">
                <a:tc>
                  <a:txBody>
                    <a:bodyPr/>
                    <a:lstStyle/>
                    <a:p>
                      <a:pPr marL="0" marR="0" algn="l" fontAlgn="t">
                        <a:spcAft>
                          <a:spcPts val="1500"/>
                        </a:spcAft>
                        <a:buNone/>
                      </a:pPr>
                      <a:r>
                        <a:rPr lang="en-CA" sz="1200" u="sng">
                          <a:effectLst/>
                          <a:hlinkClick r:id="rId3"/>
                        </a:rPr>
                        <a:t>Generators</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Learn about generators.</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664051139"/>
                  </a:ext>
                </a:extLst>
              </a:tr>
              <a:tr h="276129">
                <a:tc>
                  <a:txBody>
                    <a:bodyPr/>
                    <a:lstStyle/>
                    <a:p>
                      <a:pPr marL="0" marR="0" algn="l" fontAlgn="t">
                        <a:spcAft>
                          <a:spcPts val="1500"/>
                        </a:spcAft>
                        <a:buNone/>
                      </a:pPr>
                      <a:r>
                        <a:rPr lang="en-CA" sz="1200" u="sng">
                          <a:effectLst/>
                          <a:hlinkClick r:id="rId4"/>
                        </a:rPr>
                        <a:t>Root outputs</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Learn about root outputs.</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326680150"/>
                  </a:ext>
                </a:extLst>
              </a:tr>
              <a:tr h="276129">
                <a:tc>
                  <a:txBody>
                    <a:bodyPr/>
                    <a:lstStyle/>
                    <a:p>
                      <a:pPr marL="0" marR="0" algn="l" fontAlgn="t">
                        <a:spcAft>
                          <a:spcPts val="1500"/>
                        </a:spcAft>
                        <a:buNone/>
                      </a:pPr>
                      <a:r>
                        <a:rPr lang="en-CA" sz="1200" u="sng">
                          <a:effectLst/>
                          <a:hlinkClick r:id="rId5"/>
                        </a:rPr>
                        <a:t>Example: create a generator</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Create a generator and attach it to an audio source.</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1206726736"/>
                  </a:ext>
                </a:extLst>
              </a:tr>
              <a:tr h="276129">
                <a:tc>
                  <a:txBody>
                    <a:bodyPr/>
                    <a:lstStyle/>
                    <a:p>
                      <a:pPr marL="0" marR="0" algn="l" fontAlgn="t">
                        <a:spcAft>
                          <a:spcPts val="1500"/>
                        </a:spcAft>
                        <a:buNone/>
                      </a:pPr>
                      <a:r>
                        <a:rPr lang="en-CA" sz="1200" u="sng">
                          <a:effectLst/>
                          <a:hlinkClick r:id="rId6"/>
                        </a:rPr>
                        <a:t>Example: create a root output</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dirty="0">
                          <a:effectLst/>
                        </a:rPr>
                        <a:t>Create a root output and connect it to the Unity audio engine.</a:t>
                      </a:r>
                      <a:endParaRPr lang="en-CA" sz="1200" b="0" i="0" dirty="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1729674120"/>
                  </a:ext>
                </a:extLst>
              </a:tr>
            </a:tbl>
          </a:graphicData>
        </a:graphic>
      </p:graphicFrame>
    </p:spTree>
    <p:extLst>
      <p:ext uri="{BB962C8B-B14F-4D97-AF65-F5344CB8AC3E}">
        <p14:creationId xmlns:p14="http://schemas.microsoft.com/office/powerpoint/2010/main" val="154819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555B7F0-2458-259E-87E2-8C64EAF76E03}"/>
              </a:ext>
            </a:extLst>
          </p:cNvPr>
          <p:cNvSpPr>
            <a:spLocks noGrp="1"/>
          </p:cNvSpPr>
          <p:nvPr>
            <p:ph type="body" idx="1"/>
          </p:nvPr>
        </p:nvSpPr>
        <p:spPr/>
        <p:txBody>
          <a:bodyPr/>
          <a:lstStyle/>
          <a:p>
            <a:r>
              <a:rPr lang="en-CA" dirty="0"/>
              <a:t>Tracker Modules are essentially just packages of audio samples that have been modeled, arranged and sequenced </a:t>
            </a:r>
            <a:r>
              <a:rPr lang="en-CA" dirty="0" err="1"/>
              <a:t>programatically</a:t>
            </a:r>
            <a:r>
              <a:rPr lang="en-CA" dirty="0"/>
              <a:t>. </a:t>
            </a:r>
          </a:p>
          <a:p>
            <a:r>
              <a:rPr lang="en-CA" dirty="0"/>
              <a:t>The concept was introduced in the 1980’s (mainly in conjunction with the Amiga computer) and has been popular since the early days of game development and demo culture.</a:t>
            </a:r>
          </a:p>
          <a:p>
            <a:r>
              <a:rPr lang="en-CA" dirty="0"/>
              <a:t>Tracker Module files are similar to MIDI files in many ways. </a:t>
            </a:r>
          </a:p>
          <a:p>
            <a:r>
              <a:rPr lang="en-CA" dirty="0"/>
              <a:t>The tracks are scores that contain information about when to play the instruments, and at what pitch and volume and from this, the melody and rhythm of the original tune can be recreated. </a:t>
            </a:r>
          </a:p>
          <a:p>
            <a:r>
              <a:rPr lang="en-CA" dirty="0"/>
              <a:t>However, MIDI has a disadvantage in that the sounds are dependent on the sound bank available in the audio hardware, so MIDI music can sound different on different computers. </a:t>
            </a:r>
          </a:p>
          <a:p>
            <a:r>
              <a:rPr lang="en-CA" dirty="0"/>
              <a:t>In contrast, tracker modules include high quality PCM samples that ensure a similar experience regardless of the audio hardware in use.</a:t>
            </a:r>
          </a:p>
          <a:p>
            <a:r>
              <a:rPr lang="en-CA" b="1" dirty="0"/>
              <a:t>Supported formats</a:t>
            </a:r>
          </a:p>
          <a:p>
            <a:r>
              <a:rPr lang="en-CA" dirty="0"/>
              <a:t>Unity supports the four most common module file formats, namely Impulse Tracker (</a:t>
            </a:r>
            <a:r>
              <a:rPr lang="en-CA" b="1" dirty="0"/>
              <a:t>.it</a:t>
            </a:r>
            <a:r>
              <a:rPr lang="en-CA" dirty="0"/>
              <a:t>), Scream Tracker (</a:t>
            </a:r>
            <a:r>
              <a:rPr lang="en-CA" b="1" dirty="0"/>
              <a:t>.s3m</a:t>
            </a:r>
            <a:r>
              <a:rPr lang="en-CA" dirty="0"/>
              <a:t>), Extended Module File Format (</a:t>
            </a:r>
            <a:r>
              <a:rPr lang="en-CA" b="1" dirty="0"/>
              <a:t>.</a:t>
            </a:r>
            <a:r>
              <a:rPr lang="en-CA" b="1" dirty="0" err="1"/>
              <a:t>xm</a:t>
            </a:r>
            <a:r>
              <a:rPr lang="en-CA" dirty="0"/>
              <a:t>), and the original Module File Format (</a:t>
            </a:r>
            <a:r>
              <a:rPr lang="en-CA" b="1" dirty="0"/>
              <a:t>.mod</a:t>
            </a:r>
            <a:r>
              <a:rPr lang="en-CA" dirty="0"/>
              <a:t>).</a:t>
            </a:r>
          </a:p>
          <a:p>
            <a:r>
              <a:rPr lang="en-CA" b="1" dirty="0"/>
              <a:t>Benefits of Using Tracker Modules</a:t>
            </a:r>
          </a:p>
          <a:p>
            <a:r>
              <a:rPr lang="en-CA" dirty="0"/>
              <a:t>Tracker module files differ from mainstream PCM formats (</a:t>
            </a:r>
            <a:r>
              <a:rPr lang="en-CA" b="1" dirty="0"/>
              <a:t>.</a:t>
            </a:r>
            <a:r>
              <a:rPr lang="en-CA" b="1" dirty="0" err="1"/>
              <a:t>aif</a:t>
            </a:r>
            <a:r>
              <a:rPr lang="en-CA" dirty="0"/>
              <a:t>, </a:t>
            </a:r>
            <a:r>
              <a:rPr lang="en-CA" b="1" dirty="0"/>
              <a:t>.wav</a:t>
            </a:r>
            <a:r>
              <a:rPr lang="en-CA" dirty="0"/>
              <a:t>, </a:t>
            </a:r>
            <a:r>
              <a:rPr lang="en-CA" b="1" dirty="0"/>
              <a:t>.mp3</a:t>
            </a:r>
            <a:r>
              <a:rPr lang="en-CA" dirty="0"/>
              <a:t>, and </a:t>
            </a:r>
            <a:r>
              <a:rPr lang="en-CA" b="1" dirty="0"/>
              <a:t>.</a:t>
            </a:r>
            <a:r>
              <a:rPr lang="en-CA" b="1" dirty="0" err="1"/>
              <a:t>ogg</a:t>
            </a:r>
            <a:r>
              <a:rPr lang="en-CA" dirty="0"/>
              <a:t>) in that they can be very small without a corresponding loss of sound quality. A single sound sample can be modified in pitch and volume (and can have other effects applied), so it essentially acts as an “instrument” which can play a tune without the overhead of recording the whole tune as a sample. As a result, tracker modules lend themselves to games, where music is required but where a large file download would be a problem.</a:t>
            </a:r>
          </a:p>
          <a:p>
            <a:endParaRPr lang="en-US" dirty="0"/>
          </a:p>
        </p:txBody>
      </p:sp>
      <p:sp>
        <p:nvSpPr>
          <p:cNvPr id="4" name="Title 3">
            <a:extLst>
              <a:ext uri="{FF2B5EF4-FFF2-40B4-BE49-F238E27FC236}">
                <a16:creationId xmlns:a16="http://schemas.microsoft.com/office/drawing/2014/main" id="{2D5A80E4-62EB-ED0F-9EFF-C855A3197148}"/>
              </a:ext>
            </a:extLst>
          </p:cNvPr>
          <p:cNvSpPr>
            <a:spLocks noGrp="1"/>
          </p:cNvSpPr>
          <p:nvPr>
            <p:ph type="title"/>
          </p:nvPr>
        </p:nvSpPr>
        <p:spPr/>
        <p:txBody>
          <a:bodyPr>
            <a:normAutofit/>
          </a:bodyPr>
          <a:lstStyle/>
          <a:p>
            <a:r>
              <a:rPr lang="en-CA" b="1" dirty="0"/>
              <a:t>Tracker Modules</a:t>
            </a:r>
            <a:endParaRPr lang="en-US" dirty="0"/>
          </a:p>
        </p:txBody>
      </p:sp>
    </p:spTree>
    <p:extLst>
      <p:ext uri="{BB962C8B-B14F-4D97-AF65-F5344CB8AC3E}">
        <p14:creationId xmlns:p14="http://schemas.microsoft.com/office/powerpoint/2010/main" val="2401856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2F48420-DAE8-916B-2928-BF44D4C50FEC}"/>
              </a:ext>
            </a:extLst>
          </p:cNvPr>
          <p:cNvSpPr>
            <a:spLocks noGrp="1"/>
          </p:cNvSpPr>
          <p:nvPr>
            <p:ph type="body" idx="1"/>
          </p:nvPr>
        </p:nvSpPr>
        <p:spPr>
          <a:xfrm>
            <a:off x="1090862" y="1507068"/>
            <a:ext cx="10107849" cy="2096744"/>
          </a:xfrm>
        </p:spPr>
        <p:txBody>
          <a:bodyPr>
            <a:normAutofit fontScale="92500"/>
          </a:bodyPr>
          <a:lstStyle/>
          <a:p>
            <a:r>
              <a:rPr lang="en-CA" dirty="0"/>
              <a:t>The Audio Mixer is an asset that Audio Sources reference to apply complex routing and mixing to the audio signal they generate. </a:t>
            </a:r>
          </a:p>
          <a:p>
            <a:r>
              <a:rPr lang="en-CA" dirty="0"/>
              <a:t>The Audio Mixer performs this category-based mixing through a hierarchy of groups that you construct inside the asset.</a:t>
            </a:r>
          </a:p>
          <a:p>
            <a:r>
              <a:rPr lang="en-CA" dirty="0"/>
              <a:t>You can apply digital signal processing (DSP) effects and other audio mastering to the signal as Unity routes it from the Audio Source to the Audio Listener.</a:t>
            </a:r>
          </a:p>
          <a:p>
            <a:br>
              <a:rPr lang="en-CA" dirty="0"/>
            </a:br>
            <a:endParaRPr lang="en-US" dirty="0"/>
          </a:p>
        </p:txBody>
      </p:sp>
      <p:sp>
        <p:nvSpPr>
          <p:cNvPr id="6" name="Text Placeholder 5">
            <a:extLst>
              <a:ext uri="{FF2B5EF4-FFF2-40B4-BE49-F238E27FC236}">
                <a16:creationId xmlns:a16="http://schemas.microsoft.com/office/drawing/2014/main" id="{7BD8ADE4-0466-9D78-DCDB-796C123C8812}"/>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37973DF5-984F-DA4B-A72A-BE698495DBCD}"/>
              </a:ext>
            </a:extLst>
          </p:cNvPr>
          <p:cNvSpPr>
            <a:spLocks noGrp="1"/>
          </p:cNvSpPr>
          <p:nvPr>
            <p:ph type="title"/>
          </p:nvPr>
        </p:nvSpPr>
        <p:spPr/>
        <p:txBody>
          <a:bodyPr>
            <a:normAutofit/>
          </a:bodyPr>
          <a:lstStyle/>
          <a:p>
            <a:r>
              <a:rPr lang="en-CA" b="1" dirty="0"/>
              <a:t>Audio Mixer</a:t>
            </a:r>
            <a:endParaRPr lang="en-US" dirty="0"/>
          </a:p>
        </p:txBody>
      </p:sp>
      <p:pic>
        <p:nvPicPr>
          <p:cNvPr id="7" name="Picture 6" descr="The Audio Mixer view, including the Audio Mixer asset (1), Hierarchy view (2), Mixer views (3), Snapshots panel (4), output Audio Mixer (5), Audio group strip view (6), Edit in Play Mode toggle (7), and Exposed Parameters (8).">
            <a:extLst>
              <a:ext uri="{FF2B5EF4-FFF2-40B4-BE49-F238E27FC236}">
                <a16:creationId xmlns:a16="http://schemas.microsoft.com/office/drawing/2014/main" id="{092CB8F2-6A24-EE52-A4BA-1862D94CB709}"/>
              </a:ext>
            </a:extLst>
          </p:cNvPr>
          <p:cNvPicPr>
            <a:picLocks noChangeAspect="1"/>
          </p:cNvPicPr>
          <p:nvPr/>
        </p:nvPicPr>
        <p:blipFill>
          <a:blip r:embed="rId2"/>
          <a:stretch>
            <a:fillRect/>
          </a:stretch>
        </p:blipFill>
        <p:spPr>
          <a:xfrm>
            <a:off x="2209800" y="3183724"/>
            <a:ext cx="7772400" cy="2706624"/>
          </a:xfrm>
          <a:prstGeom prst="rect">
            <a:avLst/>
          </a:prstGeom>
        </p:spPr>
      </p:pic>
    </p:spTree>
    <p:extLst>
      <p:ext uri="{BB962C8B-B14F-4D97-AF65-F5344CB8AC3E}">
        <p14:creationId xmlns:p14="http://schemas.microsoft.com/office/powerpoint/2010/main" val="3505442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EC9B233-BA56-29A2-4310-54206C373D56}"/>
              </a:ext>
            </a:extLst>
          </p:cNvPr>
          <p:cNvSpPr>
            <a:spLocks noGrp="1"/>
          </p:cNvSpPr>
          <p:nvPr>
            <p:ph type="body" idx="1"/>
          </p:nvPr>
        </p:nvSpPr>
        <p:spPr/>
        <p:txBody>
          <a:bodyPr/>
          <a:lstStyle/>
          <a:p>
            <a:r>
              <a:rPr lang="en-CA" dirty="0"/>
              <a:t>The Audio Mixer window contains the following areas:</a:t>
            </a:r>
          </a:p>
          <a:p>
            <a:pPr lvl="0"/>
            <a:r>
              <a:rPr lang="en-CA" dirty="0"/>
              <a:t>Audio Mixer asset: Contains all groups and snapshots as </a:t>
            </a:r>
            <a:r>
              <a:rPr lang="en-CA" dirty="0" err="1"/>
              <a:t>subassets</a:t>
            </a:r>
            <a:r>
              <a:rPr lang="en-CA" dirty="0"/>
              <a:t>.</a:t>
            </a:r>
          </a:p>
          <a:p>
            <a:pPr lvl="0"/>
            <a:r>
              <a:rPr lang="en-CA" b="1" dirty="0"/>
              <a:t>Hierarchy</a:t>
            </a:r>
            <a:r>
              <a:rPr lang="en-CA" dirty="0"/>
              <a:t> view: Shows the entire mixing hierarchy of groups within the Audio Mixer.</a:t>
            </a:r>
          </a:p>
          <a:p>
            <a:pPr lvl="0"/>
            <a:r>
              <a:rPr lang="en-CA" b="1" dirty="0"/>
              <a:t>Mixer Views</a:t>
            </a:r>
            <a:r>
              <a:rPr lang="en-CA" dirty="0"/>
              <a:t>: Lists cached visibility settings for the mixer. Each view shows only a subset of the hierarchy in the main mixer window.</a:t>
            </a:r>
          </a:p>
          <a:p>
            <a:pPr lvl="0"/>
            <a:r>
              <a:rPr lang="en-CA" b="1" dirty="0"/>
              <a:t>Snapshots</a:t>
            </a:r>
            <a:r>
              <a:rPr lang="en-CA" dirty="0"/>
              <a:t>: Lists all snapshots within the Audio Mixer asset. Snapshots capture the state of every parameter setting in an Audio Mixer, and you can transition between them at runtime.</a:t>
            </a:r>
          </a:p>
          <a:p>
            <a:pPr lvl="0"/>
            <a:r>
              <a:rPr lang="en-CA" b="1" dirty="0"/>
              <a:t>Output</a:t>
            </a:r>
            <a:r>
              <a:rPr lang="en-CA" dirty="0"/>
              <a:t> Audio Mixer: Routes this Audio Mixer’s signal into a group of another Audio Mixer. Use this property to define the output group.</a:t>
            </a:r>
          </a:p>
          <a:p>
            <a:pPr lvl="0"/>
            <a:r>
              <a:rPr lang="en-CA" dirty="0" err="1"/>
              <a:t>AudioGroup</a:t>
            </a:r>
            <a:r>
              <a:rPr lang="en-CA" dirty="0"/>
              <a:t> strip view: Shows an overview of an </a:t>
            </a:r>
            <a:r>
              <a:rPr lang="en-CA" dirty="0" err="1"/>
              <a:t>AudioGroup</a:t>
            </a:r>
            <a:r>
              <a:rPr lang="en-CA" dirty="0"/>
              <a:t>, including the volume unit (VU) levels, attenuation (volume) settings, </a:t>
            </a:r>
            <a:r>
              <a:rPr lang="en-CA" b="1" dirty="0"/>
              <a:t>Mute</a:t>
            </a:r>
            <a:r>
              <a:rPr lang="en-CA" dirty="0"/>
              <a:t>, </a:t>
            </a:r>
            <a:r>
              <a:rPr lang="en-CA" b="1" dirty="0"/>
              <a:t>Solo</a:t>
            </a:r>
            <a:r>
              <a:rPr lang="en-CA" dirty="0"/>
              <a:t>, and </a:t>
            </a:r>
            <a:r>
              <a:rPr lang="en-CA" b="1" dirty="0"/>
              <a:t>Effect Bypass</a:t>
            </a:r>
            <a:r>
              <a:rPr lang="en-CA" dirty="0"/>
              <a:t> settings, and the list of DSP effects within the group.</a:t>
            </a:r>
          </a:p>
          <a:p>
            <a:pPr lvl="0"/>
            <a:r>
              <a:rPr lang="en-CA" b="1" dirty="0"/>
              <a:t>Edit in Play Mode</a:t>
            </a:r>
            <a:r>
              <a:rPr lang="en-CA" dirty="0"/>
              <a:t> toggle: Lets you edit the Audio Mixer during Play mode or prevent edits, so the application runtime controls the state of the Audio Mixer.</a:t>
            </a:r>
          </a:p>
          <a:p>
            <a:pPr lvl="0"/>
            <a:r>
              <a:rPr lang="en-CA" b="1" dirty="0"/>
              <a:t>Exposed Parameters</a:t>
            </a:r>
            <a:r>
              <a:rPr lang="en-CA" dirty="0"/>
              <a:t>: Lists the exposed parameters and their string names. You can expose any parameter within an Audio Mixer to a script through a string name.</a:t>
            </a:r>
          </a:p>
          <a:p>
            <a:br>
              <a:rPr lang="en-CA" dirty="0"/>
            </a:br>
            <a:endParaRPr lang="en-US" dirty="0"/>
          </a:p>
        </p:txBody>
      </p:sp>
      <p:sp>
        <p:nvSpPr>
          <p:cNvPr id="5" name="Title 4">
            <a:extLst>
              <a:ext uri="{FF2B5EF4-FFF2-40B4-BE49-F238E27FC236}">
                <a16:creationId xmlns:a16="http://schemas.microsoft.com/office/drawing/2014/main" id="{729916F7-94A8-259E-2FBC-75FE58F7DCE0}"/>
              </a:ext>
            </a:extLst>
          </p:cNvPr>
          <p:cNvSpPr>
            <a:spLocks noGrp="1"/>
          </p:cNvSpPr>
          <p:nvPr>
            <p:ph type="title"/>
          </p:nvPr>
        </p:nvSpPr>
        <p:spPr/>
        <p:txBody>
          <a:bodyPr/>
          <a:lstStyle/>
          <a:p>
            <a:pPr marL="457200" indent="-247650">
              <a:buClr>
                <a:schemeClr val="dk1"/>
              </a:buClr>
              <a:buSzPts val="300"/>
              <a:buFont typeface="Quattrocento Sans"/>
              <a:buChar char=" "/>
            </a:pPr>
            <a:r>
              <a:rPr lang="en-CA" dirty="0"/>
              <a:t>Audio Mixer window</a:t>
            </a:r>
            <a:endParaRPr lang="en-US" dirty="0"/>
          </a:p>
        </p:txBody>
      </p:sp>
    </p:spTree>
    <p:extLst>
      <p:ext uri="{BB962C8B-B14F-4D97-AF65-F5344CB8AC3E}">
        <p14:creationId xmlns:p14="http://schemas.microsoft.com/office/powerpoint/2010/main" val="2656556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37EE8B2-AF56-2BCC-1C2B-9265738FFDB6}"/>
              </a:ext>
            </a:extLst>
          </p:cNvPr>
          <p:cNvSpPr>
            <a:spLocks noGrp="1"/>
          </p:cNvSpPr>
          <p:nvPr>
            <p:ph type="body" idx="1"/>
          </p:nvPr>
        </p:nvSpPr>
        <p:spPr/>
        <p:txBody>
          <a:bodyPr>
            <a:normAutofit fontScale="92500" lnSpcReduction="20000"/>
          </a:bodyPr>
          <a:lstStyle/>
          <a:p>
            <a:r>
              <a:rPr lang="en-CA" dirty="0"/>
              <a:t>The Audio Mixer Inspector displays the configurable components of a group:</a:t>
            </a:r>
          </a:p>
          <a:p>
            <a:pPr lvl="0"/>
            <a:r>
              <a:rPr lang="en-CA" b="1" dirty="0"/>
              <a:t>Pitch</a:t>
            </a:r>
            <a:r>
              <a:rPr lang="en-CA" dirty="0"/>
              <a:t> and </a:t>
            </a:r>
            <a:r>
              <a:rPr lang="en-CA" b="1" dirty="0"/>
              <a:t>Ducking</a:t>
            </a:r>
            <a:r>
              <a:rPr lang="en-CA" dirty="0"/>
              <a:t> settings: Appear at the top of every group.</a:t>
            </a:r>
          </a:p>
          <a:p>
            <a:pPr lvl="0"/>
            <a:r>
              <a:rPr lang="en-CA" b="1" dirty="0"/>
              <a:t>Send</a:t>
            </a:r>
            <a:r>
              <a:rPr lang="en-CA" dirty="0"/>
              <a:t>: An example send effect, positioned before the point where Unity applies attenuation.</a:t>
            </a:r>
          </a:p>
          <a:p>
            <a:pPr lvl="0"/>
            <a:r>
              <a:rPr lang="en-CA" b="1" dirty="0"/>
              <a:t>Attenuation</a:t>
            </a:r>
            <a:r>
              <a:rPr lang="en-CA" dirty="0"/>
              <a:t>: Sets the volume for a group. You can apply attenuation anywhere in the effect stack. The VU meter shows the volume level at that point in the stack, which differs from the VU meters in the Audio Mixer view that show the level of the signal as it leaves the group.</a:t>
            </a:r>
          </a:p>
          <a:p>
            <a:pPr lvl="0"/>
            <a:r>
              <a:rPr lang="en-CA" b="1" dirty="0"/>
              <a:t>SFX Reverb</a:t>
            </a:r>
            <a:r>
              <a:rPr lang="en-CA" dirty="0"/>
              <a:t>: An example effect with parameters, in this case a reverb. To expose a parameter, right-click it, and select the option.</a:t>
            </a:r>
          </a:p>
          <a:p>
            <a:endParaRPr lang="en-US" dirty="0"/>
          </a:p>
        </p:txBody>
      </p:sp>
      <p:sp>
        <p:nvSpPr>
          <p:cNvPr id="6" name="Text Placeholder 5">
            <a:extLst>
              <a:ext uri="{FF2B5EF4-FFF2-40B4-BE49-F238E27FC236}">
                <a16:creationId xmlns:a16="http://schemas.microsoft.com/office/drawing/2014/main" id="{5F3361D2-1FC2-EFFC-50DF-60660078E47F}"/>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07ACE9DE-32E4-1ABF-588C-5444FB05EEE3}"/>
              </a:ext>
            </a:extLst>
          </p:cNvPr>
          <p:cNvSpPr>
            <a:spLocks noGrp="1"/>
          </p:cNvSpPr>
          <p:nvPr>
            <p:ph type="title"/>
          </p:nvPr>
        </p:nvSpPr>
        <p:spPr/>
        <p:txBody>
          <a:bodyPr>
            <a:normAutofit/>
          </a:bodyPr>
          <a:lstStyle/>
          <a:p>
            <a:r>
              <a:rPr lang="en-CA" b="1" dirty="0"/>
              <a:t>Audio Mixer Inspector window</a:t>
            </a:r>
            <a:endParaRPr lang="en-US" dirty="0"/>
          </a:p>
        </p:txBody>
      </p:sp>
      <p:pic>
        <p:nvPicPr>
          <p:cNvPr id="7" name="Picture 6" descr="The Audio Mixer Inspector window displays a list of configurable Audio Mixer components, including Pitch and Ducking settings (1), Send effect (2), Attenuation effect (3), and Reverb effect (4).">
            <a:extLst>
              <a:ext uri="{FF2B5EF4-FFF2-40B4-BE49-F238E27FC236}">
                <a16:creationId xmlns:a16="http://schemas.microsoft.com/office/drawing/2014/main" id="{0AFA2F7C-530F-4BC5-0687-1D1B48374882}"/>
              </a:ext>
            </a:extLst>
          </p:cNvPr>
          <p:cNvPicPr>
            <a:picLocks noChangeAspect="1"/>
          </p:cNvPicPr>
          <p:nvPr/>
        </p:nvPicPr>
        <p:blipFill>
          <a:blip r:embed="rId2"/>
          <a:stretch>
            <a:fillRect/>
          </a:stretch>
        </p:blipFill>
        <p:spPr>
          <a:xfrm>
            <a:off x="6059329" y="1507068"/>
            <a:ext cx="3698864" cy="4669896"/>
          </a:xfrm>
          <a:prstGeom prst="rect">
            <a:avLst/>
          </a:prstGeom>
        </p:spPr>
      </p:pic>
    </p:spTree>
    <p:extLst>
      <p:ext uri="{BB962C8B-B14F-4D97-AF65-F5344CB8AC3E}">
        <p14:creationId xmlns:p14="http://schemas.microsoft.com/office/powerpoint/2010/main" val="4111041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C4554DB-93C9-BBA5-AE13-0593EC7998FA}"/>
              </a:ext>
            </a:extLst>
          </p:cNvPr>
          <p:cNvSpPr>
            <a:spLocks noGrp="1"/>
          </p:cNvSpPr>
          <p:nvPr>
            <p:ph type="body" idx="1"/>
          </p:nvPr>
        </p:nvSpPr>
        <p:spPr/>
        <p:txBody>
          <a:bodyPr/>
          <a:lstStyle/>
          <a:p>
            <a:r>
              <a:rPr lang="en-CA" dirty="0"/>
              <a:t>Audio routing is the process of taking input audio signals and producing one or more output signals. A signal is a continuous stream of digital audio data, which you can break down into digital audio channels, such as stereo or 5.1 (six channels).</a:t>
            </a:r>
          </a:p>
          <a:p>
            <a:r>
              <a:rPr lang="en-CA" dirty="0"/>
              <a:t>You can use the Audio Mixer to perform important audio processing work on these signals. Examples include mixing, applying effects, and attenuation.</a:t>
            </a:r>
          </a:p>
          <a:p>
            <a:r>
              <a:rPr lang="en-CA" dirty="0"/>
              <a:t>With the exception of sends and returns, the Audio Mixer contains groups that accept any number of input signals, mix those signals, and produce exactly one output.</a:t>
            </a:r>
          </a:p>
          <a:p>
            <a:br>
              <a:rPr lang="en-CA" dirty="0"/>
            </a:br>
            <a:endParaRPr lang="en-US" dirty="0"/>
          </a:p>
        </p:txBody>
      </p:sp>
      <p:sp>
        <p:nvSpPr>
          <p:cNvPr id="4" name="Title 3">
            <a:extLst>
              <a:ext uri="{FF2B5EF4-FFF2-40B4-BE49-F238E27FC236}">
                <a16:creationId xmlns:a16="http://schemas.microsoft.com/office/drawing/2014/main" id="{00A929E3-0480-64A5-2920-808C4E870339}"/>
              </a:ext>
            </a:extLst>
          </p:cNvPr>
          <p:cNvSpPr>
            <a:spLocks noGrp="1"/>
          </p:cNvSpPr>
          <p:nvPr>
            <p:ph type="title"/>
          </p:nvPr>
        </p:nvSpPr>
        <p:spPr/>
        <p:txBody>
          <a:bodyPr>
            <a:normAutofit/>
          </a:bodyPr>
          <a:lstStyle/>
          <a:p>
            <a:r>
              <a:rPr lang="en-CA" b="1" dirty="0"/>
              <a:t>Routing and mixing</a:t>
            </a:r>
            <a:endParaRPr lang="en-US" dirty="0"/>
          </a:p>
        </p:txBody>
      </p:sp>
      <p:pic>
        <p:nvPicPr>
          <p:cNvPr id="6" name="Picture 5" descr="The relationship between different audio entities. One Audio Mixer receives input signals from two different Audio Sources. A second Audio Mixer receives input signals from the first Audio Mixer and a third Audio Source. An Audio Listener receives input signals from the second Audio Mixer and a fourth Audio Source.">
            <a:extLst>
              <a:ext uri="{FF2B5EF4-FFF2-40B4-BE49-F238E27FC236}">
                <a16:creationId xmlns:a16="http://schemas.microsoft.com/office/drawing/2014/main" id="{981940A1-7EEC-4BA0-D7C3-421955BE825A}"/>
              </a:ext>
            </a:extLst>
          </p:cNvPr>
          <p:cNvPicPr>
            <a:picLocks noChangeAspect="1"/>
          </p:cNvPicPr>
          <p:nvPr/>
        </p:nvPicPr>
        <p:blipFill>
          <a:blip r:embed="rId2"/>
          <a:stretch>
            <a:fillRect/>
          </a:stretch>
        </p:blipFill>
        <p:spPr>
          <a:xfrm>
            <a:off x="1981200" y="3120586"/>
            <a:ext cx="7772400" cy="3464197"/>
          </a:xfrm>
          <a:prstGeom prst="rect">
            <a:avLst/>
          </a:prstGeom>
        </p:spPr>
      </p:pic>
    </p:spTree>
    <p:extLst>
      <p:ext uri="{BB962C8B-B14F-4D97-AF65-F5344CB8AC3E}">
        <p14:creationId xmlns:p14="http://schemas.microsoft.com/office/powerpoint/2010/main" val="2170693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802FD1-DE05-4D9E-B874-E32DCF8DF141}"/>
              </a:ext>
            </a:extLst>
          </p:cNvPr>
          <p:cNvSpPr>
            <a:spLocks noGrp="1"/>
          </p:cNvSpPr>
          <p:nvPr>
            <p:ph type="body" idx="1"/>
          </p:nvPr>
        </p:nvSpPr>
        <p:spPr/>
        <p:txBody>
          <a:bodyPr/>
          <a:lstStyle/>
          <a:p>
            <a:r>
              <a:rPr lang="en-CA" dirty="0"/>
              <a:t>One Audio Mixer receives input signals from two different Audio Sources. A second Audio Mixer receives input signals from the first Audio Mixer and a third Audio Source. An Audio Listener receives input signals from the second Audio Mixer and a fourth Audio Source.</a:t>
            </a:r>
          </a:p>
          <a:p>
            <a:r>
              <a:rPr lang="en-CA" dirty="0"/>
              <a:t>In audio processing, this routing and mixing usually happens independently of the scene graph hierarchy because audio behaves differently from the objects and concepts shown in the scene. You interact with it differently too.</a:t>
            </a:r>
          </a:p>
          <a:p>
            <a:r>
              <a:rPr lang="en-CA" dirty="0"/>
              <a:t>Without an Audio Mixer, the signal that each Audio Source produces (through audio clips, for example) routes directly to the Audio Listener, where Unity mixes all the audio signals at a single point. This mixing happens independently of the scene graph, regardless of where your Audio Sources are in the scene.</a:t>
            </a:r>
          </a:p>
          <a:p>
            <a:r>
              <a:rPr lang="en-CA" dirty="0"/>
              <a:t>An Audio Mixer sits between the Audio Source and the Audio Listener in the audio signal processing chain. It takes the output signal from the Audio Source and performs the routing and mixing operations you want, until Unity outputs all audio to the Audio Listener and plays it through the speakers.</a:t>
            </a:r>
          </a:p>
          <a:p>
            <a:br>
              <a:rPr lang="en-CA" dirty="0"/>
            </a:br>
            <a:endParaRPr lang="en-US" dirty="0"/>
          </a:p>
        </p:txBody>
      </p:sp>
      <p:sp>
        <p:nvSpPr>
          <p:cNvPr id="3" name="Title 2">
            <a:extLst>
              <a:ext uri="{FF2B5EF4-FFF2-40B4-BE49-F238E27FC236}">
                <a16:creationId xmlns:a16="http://schemas.microsoft.com/office/drawing/2014/main" id="{7CCB30D8-7F59-E631-DD4B-DF5CA85F4EEA}"/>
              </a:ext>
            </a:extLst>
          </p:cNvPr>
          <p:cNvSpPr>
            <a:spLocks noGrp="1"/>
          </p:cNvSpPr>
          <p:nvPr>
            <p:ph type="title"/>
          </p:nvPr>
        </p:nvSpPr>
        <p:spPr/>
        <p:txBody>
          <a:bodyPr/>
          <a:lstStyle/>
          <a:p>
            <a:r>
              <a:rPr lang="en-CA" dirty="0"/>
              <a:t>The relationship between different audio entities</a:t>
            </a:r>
            <a:endParaRPr lang="en-US" dirty="0"/>
          </a:p>
        </p:txBody>
      </p:sp>
    </p:spTree>
    <p:extLst>
      <p:ext uri="{BB962C8B-B14F-4D97-AF65-F5344CB8AC3E}">
        <p14:creationId xmlns:p14="http://schemas.microsoft.com/office/powerpoint/2010/main" val="459669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B86C2A-AA82-1014-EF63-1598553CDB3C}"/>
              </a:ext>
            </a:extLst>
          </p:cNvPr>
          <p:cNvSpPr>
            <a:spLocks noGrp="1"/>
          </p:cNvSpPr>
          <p:nvPr>
            <p:ph type="body" idx="1"/>
          </p:nvPr>
        </p:nvSpPr>
        <p:spPr/>
        <p:txBody>
          <a:bodyPr/>
          <a:lstStyle/>
          <a:p>
            <a:r>
              <a:rPr lang="en-CA" dirty="0"/>
              <a:t>With mixing and routing, you can categorize the audio in your application into the categories you want. </a:t>
            </a:r>
          </a:p>
          <a:p>
            <a:r>
              <a:rPr lang="en-CA" dirty="0"/>
              <a:t>After you mix sound into these categories, you can apply effects and other operations to each category as a whole. </a:t>
            </a:r>
          </a:p>
          <a:p>
            <a:r>
              <a:rPr lang="en-CA" dirty="0"/>
              <a:t>This is powerful for applying logic changes to sound categories. </a:t>
            </a:r>
          </a:p>
          <a:p>
            <a:r>
              <a:rPr lang="en-CA" dirty="0"/>
              <a:t>You also can tweak aspects of the mix to perform what’s known as mastering of the entire soundscape dynamically at runtime.</a:t>
            </a:r>
            <a:endParaRPr lang="en-US" dirty="0"/>
          </a:p>
        </p:txBody>
      </p:sp>
      <p:sp>
        <p:nvSpPr>
          <p:cNvPr id="3" name="Title 2">
            <a:extLst>
              <a:ext uri="{FF2B5EF4-FFF2-40B4-BE49-F238E27FC236}">
                <a16:creationId xmlns:a16="http://schemas.microsoft.com/office/drawing/2014/main" id="{FD193C25-3D60-1DD7-96F4-813D1EB2D521}"/>
              </a:ext>
            </a:extLst>
          </p:cNvPr>
          <p:cNvSpPr>
            <a:spLocks noGrp="1"/>
          </p:cNvSpPr>
          <p:nvPr>
            <p:ph type="title"/>
          </p:nvPr>
        </p:nvSpPr>
        <p:spPr/>
        <p:txBody>
          <a:bodyPr>
            <a:normAutofit/>
          </a:bodyPr>
          <a:lstStyle/>
          <a:p>
            <a:r>
              <a:rPr lang="en-CA" b="1" dirty="0"/>
              <a:t>Benefits of routing and mixing</a:t>
            </a:r>
            <a:endParaRPr lang="en-US" dirty="0"/>
          </a:p>
        </p:txBody>
      </p:sp>
    </p:spTree>
    <p:extLst>
      <p:ext uri="{BB962C8B-B14F-4D97-AF65-F5344CB8AC3E}">
        <p14:creationId xmlns:p14="http://schemas.microsoft.com/office/powerpoint/2010/main" val="4275328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03B869-AA52-327E-12D4-63CEA85B83C8}"/>
              </a:ext>
            </a:extLst>
          </p:cNvPr>
          <p:cNvSpPr>
            <a:spLocks noGrp="1"/>
          </p:cNvSpPr>
          <p:nvPr>
            <p:ph type="body" idx="1"/>
          </p:nvPr>
        </p:nvSpPr>
        <p:spPr/>
        <p:txBody>
          <a:bodyPr/>
          <a:lstStyle/>
          <a:p>
            <a:r>
              <a:rPr lang="en-CA" dirty="0"/>
              <a:t>Some sound concepts relate to the scene graph and the 3D world. </a:t>
            </a:r>
          </a:p>
          <a:p>
            <a:r>
              <a:rPr lang="en-CA" dirty="0"/>
              <a:t>The most obvious examples are attenuation based on 3D distance, relative speed to the Audio Listener, and environmental reverb effects.</a:t>
            </a:r>
          </a:p>
          <a:p>
            <a:r>
              <a:rPr lang="en-CA" dirty="0"/>
              <a:t>Because these operations relate to the scene rather than to the categories of sounds in an Audio Mixer, Unity applies the effects at the Audio Source, before the signal enters an Audio Mixer. </a:t>
            </a:r>
          </a:p>
          <a:p>
            <a:r>
              <a:rPr lang="en-CA" dirty="0"/>
              <a:t>For example, Unity applies the distance-based attenuation for an Audio Source to the signal before the signal leaves the Audio Source and routes into an Audio Mixer.</a:t>
            </a:r>
          </a:p>
          <a:p>
            <a:endParaRPr lang="en-US" dirty="0"/>
          </a:p>
        </p:txBody>
      </p:sp>
      <p:sp>
        <p:nvSpPr>
          <p:cNvPr id="3" name="Title 2">
            <a:extLst>
              <a:ext uri="{FF2B5EF4-FFF2-40B4-BE49-F238E27FC236}">
                <a16:creationId xmlns:a16="http://schemas.microsoft.com/office/drawing/2014/main" id="{FFE65070-1B22-F83B-A2A9-0F53E30FE181}"/>
              </a:ext>
            </a:extLst>
          </p:cNvPr>
          <p:cNvSpPr>
            <a:spLocks noGrp="1"/>
          </p:cNvSpPr>
          <p:nvPr>
            <p:ph type="title"/>
          </p:nvPr>
        </p:nvSpPr>
        <p:spPr/>
        <p:txBody>
          <a:bodyPr>
            <a:normAutofit/>
          </a:bodyPr>
          <a:lstStyle/>
          <a:p>
            <a:r>
              <a:rPr lang="en-CA" b="1" dirty="0"/>
              <a:t>Relationship to 3D spatial attenuation</a:t>
            </a:r>
            <a:endParaRPr lang="en-US" dirty="0"/>
          </a:p>
        </p:txBody>
      </p:sp>
    </p:spTree>
    <p:extLst>
      <p:ext uri="{BB962C8B-B14F-4D97-AF65-F5344CB8AC3E}">
        <p14:creationId xmlns:p14="http://schemas.microsoft.com/office/powerpoint/2010/main" val="3582905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A9C259-E900-FA25-05B9-7E2ADCAF15B3}"/>
              </a:ext>
            </a:extLst>
          </p:cNvPr>
          <p:cNvSpPr>
            <a:spLocks noGrp="1"/>
          </p:cNvSpPr>
          <p:nvPr>
            <p:ph type="body" idx="1"/>
          </p:nvPr>
        </p:nvSpPr>
        <p:spPr/>
        <p:txBody>
          <a:bodyPr/>
          <a:lstStyle/>
          <a:p>
            <a:r>
              <a:rPr lang="en-CA" dirty="0"/>
              <a:t>With an Audio Mixer, you can categorize types of sounds and apply operations to those categories. </a:t>
            </a:r>
          </a:p>
          <a:p>
            <a:r>
              <a:rPr lang="en-CA" dirty="0"/>
              <a:t>This categorization is important. Without it, every sound plays back equally and without any mixing, and the soundscape becomes difficult to distinguish. </a:t>
            </a:r>
          </a:p>
          <a:p>
            <a:r>
              <a:rPr lang="en-CA" dirty="0"/>
              <a:t>With techniques such as ducking (automatically lowering the volume of one category when another plays), categories of sounds can influence each other, which adds richness to the mix.</a:t>
            </a:r>
          </a:p>
          <a:p>
            <a:r>
              <a:rPr lang="en-CA" dirty="0"/>
              <a:t>You might want to perform the following operations on a category:</a:t>
            </a:r>
          </a:p>
          <a:p>
            <a:pPr lvl="1">
              <a:buFont typeface="Wingdings" pitchFamily="2" charset="2"/>
              <a:buChar char="Ø"/>
            </a:pPr>
            <a:r>
              <a:rPr lang="en-CA" dirty="0"/>
              <a:t>Apply attenuation to a group of ambient sounds.</a:t>
            </a:r>
          </a:p>
          <a:p>
            <a:pPr lvl="1">
              <a:buFont typeface="Wingdings" pitchFamily="2" charset="2"/>
              <a:buChar char="Ø"/>
            </a:pPr>
            <a:r>
              <a:rPr lang="en-CA" dirty="0"/>
              <a:t>Trigger a low-pass filter on all the foley sounds in your application to simulate being underwater.</a:t>
            </a:r>
          </a:p>
          <a:p>
            <a:pPr lvl="1">
              <a:buFont typeface="Wingdings" pitchFamily="2" charset="2"/>
              <a:buChar char="Ø"/>
            </a:pPr>
            <a:r>
              <a:rPr lang="en-CA" dirty="0"/>
              <a:t>Attenuate all sounds except the menu music and interaction sounds.</a:t>
            </a:r>
          </a:p>
          <a:p>
            <a:pPr lvl="1">
              <a:buFont typeface="Wingdings" pitchFamily="2" charset="2"/>
              <a:buChar char="Ø"/>
            </a:pPr>
            <a:r>
              <a:rPr lang="en-CA" dirty="0"/>
              <a:t>Reduce the volume of all the gun and explosion sounds so the user can hear a non-player character (NPC) speaking.</a:t>
            </a:r>
          </a:p>
          <a:p>
            <a:pPr marL="609600" lvl="1" indent="0">
              <a:buNone/>
            </a:pPr>
            <a:br>
              <a:rPr lang="en-CA" dirty="0"/>
            </a:br>
            <a:endParaRPr lang="en-US" dirty="0"/>
          </a:p>
        </p:txBody>
      </p:sp>
      <p:sp>
        <p:nvSpPr>
          <p:cNvPr id="3" name="Title 2">
            <a:extLst>
              <a:ext uri="{FF2B5EF4-FFF2-40B4-BE49-F238E27FC236}">
                <a16:creationId xmlns:a16="http://schemas.microsoft.com/office/drawing/2014/main" id="{4F43E749-D4A0-9565-2C40-95BA518789FA}"/>
              </a:ext>
            </a:extLst>
          </p:cNvPr>
          <p:cNvSpPr>
            <a:spLocks noGrp="1"/>
          </p:cNvSpPr>
          <p:nvPr>
            <p:ph type="title"/>
          </p:nvPr>
        </p:nvSpPr>
        <p:spPr/>
        <p:txBody>
          <a:bodyPr>
            <a:normAutofit/>
          </a:bodyPr>
          <a:lstStyle/>
          <a:p>
            <a:r>
              <a:rPr lang="en-CA" b="1" dirty="0"/>
              <a:t>Sound categories</a:t>
            </a:r>
            <a:endParaRPr lang="en-US" dirty="0"/>
          </a:p>
        </p:txBody>
      </p:sp>
    </p:spTree>
    <p:extLst>
      <p:ext uri="{BB962C8B-B14F-4D97-AF65-F5344CB8AC3E}">
        <p14:creationId xmlns:p14="http://schemas.microsoft.com/office/powerpoint/2010/main" val="2985763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F58DEFE-C0C5-115E-0FAC-21E55250EF24}"/>
              </a:ext>
            </a:extLst>
          </p:cNvPr>
          <p:cNvSpPr>
            <a:spLocks noGrp="1"/>
          </p:cNvSpPr>
          <p:nvPr>
            <p:ph type="body" idx="1"/>
          </p:nvPr>
        </p:nvSpPr>
        <p:spPr/>
        <p:txBody>
          <a:bodyPr>
            <a:normAutofit fontScale="92500"/>
          </a:bodyPr>
          <a:lstStyle/>
          <a:p>
            <a:r>
              <a:rPr lang="en-CA" dirty="0"/>
              <a:t>The following is an example of one such categorization:</a:t>
            </a:r>
          </a:p>
          <a:p>
            <a:pPr lvl="0"/>
            <a:r>
              <a:rPr lang="en-CA" dirty="0"/>
              <a:t>All sounds route into the </a:t>
            </a:r>
            <a:r>
              <a:rPr lang="en-CA" b="1" dirty="0"/>
              <a:t>Master</a:t>
            </a:r>
            <a:r>
              <a:rPr lang="en-CA" dirty="0"/>
              <a:t> group.</a:t>
            </a:r>
          </a:p>
          <a:p>
            <a:pPr lvl="0"/>
            <a:r>
              <a:rPr lang="en-CA" dirty="0"/>
              <a:t>The Master group contains categories for music, menu sounds, and all application sounds.</a:t>
            </a:r>
          </a:p>
          <a:p>
            <a:pPr lvl="0"/>
            <a:r>
              <a:rPr lang="en-CA" dirty="0"/>
              <a:t>The application sounds group breaks down into dialogue from NPCs, environmental sounds from ambient sources, and other foley sounds such as gunshots and footsteps.</a:t>
            </a:r>
          </a:p>
          <a:p>
            <a:pPr lvl="0"/>
            <a:r>
              <a:rPr lang="en-CA" dirty="0"/>
              <a:t>These categories break down further as required.</a:t>
            </a:r>
          </a:p>
          <a:p>
            <a:r>
              <a:rPr lang="en-CA" dirty="0"/>
              <a:t>The following image shows the category hierarchy of this layout:</a:t>
            </a:r>
          </a:p>
          <a:p>
            <a:endParaRPr lang="en-US" dirty="0"/>
          </a:p>
        </p:txBody>
      </p:sp>
      <p:sp>
        <p:nvSpPr>
          <p:cNvPr id="5" name="Text Placeholder 4">
            <a:extLst>
              <a:ext uri="{FF2B5EF4-FFF2-40B4-BE49-F238E27FC236}">
                <a16:creationId xmlns:a16="http://schemas.microsoft.com/office/drawing/2014/main" id="{3D6544D9-CF46-0B71-5CA5-7F1B9C229A12}"/>
              </a:ext>
            </a:extLst>
          </p:cNvPr>
          <p:cNvSpPr>
            <a:spLocks noGrp="1"/>
          </p:cNvSpPr>
          <p:nvPr>
            <p:ph type="body" idx="2"/>
          </p:nvPr>
        </p:nvSpPr>
        <p:spPr/>
        <p:txBody>
          <a:bodyPr/>
          <a:lstStyle/>
          <a:p>
            <a:r>
              <a:rPr lang="en-US" dirty="0"/>
              <a:t> </a:t>
            </a:r>
          </a:p>
        </p:txBody>
      </p:sp>
      <p:sp>
        <p:nvSpPr>
          <p:cNvPr id="3" name="Title 2">
            <a:extLst>
              <a:ext uri="{FF2B5EF4-FFF2-40B4-BE49-F238E27FC236}">
                <a16:creationId xmlns:a16="http://schemas.microsoft.com/office/drawing/2014/main" id="{5D068061-61B1-C6F2-62E9-7A42ACCA9B80}"/>
              </a:ext>
            </a:extLst>
          </p:cNvPr>
          <p:cNvSpPr>
            <a:spLocks noGrp="1"/>
          </p:cNvSpPr>
          <p:nvPr>
            <p:ph type="title"/>
          </p:nvPr>
        </p:nvSpPr>
        <p:spPr/>
        <p:txBody>
          <a:bodyPr/>
          <a:lstStyle/>
          <a:p>
            <a:r>
              <a:rPr lang="en-US" dirty="0"/>
              <a:t>Example</a:t>
            </a:r>
          </a:p>
        </p:txBody>
      </p:sp>
      <p:pic>
        <p:nvPicPr>
          <p:cNvPr id="6" name="Picture 5" descr="The group hierarchy panel displays the configurable hierarchy of groups within an Audio Mixer.">
            <a:extLst>
              <a:ext uri="{FF2B5EF4-FFF2-40B4-BE49-F238E27FC236}">
                <a16:creationId xmlns:a16="http://schemas.microsoft.com/office/drawing/2014/main" id="{5EA67263-F38F-2016-11CF-03248012E125}"/>
              </a:ext>
            </a:extLst>
          </p:cNvPr>
          <p:cNvPicPr>
            <a:picLocks noChangeAspect="1"/>
          </p:cNvPicPr>
          <p:nvPr/>
        </p:nvPicPr>
        <p:blipFill>
          <a:blip r:embed="rId2"/>
          <a:stretch>
            <a:fillRect/>
          </a:stretch>
        </p:blipFill>
        <p:spPr>
          <a:xfrm>
            <a:off x="6096000" y="1507068"/>
            <a:ext cx="2527300" cy="4406900"/>
          </a:xfrm>
          <a:prstGeom prst="rect">
            <a:avLst/>
          </a:prstGeom>
        </p:spPr>
      </p:pic>
    </p:spTree>
    <p:extLst>
      <p:ext uri="{BB962C8B-B14F-4D97-AF65-F5344CB8AC3E}">
        <p14:creationId xmlns:p14="http://schemas.microsoft.com/office/powerpoint/2010/main" val="2421752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4049B35-35AB-76C4-DD01-EEFA3AEAA26D}"/>
              </a:ext>
            </a:extLst>
          </p:cNvPr>
          <p:cNvSpPr>
            <a:spLocks noGrp="1"/>
          </p:cNvSpPr>
          <p:nvPr>
            <p:ph type="body" idx="1"/>
          </p:nvPr>
        </p:nvSpPr>
        <p:spPr/>
        <p:txBody>
          <a:bodyPr/>
          <a:lstStyle/>
          <a:p>
            <a:r>
              <a:rPr lang="en-CA" dirty="0"/>
              <a:t>You can also use mixing and routing to create the immersion you want. </a:t>
            </a:r>
          </a:p>
          <a:p>
            <a:r>
              <a:rPr lang="en-CA" dirty="0"/>
              <a:t>For example, you can apply reverb to all the application sounds and attenuate the music to create the feeling of being in a cave.</a:t>
            </a:r>
          </a:p>
          <a:p>
            <a:r>
              <a:rPr lang="en-CA" dirty="0"/>
              <a:t>You can use the Audio Mixer to create moods in your application. </a:t>
            </a:r>
          </a:p>
          <a:p>
            <a:r>
              <a:rPr lang="en-CA" dirty="0"/>
              <a:t>With techniques such as snapshots and multiple mixers, your application can transition its mood and evoke the feelings you want the user to experience, which strengthens immersion.</a:t>
            </a:r>
          </a:p>
          <a:p>
            <a:endParaRPr lang="en-US" dirty="0"/>
          </a:p>
        </p:txBody>
      </p:sp>
      <p:sp>
        <p:nvSpPr>
          <p:cNvPr id="4" name="Title 3">
            <a:extLst>
              <a:ext uri="{FF2B5EF4-FFF2-40B4-BE49-F238E27FC236}">
                <a16:creationId xmlns:a16="http://schemas.microsoft.com/office/drawing/2014/main" id="{9CA7C269-AA4F-D53D-D613-BC9636B7F386}"/>
              </a:ext>
            </a:extLst>
          </p:cNvPr>
          <p:cNvSpPr>
            <a:spLocks noGrp="1"/>
          </p:cNvSpPr>
          <p:nvPr>
            <p:ph type="title"/>
          </p:nvPr>
        </p:nvSpPr>
        <p:spPr/>
        <p:txBody>
          <a:bodyPr>
            <a:normAutofit/>
          </a:bodyPr>
          <a:lstStyle/>
          <a:p>
            <a:r>
              <a:rPr lang="en-CA" b="1" dirty="0"/>
              <a:t>Moods and themes of the mix</a:t>
            </a:r>
            <a:endParaRPr lang="en-US" dirty="0"/>
          </a:p>
        </p:txBody>
      </p:sp>
    </p:spTree>
    <p:extLst>
      <p:ext uri="{BB962C8B-B14F-4D97-AF65-F5344CB8AC3E}">
        <p14:creationId xmlns:p14="http://schemas.microsoft.com/office/powerpoint/2010/main" val="2891026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674E81-051C-9EED-8BF5-0EE9BE20485F}"/>
              </a:ext>
            </a:extLst>
          </p:cNvPr>
          <p:cNvSpPr>
            <a:spLocks noGrp="1"/>
          </p:cNvSpPr>
          <p:nvPr>
            <p:ph type="body" idx="1"/>
          </p:nvPr>
        </p:nvSpPr>
        <p:spPr/>
        <p:txBody>
          <a:bodyPr/>
          <a:lstStyle/>
          <a:p>
            <a:r>
              <a:rPr lang="en-CA" dirty="0"/>
              <a:t>The Audio Mixer controls the overall mix of all the sounds in your application. </a:t>
            </a:r>
          </a:p>
          <a:p>
            <a:r>
              <a:rPr lang="en-CA" dirty="0"/>
              <a:t>An Audio Mixer controls the global mix. </a:t>
            </a:r>
          </a:p>
          <a:p>
            <a:r>
              <a:rPr lang="en-CA" dirty="0"/>
              <a:t>It’s the static, persistent mix that sound instances route through.</a:t>
            </a:r>
          </a:p>
          <a:p>
            <a:r>
              <a:rPr lang="en-CA" dirty="0"/>
              <a:t>In other words, an Audio Mixer is always present throughout the lifetime of a scene. </a:t>
            </a:r>
          </a:p>
          <a:p>
            <a:r>
              <a:rPr lang="en-CA" dirty="0"/>
              <a:t>Unity creates and destroys sound instances as your application runs, and those instances play through these global Audio Mixers.</a:t>
            </a:r>
          </a:p>
          <a:p>
            <a:endParaRPr lang="en-US" dirty="0"/>
          </a:p>
        </p:txBody>
      </p:sp>
      <p:sp>
        <p:nvSpPr>
          <p:cNvPr id="3" name="Title 2">
            <a:extLst>
              <a:ext uri="{FF2B5EF4-FFF2-40B4-BE49-F238E27FC236}">
                <a16:creationId xmlns:a16="http://schemas.microsoft.com/office/drawing/2014/main" id="{C30756CE-76B6-19FE-CBC6-6124439761BE}"/>
              </a:ext>
            </a:extLst>
          </p:cNvPr>
          <p:cNvSpPr>
            <a:spLocks noGrp="1"/>
          </p:cNvSpPr>
          <p:nvPr>
            <p:ph type="title"/>
          </p:nvPr>
        </p:nvSpPr>
        <p:spPr/>
        <p:txBody>
          <a:bodyPr>
            <a:normAutofit/>
          </a:bodyPr>
          <a:lstStyle/>
          <a:p>
            <a:r>
              <a:rPr lang="en-CA" b="1" dirty="0"/>
              <a:t>The global mix</a:t>
            </a:r>
            <a:endParaRPr lang="en-US" dirty="0"/>
          </a:p>
        </p:txBody>
      </p:sp>
    </p:spTree>
    <p:extLst>
      <p:ext uri="{BB962C8B-B14F-4D97-AF65-F5344CB8AC3E}">
        <p14:creationId xmlns:p14="http://schemas.microsoft.com/office/powerpoint/2010/main" val="6973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D5DABE-2491-58D7-42EC-6ADA3C6EA3AB}"/>
              </a:ext>
            </a:extLst>
          </p:cNvPr>
          <p:cNvSpPr>
            <a:spLocks noGrp="1"/>
          </p:cNvSpPr>
          <p:nvPr>
            <p:ph type="body" idx="1"/>
          </p:nvPr>
        </p:nvSpPr>
        <p:spPr/>
        <p:txBody>
          <a:bodyPr/>
          <a:lstStyle/>
          <a:p>
            <a:r>
              <a:rPr lang="en-CA" dirty="0"/>
              <a:t>Snapshots capture the state of an Audio Mixer and transition between those states as your application runs. Use snapshots to define moods or themes for the mix and change those moods as the user progresses through your application.</a:t>
            </a:r>
          </a:p>
          <a:p>
            <a:r>
              <a:rPr lang="en-CA" dirty="0"/>
              <a:t>Snapshots capture the values of all the parameters in the Audio Mixer:</a:t>
            </a:r>
          </a:p>
          <a:p>
            <a:pPr lvl="1">
              <a:buSzPct val="100000"/>
              <a:buFont typeface="Wingdings" pitchFamily="2" charset="2"/>
              <a:buChar char="Ø"/>
            </a:pPr>
            <a:r>
              <a:rPr lang="en-CA" sz="1400" dirty="0"/>
              <a:t>Volume</a:t>
            </a:r>
          </a:p>
          <a:p>
            <a:pPr lvl="1">
              <a:buSzPct val="100000"/>
              <a:buFont typeface="Wingdings" pitchFamily="2" charset="2"/>
              <a:buChar char="Ø"/>
            </a:pPr>
            <a:r>
              <a:rPr lang="en-CA" sz="1400" dirty="0"/>
              <a:t>Pitch</a:t>
            </a:r>
          </a:p>
          <a:p>
            <a:pPr lvl="1">
              <a:buSzPct val="100000"/>
              <a:buFont typeface="Wingdings" pitchFamily="2" charset="2"/>
              <a:buChar char="Ø"/>
            </a:pPr>
            <a:r>
              <a:rPr lang="en-CA" sz="1400" dirty="0"/>
              <a:t>Send level</a:t>
            </a:r>
          </a:p>
          <a:p>
            <a:pPr lvl="1">
              <a:buSzPct val="100000"/>
              <a:buFont typeface="Wingdings" pitchFamily="2" charset="2"/>
              <a:buChar char="Ø"/>
            </a:pPr>
            <a:r>
              <a:rPr lang="en-CA" sz="1400" dirty="0"/>
              <a:t>Wet mix level</a:t>
            </a:r>
          </a:p>
          <a:p>
            <a:pPr lvl="1">
              <a:buSzPct val="100000"/>
              <a:buFont typeface="Wingdings" pitchFamily="2" charset="2"/>
              <a:buChar char="Ø"/>
            </a:pPr>
            <a:r>
              <a:rPr lang="en-CA" sz="1400" dirty="0"/>
              <a:t>Effect parameters</a:t>
            </a:r>
          </a:p>
          <a:p>
            <a:r>
              <a:rPr lang="en-CA" dirty="0"/>
              <a:t>Combine snapshots with application logic to change many aspects of the soundscape.</a:t>
            </a:r>
          </a:p>
          <a:p>
            <a:endParaRPr lang="en-US" dirty="0"/>
          </a:p>
        </p:txBody>
      </p:sp>
      <p:sp>
        <p:nvSpPr>
          <p:cNvPr id="3" name="Title 2">
            <a:extLst>
              <a:ext uri="{FF2B5EF4-FFF2-40B4-BE49-F238E27FC236}">
                <a16:creationId xmlns:a16="http://schemas.microsoft.com/office/drawing/2014/main" id="{BF417C3C-CEDE-CF6B-E082-75803E1B7B2C}"/>
              </a:ext>
            </a:extLst>
          </p:cNvPr>
          <p:cNvSpPr>
            <a:spLocks noGrp="1"/>
          </p:cNvSpPr>
          <p:nvPr>
            <p:ph type="title"/>
          </p:nvPr>
        </p:nvSpPr>
        <p:spPr/>
        <p:txBody>
          <a:bodyPr>
            <a:normAutofit/>
          </a:bodyPr>
          <a:lstStyle/>
          <a:p>
            <a:r>
              <a:rPr lang="en-CA" b="1" dirty="0"/>
              <a:t>Snapshots</a:t>
            </a:r>
            <a:endParaRPr lang="en-US" dirty="0"/>
          </a:p>
        </p:txBody>
      </p:sp>
    </p:spTree>
    <p:extLst>
      <p:ext uri="{BB962C8B-B14F-4D97-AF65-F5344CB8AC3E}">
        <p14:creationId xmlns:p14="http://schemas.microsoft.com/office/powerpoint/2010/main" val="1299594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9D957C-D720-7FFD-6607-F61F5C610495}"/>
              </a:ext>
            </a:extLst>
          </p:cNvPr>
          <p:cNvSpPr>
            <a:spLocks noGrp="1"/>
          </p:cNvSpPr>
          <p:nvPr>
            <p:ph type="body" idx="1"/>
          </p:nvPr>
        </p:nvSpPr>
        <p:spPr>
          <a:xfrm>
            <a:off x="604434" y="1507068"/>
            <a:ext cx="4751337" cy="4669896"/>
          </a:xfrm>
        </p:spPr>
        <p:txBody>
          <a:bodyPr>
            <a:normAutofit fontScale="92500" lnSpcReduction="10000"/>
          </a:bodyPr>
          <a:lstStyle/>
          <a:p>
            <a:r>
              <a:rPr lang="en-CA" dirty="0"/>
              <a:t>The window displays the Audio Mixer which is basically a tree of Audio Mixer Groups. </a:t>
            </a:r>
          </a:p>
          <a:p>
            <a:r>
              <a:rPr lang="en-CA" dirty="0"/>
              <a:t>An Audio Mixer group (bus) is a mix of audio signals processed through a signal chain which allows you to control volume attenuation and pitch correction. </a:t>
            </a:r>
          </a:p>
          <a:p>
            <a:r>
              <a:rPr lang="en-CA" dirty="0"/>
              <a:t>It allows you to insert effects that process the audio signal and change the parameters of the effects. </a:t>
            </a:r>
          </a:p>
          <a:p>
            <a:r>
              <a:rPr lang="en-CA" dirty="0"/>
              <a:t>There’s also a send and return mechanism to pass the results from one bus to another.</a:t>
            </a:r>
          </a:p>
          <a:p>
            <a:r>
              <a:rPr lang="en-CA" dirty="0"/>
              <a:t>An Audio Mixer is an asset. You can create one or more Audio Mixers and have more than one active at any time. An Audio Mixer always contains a master group. Other groups can then be added to define the structure of the mixer.</a:t>
            </a:r>
          </a:p>
          <a:p>
            <a:r>
              <a:rPr lang="en-CA" b="1" dirty="0"/>
              <a:t>Note:</a:t>
            </a:r>
            <a:r>
              <a:rPr lang="en-CA" dirty="0"/>
              <a:t> The Web platform only partially supports Audio Mixers. For more information on how audio is used in the Web platform, refer to </a:t>
            </a:r>
            <a:r>
              <a:rPr lang="en-CA" u="sng" dirty="0">
                <a:hlinkClick r:id="rId2"/>
              </a:rPr>
              <a:t>Audio in Web</a:t>
            </a:r>
            <a:r>
              <a:rPr lang="en-CA" dirty="0"/>
              <a:t>.</a:t>
            </a:r>
          </a:p>
          <a:p>
            <a:endParaRPr lang="en-US" dirty="0"/>
          </a:p>
        </p:txBody>
      </p:sp>
      <p:pic>
        <p:nvPicPr>
          <p:cNvPr id="7" name="Picture 6" descr="The Audio Mixer">
            <a:extLst>
              <a:ext uri="{FF2B5EF4-FFF2-40B4-BE49-F238E27FC236}">
                <a16:creationId xmlns:a16="http://schemas.microsoft.com/office/drawing/2014/main" id="{E36B6425-4166-305E-74ED-11BA34775372}"/>
              </a:ext>
            </a:extLst>
          </p:cNvPr>
          <p:cNvPicPr>
            <a:picLocks noChangeAspect="1"/>
          </p:cNvPicPr>
          <p:nvPr/>
        </p:nvPicPr>
        <p:blipFill>
          <a:blip r:embed="rId3"/>
          <a:stretch>
            <a:fillRect/>
          </a:stretch>
        </p:blipFill>
        <p:spPr>
          <a:xfrm>
            <a:off x="5496397" y="1507068"/>
            <a:ext cx="6091169" cy="4669896"/>
          </a:xfrm>
          <a:prstGeom prst="rect">
            <a:avLst/>
          </a:prstGeom>
        </p:spPr>
      </p:pic>
      <p:sp>
        <p:nvSpPr>
          <p:cNvPr id="6" name="Text Placeholder 5">
            <a:extLst>
              <a:ext uri="{FF2B5EF4-FFF2-40B4-BE49-F238E27FC236}">
                <a16:creationId xmlns:a16="http://schemas.microsoft.com/office/drawing/2014/main" id="{1024DA09-AFC1-C0AA-25C3-906AF7D7F89C}"/>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12CE87A8-4F65-1BEA-9A1D-D90FADDC7085}"/>
              </a:ext>
            </a:extLst>
          </p:cNvPr>
          <p:cNvSpPr>
            <a:spLocks noGrp="1"/>
          </p:cNvSpPr>
          <p:nvPr>
            <p:ph type="title"/>
          </p:nvPr>
        </p:nvSpPr>
        <p:spPr/>
        <p:txBody>
          <a:bodyPr>
            <a:normAutofit/>
          </a:bodyPr>
          <a:lstStyle/>
          <a:p>
            <a:r>
              <a:rPr lang="en-CA" b="1" dirty="0"/>
              <a:t>Audio Mixer window</a:t>
            </a:r>
            <a:endParaRPr lang="en-US" dirty="0"/>
          </a:p>
        </p:txBody>
      </p:sp>
    </p:spTree>
    <p:extLst>
      <p:ext uri="{BB962C8B-B14F-4D97-AF65-F5344CB8AC3E}">
        <p14:creationId xmlns:p14="http://schemas.microsoft.com/office/powerpoint/2010/main" val="3500112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B3CCE4E-D889-42D7-656E-84643E0FD605}"/>
              </a:ext>
            </a:extLst>
          </p:cNvPr>
          <p:cNvSpPr>
            <a:spLocks noGrp="1"/>
          </p:cNvSpPr>
          <p:nvPr>
            <p:ph type="body" idx="1"/>
          </p:nvPr>
        </p:nvSpPr>
        <p:spPr/>
        <p:txBody>
          <a:bodyPr/>
          <a:lstStyle/>
          <a:p>
            <a:r>
              <a:rPr lang="en-CA" dirty="0"/>
              <a:t>You route the output of an </a:t>
            </a:r>
            <a:r>
              <a:rPr lang="en-CA" u="sng" dirty="0">
                <a:hlinkClick r:id="rId2"/>
              </a:rPr>
              <a:t>Audio Source</a:t>
            </a:r>
            <a:r>
              <a:rPr lang="en-CA" u="sng" dirty="0"/>
              <a:t> </a:t>
            </a:r>
            <a:r>
              <a:rPr lang="en-CA" dirty="0"/>
              <a:t>to a group within an Audio Mixer. </a:t>
            </a:r>
          </a:p>
          <a:p>
            <a:r>
              <a:rPr lang="en-CA" dirty="0"/>
              <a:t>The effects will then be applied to that signal.</a:t>
            </a:r>
          </a:p>
          <a:p>
            <a:r>
              <a:rPr lang="en-CA" dirty="0"/>
              <a:t>The output of an Audio Mixer can be routed into any other group in any other Audio Mixer in a scene enabling you to chain up a number of Audio Mixers in a scene to produce complex routing, effect processing and snapshot applying.</a:t>
            </a:r>
          </a:p>
          <a:p>
            <a:r>
              <a:rPr lang="en-CA" b="1" dirty="0"/>
              <a:t>Snapshots</a:t>
            </a:r>
          </a:p>
          <a:p>
            <a:r>
              <a:rPr lang="en-CA" dirty="0"/>
              <a:t>You can capture the settings of all the parameters in a group as a snapshot. If you create a list of snapshots you can then transition between them in gameplay to create different moods or themes.</a:t>
            </a:r>
          </a:p>
          <a:p>
            <a:r>
              <a:rPr lang="en-CA" b="1" dirty="0"/>
              <a:t>Ducking</a:t>
            </a:r>
          </a:p>
          <a:p>
            <a:r>
              <a:rPr lang="en-CA" dirty="0"/>
              <a:t>Ducking allows you to alter the effect of one group based on what is happening in another group. An example might be to reduce the background ambient noise while something else is happening.</a:t>
            </a:r>
          </a:p>
          <a:p>
            <a:r>
              <a:rPr lang="en-CA" b="1" dirty="0"/>
              <a:t>Views</a:t>
            </a:r>
          </a:p>
          <a:p>
            <a:r>
              <a:rPr lang="en-CA" dirty="0"/>
              <a:t>The Views section allows you to enable and disable the visibility of certain groups within a mixer and set them as a view.</a:t>
            </a:r>
          </a:p>
          <a:p>
            <a:r>
              <a:rPr lang="en-CA" dirty="0"/>
              <a:t>All groups are visible by default, but you can set up a view to only show the groups you want to edit at specific times. This can be useful to reduce clutter.</a:t>
            </a:r>
          </a:p>
          <a:p>
            <a:endParaRPr lang="en-US" dirty="0"/>
          </a:p>
        </p:txBody>
      </p:sp>
      <p:sp>
        <p:nvSpPr>
          <p:cNvPr id="5" name="Title 4">
            <a:extLst>
              <a:ext uri="{FF2B5EF4-FFF2-40B4-BE49-F238E27FC236}">
                <a16:creationId xmlns:a16="http://schemas.microsoft.com/office/drawing/2014/main" id="{A497C9E4-15BB-EA1F-275A-E11E15B60292}"/>
              </a:ext>
            </a:extLst>
          </p:cNvPr>
          <p:cNvSpPr>
            <a:spLocks noGrp="1"/>
          </p:cNvSpPr>
          <p:nvPr>
            <p:ph type="title"/>
          </p:nvPr>
        </p:nvSpPr>
        <p:spPr/>
        <p:txBody>
          <a:bodyPr>
            <a:normAutofit/>
          </a:bodyPr>
          <a:lstStyle/>
          <a:p>
            <a:r>
              <a:rPr lang="en-CA" b="1" dirty="0"/>
              <a:t>How it works?</a:t>
            </a:r>
            <a:endParaRPr lang="en-US" dirty="0"/>
          </a:p>
        </p:txBody>
      </p:sp>
    </p:spTree>
    <p:extLst>
      <p:ext uri="{BB962C8B-B14F-4D97-AF65-F5344CB8AC3E}">
        <p14:creationId xmlns:p14="http://schemas.microsoft.com/office/powerpoint/2010/main" val="4115395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7D4734B-8D39-3E49-0247-FD6C9580684F}"/>
              </a:ext>
            </a:extLst>
          </p:cNvPr>
          <p:cNvSpPr>
            <a:spLocks noGrp="1"/>
          </p:cNvSpPr>
          <p:nvPr>
            <p:ph type="body" idx="1"/>
          </p:nvPr>
        </p:nvSpPr>
        <p:spPr/>
        <p:txBody>
          <a:bodyPr>
            <a:normAutofit fontScale="92500" lnSpcReduction="20000"/>
          </a:bodyPr>
          <a:lstStyle/>
          <a:p>
            <a:r>
              <a:rPr lang="en-CA" dirty="0"/>
              <a:t>The Unity native audio plug-in SDK lets you develop custom audio plug-ins for Unity. You can use this SDK to extend the audio capabilities of Unity and create advanced audio processing solutions tailored to your project’s needs. Examples of custom audio plug-ins you can create include audio effects and audio </a:t>
            </a:r>
            <a:r>
              <a:rPr lang="en-CA" dirty="0" err="1"/>
              <a:t>spatializers</a:t>
            </a:r>
            <a:r>
              <a:rPr lang="en-CA" dirty="0"/>
              <a:t>.</a:t>
            </a:r>
          </a:p>
          <a:p>
            <a:r>
              <a:rPr lang="en-CA" dirty="0"/>
              <a:t>The native audio plug-in system consists of two parts:</a:t>
            </a:r>
          </a:p>
          <a:p>
            <a:pPr lvl="0"/>
            <a:r>
              <a:rPr lang="en-CA" dirty="0"/>
              <a:t>The native audio Digital Signal Processing (DSP) plug-in</a:t>
            </a:r>
          </a:p>
          <a:p>
            <a:pPr lvl="0"/>
            <a:r>
              <a:rPr lang="en-CA" dirty="0"/>
              <a:t>The managed graphical user interface (GUI)</a:t>
            </a:r>
          </a:p>
          <a:p>
            <a:br>
              <a:rPr lang="en-CA" dirty="0"/>
            </a:br>
            <a:endParaRPr lang="en-US" dirty="0"/>
          </a:p>
        </p:txBody>
      </p:sp>
      <p:sp>
        <p:nvSpPr>
          <p:cNvPr id="6" name="Text Placeholder 5">
            <a:extLst>
              <a:ext uri="{FF2B5EF4-FFF2-40B4-BE49-F238E27FC236}">
                <a16:creationId xmlns:a16="http://schemas.microsoft.com/office/drawing/2014/main" id="{0DD4C7CD-3D90-240E-2071-2297BC3212F5}"/>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93B1414D-E7A8-85B0-42AA-34265F1138A1}"/>
              </a:ext>
            </a:extLst>
          </p:cNvPr>
          <p:cNvSpPr>
            <a:spLocks noGrp="1"/>
          </p:cNvSpPr>
          <p:nvPr>
            <p:ph type="title"/>
          </p:nvPr>
        </p:nvSpPr>
        <p:spPr/>
        <p:txBody>
          <a:bodyPr>
            <a:normAutofit/>
          </a:bodyPr>
          <a:lstStyle/>
          <a:p>
            <a:r>
              <a:rPr lang="en-CA" b="1" dirty="0"/>
              <a:t>Native audio plug-in SDK</a:t>
            </a:r>
            <a:endParaRPr lang="en-US" dirty="0"/>
          </a:p>
        </p:txBody>
      </p:sp>
      <p:graphicFrame>
        <p:nvGraphicFramePr>
          <p:cNvPr id="7" name="Table 6">
            <a:extLst>
              <a:ext uri="{FF2B5EF4-FFF2-40B4-BE49-F238E27FC236}">
                <a16:creationId xmlns:a16="http://schemas.microsoft.com/office/drawing/2014/main" id="{BE353685-BCB8-951C-8231-7907F1A61A4A}"/>
              </a:ext>
            </a:extLst>
          </p:cNvPr>
          <p:cNvGraphicFramePr>
            <a:graphicFrameLocks noGrp="1"/>
          </p:cNvGraphicFramePr>
          <p:nvPr>
            <p:extLst>
              <p:ext uri="{D42A27DB-BD31-4B8C-83A1-F6EECF244321}">
                <p14:modId xmlns:p14="http://schemas.microsoft.com/office/powerpoint/2010/main" val="1326348851"/>
              </p:ext>
            </p:extLst>
          </p:nvPr>
        </p:nvGraphicFramePr>
        <p:xfrm>
          <a:off x="4636460" y="1858321"/>
          <a:ext cx="6662058" cy="3878449"/>
        </p:xfrm>
        <a:graphic>
          <a:graphicData uri="http://schemas.openxmlformats.org/drawingml/2006/table">
            <a:tbl>
              <a:tblPr>
                <a:tableStyleId>{5C22544A-7EE6-4342-B048-85BDC9FD1C3A}</a:tableStyleId>
              </a:tblPr>
              <a:tblGrid>
                <a:gridCol w="3331029">
                  <a:extLst>
                    <a:ext uri="{9D8B030D-6E8A-4147-A177-3AD203B41FA5}">
                      <a16:colId xmlns:a16="http://schemas.microsoft.com/office/drawing/2014/main" val="690830321"/>
                    </a:ext>
                  </a:extLst>
                </a:gridCol>
                <a:gridCol w="3331029">
                  <a:extLst>
                    <a:ext uri="{9D8B030D-6E8A-4147-A177-3AD203B41FA5}">
                      <a16:colId xmlns:a16="http://schemas.microsoft.com/office/drawing/2014/main" val="790556008"/>
                    </a:ext>
                  </a:extLst>
                </a:gridCol>
              </a:tblGrid>
              <a:tr h="389600">
                <a:tc>
                  <a:txBody>
                    <a:bodyPr/>
                    <a:lstStyle/>
                    <a:p>
                      <a:pPr marL="0" marR="0" algn="l">
                        <a:spcAft>
                          <a:spcPts val="1500"/>
                        </a:spcAft>
                        <a:buNone/>
                      </a:pPr>
                      <a:r>
                        <a:rPr lang="en-CA" sz="1200">
                          <a:effectLst/>
                        </a:rPr>
                        <a:t>Topic</a:t>
                      </a:r>
                      <a:endParaRPr lang="en-CA" sz="1200" b="0" i="0">
                        <a:solidFill>
                          <a:srgbClr val="455463"/>
                        </a:solidFill>
                        <a:effectLst/>
                        <a:latin typeface="Roboto" panose="02000000000000000000" pitchFamily="2" charset="0"/>
                      </a:endParaRPr>
                    </a:p>
                  </a:txBody>
                  <a:tcPr marL="94565" marR="94565" marT="47282" marB="47282"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94565" marR="94565" marT="47282" marB="47282" anchor="ctr"/>
                </a:tc>
                <a:extLst>
                  <a:ext uri="{0D108BD9-81ED-4DB2-BD59-A6C34878D82A}">
                    <a16:rowId xmlns:a16="http://schemas.microsoft.com/office/drawing/2014/main" val="335599961"/>
                  </a:ext>
                </a:extLst>
              </a:tr>
              <a:tr h="646408">
                <a:tc>
                  <a:txBody>
                    <a:bodyPr/>
                    <a:lstStyle/>
                    <a:p>
                      <a:pPr marL="0" marR="0" algn="l" fontAlgn="t">
                        <a:spcAft>
                          <a:spcPts val="1500"/>
                        </a:spcAft>
                        <a:buNone/>
                      </a:pPr>
                      <a:r>
                        <a:rPr lang="en-CA" sz="1200" u="sng">
                          <a:effectLst/>
                          <a:hlinkClick r:id="rId2"/>
                        </a:rPr>
                        <a:t>Develop a native audio DSP plug-in for Unity</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Learn how to create your own native DSP plug-in.</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1568261690"/>
                  </a:ext>
                </a:extLst>
              </a:tr>
              <a:tr h="646408">
                <a:tc>
                  <a:txBody>
                    <a:bodyPr/>
                    <a:lstStyle/>
                    <a:p>
                      <a:pPr marL="0" marR="0" algn="l" fontAlgn="t">
                        <a:spcAft>
                          <a:spcPts val="1500"/>
                        </a:spcAft>
                        <a:buNone/>
                      </a:pPr>
                      <a:r>
                        <a:rPr lang="en-CA" sz="1200" u="sng">
                          <a:effectLst/>
                          <a:hlinkClick r:id="rId3"/>
                        </a:rPr>
                        <a:t>Customize the Unity GUI for your audio plug-in</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Learn how to customize the GUI of your audio plug-in.</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1071915078"/>
                  </a:ext>
                </a:extLst>
              </a:tr>
              <a:tr h="646408">
                <a:tc>
                  <a:txBody>
                    <a:bodyPr/>
                    <a:lstStyle/>
                    <a:p>
                      <a:pPr marL="0" marR="0" algn="l" fontAlgn="t">
                        <a:spcAft>
                          <a:spcPts val="1500"/>
                        </a:spcAft>
                        <a:buNone/>
                      </a:pPr>
                      <a:r>
                        <a:rPr lang="en-CA" sz="1200" u="sng">
                          <a:effectLst/>
                          <a:hlinkClick r:id="rId4"/>
                        </a:rPr>
                        <a:t>Import your audio plug-in and GUI to Unity</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Learn how to prepare your plug-in and GUI for Unity and import them.</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810238435"/>
                  </a:ext>
                </a:extLst>
              </a:tr>
              <a:tr h="646408">
                <a:tc>
                  <a:txBody>
                    <a:bodyPr/>
                    <a:lstStyle/>
                    <a:p>
                      <a:pPr marL="0" marR="0" algn="l" fontAlgn="t">
                        <a:spcAft>
                          <a:spcPts val="1500"/>
                        </a:spcAft>
                        <a:buNone/>
                      </a:pPr>
                      <a:r>
                        <a:rPr lang="en-CA" sz="1200" u="sng">
                          <a:effectLst/>
                          <a:hlinkClick r:id="rId5"/>
                        </a:rPr>
                        <a:t>Example plug-ins</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Example DSP plug-ins with and without GUI customization.</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288278005"/>
                  </a:ext>
                </a:extLst>
              </a:tr>
              <a:tr h="903217">
                <a:tc>
                  <a:txBody>
                    <a:bodyPr/>
                    <a:lstStyle/>
                    <a:p>
                      <a:pPr marL="0" marR="0" algn="l" fontAlgn="t">
                        <a:spcAft>
                          <a:spcPts val="1500"/>
                        </a:spcAft>
                        <a:buNone/>
                      </a:pPr>
                      <a:r>
                        <a:rPr lang="en-CA" sz="1200" u="sng">
                          <a:effectLst/>
                          <a:hlinkClick r:id="rId6"/>
                        </a:rPr>
                        <a:t>Audio Spatializer SDK</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dirty="0">
                          <a:effectLst/>
                        </a:rPr>
                        <a:t>Change the way your application transmits audio from an audio source into the surrounding space.</a:t>
                      </a:r>
                      <a:endParaRPr lang="en-CA" sz="1200" b="0" i="0" dirty="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459455722"/>
                  </a:ext>
                </a:extLst>
              </a:tr>
            </a:tbl>
          </a:graphicData>
        </a:graphic>
      </p:graphicFrame>
    </p:spTree>
    <p:extLst>
      <p:ext uri="{BB962C8B-B14F-4D97-AF65-F5344CB8AC3E}">
        <p14:creationId xmlns:p14="http://schemas.microsoft.com/office/powerpoint/2010/main" val="2581141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45AFF1-ED20-328A-C627-497CEC9B2942}"/>
              </a:ext>
            </a:extLst>
          </p:cNvPr>
          <p:cNvSpPr>
            <a:spLocks noGrp="1"/>
          </p:cNvSpPr>
          <p:nvPr>
            <p:ph type="body" idx="1"/>
          </p:nvPr>
        </p:nvSpPr>
        <p:spPr/>
        <p:txBody>
          <a:bodyPr/>
          <a:lstStyle/>
          <a:p>
            <a:r>
              <a:rPr lang="en-CA" dirty="0"/>
              <a:t>Use an Audio Random Container asset to set up a playlist that you can play back in different ways. </a:t>
            </a:r>
          </a:p>
          <a:p>
            <a:r>
              <a:rPr lang="en-CA" dirty="0"/>
              <a:t>You can use it for most sound effect use cases, such as footsteps, impacts, weapons, and props.</a:t>
            </a:r>
            <a:endParaRPr lang="en-US" dirty="0"/>
          </a:p>
        </p:txBody>
      </p:sp>
      <p:sp>
        <p:nvSpPr>
          <p:cNvPr id="3" name="Text Placeholder 2">
            <a:extLst>
              <a:ext uri="{FF2B5EF4-FFF2-40B4-BE49-F238E27FC236}">
                <a16:creationId xmlns:a16="http://schemas.microsoft.com/office/drawing/2014/main" id="{8469B03C-3F52-9CAF-7977-882E46AC2C90}"/>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739C7100-B1C7-9FF6-9611-BB5FF240E5B0}"/>
              </a:ext>
            </a:extLst>
          </p:cNvPr>
          <p:cNvSpPr>
            <a:spLocks noGrp="1"/>
          </p:cNvSpPr>
          <p:nvPr>
            <p:ph type="title"/>
          </p:nvPr>
        </p:nvSpPr>
        <p:spPr/>
        <p:txBody>
          <a:bodyPr>
            <a:normAutofit/>
          </a:bodyPr>
          <a:lstStyle/>
          <a:p>
            <a:r>
              <a:rPr lang="en-CA" b="1" dirty="0"/>
              <a:t>Audio playlist randomization</a:t>
            </a:r>
            <a:endParaRPr lang="en-US" dirty="0"/>
          </a:p>
        </p:txBody>
      </p:sp>
      <p:graphicFrame>
        <p:nvGraphicFramePr>
          <p:cNvPr id="5" name="Table 4">
            <a:extLst>
              <a:ext uri="{FF2B5EF4-FFF2-40B4-BE49-F238E27FC236}">
                <a16:creationId xmlns:a16="http://schemas.microsoft.com/office/drawing/2014/main" id="{7F6F9165-845B-2609-9D6B-7111192F3A25}"/>
              </a:ext>
            </a:extLst>
          </p:cNvPr>
          <p:cNvGraphicFramePr>
            <a:graphicFrameLocks noGrp="1"/>
          </p:cNvGraphicFramePr>
          <p:nvPr>
            <p:extLst>
              <p:ext uri="{D42A27DB-BD31-4B8C-83A1-F6EECF244321}">
                <p14:modId xmlns:p14="http://schemas.microsoft.com/office/powerpoint/2010/main" val="2942925252"/>
              </p:ext>
            </p:extLst>
          </p:nvPr>
        </p:nvGraphicFramePr>
        <p:xfrm>
          <a:off x="5170714" y="1850570"/>
          <a:ext cx="6183086" cy="4027716"/>
        </p:xfrm>
        <a:graphic>
          <a:graphicData uri="http://schemas.openxmlformats.org/drawingml/2006/table">
            <a:tbl>
              <a:tblPr>
                <a:tableStyleId>{5C22544A-7EE6-4342-B048-85BDC9FD1C3A}</a:tableStyleId>
              </a:tblPr>
              <a:tblGrid>
                <a:gridCol w="3091543">
                  <a:extLst>
                    <a:ext uri="{9D8B030D-6E8A-4147-A177-3AD203B41FA5}">
                      <a16:colId xmlns:a16="http://schemas.microsoft.com/office/drawing/2014/main" val="2547382622"/>
                    </a:ext>
                  </a:extLst>
                </a:gridCol>
                <a:gridCol w="3091543">
                  <a:extLst>
                    <a:ext uri="{9D8B030D-6E8A-4147-A177-3AD203B41FA5}">
                      <a16:colId xmlns:a16="http://schemas.microsoft.com/office/drawing/2014/main" val="4007386458"/>
                    </a:ext>
                  </a:extLst>
                </a:gridCol>
              </a:tblGrid>
              <a:tr h="673815">
                <a:tc>
                  <a:txBody>
                    <a:bodyPr/>
                    <a:lstStyle/>
                    <a:p>
                      <a:pPr marL="0" marR="0" algn="l">
                        <a:spcAft>
                          <a:spcPts val="1500"/>
                        </a:spcAft>
                        <a:buNone/>
                      </a:pPr>
                      <a:r>
                        <a:rPr lang="en-CA" sz="1200">
                          <a:effectLst/>
                        </a:rPr>
                        <a:t>Topic</a:t>
                      </a:r>
                      <a:endParaRPr lang="en-CA" sz="1200" b="0" i="0">
                        <a:solidFill>
                          <a:srgbClr val="455463"/>
                        </a:solidFill>
                        <a:effectLst/>
                        <a:latin typeface="Roboto" panose="02000000000000000000" pitchFamily="2" charset="0"/>
                      </a:endParaRPr>
                    </a:p>
                  </a:txBody>
                  <a:tcPr marL="94565" marR="94565" marT="47282" marB="47282"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94565" marR="94565" marT="47282" marB="47282" anchor="ctr"/>
                </a:tc>
                <a:extLst>
                  <a:ext uri="{0D108BD9-81ED-4DB2-BD59-A6C34878D82A}">
                    <a16:rowId xmlns:a16="http://schemas.microsoft.com/office/drawing/2014/main" val="2297286754"/>
                  </a:ext>
                </a:extLst>
              </a:tr>
              <a:tr h="1117967">
                <a:tc>
                  <a:txBody>
                    <a:bodyPr/>
                    <a:lstStyle/>
                    <a:p>
                      <a:pPr marL="0" marR="0" algn="l" fontAlgn="t">
                        <a:spcAft>
                          <a:spcPts val="1500"/>
                        </a:spcAft>
                        <a:buNone/>
                      </a:pPr>
                      <a:r>
                        <a:rPr lang="en-CA" sz="1200" u="sng">
                          <a:effectLst/>
                          <a:hlinkClick r:id="rId2"/>
                        </a:rPr>
                        <a:t>Audio Random Container reference</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Understand the user interface of the Audio Random Container.</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1221479080"/>
                  </a:ext>
                </a:extLst>
              </a:tr>
              <a:tr h="1117967">
                <a:tc>
                  <a:txBody>
                    <a:bodyPr/>
                    <a:lstStyle/>
                    <a:p>
                      <a:pPr marL="0" marR="0" algn="l" fontAlgn="t">
                        <a:spcAft>
                          <a:spcPts val="1500"/>
                        </a:spcAft>
                        <a:buNone/>
                      </a:pPr>
                      <a:r>
                        <a:rPr lang="en-CA" sz="1200" u="sng">
                          <a:effectLst/>
                          <a:hlinkClick r:id="rId3"/>
                        </a:rPr>
                        <a:t>Audio Random Container fundamentals</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Understand the audio concepts you need to use the Audio Random Container.</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2312631300"/>
                  </a:ext>
                </a:extLst>
              </a:tr>
              <a:tr h="1117967">
                <a:tc>
                  <a:txBody>
                    <a:bodyPr/>
                    <a:lstStyle/>
                    <a:p>
                      <a:pPr marL="0" marR="0" algn="l" fontAlgn="t">
                        <a:spcAft>
                          <a:spcPts val="1500"/>
                        </a:spcAft>
                        <a:buNone/>
                      </a:pPr>
                      <a:r>
                        <a:rPr lang="en-CA" sz="1200" u="sng">
                          <a:effectLst/>
                          <a:hlinkClick r:id="rId4"/>
                        </a:rPr>
                        <a:t>Create a randomized playlist with the Audio Random Container</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dirty="0">
                          <a:effectLst/>
                        </a:rPr>
                        <a:t>Create and use a randomized audio playlist.</a:t>
                      </a:r>
                      <a:endParaRPr lang="en-CA" sz="1200" b="0" i="0" dirty="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3503960542"/>
                  </a:ext>
                </a:extLst>
              </a:tr>
            </a:tbl>
          </a:graphicData>
        </a:graphic>
      </p:graphicFrame>
    </p:spTree>
    <p:extLst>
      <p:ext uri="{BB962C8B-B14F-4D97-AF65-F5344CB8AC3E}">
        <p14:creationId xmlns:p14="http://schemas.microsoft.com/office/powerpoint/2010/main" val="2997800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115253-010B-72FA-AEB1-7F8727167AF2}"/>
              </a:ext>
            </a:extLst>
          </p:cNvPr>
          <p:cNvSpPr>
            <a:spLocks noGrp="1"/>
          </p:cNvSpPr>
          <p:nvPr>
            <p:ph type="body" idx="1"/>
          </p:nvPr>
        </p:nvSpPr>
        <p:spPr/>
        <p:txBody>
          <a:bodyPr/>
          <a:lstStyle/>
          <a:p>
            <a:r>
              <a:rPr lang="en-CA" dirty="0"/>
              <a:t>Understand the options for using </a:t>
            </a:r>
            <a:r>
              <a:rPr lang="en-CA" dirty="0" err="1"/>
              <a:t>ambisonic</a:t>
            </a:r>
            <a:r>
              <a:rPr lang="en-CA" dirty="0"/>
              <a:t> audio in Unity. </a:t>
            </a:r>
          </a:p>
          <a:p>
            <a:r>
              <a:rPr lang="en-CA" dirty="0"/>
              <a:t>Ambisonics are a type of audio that provide a representation of sound that can completely surround a listener.</a:t>
            </a:r>
            <a:endParaRPr lang="en-US" dirty="0"/>
          </a:p>
        </p:txBody>
      </p:sp>
      <p:sp>
        <p:nvSpPr>
          <p:cNvPr id="3" name="Text Placeholder 2">
            <a:extLst>
              <a:ext uri="{FF2B5EF4-FFF2-40B4-BE49-F238E27FC236}">
                <a16:creationId xmlns:a16="http://schemas.microsoft.com/office/drawing/2014/main" id="{06E3A8B0-57F5-6E44-1935-9F081B2207E7}"/>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9DF665CA-EC38-0155-F55F-740B83C11CAB}"/>
              </a:ext>
            </a:extLst>
          </p:cNvPr>
          <p:cNvSpPr>
            <a:spLocks noGrp="1"/>
          </p:cNvSpPr>
          <p:nvPr>
            <p:ph type="title"/>
          </p:nvPr>
        </p:nvSpPr>
        <p:spPr/>
        <p:txBody>
          <a:bodyPr>
            <a:normAutofit/>
          </a:bodyPr>
          <a:lstStyle/>
          <a:p>
            <a:r>
              <a:rPr lang="en-CA" b="1" dirty="0" err="1"/>
              <a:t>Ambisonic</a:t>
            </a:r>
            <a:r>
              <a:rPr lang="en-CA" b="1" dirty="0"/>
              <a:t> audio</a:t>
            </a:r>
            <a:endParaRPr lang="en-US" dirty="0"/>
          </a:p>
        </p:txBody>
      </p:sp>
      <p:graphicFrame>
        <p:nvGraphicFramePr>
          <p:cNvPr id="5" name="Table 4">
            <a:extLst>
              <a:ext uri="{FF2B5EF4-FFF2-40B4-BE49-F238E27FC236}">
                <a16:creationId xmlns:a16="http://schemas.microsoft.com/office/drawing/2014/main" id="{C5CE0468-3AD6-C4A3-65C0-8052FA13DBEA}"/>
              </a:ext>
            </a:extLst>
          </p:cNvPr>
          <p:cNvGraphicFramePr>
            <a:graphicFrameLocks noGrp="1"/>
          </p:cNvGraphicFramePr>
          <p:nvPr>
            <p:extLst>
              <p:ext uri="{D42A27DB-BD31-4B8C-83A1-F6EECF244321}">
                <p14:modId xmlns:p14="http://schemas.microsoft.com/office/powerpoint/2010/main" val="4288661020"/>
              </p:ext>
            </p:extLst>
          </p:nvPr>
        </p:nvGraphicFramePr>
        <p:xfrm>
          <a:off x="5236028" y="1698171"/>
          <a:ext cx="6117772" cy="4049486"/>
        </p:xfrm>
        <a:graphic>
          <a:graphicData uri="http://schemas.openxmlformats.org/drawingml/2006/table">
            <a:tbl>
              <a:tblPr>
                <a:tableStyleId>{5C22544A-7EE6-4342-B048-85BDC9FD1C3A}</a:tableStyleId>
              </a:tblPr>
              <a:tblGrid>
                <a:gridCol w="3058886">
                  <a:extLst>
                    <a:ext uri="{9D8B030D-6E8A-4147-A177-3AD203B41FA5}">
                      <a16:colId xmlns:a16="http://schemas.microsoft.com/office/drawing/2014/main" val="1002243439"/>
                    </a:ext>
                  </a:extLst>
                </a:gridCol>
                <a:gridCol w="3058886">
                  <a:extLst>
                    <a:ext uri="{9D8B030D-6E8A-4147-A177-3AD203B41FA5}">
                      <a16:colId xmlns:a16="http://schemas.microsoft.com/office/drawing/2014/main" val="2953051001"/>
                    </a:ext>
                  </a:extLst>
                </a:gridCol>
              </a:tblGrid>
              <a:tr h="488137">
                <a:tc>
                  <a:txBody>
                    <a:bodyPr/>
                    <a:lstStyle/>
                    <a:p>
                      <a:pPr marL="0" marR="0" algn="l">
                        <a:spcAft>
                          <a:spcPts val="1500"/>
                        </a:spcAft>
                        <a:buNone/>
                      </a:pPr>
                      <a:r>
                        <a:rPr lang="en-CA" sz="1200">
                          <a:effectLst/>
                        </a:rPr>
                        <a:t>Topic</a:t>
                      </a:r>
                      <a:endParaRPr lang="en-CA" sz="1200" b="0" i="0">
                        <a:solidFill>
                          <a:srgbClr val="455463"/>
                        </a:solidFill>
                        <a:effectLst/>
                        <a:latin typeface="Roboto" panose="02000000000000000000" pitchFamily="2" charset="0"/>
                      </a:endParaRPr>
                    </a:p>
                  </a:txBody>
                  <a:tcPr marL="94565" marR="94565" marT="47282" marB="47282"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94565" marR="94565" marT="47282" marB="47282" anchor="ctr"/>
                </a:tc>
                <a:extLst>
                  <a:ext uri="{0D108BD9-81ED-4DB2-BD59-A6C34878D82A}">
                    <a16:rowId xmlns:a16="http://schemas.microsoft.com/office/drawing/2014/main" val="2907825605"/>
                  </a:ext>
                </a:extLst>
              </a:tr>
              <a:tr h="809898">
                <a:tc>
                  <a:txBody>
                    <a:bodyPr/>
                    <a:lstStyle/>
                    <a:p>
                      <a:pPr marL="0" marR="0" algn="l" fontAlgn="t">
                        <a:spcAft>
                          <a:spcPts val="1500"/>
                        </a:spcAft>
                        <a:buNone/>
                      </a:pPr>
                      <a:r>
                        <a:rPr lang="en-CA" sz="1200" u="sng">
                          <a:effectLst/>
                          <a:hlinkClick r:id="rId2"/>
                        </a:rPr>
                        <a:t>Introduction to ambisonic audio</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Understand how ambisonic audio works in Unity and what formats Unity supports.</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1186492722"/>
                  </a:ext>
                </a:extLst>
              </a:tr>
              <a:tr h="1131657">
                <a:tc>
                  <a:txBody>
                    <a:bodyPr/>
                    <a:lstStyle/>
                    <a:p>
                      <a:pPr marL="0" marR="0" algn="l" fontAlgn="t">
                        <a:spcAft>
                          <a:spcPts val="1500"/>
                        </a:spcAft>
                        <a:buNone/>
                      </a:pPr>
                      <a:r>
                        <a:rPr lang="en-CA" sz="1200" u="sng">
                          <a:effectLst/>
                          <a:hlinkClick r:id="rId3"/>
                        </a:rPr>
                        <a:t>Use ambisonic audio in your project</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Select an ambisonic audio decoder, import ambisonic audio clips, and play them.</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1664236659"/>
                  </a:ext>
                </a:extLst>
              </a:tr>
              <a:tr h="488137">
                <a:tc>
                  <a:txBody>
                    <a:bodyPr/>
                    <a:lstStyle/>
                    <a:p>
                      <a:pPr marL="0" marR="0" algn="l" fontAlgn="t">
                        <a:spcAft>
                          <a:spcPts val="1500"/>
                        </a:spcAft>
                        <a:buNone/>
                      </a:pPr>
                      <a:r>
                        <a:rPr lang="en-CA" sz="1200" u="sng">
                          <a:effectLst/>
                          <a:hlinkClick r:id="rId4"/>
                        </a:rPr>
                        <a:t>Introduction to ambisonic audio decoders</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Learn about ambisonic audio decoders.</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3374194541"/>
                  </a:ext>
                </a:extLst>
              </a:tr>
              <a:tr h="1131657">
                <a:tc>
                  <a:txBody>
                    <a:bodyPr/>
                    <a:lstStyle/>
                    <a:p>
                      <a:pPr marL="0" marR="0" algn="l" fontAlgn="t">
                        <a:spcAft>
                          <a:spcPts val="1500"/>
                        </a:spcAft>
                        <a:buNone/>
                      </a:pPr>
                      <a:r>
                        <a:rPr lang="en-CA" sz="1200" u="sng">
                          <a:effectLst/>
                          <a:hlinkClick r:id="rId5"/>
                        </a:rPr>
                        <a:t>Develop an ambisonic audio decoder</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dirty="0">
                          <a:effectLst/>
                        </a:rPr>
                        <a:t>Instructions for implementing an </a:t>
                      </a:r>
                      <a:r>
                        <a:rPr lang="en-CA" sz="1200" dirty="0" err="1">
                          <a:effectLst/>
                        </a:rPr>
                        <a:t>ambisonic</a:t>
                      </a:r>
                      <a:r>
                        <a:rPr lang="en-CA" sz="1200" dirty="0">
                          <a:effectLst/>
                        </a:rPr>
                        <a:t> decoder plug-in and registering it in Project Settings.</a:t>
                      </a:r>
                      <a:endParaRPr lang="en-CA" sz="1200" b="0" i="0" dirty="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810148808"/>
                  </a:ext>
                </a:extLst>
              </a:tr>
            </a:tbl>
          </a:graphicData>
        </a:graphic>
      </p:graphicFrame>
    </p:spTree>
    <p:extLst>
      <p:ext uri="{BB962C8B-B14F-4D97-AF65-F5344CB8AC3E}">
        <p14:creationId xmlns:p14="http://schemas.microsoft.com/office/powerpoint/2010/main" val="3144818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5223B05-41B7-85DC-C19D-E5C289783DC1}"/>
              </a:ext>
            </a:extLst>
          </p:cNvPr>
          <p:cNvSpPr>
            <a:spLocks noGrp="1"/>
          </p:cNvSpPr>
          <p:nvPr>
            <p:ph type="body" idx="1"/>
          </p:nvPr>
        </p:nvSpPr>
        <p:spPr/>
        <p:txBody>
          <a:bodyPr/>
          <a:lstStyle/>
          <a:p>
            <a:r>
              <a:rPr lang="en-US" dirty="0"/>
              <a:t> </a:t>
            </a:r>
          </a:p>
        </p:txBody>
      </p:sp>
      <p:sp>
        <p:nvSpPr>
          <p:cNvPr id="4" name="Title 3">
            <a:extLst>
              <a:ext uri="{FF2B5EF4-FFF2-40B4-BE49-F238E27FC236}">
                <a16:creationId xmlns:a16="http://schemas.microsoft.com/office/drawing/2014/main" id="{E5617433-0D75-64F2-F50A-D43DFA21BC4D}"/>
              </a:ext>
            </a:extLst>
          </p:cNvPr>
          <p:cNvSpPr>
            <a:spLocks noGrp="1"/>
          </p:cNvSpPr>
          <p:nvPr>
            <p:ph type="title"/>
          </p:nvPr>
        </p:nvSpPr>
        <p:spPr/>
        <p:txBody>
          <a:bodyPr>
            <a:normAutofit/>
          </a:bodyPr>
          <a:lstStyle/>
          <a:p>
            <a:r>
              <a:rPr lang="en-CA" b="1" dirty="0"/>
              <a:t>Audio Reference</a:t>
            </a:r>
            <a:endParaRPr lang="en-US" dirty="0"/>
          </a:p>
        </p:txBody>
      </p:sp>
      <p:sp>
        <p:nvSpPr>
          <p:cNvPr id="5" name="TextBox 4">
            <a:extLst>
              <a:ext uri="{FF2B5EF4-FFF2-40B4-BE49-F238E27FC236}">
                <a16:creationId xmlns:a16="http://schemas.microsoft.com/office/drawing/2014/main" id="{ECE63F93-A106-484D-4161-8636F001EF0E}"/>
              </a:ext>
            </a:extLst>
          </p:cNvPr>
          <p:cNvSpPr txBox="1"/>
          <p:nvPr/>
        </p:nvSpPr>
        <p:spPr>
          <a:xfrm>
            <a:off x="-1251857" y="-816429"/>
            <a:ext cx="184731" cy="307777"/>
          </a:xfrm>
          <a:prstGeom prst="rect">
            <a:avLst/>
          </a:prstGeom>
          <a:noFill/>
        </p:spPr>
        <p:txBody>
          <a:bodyPr wrap="none" rtlCol="0">
            <a:spAutoFit/>
          </a:bodyPr>
          <a:lstStyle/>
          <a:p>
            <a:endParaRPr lang="en-US" dirty="0"/>
          </a:p>
        </p:txBody>
      </p:sp>
      <p:graphicFrame>
        <p:nvGraphicFramePr>
          <p:cNvPr id="7" name="Table 6">
            <a:extLst>
              <a:ext uri="{FF2B5EF4-FFF2-40B4-BE49-F238E27FC236}">
                <a16:creationId xmlns:a16="http://schemas.microsoft.com/office/drawing/2014/main" id="{5D3EF5B7-B97D-FB8A-DAA4-C810929B2B75}"/>
              </a:ext>
            </a:extLst>
          </p:cNvPr>
          <p:cNvGraphicFramePr>
            <a:graphicFrameLocks noGrp="1"/>
          </p:cNvGraphicFramePr>
          <p:nvPr>
            <p:extLst>
              <p:ext uri="{D42A27DB-BD31-4B8C-83A1-F6EECF244321}">
                <p14:modId xmlns:p14="http://schemas.microsoft.com/office/powerpoint/2010/main" val="2774752412"/>
              </p:ext>
            </p:extLst>
          </p:nvPr>
        </p:nvGraphicFramePr>
        <p:xfrm>
          <a:off x="707571" y="1604211"/>
          <a:ext cx="10515600" cy="368884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56731094"/>
                    </a:ext>
                  </a:extLst>
                </a:gridCol>
                <a:gridCol w="5257800">
                  <a:extLst>
                    <a:ext uri="{9D8B030D-6E8A-4147-A177-3AD203B41FA5}">
                      <a16:colId xmlns:a16="http://schemas.microsoft.com/office/drawing/2014/main" val="1405429919"/>
                    </a:ext>
                  </a:extLst>
                </a:gridCol>
              </a:tblGrid>
              <a:tr h="276129">
                <a:tc>
                  <a:txBody>
                    <a:bodyPr/>
                    <a:lstStyle/>
                    <a:p>
                      <a:pPr marL="0" marR="0" algn="l">
                        <a:spcAft>
                          <a:spcPts val="1500"/>
                        </a:spcAft>
                        <a:buNone/>
                      </a:pPr>
                      <a:r>
                        <a:rPr lang="en-CA" sz="1200">
                          <a:effectLst/>
                        </a:rPr>
                        <a:t>Topic</a:t>
                      </a:r>
                      <a:endParaRPr lang="en-CA" sz="1200" b="0" i="0">
                        <a:solidFill>
                          <a:srgbClr val="455463"/>
                        </a:solidFill>
                        <a:effectLst/>
                        <a:latin typeface="Roboto" panose="02000000000000000000" pitchFamily="2" charset="0"/>
                      </a:endParaRPr>
                    </a:p>
                  </a:txBody>
                  <a:tcPr marL="94565" marR="94565" marT="47282" marB="47282"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94565" marR="94565" marT="47282" marB="47282" anchor="ctr"/>
                </a:tc>
                <a:extLst>
                  <a:ext uri="{0D108BD9-81ED-4DB2-BD59-A6C34878D82A}">
                    <a16:rowId xmlns:a16="http://schemas.microsoft.com/office/drawing/2014/main" val="1774620076"/>
                  </a:ext>
                </a:extLst>
              </a:tr>
              <a:tr h="457693">
                <a:tc>
                  <a:txBody>
                    <a:bodyPr/>
                    <a:lstStyle/>
                    <a:p>
                      <a:pPr marL="0" marR="0" algn="l" fontAlgn="t">
                        <a:spcAft>
                          <a:spcPts val="1500"/>
                        </a:spcAft>
                        <a:buNone/>
                      </a:pPr>
                      <a:r>
                        <a:rPr lang="en-CA" sz="1200" u="sng">
                          <a:effectLst/>
                          <a:hlinkClick r:id="rId2"/>
                        </a:rPr>
                        <a:t>Audio Clip</a:t>
                      </a:r>
                      <a:br>
                        <a:rPr lang="en-CA" sz="1200">
                          <a:effectLst/>
                        </a:rPr>
                      </a:b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Reference information about the AudioClip class.</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460657999"/>
                  </a:ext>
                </a:extLst>
              </a:tr>
              <a:tr h="457693">
                <a:tc>
                  <a:txBody>
                    <a:bodyPr/>
                    <a:lstStyle/>
                    <a:p>
                      <a:pPr marL="0" marR="0" algn="l" fontAlgn="t">
                        <a:spcAft>
                          <a:spcPts val="1500"/>
                        </a:spcAft>
                        <a:buNone/>
                      </a:pPr>
                      <a:r>
                        <a:rPr lang="en-CA" sz="1200" u="sng">
                          <a:effectLst/>
                          <a:hlinkClick r:id="rId3"/>
                        </a:rPr>
                        <a:t>Audio Listener</a:t>
                      </a:r>
                      <a:br>
                        <a:rPr lang="en-CA" sz="1200">
                          <a:effectLst/>
                        </a:rPr>
                      </a:b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Reference information about the AudioListener class.</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3462293864"/>
                  </a:ext>
                </a:extLst>
              </a:tr>
              <a:tr h="457693">
                <a:tc>
                  <a:txBody>
                    <a:bodyPr/>
                    <a:lstStyle/>
                    <a:p>
                      <a:pPr marL="0" marR="0" algn="l" fontAlgn="t">
                        <a:spcAft>
                          <a:spcPts val="1500"/>
                        </a:spcAft>
                        <a:buNone/>
                      </a:pPr>
                      <a:r>
                        <a:rPr lang="en-CA" sz="1200" u="sng">
                          <a:effectLst/>
                          <a:hlinkClick r:id="rId4"/>
                        </a:rPr>
                        <a:t>Audio Source</a:t>
                      </a:r>
                      <a:br>
                        <a:rPr lang="en-CA" sz="1200">
                          <a:effectLst/>
                        </a:rPr>
                      </a:b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Reference information about the AudioSource class.</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872995693"/>
                  </a:ext>
                </a:extLst>
              </a:tr>
              <a:tr h="276129">
                <a:tc>
                  <a:txBody>
                    <a:bodyPr/>
                    <a:lstStyle/>
                    <a:p>
                      <a:pPr marL="0" marR="0" algn="l" fontAlgn="t">
                        <a:spcAft>
                          <a:spcPts val="1500"/>
                        </a:spcAft>
                        <a:buNone/>
                      </a:pPr>
                      <a:r>
                        <a:rPr lang="en-CA" sz="1200" u="sng">
                          <a:effectLst/>
                          <a:hlinkClick r:id="rId5"/>
                        </a:rPr>
                        <a:t>Audio Mixer window reference</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Reference information about the Unity AudioMixer class and its UI.</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3073958538"/>
                  </a:ext>
                </a:extLst>
              </a:tr>
              <a:tr h="457693">
                <a:tc>
                  <a:txBody>
                    <a:bodyPr/>
                    <a:lstStyle/>
                    <a:p>
                      <a:pPr marL="0" marR="0" algn="l" fontAlgn="t">
                        <a:spcAft>
                          <a:spcPts val="1500"/>
                        </a:spcAft>
                        <a:buNone/>
                      </a:pPr>
                      <a:r>
                        <a:rPr lang="en-CA" sz="1200" u="sng">
                          <a:effectLst/>
                          <a:hlinkClick r:id="rId6"/>
                        </a:rPr>
                        <a:t>Audio filters</a:t>
                      </a:r>
                      <a:br>
                        <a:rPr lang="en-CA" sz="1200">
                          <a:effectLst/>
                        </a:rPr>
                      </a:b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Reference information about the various audio filters in Unity.</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2919794408"/>
                  </a:ext>
                </a:extLst>
              </a:tr>
              <a:tr h="457693">
                <a:tc>
                  <a:txBody>
                    <a:bodyPr/>
                    <a:lstStyle/>
                    <a:p>
                      <a:pPr marL="0" marR="0" algn="l" fontAlgn="t">
                        <a:spcAft>
                          <a:spcPts val="1500"/>
                        </a:spcAft>
                        <a:buNone/>
                      </a:pPr>
                      <a:r>
                        <a:rPr lang="en-CA" sz="1200" u="sng">
                          <a:effectLst/>
                          <a:hlinkClick r:id="rId7"/>
                        </a:rPr>
                        <a:t>Audio effects</a:t>
                      </a:r>
                      <a:br>
                        <a:rPr lang="en-CA" sz="1200">
                          <a:effectLst/>
                        </a:rPr>
                      </a:b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Reference information about the various audio effects in Unity.</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641378532"/>
                  </a:ext>
                </a:extLst>
              </a:tr>
              <a:tr h="276129">
                <a:tc>
                  <a:txBody>
                    <a:bodyPr/>
                    <a:lstStyle/>
                    <a:p>
                      <a:pPr marL="0" marR="0" algn="l" fontAlgn="t">
                        <a:spcAft>
                          <a:spcPts val="1500"/>
                        </a:spcAft>
                        <a:buNone/>
                      </a:pPr>
                      <a:r>
                        <a:rPr lang="en-CA" sz="1200" u="sng">
                          <a:effectLst/>
                          <a:hlinkClick r:id="rId8"/>
                        </a:rPr>
                        <a:t>Audio Reverb Zone</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Reference information about the AudioReverbZone class.</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804803008"/>
                  </a:ext>
                </a:extLst>
              </a:tr>
              <a:tr h="276129">
                <a:tc>
                  <a:txBody>
                    <a:bodyPr/>
                    <a:lstStyle/>
                    <a:p>
                      <a:pPr marL="0" marR="0" algn="l" fontAlgn="t">
                        <a:spcAft>
                          <a:spcPts val="1500"/>
                        </a:spcAft>
                        <a:buNone/>
                      </a:pPr>
                      <a:r>
                        <a:rPr lang="en-CA" sz="1200" u="sng">
                          <a:effectLst/>
                          <a:hlinkClick r:id="rId9"/>
                        </a:rPr>
                        <a:t>Microphone</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a:effectLst/>
                        </a:rPr>
                        <a:t>Reference information about the Microphone class.</a:t>
                      </a:r>
                      <a:endParaRPr lang="en-CA" sz="1200" b="0" i="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4125049849"/>
                  </a:ext>
                </a:extLst>
              </a:tr>
              <a:tr h="276129">
                <a:tc>
                  <a:txBody>
                    <a:bodyPr/>
                    <a:lstStyle/>
                    <a:p>
                      <a:pPr marL="0" marR="0" algn="l" fontAlgn="t">
                        <a:spcAft>
                          <a:spcPts val="1500"/>
                        </a:spcAft>
                        <a:buNone/>
                      </a:pPr>
                      <a:r>
                        <a:rPr lang="en-CA" sz="1200" u="sng">
                          <a:effectLst/>
                          <a:hlinkClick r:id="rId10"/>
                        </a:rPr>
                        <a:t>Audio Settings</a:t>
                      </a:r>
                      <a:endParaRPr lang="en-CA" sz="1200" b="0" i="0">
                        <a:solidFill>
                          <a:srgbClr val="455463"/>
                        </a:solidFill>
                        <a:effectLst/>
                        <a:latin typeface="Roboto" panose="02000000000000000000" pitchFamily="2" charset="0"/>
                      </a:endParaRPr>
                    </a:p>
                  </a:txBody>
                  <a:tcPr marL="94565" marR="94565" marT="47282" marB="47282"/>
                </a:tc>
                <a:tc>
                  <a:txBody>
                    <a:bodyPr/>
                    <a:lstStyle/>
                    <a:p>
                      <a:pPr marL="0" marR="0" algn="l" fontAlgn="t">
                        <a:spcAft>
                          <a:spcPts val="1500"/>
                        </a:spcAft>
                        <a:buNone/>
                      </a:pPr>
                      <a:r>
                        <a:rPr lang="en-CA" sz="1200" dirty="0">
                          <a:effectLst/>
                        </a:rPr>
                        <a:t>Reference information about the </a:t>
                      </a:r>
                      <a:r>
                        <a:rPr lang="en-CA" sz="1200" dirty="0" err="1">
                          <a:effectLst/>
                        </a:rPr>
                        <a:t>AudioSettings</a:t>
                      </a:r>
                      <a:r>
                        <a:rPr lang="en-CA" sz="1200" dirty="0">
                          <a:effectLst/>
                        </a:rPr>
                        <a:t> class.</a:t>
                      </a:r>
                      <a:endParaRPr lang="en-CA" sz="1200" b="0" i="0" dirty="0">
                        <a:solidFill>
                          <a:srgbClr val="455463"/>
                        </a:solidFill>
                        <a:effectLst/>
                        <a:latin typeface="Roboto" panose="02000000000000000000" pitchFamily="2" charset="0"/>
                      </a:endParaRPr>
                    </a:p>
                  </a:txBody>
                  <a:tcPr marL="94565" marR="94565" marT="47282" marB="47282"/>
                </a:tc>
                <a:extLst>
                  <a:ext uri="{0D108BD9-81ED-4DB2-BD59-A6C34878D82A}">
                    <a16:rowId xmlns:a16="http://schemas.microsoft.com/office/drawing/2014/main" val="2166815960"/>
                  </a:ext>
                </a:extLst>
              </a:tr>
            </a:tbl>
          </a:graphicData>
        </a:graphic>
      </p:graphicFrame>
    </p:spTree>
    <p:extLst>
      <p:ext uri="{BB962C8B-B14F-4D97-AF65-F5344CB8AC3E}">
        <p14:creationId xmlns:p14="http://schemas.microsoft.com/office/powerpoint/2010/main" val="1780941092"/>
      </p:ext>
    </p:extLst>
  </p:cSld>
  <p:clrMapOvr>
    <a:masterClrMapping/>
  </p:clrMapOvr>
</p:sld>
</file>

<file path=ppt/theme/theme1.xml><?xml version="1.0" encoding="utf-8"?>
<a:theme xmlns:a="http://schemas.openxmlformats.org/drawingml/2006/main" name="Get Started with 3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580</TotalTime>
  <Words>4255</Words>
  <Application>Microsoft Macintosh PowerPoint</Application>
  <PresentationFormat>Widescreen</PresentationFormat>
  <Paragraphs>303</Paragraphs>
  <Slides>29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Quattrocento Sans</vt:lpstr>
      <vt:lpstr>Calibri</vt:lpstr>
      <vt:lpstr>Arial</vt:lpstr>
      <vt:lpstr>Wingdings</vt:lpstr>
      <vt:lpstr>Roboto</vt:lpstr>
      <vt:lpstr>Get Started with 3D</vt:lpstr>
      <vt:lpstr>Week 4 Game Engine Development Unity Audio</vt:lpstr>
      <vt:lpstr>Objective &amp; Concept</vt:lpstr>
      <vt:lpstr>Audio overview</vt:lpstr>
      <vt:lpstr>Basic theory</vt:lpstr>
      <vt:lpstr>Working with audio assets</vt:lpstr>
      <vt:lpstr>Audio recording</vt:lpstr>
      <vt:lpstr>Introduction to audio files</vt:lpstr>
      <vt:lpstr>Supported Audio file formats</vt:lpstr>
      <vt:lpstr>Audio file compression in Unity</vt:lpstr>
      <vt:lpstr>Scriptable audio pipeline</vt:lpstr>
      <vt:lpstr>Tracker Modules</vt:lpstr>
      <vt:lpstr>Audio Mixer</vt:lpstr>
      <vt:lpstr>Audio Mixer window</vt:lpstr>
      <vt:lpstr>Audio Mixer Inspector window</vt:lpstr>
      <vt:lpstr>Routing and mixing</vt:lpstr>
      <vt:lpstr>The relationship between different audio entities</vt:lpstr>
      <vt:lpstr>Benefits of routing and mixing</vt:lpstr>
      <vt:lpstr>Relationship to 3D spatial attenuation</vt:lpstr>
      <vt:lpstr>Sound categories</vt:lpstr>
      <vt:lpstr>Example</vt:lpstr>
      <vt:lpstr>Moods and themes of the mix</vt:lpstr>
      <vt:lpstr>The global mix</vt:lpstr>
      <vt:lpstr>Snapshots</vt:lpstr>
      <vt:lpstr>Audio Mixer window</vt:lpstr>
      <vt:lpstr>How it works?</vt:lpstr>
      <vt:lpstr>Native audio plug-in SDK</vt:lpstr>
      <vt:lpstr>Audio playlist randomization</vt:lpstr>
      <vt:lpstr>Ambisonic audio</vt:lpstr>
      <vt:lpstr>Audio 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Hooman Salamat</cp:lastModifiedBy>
  <cp:revision>47</cp:revision>
  <dcterms:created xsi:type="dcterms:W3CDTF">2020-06-08T20:23:19Z</dcterms:created>
  <dcterms:modified xsi:type="dcterms:W3CDTF">2026-10-01T13:39:04Z</dcterms:modified>
</cp:coreProperties>
</file>