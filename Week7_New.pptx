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3"/>
  </p:notesMasterIdLst>
  <p:sldIdLst>
    <p:sldId id="397" r:id="rId2"/>
    <p:sldId id="398" r:id="rId3"/>
    <p:sldId id="320" r:id="rId4"/>
    <p:sldId id="399" r:id="rId5"/>
    <p:sldId id="400" r:id="rId6"/>
    <p:sldId id="401" r:id="rId7"/>
    <p:sldId id="402" r:id="rId8"/>
    <p:sldId id="403" r:id="rId9"/>
    <p:sldId id="321" r:id="rId10"/>
    <p:sldId id="298" r:id="rId11"/>
    <p:sldId id="299" r:id="rId12"/>
    <p:sldId id="323" r:id="rId13"/>
    <p:sldId id="300" r:id="rId14"/>
    <p:sldId id="301" r:id="rId15"/>
    <p:sldId id="302" r:id="rId16"/>
    <p:sldId id="322" r:id="rId17"/>
    <p:sldId id="303" r:id="rId18"/>
    <p:sldId id="404" r:id="rId19"/>
    <p:sldId id="304" r:id="rId20"/>
    <p:sldId id="305" r:id="rId21"/>
    <p:sldId id="306" r:id="rId22"/>
    <p:sldId id="307" r:id="rId23"/>
    <p:sldId id="308" r:id="rId24"/>
    <p:sldId id="319" r:id="rId25"/>
    <p:sldId id="309" r:id="rId26"/>
    <p:sldId id="310" r:id="rId27"/>
    <p:sldId id="311" r:id="rId28"/>
    <p:sldId id="312" r:id="rId29"/>
    <p:sldId id="324" r:id="rId30"/>
    <p:sldId id="325" r:id="rId31"/>
    <p:sldId id="326" r:id="rId32"/>
    <p:sldId id="327" r:id="rId33"/>
    <p:sldId id="313" r:id="rId34"/>
    <p:sldId id="314" r:id="rId35"/>
    <p:sldId id="328" r:id="rId36"/>
    <p:sldId id="315" r:id="rId37"/>
    <p:sldId id="329" r:id="rId38"/>
    <p:sldId id="316" r:id="rId39"/>
    <p:sldId id="317" r:id="rId40"/>
    <p:sldId id="318" r:id="rId41"/>
    <p:sldId id="330" r:id="rId42"/>
    <p:sldId id="390" r:id="rId43"/>
    <p:sldId id="331" r:id="rId44"/>
    <p:sldId id="391" r:id="rId45"/>
    <p:sldId id="392" r:id="rId46"/>
    <p:sldId id="332" r:id="rId47"/>
    <p:sldId id="373" r:id="rId48"/>
    <p:sldId id="333" r:id="rId49"/>
    <p:sldId id="334" r:id="rId50"/>
    <p:sldId id="335" r:id="rId51"/>
    <p:sldId id="336" r:id="rId52"/>
    <p:sldId id="337" r:id="rId53"/>
    <p:sldId id="338" r:id="rId54"/>
    <p:sldId id="339" r:id="rId55"/>
    <p:sldId id="340" r:id="rId56"/>
    <p:sldId id="341" r:id="rId57"/>
    <p:sldId id="342" r:id="rId58"/>
    <p:sldId id="343" r:id="rId59"/>
    <p:sldId id="344" r:id="rId60"/>
    <p:sldId id="345" r:id="rId61"/>
    <p:sldId id="346" r:id="rId62"/>
    <p:sldId id="347" r:id="rId63"/>
    <p:sldId id="348" r:id="rId64"/>
    <p:sldId id="349" r:id="rId65"/>
    <p:sldId id="350" r:id="rId66"/>
    <p:sldId id="376" r:id="rId67"/>
    <p:sldId id="393" r:id="rId68"/>
    <p:sldId id="353" r:id="rId69"/>
    <p:sldId id="354" r:id="rId70"/>
    <p:sldId id="355" r:id="rId71"/>
    <p:sldId id="356" r:id="rId72"/>
    <p:sldId id="357" r:id="rId73"/>
    <p:sldId id="358" r:id="rId74"/>
    <p:sldId id="375" r:id="rId75"/>
    <p:sldId id="359" r:id="rId76"/>
    <p:sldId id="384" r:id="rId77"/>
    <p:sldId id="374" r:id="rId78"/>
    <p:sldId id="385" r:id="rId79"/>
    <p:sldId id="386" r:id="rId80"/>
    <p:sldId id="396" r:id="rId81"/>
    <p:sldId id="360" r:id="rId82"/>
    <p:sldId id="378" r:id="rId83"/>
    <p:sldId id="394" r:id="rId84"/>
    <p:sldId id="380" r:id="rId85"/>
    <p:sldId id="395" r:id="rId86"/>
    <p:sldId id="387" r:id="rId87"/>
    <p:sldId id="388" r:id="rId88"/>
    <p:sldId id="361" r:id="rId89"/>
    <p:sldId id="362" r:id="rId90"/>
    <p:sldId id="383" r:id="rId91"/>
    <p:sldId id="363" r:id="rId92"/>
    <p:sldId id="364" r:id="rId93"/>
    <p:sldId id="365" r:id="rId94"/>
    <p:sldId id="366" r:id="rId95"/>
    <p:sldId id="367" r:id="rId96"/>
    <p:sldId id="368" r:id="rId97"/>
    <p:sldId id="369" r:id="rId98"/>
    <p:sldId id="370" r:id="rId99"/>
    <p:sldId id="371" r:id="rId100"/>
    <p:sldId id="372" r:id="rId101"/>
    <p:sldId id="389" r:id="rId102"/>
  </p:sldIdLst>
  <p:sldSz cx="12192000" cy="6858000"/>
  <p:notesSz cx="6858000" cy="9144000"/>
  <p:embeddedFontLst>
    <p:embeddedFont>
      <p:font typeface="Cambria Math" panose="02040503050406030204" pitchFamily="18" charset="0"/>
      <p:regular r:id="rId104"/>
    </p:embeddedFont>
    <p:embeddedFont>
      <p:font typeface="Century Gothic" panose="020B0502020202020204" pitchFamily="34" charset="0"/>
      <p:regular r:id="rId105"/>
      <p:bold r:id="rId106"/>
      <p:italic r:id="rId107"/>
      <p:boldItalic r:id="rId108"/>
    </p:embeddedFont>
    <p:embeddedFont>
      <p:font typeface="Consolas" panose="020B0609020204030204" pitchFamily="49" charset="0"/>
      <p:regular r:id="rId109"/>
      <p:bold r:id="rId110"/>
      <p:italic r:id="rId111"/>
      <p:boldItalic r:id="rId112"/>
    </p:embeddedFont>
    <p:embeddedFont>
      <p:font typeface="Quattrocento Sans" panose="020B0502050000020003" pitchFamily="34" charset="0"/>
      <p:regular r:id="rId113"/>
      <p:bold r:id="rId114"/>
      <p:italic r:id="rId115"/>
      <p:boldItalic r:id="rId116"/>
    </p:embeddedFont>
    <p:embeddedFont>
      <p:font typeface="Roboto" panose="02000000000000000000" pitchFamily="2" charset="0"/>
      <p:regular r:id="rId117"/>
      <p:bold r:id="rId118"/>
      <p:italic r:id="rId119"/>
      <p:boldItalic r:id="rId1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1"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p:restoredTop sz="94638"/>
  </p:normalViewPr>
  <p:slideViewPr>
    <p:cSldViewPr snapToGrid="0">
      <p:cViewPr varScale="1">
        <p:scale>
          <a:sx n="118" d="100"/>
          <a:sy n="118" d="100"/>
        </p:scale>
        <p:origin x="2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9.fntdata"/><Relationship Id="rId16" Type="http://schemas.openxmlformats.org/officeDocument/2006/relationships/slide" Target="slides/slide15.xml"/><Relationship Id="rId107" Type="http://schemas.openxmlformats.org/officeDocument/2006/relationships/font" Target="fonts/font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0.fntdata"/><Relationship Id="rId118" Type="http://schemas.openxmlformats.org/officeDocument/2006/relationships/font" Target="fonts/font1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font" Target="fonts/font5.fntdata"/><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1.fntdata"/><Relationship Id="rId119" Type="http://schemas.openxmlformats.org/officeDocument/2006/relationships/font" Target="fonts/font16.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6.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1.fntdata"/><Relationship Id="rId120" Type="http://schemas.openxmlformats.org/officeDocument/2006/relationships/font" Target="fonts/font17.fntdata"/><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7.fntdata"/><Relationship Id="rId115"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customschemas.google.com/relationships/presentationmetadata" Target="meta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unity3d.com/ScriptReference/EditorWindow.html" TargetMode="External"/><Relationship Id="rId2" Type="http://schemas.openxmlformats.org/officeDocument/2006/relationships/slide" Target="../slides/slide62.xml"/><Relationship Id="rId1" Type="http://schemas.openxmlformats.org/officeDocument/2006/relationships/notesMaster" Target="../notesMasters/notesMaster1.xml"/><Relationship Id="rId6" Type="http://schemas.openxmlformats.org/officeDocument/2006/relationships/hyperlink" Target="https://docs.unity3d.com/ScriptReference/Event-mousePosition.html" TargetMode="External"/><Relationship Id="rId5" Type="http://schemas.openxmlformats.org/officeDocument/2006/relationships/hyperlink" Target="https://docs.unity3d.com/ScriptReference/EditorWindow.OnGUI.html" TargetMode="External"/><Relationship Id="rId4" Type="http://schemas.openxmlformats.org/officeDocument/2006/relationships/hyperlink" Target="https://docs.unity3d.com/Packages/com.unity.inputsystem@1.4/api/UnityEngine.InputSystem.Pointer.html#UnityEngine_InputSystem_Pointer_position"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t>https://en.wikipedia.org/wiki/Human_interface_device</a:t>
            </a:r>
          </a:p>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a:t>
            </a:fld>
            <a:endParaRPr lang="en-CA"/>
          </a:p>
        </p:txBody>
      </p:sp>
    </p:spTree>
    <p:extLst>
      <p:ext uri="{BB962C8B-B14F-4D97-AF65-F5344CB8AC3E}">
        <p14:creationId xmlns:p14="http://schemas.microsoft.com/office/powerpoint/2010/main" val="3446238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https://en.wikipedia.org/wiki/Nintendo_Switch</a:t>
            </a:r>
          </a:p>
          <a:p>
            <a:r>
              <a:rPr lang="en-CA"/>
              <a:t>https://en.wikipedia.org/wiki/Xbox_One</a:t>
            </a:r>
          </a:p>
          <a:p>
            <a:r>
              <a:rPr lang="en-CA"/>
              <a:t>https://en.wikipedia.org/wiki/Kinect#Azure_Kinect_(2019)</a:t>
            </a:r>
          </a:p>
          <a:p>
            <a:r>
              <a:rPr lang="en-CA"/>
              <a:t>https://en.wikipedia.org/wiki/HoloLens_2</a:t>
            </a:r>
          </a:p>
        </p:txBody>
      </p:sp>
      <p:sp>
        <p:nvSpPr>
          <p:cNvPr id="4" name="Slide Number Placeholder 3"/>
          <p:cNvSpPr>
            <a:spLocks noGrp="1"/>
          </p:cNvSpPr>
          <p:nvPr>
            <p:ph type="sldNum" sz="quarter" idx="5"/>
          </p:nvPr>
        </p:nvSpPr>
        <p:spPr/>
        <p:txBody>
          <a:bodyPr/>
          <a:lstStyle/>
          <a:p>
            <a:fld id="{F195FCB9-FB9C-4B06-A318-450E48AC1CCB}" type="slidenum">
              <a:rPr lang="en-CA" smtClean="0"/>
              <a:t>4</a:t>
            </a:fld>
            <a:endParaRPr lang="en-CA"/>
          </a:p>
        </p:txBody>
      </p:sp>
    </p:spTree>
    <p:extLst>
      <p:ext uri="{BB962C8B-B14F-4D97-AF65-F5344CB8AC3E}">
        <p14:creationId xmlns:p14="http://schemas.microsoft.com/office/powerpoint/2010/main" val="2419015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Standard joypads for the Xbox 360 and PlayStation 3 </a:t>
            </a:r>
            <a:r>
              <a:rPr lang="en-CA" sz="1200" b="0" i="0" u="none" strike="noStrike" kern="1200" baseline="0">
                <a:solidFill>
                  <a:schemeClr val="tx1"/>
                </a:solidFill>
                <a:latin typeface="+mn-lt"/>
                <a:ea typeface="+mn-ea"/>
                <a:cs typeface="+mn-cs"/>
              </a:rPr>
              <a:t>consoles.</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Wii Remote for the Nintendo Wii.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DualShock 4 joypad for the PlayStation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Wii U controller by Nintendo</a:t>
            </a:r>
          </a:p>
          <a:p>
            <a:r>
              <a:rPr lang="en-US" sz="1200" b="0" i="0" u="none" strike="noStrike" kern="1200" baseline="0">
                <a:solidFill>
                  <a:schemeClr val="tx1"/>
                </a:solidFill>
                <a:latin typeface="+mn-lt"/>
                <a:ea typeface="+mn-ea"/>
                <a:cs typeface="+mn-cs"/>
              </a:rPr>
              <a:t>guitar and drum devices are available for the </a:t>
            </a:r>
            <a:r>
              <a:rPr lang="en-US" sz="1200" b="0" i="1" u="none" strike="noStrike" kern="1200" baseline="0">
                <a:solidFill>
                  <a:schemeClr val="tx1"/>
                </a:solidFill>
                <a:latin typeface="+mn-lt"/>
                <a:ea typeface="+mn-ea"/>
                <a:cs typeface="+mn-cs"/>
              </a:rPr>
              <a:t>Guitar Hero </a:t>
            </a:r>
            <a:r>
              <a:rPr lang="en-US" sz="1200" b="0" i="0" u="none" strike="noStrike" kern="1200" baseline="0">
                <a:solidFill>
                  <a:schemeClr val="tx1"/>
                </a:solidFill>
                <a:latin typeface="+mn-lt"/>
                <a:ea typeface="+mn-ea"/>
                <a:cs typeface="+mn-cs"/>
              </a:rPr>
              <a:t>series of </a:t>
            </a:r>
            <a:r>
              <a:rPr lang="en-CA" sz="1200" b="0" i="0" u="none" strike="noStrike" kern="1200" baseline="0">
                <a:solidFill>
                  <a:schemeClr val="tx1"/>
                </a:solidFill>
                <a:latin typeface="+mn-lt"/>
                <a:ea typeface="+mn-ea"/>
                <a:cs typeface="+mn-cs"/>
              </a:rPr>
              <a:t>games</a:t>
            </a:r>
          </a:p>
          <a:p>
            <a:r>
              <a:rPr lang="en-US" sz="1200" b="0" i="0" u="none" strike="noStrike" kern="1200" baseline="0">
                <a:solidFill>
                  <a:schemeClr val="tx1"/>
                </a:solidFill>
                <a:latin typeface="+mn-lt"/>
                <a:ea typeface="+mn-ea"/>
                <a:cs typeface="+mn-cs"/>
              </a:rPr>
              <a:t>steering wheels for driving games: </a:t>
            </a:r>
            <a:r>
              <a:rPr lang="en-US" sz="1200" b="0" i="1" u="none" strike="noStrike" kern="1200" baseline="0">
                <a:solidFill>
                  <a:schemeClr val="tx1"/>
                </a:solidFill>
                <a:latin typeface="+mn-lt"/>
                <a:ea typeface="+mn-ea"/>
                <a:cs typeface="+mn-cs"/>
              </a:rPr>
              <a:t>Mario Kart Wii </a:t>
            </a:r>
            <a:r>
              <a:rPr lang="en-US" sz="1200" b="0" i="0" u="none" strike="noStrike" kern="1200" baseline="0">
                <a:solidFill>
                  <a:schemeClr val="tx1"/>
                </a:solidFill>
                <a:latin typeface="+mn-lt"/>
                <a:ea typeface="+mn-ea"/>
                <a:cs typeface="+mn-cs"/>
              </a:rPr>
              <a:t>comes with a plastic steering wheel adapter into which the </a:t>
            </a:r>
            <a:r>
              <a:rPr lang="en-US" sz="1200" b="0" i="0" u="none" strike="noStrike" kern="1200" baseline="0" err="1">
                <a:solidFill>
                  <a:schemeClr val="tx1"/>
                </a:solidFill>
                <a:latin typeface="+mn-lt"/>
                <a:ea typeface="+mn-ea"/>
                <a:cs typeface="+mn-cs"/>
              </a:rPr>
              <a:t>Wiimote</a:t>
            </a:r>
            <a:r>
              <a:rPr lang="en-US" sz="1200" b="0" i="0" u="none" strike="noStrike" kern="1200" baseline="0">
                <a:solidFill>
                  <a:schemeClr val="tx1"/>
                </a:solidFill>
                <a:latin typeface="+mn-lt"/>
                <a:ea typeface="+mn-ea"/>
                <a:cs typeface="+mn-cs"/>
              </a:rPr>
              <a:t> can be inserted</a:t>
            </a:r>
          </a:p>
          <a:p>
            <a:r>
              <a:rPr lang="en-US" sz="1200" b="0" i="0" u="none" strike="noStrike" kern="1200" baseline="0">
                <a:solidFill>
                  <a:schemeClr val="tx1"/>
                </a:solidFill>
                <a:latin typeface="+mn-lt"/>
                <a:ea typeface="+mn-ea"/>
                <a:cs typeface="+mn-cs"/>
              </a:rPr>
              <a:t>Buttons and joysticks for the arcade game </a:t>
            </a:r>
            <a:r>
              <a:rPr lang="en-US" sz="1200" b="0" i="1" u="none" strike="noStrike" kern="1200" baseline="0">
                <a:solidFill>
                  <a:schemeClr val="tx1"/>
                </a:solidFill>
                <a:latin typeface="+mn-lt"/>
                <a:ea typeface="+mn-ea"/>
                <a:cs typeface="+mn-cs"/>
              </a:rPr>
              <a:t>Mortal Kombat II </a:t>
            </a:r>
            <a:r>
              <a:rPr lang="en-US" sz="1200" b="0" i="0" u="none" strike="noStrike" kern="1200" baseline="0">
                <a:solidFill>
                  <a:schemeClr val="tx1"/>
                </a:solidFill>
                <a:latin typeface="+mn-lt"/>
                <a:ea typeface="+mn-ea"/>
                <a:cs typeface="+mn-cs"/>
              </a:rPr>
              <a:t>by Midway.</a:t>
            </a:r>
          </a:p>
          <a:p>
            <a:r>
              <a:rPr lang="en-US" sz="1200" b="0" i="0" u="none" strike="noStrike" kern="1200" baseline="0">
                <a:solidFill>
                  <a:schemeClr val="tx1"/>
                </a:solidFill>
                <a:latin typeface="+mn-lt"/>
                <a:ea typeface="+mn-ea"/>
                <a:cs typeface="+mn-cs"/>
              </a:rPr>
              <a:t>and games like </a:t>
            </a:r>
            <a:r>
              <a:rPr lang="en-CA" sz="1200" b="0" i="1" u="none" strike="noStrike" kern="1200" baseline="0">
                <a:solidFill>
                  <a:schemeClr val="tx1"/>
                </a:solidFill>
                <a:latin typeface="+mn-lt"/>
                <a:ea typeface="+mn-ea"/>
                <a:cs typeface="+mn-cs"/>
              </a:rPr>
              <a:t>Dance </a:t>
            </a:r>
            <a:r>
              <a:rPr lang="en-CA" sz="1200" b="0" i="1" u="none" strike="noStrike" kern="1200" baseline="0" err="1">
                <a:solidFill>
                  <a:schemeClr val="tx1"/>
                </a:solidFill>
                <a:latin typeface="+mn-lt"/>
                <a:ea typeface="+mn-ea"/>
                <a:cs typeface="+mn-cs"/>
              </a:rPr>
              <a:t>Dance</a:t>
            </a:r>
            <a:r>
              <a:rPr lang="en-CA" sz="1200" b="0" i="1" u="none" strike="noStrike" kern="1200" baseline="0">
                <a:solidFill>
                  <a:schemeClr val="tx1"/>
                </a:solidFill>
                <a:latin typeface="+mn-lt"/>
                <a:ea typeface="+mn-ea"/>
                <a:cs typeface="+mn-cs"/>
              </a:rPr>
              <a:t> Revolution </a:t>
            </a:r>
            <a:r>
              <a:rPr lang="en-CA" sz="1200" b="0" i="0" u="none" strike="noStrike" kern="1200" baseline="0">
                <a:solidFill>
                  <a:schemeClr val="tx1"/>
                </a:solidFill>
                <a:latin typeface="+mn-lt"/>
                <a:ea typeface="+mn-ea"/>
                <a:cs typeface="+mn-cs"/>
              </a:rPr>
              <a:t>use a special dance pad device.</a:t>
            </a:r>
            <a:endParaRPr lang="en-US"/>
          </a:p>
        </p:txBody>
      </p:sp>
      <p:sp>
        <p:nvSpPr>
          <p:cNvPr id="4" name="Slide Number Placeholder 3"/>
          <p:cNvSpPr>
            <a:spLocks noGrp="1"/>
          </p:cNvSpPr>
          <p:nvPr>
            <p:ph type="sldNum" sz="quarter" idx="5"/>
          </p:nvPr>
        </p:nvSpPr>
        <p:spPr/>
        <p:txBody>
          <a:bodyPr/>
          <a:lstStyle/>
          <a:p>
            <a:fld id="{F195FCB9-FB9C-4B06-A318-450E48AC1CCB}" type="slidenum">
              <a:rPr lang="en-CA" smtClean="0"/>
              <a:t>5</a:t>
            </a:fld>
            <a:endParaRPr lang="en-CA"/>
          </a:p>
        </p:txBody>
      </p:sp>
    </p:spTree>
    <p:extLst>
      <p:ext uri="{BB962C8B-B14F-4D97-AF65-F5344CB8AC3E}">
        <p14:creationId xmlns:p14="http://schemas.microsoft.com/office/powerpoint/2010/main" val="754017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8</a:t>
            </a:fld>
            <a:endParaRPr lang="en-CA"/>
          </a:p>
        </p:txBody>
      </p:sp>
    </p:spTree>
    <p:extLst>
      <p:ext uri="{BB962C8B-B14F-4D97-AF65-F5344CB8AC3E}">
        <p14:creationId xmlns:p14="http://schemas.microsoft.com/office/powerpoint/2010/main" val="626269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a:solidFill>
                  <a:schemeClr val="tx1"/>
                </a:solidFill>
                <a:latin typeface="+mn-lt"/>
                <a:ea typeface="+mn-ea"/>
                <a:cs typeface="+mn-cs"/>
              </a:rPr>
              <a:t>It is quite common for the states of all of the buttons on a device to be packed into a single unsigned integer value</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a 16-bit unsigned integer (WORD) variable named </a:t>
            </a:r>
            <a:r>
              <a:rPr lang="en-US" sz="1200" b="0" i="0" u="none" strike="noStrike" kern="1200" baseline="0" err="1">
                <a:solidFill>
                  <a:schemeClr val="tx1"/>
                </a:solidFill>
                <a:latin typeface="+mn-lt"/>
                <a:ea typeface="+mn-ea"/>
                <a:cs typeface="+mn-cs"/>
              </a:rPr>
              <a:t>wButtons</a:t>
            </a:r>
            <a:r>
              <a:rPr lang="en-US" sz="1200" b="0" i="0" u="none" strike="noStrike" kern="1200" baseline="0">
                <a:solidFill>
                  <a:schemeClr val="tx1"/>
                </a:solidFill>
                <a:latin typeface="+mn-lt"/>
                <a:ea typeface="+mn-ea"/>
                <a:cs typeface="+mn-cs"/>
              </a:rPr>
              <a:t> that holds the state of all buttons.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9</a:t>
            </a:fld>
            <a:endParaRPr lang="en-CA"/>
          </a:p>
        </p:txBody>
      </p:sp>
    </p:spTree>
    <p:extLst>
      <p:ext uri="{BB962C8B-B14F-4D97-AF65-F5344CB8AC3E}">
        <p14:creationId xmlns:p14="http://schemas.microsoft.com/office/powerpoint/2010/main" val="508368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An individual button’s state can be read by masking the </a:t>
            </a:r>
            <a:r>
              <a:rPr lang="en-US" sz="1200" b="0" i="0" u="none" strike="noStrike" kern="1200" baseline="0" err="1">
                <a:solidFill>
                  <a:schemeClr val="tx1"/>
                </a:solidFill>
                <a:latin typeface="+mn-lt"/>
                <a:ea typeface="+mn-ea"/>
                <a:cs typeface="+mn-cs"/>
              </a:rPr>
              <a:t>wButtons</a:t>
            </a:r>
            <a:r>
              <a:rPr lang="en-US" sz="1200" b="0" i="0" u="none" strike="noStrike" kern="1200" baseline="0">
                <a:solidFill>
                  <a:schemeClr val="tx1"/>
                </a:solidFill>
                <a:latin typeface="+mn-lt"/>
                <a:ea typeface="+mn-ea"/>
                <a:cs typeface="+mn-cs"/>
              </a:rPr>
              <a:t> word</a:t>
            </a:r>
          </a:p>
          <a:p>
            <a:r>
              <a:rPr lang="en-US" sz="1200" b="0" i="0" u="none" strike="noStrike" kern="1200" baseline="0">
                <a:solidFill>
                  <a:schemeClr val="tx1"/>
                </a:solidFill>
                <a:latin typeface="+mn-lt"/>
                <a:ea typeface="+mn-ea"/>
                <a:cs typeface="+mn-cs"/>
              </a:rPr>
              <a:t>with the appropriate bitmask via C/C++’s bitwise AND operator (&amp;) and then</a:t>
            </a:r>
          </a:p>
          <a:p>
            <a:r>
              <a:rPr lang="en-US" sz="1200" b="0" i="0" u="none" strike="noStrike" kern="1200" baseline="0">
                <a:solidFill>
                  <a:schemeClr val="tx1"/>
                </a:solidFill>
                <a:latin typeface="+mn-lt"/>
                <a:ea typeface="+mn-ea"/>
                <a:cs typeface="+mn-cs"/>
              </a:rPr>
              <a:t>checking if the result is nonzero</a:t>
            </a:r>
            <a:endParaRPr lang="en-CA"/>
          </a:p>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10</a:t>
            </a:fld>
            <a:endParaRPr lang="en-CA"/>
          </a:p>
        </p:txBody>
      </p:sp>
    </p:spTree>
    <p:extLst>
      <p:ext uri="{BB962C8B-B14F-4D97-AF65-F5344CB8AC3E}">
        <p14:creationId xmlns:p14="http://schemas.microsoft.com/office/powerpoint/2010/main" val="390026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Two analog inputs can be used to represent the </a:t>
            </a:r>
            <a:r>
              <a:rPr lang="en-US" sz="1200" b="0" i="1" u="none" strike="noStrike" kern="1200" baseline="0">
                <a:solidFill>
                  <a:schemeClr val="tx1"/>
                </a:solidFill>
                <a:latin typeface="+mn-lt"/>
                <a:ea typeface="+mn-ea"/>
                <a:cs typeface="+mn-cs"/>
              </a:rPr>
              <a:t>x </a:t>
            </a:r>
            <a:r>
              <a:rPr lang="en-US" sz="1200" b="0" i="0" u="none" strike="noStrike" kern="1200" baseline="0">
                <a:solidFill>
                  <a:schemeClr val="tx1"/>
                </a:solidFill>
                <a:latin typeface="+mn-lt"/>
                <a:ea typeface="+mn-ea"/>
                <a:cs typeface="+mn-cs"/>
              </a:rPr>
              <a:t>and </a:t>
            </a:r>
            <a:r>
              <a:rPr lang="en-US" sz="1200" b="0" i="1" u="none" strike="noStrike" kern="1200" baseline="0">
                <a:solidFill>
                  <a:schemeClr val="tx1"/>
                </a:solidFill>
                <a:latin typeface="+mn-lt"/>
                <a:ea typeface="+mn-ea"/>
                <a:cs typeface="+mn-cs"/>
              </a:rPr>
              <a:t>y </a:t>
            </a:r>
            <a:r>
              <a:rPr lang="en-US" sz="1200" b="0" i="0" u="none" strike="noStrike" kern="1200" baseline="0">
                <a:solidFill>
                  <a:schemeClr val="tx1"/>
                </a:solidFill>
                <a:latin typeface="+mn-lt"/>
                <a:ea typeface="+mn-ea"/>
                <a:cs typeface="+mn-cs"/>
              </a:rPr>
              <a:t>deflection of a joystick.</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11</a:t>
            </a:fld>
            <a:endParaRPr lang="en-CA"/>
          </a:p>
        </p:txBody>
      </p:sp>
    </p:spTree>
    <p:extLst>
      <p:ext uri="{BB962C8B-B14F-4D97-AF65-F5344CB8AC3E}">
        <p14:creationId xmlns:p14="http://schemas.microsoft.com/office/powerpoint/2010/main" val="2838604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https://www.youtube.com/watch?v=tNIDPXqZHCY</a:t>
            </a:r>
          </a:p>
          <a:p>
            <a:r>
              <a:rPr lang="en-CA"/>
              <a:t>https://www.youtube.com/watch?v=i2U49usFo10</a:t>
            </a:r>
          </a:p>
          <a:p>
            <a:r>
              <a:rPr lang="en-CA"/>
              <a:t>https://www.youtube.com/watch?v=KZVgKu6v808</a:t>
            </a:r>
          </a:p>
          <a:p>
            <a:r>
              <a:rPr lang="en-CA"/>
              <a:t>https://en.wikipedia.org/wiki/Accelerometer</a:t>
            </a:r>
          </a:p>
        </p:txBody>
      </p:sp>
      <p:sp>
        <p:nvSpPr>
          <p:cNvPr id="4" name="Slide Number Placeholder 3"/>
          <p:cNvSpPr>
            <a:spLocks noGrp="1"/>
          </p:cNvSpPr>
          <p:nvPr>
            <p:ph type="sldNum" sz="quarter" idx="5"/>
          </p:nvPr>
        </p:nvSpPr>
        <p:spPr/>
        <p:txBody>
          <a:bodyPr/>
          <a:lstStyle/>
          <a:p>
            <a:fld id="{F195FCB9-FB9C-4B06-A318-450E48AC1CCB}" type="slidenum">
              <a:rPr lang="en-CA" smtClean="0"/>
              <a:t>14</a:t>
            </a:fld>
            <a:endParaRPr lang="en-CA"/>
          </a:p>
        </p:txBody>
      </p:sp>
    </p:spTree>
    <p:extLst>
      <p:ext uri="{BB962C8B-B14F-4D97-AF65-F5344CB8AC3E}">
        <p14:creationId xmlns:p14="http://schemas.microsoft.com/office/powerpoint/2010/main" val="3482306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A trio of accelerometers can be used to detect the orientation of the </a:t>
            </a:r>
            <a:r>
              <a:rPr lang="en-US" sz="1200" b="0" i="0" u="none" strike="noStrike" kern="1200" baseline="0" err="1">
                <a:solidFill>
                  <a:schemeClr val="tx1"/>
                </a:solidFill>
                <a:latin typeface="+mn-lt"/>
                <a:ea typeface="+mn-ea"/>
                <a:cs typeface="+mn-cs"/>
              </a:rPr>
              <a:t>Wiimote</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or DualShock joypad, because of the fact that we are playing these games on</a:t>
            </a:r>
          </a:p>
          <a:p>
            <a:r>
              <a:rPr lang="en-US" sz="1200" b="0" i="0" u="none" strike="noStrike" kern="1200" baseline="0">
                <a:solidFill>
                  <a:schemeClr val="tx1"/>
                </a:solidFill>
                <a:latin typeface="+mn-lt"/>
                <a:ea typeface="+mn-ea"/>
                <a:cs typeface="+mn-cs"/>
              </a:rPr>
              <a:t>the surface of the Earth where there is a constant downward acceleration due</a:t>
            </a:r>
          </a:p>
          <a:p>
            <a:r>
              <a:rPr lang="en-US" sz="1200" b="0" i="0" u="none" strike="noStrike" kern="1200" baseline="0">
                <a:solidFill>
                  <a:schemeClr val="tx1"/>
                </a:solidFill>
                <a:latin typeface="+mn-lt"/>
                <a:ea typeface="+mn-ea"/>
                <a:cs typeface="+mn-cs"/>
              </a:rPr>
              <a:t>to gravity of 1 g (</a:t>
            </a:r>
            <a:r>
              <a:rPr lang="en-US" sz="1200" b="0" i="1" u="none" strike="noStrike" kern="1200" baseline="0">
                <a:solidFill>
                  <a:schemeClr val="tx1"/>
                </a:solidFill>
                <a:latin typeface="+mn-lt"/>
                <a:ea typeface="+mn-ea"/>
                <a:cs typeface="+mn-cs"/>
              </a:rPr>
              <a:t> </a:t>
            </a:r>
            <a:r>
              <a:rPr lang="en-US" sz="1200" b="0" i="0" u="none" strike="noStrike" kern="1200" baseline="0">
                <a:solidFill>
                  <a:schemeClr val="tx1"/>
                </a:solidFill>
                <a:latin typeface="+mn-lt"/>
                <a:ea typeface="+mn-ea"/>
                <a:cs typeface="+mn-cs"/>
              </a:rPr>
              <a:t>9.8 m/s2). If the controller is held perfectly level, with the</a:t>
            </a:r>
          </a:p>
          <a:p>
            <a:r>
              <a:rPr lang="en-US" sz="1200" b="0" i="0" u="none" strike="noStrike" kern="1200" baseline="0">
                <a:solidFill>
                  <a:schemeClr val="tx1"/>
                </a:solidFill>
                <a:latin typeface="+mn-lt"/>
                <a:ea typeface="+mn-ea"/>
                <a:cs typeface="+mn-cs"/>
              </a:rPr>
              <a:t>IR sensor pointing toward your TV set, the vertical (</a:t>
            </a:r>
            <a:r>
              <a:rPr lang="en-US" sz="1200" b="0" i="1" u="none" strike="noStrike" kern="1200" baseline="0">
                <a:solidFill>
                  <a:schemeClr val="tx1"/>
                </a:solidFill>
                <a:latin typeface="+mn-lt"/>
                <a:ea typeface="+mn-ea"/>
                <a:cs typeface="+mn-cs"/>
              </a:rPr>
              <a:t>z</a:t>
            </a:r>
            <a:r>
              <a:rPr lang="en-US" sz="1200" b="0" i="0" u="none" strike="noStrike" kern="1200" baseline="0">
                <a:solidFill>
                  <a:schemeClr val="tx1"/>
                </a:solidFill>
                <a:latin typeface="+mn-lt"/>
                <a:ea typeface="+mn-ea"/>
                <a:cs typeface="+mn-cs"/>
              </a:rPr>
              <a:t>) acceleration should be</a:t>
            </a:r>
          </a:p>
          <a:p>
            <a:r>
              <a:rPr lang="en-CA" sz="1200" b="0" i="0" u="none" strike="noStrike" kern="1200" baseline="0">
                <a:solidFill>
                  <a:schemeClr val="tx1"/>
                </a:solidFill>
                <a:latin typeface="+mn-lt"/>
                <a:ea typeface="+mn-ea"/>
                <a:cs typeface="+mn-cs"/>
              </a:rPr>
              <a:t>approximately -1 g.</a:t>
            </a:r>
          </a:p>
          <a:p>
            <a:r>
              <a:rPr lang="en-US" sz="1200" b="0" i="0" u="none" strike="noStrike" kern="1200" baseline="0">
                <a:solidFill>
                  <a:schemeClr val="tx1"/>
                </a:solidFill>
                <a:latin typeface="+mn-lt"/>
                <a:ea typeface="+mn-ea"/>
                <a:cs typeface="+mn-cs"/>
              </a:rPr>
              <a:t>Holding the </a:t>
            </a:r>
            <a:r>
              <a:rPr lang="en-US" sz="1200" b="0" i="0" u="none" strike="noStrike" kern="1200" baseline="0" err="1">
                <a:solidFill>
                  <a:schemeClr val="tx1"/>
                </a:solidFill>
                <a:latin typeface="+mn-lt"/>
                <a:ea typeface="+mn-ea"/>
                <a:cs typeface="+mn-cs"/>
              </a:rPr>
              <a:t>Wiimote</a:t>
            </a:r>
            <a:r>
              <a:rPr lang="en-US" sz="1200" b="0" i="0" u="none" strike="noStrike" kern="1200" baseline="0">
                <a:solidFill>
                  <a:schemeClr val="tx1"/>
                </a:solidFill>
                <a:latin typeface="+mn-lt"/>
                <a:ea typeface="+mn-ea"/>
                <a:cs typeface="+mn-cs"/>
              </a:rPr>
              <a:t> at a 45-degree angle should produce roughly sin(45</a:t>
            </a:r>
            <a:r>
              <a:rPr lang="en-US" sz="1200" b="0" i="1" u="none" strike="noStrike" kern="1200" baseline="0">
                <a:solidFill>
                  <a:schemeClr val="tx1"/>
                </a:solidFill>
                <a:latin typeface="+mn-lt"/>
                <a:ea typeface="+mn-ea"/>
                <a:cs typeface="+mn-cs"/>
              </a:rPr>
              <a:t>◦</a:t>
            </a:r>
            <a:r>
              <a:rPr lang="en-US" sz="1200" b="0" i="0" u="none" strike="noStrike" kern="1200" baseline="0">
                <a:solidFill>
                  <a:schemeClr val="tx1"/>
                </a:solidFill>
                <a:latin typeface="+mn-lt"/>
                <a:ea typeface="+mn-ea"/>
                <a:cs typeface="+mn-cs"/>
              </a:rPr>
              <a:t>) =</a:t>
            </a:r>
          </a:p>
          <a:p>
            <a:r>
              <a:rPr lang="en-US" sz="1200" b="0" i="0" u="none" strike="noStrike" kern="1200" baseline="0">
                <a:solidFill>
                  <a:schemeClr val="tx1"/>
                </a:solidFill>
                <a:latin typeface="+mn-lt"/>
                <a:ea typeface="+mn-ea"/>
                <a:cs typeface="+mn-cs"/>
              </a:rPr>
              <a:t>cos(45</a:t>
            </a:r>
            <a:r>
              <a:rPr lang="en-US" sz="1200" b="0" i="1" u="none" strike="noStrike" kern="1200" baseline="0">
                <a:solidFill>
                  <a:schemeClr val="tx1"/>
                </a:solidFill>
                <a:latin typeface="+mn-lt"/>
                <a:ea typeface="+mn-ea"/>
                <a:cs typeface="+mn-cs"/>
              </a:rPr>
              <a:t>◦</a:t>
            </a:r>
            <a:r>
              <a:rPr lang="en-US" sz="1200" b="0" i="0" u="none" strike="noStrike" kern="1200" baseline="0">
                <a:solidFill>
                  <a:schemeClr val="tx1"/>
                </a:solidFill>
                <a:latin typeface="+mn-lt"/>
                <a:ea typeface="+mn-ea"/>
                <a:cs typeface="+mn-cs"/>
              </a:rPr>
              <a:t>) = 0.707 g on both the </a:t>
            </a:r>
            <a:r>
              <a:rPr lang="en-US" sz="1200" b="0" i="1" u="none" strike="noStrike" kern="1200" baseline="0">
                <a:solidFill>
                  <a:schemeClr val="tx1"/>
                </a:solidFill>
                <a:latin typeface="+mn-lt"/>
                <a:ea typeface="+mn-ea"/>
                <a:cs typeface="+mn-cs"/>
              </a:rPr>
              <a:t>y </a:t>
            </a:r>
            <a:r>
              <a:rPr lang="en-US" sz="1200" b="0" i="0" u="none" strike="noStrike" kern="1200" baseline="0">
                <a:solidFill>
                  <a:schemeClr val="tx1"/>
                </a:solidFill>
                <a:latin typeface="+mn-lt"/>
                <a:ea typeface="+mn-ea"/>
                <a:cs typeface="+mn-cs"/>
              </a:rPr>
              <a:t>and </a:t>
            </a:r>
            <a:r>
              <a:rPr lang="en-US" sz="1200" b="0" i="1" u="none" strike="noStrike" kern="1200" baseline="0">
                <a:solidFill>
                  <a:schemeClr val="tx1"/>
                </a:solidFill>
                <a:latin typeface="+mn-lt"/>
                <a:ea typeface="+mn-ea"/>
                <a:cs typeface="+mn-cs"/>
              </a:rPr>
              <a:t>z </a:t>
            </a:r>
            <a:r>
              <a:rPr lang="en-US" sz="1200" b="0" i="0" u="none" strike="noStrike" kern="1200" baseline="0">
                <a:solidFill>
                  <a:schemeClr val="tx1"/>
                </a:solidFill>
                <a:latin typeface="+mn-lt"/>
                <a:ea typeface="+mn-ea"/>
                <a:cs typeface="+mn-cs"/>
              </a:rPr>
              <a:t>inputs. Once we’ve calibrated the</a:t>
            </a:r>
          </a:p>
          <a:p>
            <a:r>
              <a:rPr lang="en-US" sz="1200" b="0" i="0" u="none" strike="noStrike" kern="1200" baseline="0">
                <a:solidFill>
                  <a:schemeClr val="tx1"/>
                </a:solidFill>
                <a:latin typeface="+mn-lt"/>
                <a:ea typeface="+mn-ea"/>
                <a:cs typeface="+mn-cs"/>
              </a:rPr>
              <a:t>accelerometer inputs to find the zero points along each axis, we can calculate</a:t>
            </a:r>
          </a:p>
          <a:p>
            <a:r>
              <a:rPr lang="en-US" sz="1200" b="0" i="0" u="none" strike="noStrike" kern="1200" baseline="0">
                <a:solidFill>
                  <a:schemeClr val="tx1"/>
                </a:solidFill>
                <a:latin typeface="+mn-lt"/>
                <a:ea typeface="+mn-ea"/>
                <a:cs typeface="+mn-cs"/>
              </a:rPr>
              <a:t>pitch, yaw and roll easily, using inverse sine and cosine operations.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15</a:t>
            </a:fld>
            <a:endParaRPr lang="en-CA"/>
          </a:p>
        </p:txBody>
      </p:sp>
    </p:spTree>
    <p:extLst>
      <p:ext uri="{BB962C8B-B14F-4D97-AF65-F5344CB8AC3E}">
        <p14:creationId xmlns:p14="http://schemas.microsoft.com/office/powerpoint/2010/main" val="4089592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The left picture: is Sony’s PlayStation Eye for the PS3</a:t>
            </a:r>
          </a:p>
          <a:p>
            <a:r>
              <a:rPr lang="en-US" sz="1200" b="0" i="0" u="none" strike="noStrike" kern="1200" baseline="0">
                <a:solidFill>
                  <a:schemeClr val="tx1"/>
                </a:solidFill>
                <a:latin typeface="+mn-lt"/>
                <a:ea typeface="+mn-ea"/>
                <a:cs typeface="+mn-cs"/>
              </a:rPr>
              <a:t>With the PlayStation 4, Sony has improved the Eye and re-dubbed it the</a:t>
            </a:r>
          </a:p>
          <a:p>
            <a:r>
              <a:rPr lang="en-US" sz="1200" b="0" i="0" u="none" strike="noStrike" kern="1200" baseline="0">
                <a:solidFill>
                  <a:schemeClr val="tx1"/>
                </a:solidFill>
                <a:latin typeface="+mn-lt"/>
                <a:ea typeface="+mn-ea"/>
                <a:cs typeface="+mn-cs"/>
              </a:rPr>
              <a:t>PlayStation Camera. When combined with the PlayStation Move controller</a:t>
            </a:r>
          </a:p>
          <a:p>
            <a:r>
              <a:rPr lang="en-US" sz="1200" b="0" i="0" u="none" strike="noStrike" kern="1200" baseline="0">
                <a:solidFill>
                  <a:schemeClr val="tx1"/>
                </a:solidFill>
                <a:latin typeface="+mn-lt"/>
                <a:ea typeface="+mn-ea"/>
                <a:cs typeface="+mn-cs"/>
              </a:rPr>
              <a:t>or the DualShock 4 controller, the PlayStation can detect gestures</a:t>
            </a:r>
          </a:p>
          <a:p>
            <a:r>
              <a:rPr lang="en-US" sz="1200" b="0" i="0" u="none" strike="noStrike" kern="1200" baseline="0">
                <a:solidFill>
                  <a:schemeClr val="tx1"/>
                </a:solidFill>
                <a:latin typeface="+mn-lt"/>
                <a:ea typeface="+mn-ea"/>
                <a:cs typeface="+mn-cs"/>
              </a:rPr>
              <a:t>in basically the same way as Microsoft’s Kinect system can</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The bottom picture: Sony’s PlayStation Camera, PlayStation Move controller and DualShock 4 joypad for the PS4.</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The right picture: The Microsoft Kinect for Xbox 360 (top) and Xbox One</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18</a:t>
            </a:fld>
            <a:endParaRPr lang="en-CA"/>
          </a:p>
        </p:txBody>
      </p:sp>
    </p:spTree>
    <p:extLst>
      <p:ext uri="{BB962C8B-B14F-4D97-AF65-F5344CB8AC3E}">
        <p14:creationId xmlns:p14="http://schemas.microsoft.com/office/powerpoint/2010/main" val="2108995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Human interface devices are primarily used to transmit inputs from the player</a:t>
            </a:r>
          </a:p>
          <a:p>
            <a:r>
              <a:rPr lang="en-US" sz="1200" b="0" i="0" u="none" strike="noStrike" kern="1200" baseline="0">
                <a:solidFill>
                  <a:schemeClr val="tx1"/>
                </a:solidFill>
                <a:latin typeface="+mn-lt"/>
                <a:ea typeface="+mn-ea"/>
                <a:cs typeface="+mn-cs"/>
              </a:rPr>
              <a:t>to the game software. However, some HIDs can also provide feedback to the</a:t>
            </a:r>
          </a:p>
          <a:p>
            <a:r>
              <a:rPr lang="en-US" sz="1200" b="0" i="0" u="none" strike="noStrike" kern="1200" baseline="0">
                <a:solidFill>
                  <a:schemeClr val="tx1"/>
                </a:solidFill>
                <a:latin typeface="+mn-lt"/>
                <a:ea typeface="+mn-ea"/>
                <a:cs typeface="+mn-cs"/>
              </a:rPr>
              <a:t>human player via various kinds of outputs.</a:t>
            </a:r>
          </a:p>
          <a:p>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Game pads like the PlayStation’s DualShock line of controllers and the Xbox</a:t>
            </a:r>
          </a:p>
          <a:p>
            <a:r>
              <a:rPr lang="en-US" sz="1200" b="0" i="0" u="none" strike="noStrike" kern="1200" baseline="0">
                <a:solidFill>
                  <a:schemeClr val="tx1"/>
                </a:solidFill>
                <a:latin typeface="+mn-lt"/>
                <a:ea typeface="+mn-ea"/>
                <a:cs typeface="+mn-cs"/>
              </a:rPr>
              <a:t>and Xbox 360 controllers have a </a:t>
            </a:r>
            <a:r>
              <a:rPr lang="en-US" sz="1200" b="0" i="1" u="none" strike="noStrike" kern="1200" baseline="0">
                <a:solidFill>
                  <a:schemeClr val="tx1"/>
                </a:solidFill>
                <a:latin typeface="+mn-lt"/>
                <a:ea typeface="+mn-ea"/>
                <a:cs typeface="+mn-cs"/>
              </a:rPr>
              <a:t>rumble </a:t>
            </a:r>
            <a:r>
              <a:rPr lang="en-US" sz="1200" b="0" i="0" u="none" strike="noStrike" kern="1200" baseline="0">
                <a:solidFill>
                  <a:schemeClr val="tx1"/>
                </a:solidFill>
                <a:latin typeface="+mn-lt"/>
                <a:ea typeface="+mn-ea"/>
                <a:cs typeface="+mn-cs"/>
              </a:rPr>
              <a:t>feature. This allows the controller to</a:t>
            </a:r>
          </a:p>
          <a:p>
            <a:r>
              <a:rPr lang="en-US" sz="1200" b="0" i="0" u="none" strike="noStrike" kern="1200" baseline="0">
                <a:solidFill>
                  <a:schemeClr val="tx1"/>
                </a:solidFill>
                <a:latin typeface="+mn-lt"/>
                <a:ea typeface="+mn-ea"/>
                <a:cs typeface="+mn-cs"/>
              </a:rPr>
              <a:t>vibrate in the player’s hands, simulating the turbulence or impacts that the</a:t>
            </a:r>
          </a:p>
          <a:p>
            <a:r>
              <a:rPr lang="en-US" sz="1200" b="0" i="0" u="none" strike="noStrike" kern="1200" baseline="0">
                <a:solidFill>
                  <a:schemeClr val="tx1"/>
                </a:solidFill>
                <a:latin typeface="+mn-lt"/>
                <a:ea typeface="+mn-ea"/>
                <a:cs typeface="+mn-cs"/>
              </a:rPr>
              <a:t>character in the game world might be experiencing.</a:t>
            </a:r>
          </a:p>
          <a:p>
            <a:endParaRPr lang="en-US" sz="1200" b="0" i="0" u="none" strike="noStrike" kern="1200" baseline="0">
              <a:solidFill>
                <a:schemeClr val="tx1"/>
              </a:solidFill>
              <a:latin typeface="+mn-lt"/>
              <a:ea typeface="+mn-ea"/>
              <a:cs typeface="+mn-cs"/>
            </a:endParaRPr>
          </a:p>
          <a:p>
            <a:r>
              <a:rPr lang="en-CA"/>
              <a:t>https://en.wikipedia.org/wiki/Sixaxis</a:t>
            </a:r>
          </a:p>
          <a:p>
            <a:r>
              <a:rPr lang="en-US" sz="1200" b="0" i="0" kern="1200">
                <a:solidFill>
                  <a:schemeClr val="tx1"/>
                </a:solidFill>
                <a:effectLst/>
                <a:latin typeface="+mn-lt"/>
                <a:ea typeface="+mn-ea"/>
                <a:cs typeface="+mn-cs"/>
              </a:rPr>
              <a:t>The six degrees of freedom: forward/back, up/down, left/right, yaw, pitch, rol</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19</a:t>
            </a:fld>
            <a:endParaRPr lang="en-CA"/>
          </a:p>
        </p:txBody>
      </p:sp>
    </p:spTree>
    <p:extLst>
      <p:ext uri="{BB962C8B-B14F-4D97-AF65-F5344CB8AC3E}">
        <p14:creationId xmlns:p14="http://schemas.microsoft.com/office/powerpoint/2010/main" val="3015060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A discrete first-order low-pass filter can be implemented by combining the</a:t>
            </a:r>
          </a:p>
          <a:p>
            <a:r>
              <a:rPr lang="en-US" sz="1200" b="0" i="0" u="none" strike="noStrike" kern="1200" baseline="0">
                <a:solidFill>
                  <a:schemeClr val="tx1"/>
                </a:solidFill>
                <a:latin typeface="+mn-lt"/>
                <a:ea typeface="+mn-ea"/>
                <a:cs typeface="+mn-cs"/>
              </a:rPr>
              <a:t>current unfiltered input value with last frame’s filtered input. If we denote</a:t>
            </a:r>
          </a:p>
          <a:p>
            <a:r>
              <a:rPr lang="en-US" sz="1200" b="0" i="0" u="none" strike="noStrike" kern="1200" baseline="0">
                <a:solidFill>
                  <a:schemeClr val="tx1"/>
                </a:solidFill>
                <a:latin typeface="+mn-lt"/>
                <a:ea typeface="+mn-ea"/>
                <a:cs typeface="+mn-cs"/>
              </a:rPr>
              <a:t>the sequence of unfiltered inputs by the time-varying function </a:t>
            </a:r>
            <a:r>
              <a:rPr lang="en-US" sz="1200" b="0" i="1" u="none" strike="noStrike" kern="1200" baseline="0">
                <a:solidFill>
                  <a:schemeClr val="tx1"/>
                </a:solidFill>
                <a:latin typeface="+mn-lt"/>
                <a:ea typeface="+mn-ea"/>
                <a:cs typeface="+mn-cs"/>
              </a:rPr>
              <a:t>u</a:t>
            </a:r>
            <a:r>
              <a:rPr lang="en-US" sz="1200" b="0" i="0" u="none" strike="noStrike" kern="1200" baseline="0">
                <a:solidFill>
                  <a:schemeClr val="tx1"/>
                </a:solidFill>
                <a:latin typeface="+mn-lt"/>
                <a:ea typeface="+mn-ea"/>
                <a:cs typeface="+mn-cs"/>
              </a:rPr>
              <a:t>(</a:t>
            </a:r>
            <a:r>
              <a:rPr lang="en-US" sz="1200" b="0" i="1" u="none" strike="noStrike" kern="1200" baseline="0">
                <a:solidFill>
                  <a:schemeClr val="tx1"/>
                </a:solidFill>
                <a:latin typeface="+mn-lt"/>
                <a:ea typeface="+mn-ea"/>
                <a:cs typeface="+mn-cs"/>
              </a:rPr>
              <a:t>t</a:t>
            </a:r>
            <a:r>
              <a:rPr lang="en-US" sz="1200" b="0" i="0" u="none" strike="noStrike" kern="1200" baseline="0">
                <a:solidFill>
                  <a:schemeClr val="tx1"/>
                </a:solidFill>
                <a:latin typeface="+mn-lt"/>
                <a:ea typeface="+mn-ea"/>
                <a:cs typeface="+mn-cs"/>
              </a:rPr>
              <a:t>) and the</a:t>
            </a:r>
          </a:p>
          <a:p>
            <a:r>
              <a:rPr lang="en-US" sz="1200" b="0" i="0" u="none" strike="noStrike" kern="1200" baseline="0">
                <a:solidFill>
                  <a:schemeClr val="tx1"/>
                </a:solidFill>
                <a:latin typeface="+mn-lt"/>
                <a:ea typeface="+mn-ea"/>
                <a:cs typeface="+mn-cs"/>
              </a:rPr>
              <a:t>filtered inputs by </a:t>
            </a:r>
            <a:r>
              <a:rPr lang="en-US" sz="1200" b="0" i="1" u="none" strike="noStrike" kern="1200" baseline="0">
                <a:solidFill>
                  <a:schemeClr val="tx1"/>
                </a:solidFill>
                <a:latin typeface="+mn-lt"/>
                <a:ea typeface="+mn-ea"/>
                <a:cs typeface="+mn-cs"/>
              </a:rPr>
              <a:t>f </a:t>
            </a:r>
            <a:r>
              <a:rPr lang="en-US" sz="1200" b="0" i="0" u="none" strike="noStrike" kern="1200" baseline="0">
                <a:solidFill>
                  <a:schemeClr val="tx1"/>
                </a:solidFill>
                <a:latin typeface="+mn-lt"/>
                <a:ea typeface="+mn-ea"/>
                <a:cs typeface="+mn-cs"/>
              </a:rPr>
              <a:t>(</a:t>
            </a:r>
            <a:r>
              <a:rPr lang="en-US" sz="1200" b="0" i="1" u="none" strike="noStrike" kern="1200" baseline="0">
                <a:solidFill>
                  <a:schemeClr val="tx1"/>
                </a:solidFill>
                <a:latin typeface="+mn-lt"/>
                <a:ea typeface="+mn-ea"/>
                <a:cs typeface="+mn-cs"/>
              </a:rPr>
              <a:t>t</a:t>
            </a:r>
            <a:r>
              <a:rPr lang="en-US" sz="1200" b="0" i="0" u="none" strike="noStrike" kern="1200" baseline="0">
                <a:solidFill>
                  <a:schemeClr val="tx1"/>
                </a:solidFill>
                <a:latin typeface="+mn-lt"/>
                <a:ea typeface="+mn-ea"/>
                <a:cs typeface="+mn-cs"/>
              </a:rPr>
              <a:t>), where </a:t>
            </a:r>
            <a:r>
              <a:rPr lang="en-US" sz="1200" b="0" i="1" u="none" strike="noStrike" kern="1200" baseline="0">
                <a:solidFill>
                  <a:schemeClr val="tx1"/>
                </a:solidFill>
                <a:latin typeface="+mn-lt"/>
                <a:ea typeface="+mn-ea"/>
                <a:cs typeface="+mn-cs"/>
              </a:rPr>
              <a:t>t </a:t>
            </a:r>
            <a:r>
              <a:rPr lang="en-US" sz="1200" b="0" i="0" u="none" strike="noStrike" kern="1200" baseline="0">
                <a:solidFill>
                  <a:schemeClr val="tx1"/>
                </a:solidFill>
                <a:latin typeface="+mn-lt"/>
                <a:ea typeface="+mn-ea"/>
                <a:cs typeface="+mn-cs"/>
              </a:rPr>
              <a:t>denotes time</a:t>
            </a:r>
          </a:p>
          <a:p>
            <a:r>
              <a:rPr lang="en-US" sz="1200" b="0" i="0" u="none" strike="noStrike" kern="1200" baseline="0">
                <a:solidFill>
                  <a:schemeClr val="tx1"/>
                </a:solidFill>
                <a:latin typeface="+mn-lt"/>
                <a:ea typeface="+mn-ea"/>
                <a:cs typeface="+mn-cs"/>
              </a:rPr>
              <a:t>where the parameter </a:t>
            </a:r>
            <a:r>
              <a:rPr lang="en-US" sz="1200" b="0" i="1" u="none" strike="noStrike" kern="1200" baseline="0">
                <a:solidFill>
                  <a:schemeClr val="tx1"/>
                </a:solidFill>
                <a:latin typeface="+mn-lt"/>
                <a:ea typeface="+mn-ea"/>
                <a:cs typeface="+mn-cs"/>
              </a:rPr>
              <a:t>a </a:t>
            </a:r>
            <a:r>
              <a:rPr lang="en-US" sz="1200" b="0" i="0" u="none" strike="noStrike" kern="1200" baseline="0">
                <a:solidFill>
                  <a:schemeClr val="tx1"/>
                </a:solidFill>
                <a:latin typeface="+mn-lt"/>
                <a:ea typeface="+mn-ea"/>
                <a:cs typeface="+mn-cs"/>
              </a:rPr>
              <a:t>is determined by the frame duration </a:t>
            </a:r>
            <a:r>
              <a:rPr lang="en-US" sz="1200" b="0" i="0" u="none" strike="noStrike" kern="1200" baseline="0" err="1">
                <a:solidFill>
                  <a:schemeClr val="tx1"/>
                </a:solidFill>
                <a:latin typeface="+mn-lt"/>
                <a:ea typeface="+mn-ea"/>
                <a:cs typeface="+mn-cs"/>
              </a:rPr>
              <a:t>Δ</a:t>
            </a:r>
            <a:r>
              <a:rPr lang="en-US" sz="1200" b="0" i="1" u="none" strike="noStrike" kern="1200" baseline="0" err="1">
                <a:solidFill>
                  <a:schemeClr val="tx1"/>
                </a:solidFill>
                <a:latin typeface="+mn-lt"/>
                <a:ea typeface="+mn-ea"/>
                <a:cs typeface="+mn-cs"/>
              </a:rPr>
              <a:t>t</a:t>
            </a:r>
            <a:r>
              <a:rPr lang="en-US" sz="1200" b="0" i="1" u="none" strike="noStrike" kern="1200" baseline="0">
                <a:solidFill>
                  <a:schemeClr val="tx1"/>
                </a:solidFill>
                <a:latin typeface="+mn-lt"/>
                <a:ea typeface="+mn-ea"/>
                <a:cs typeface="+mn-cs"/>
              </a:rPr>
              <a:t> </a:t>
            </a:r>
            <a:r>
              <a:rPr lang="en-US" sz="1200" b="0" i="0" u="none" strike="noStrike" kern="1200" baseline="0">
                <a:solidFill>
                  <a:schemeClr val="tx1"/>
                </a:solidFill>
                <a:latin typeface="+mn-lt"/>
                <a:ea typeface="+mn-ea"/>
                <a:cs typeface="+mn-cs"/>
              </a:rPr>
              <a:t>and a filtering</a:t>
            </a:r>
          </a:p>
          <a:p>
            <a:r>
              <a:rPr lang="en-US" sz="1200" b="0" i="0" u="none" strike="noStrike" kern="1200" baseline="0">
                <a:solidFill>
                  <a:schemeClr val="tx1"/>
                </a:solidFill>
                <a:latin typeface="+mn-lt"/>
                <a:ea typeface="+mn-ea"/>
                <a:cs typeface="+mn-cs"/>
              </a:rPr>
              <a:t>constant </a:t>
            </a:r>
            <a:r>
              <a:rPr lang="en-US" sz="1200" b="0" i="1" u="none" strike="noStrike" kern="1200" baseline="0">
                <a:solidFill>
                  <a:schemeClr val="tx1"/>
                </a:solidFill>
                <a:latin typeface="+mn-lt"/>
                <a:ea typeface="+mn-ea"/>
                <a:cs typeface="+mn-cs"/>
              </a:rPr>
              <a:t>RC </a:t>
            </a:r>
            <a:r>
              <a:rPr lang="en-US" sz="1200" b="0" i="0" u="none" strike="noStrike" kern="1200" baseline="0">
                <a:solidFill>
                  <a:schemeClr val="tx1"/>
                </a:solidFill>
                <a:latin typeface="+mn-lt"/>
                <a:ea typeface="+mn-ea"/>
                <a:cs typeface="+mn-cs"/>
              </a:rPr>
              <a:t>(which is just the product of the resistance and the capacitance in</a:t>
            </a:r>
          </a:p>
          <a:p>
            <a:r>
              <a:rPr lang="en-CA" sz="1200" b="0" i="0" u="none" strike="noStrike" kern="1200" baseline="0">
                <a:solidFill>
                  <a:schemeClr val="tx1"/>
                </a:solidFill>
                <a:latin typeface="+mn-lt"/>
                <a:ea typeface="+mn-ea"/>
                <a:cs typeface="+mn-cs"/>
              </a:rPr>
              <a:t>a traditional analog RC low-pass filter circuit):</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23</a:t>
            </a:fld>
            <a:endParaRPr lang="en-CA"/>
          </a:p>
        </p:txBody>
      </p:sp>
    </p:spTree>
    <p:extLst>
      <p:ext uri="{BB962C8B-B14F-4D97-AF65-F5344CB8AC3E}">
        <p14:creationId xmlns:p14="http://schemas.microsoft.com/office/powerpoint/2010/main" val="2184730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For example, if we want to average the input data over a 3/30 second (3</a:t>
            </a:r>
          </a:p>
          <a:p>
            <a:r>
              <a:rPr lang="en-US" sz="1200" b="0" i="0" u="none" strike="noStrike" kern="1200" baseline="0">
                <a:solidFill>
                  <a:schemeClr val="tx1"/>
                </a:solidFill>
                <a:latin typeface="+mn-lt"/>
                <a:ea typeface="+mn-ea"/>
                <a:cs typeface="+mn-cs"/>
              </a:rPr>
              <a:t>frame) interval, we simply store the raw input values in a 3-element circular buffer. </a:t>
            </a:r>
          </a:p>
          <a:p>
            <a:r>
              <a:rPr lang="en-US" sz="1200" b="0" i="0" u="none" strike="noStrike" kern="1200" baseline="0">
                <a:solidFill>
                  <a:schemeClr val="tx1"/>
                </a:solidFill>
                <a:latin typeface="+mn-lt"/>
                <a:ea typeface="+mn-ea"/>
                <a:cs typeface="+mn-cs"/>
              </a:rPr>
              <a:t>The filtered input value is then the sum of the values in this array at</a:t>
            </a:r>
          </a:p>
          <a:p>
            <a:r>
              <a:rPr lang="en-US" sz="1200" b="0" i="0" u="none" strike="noStrike" kern="1200" baseline="0">
                <a:solidFill>
                  <a:schemeClr val="tx1"/>
                </a:solidFill>
                <a:latin typeface="+mn-lt"/>
                <a:ea typeface="+mn-ea"/>
                <a:cs typeface="+mn-cs"/>
              </a:rPr>
              <a:t>any moment, divided by 3. There are a few minor details to account for when</a:t>
            </a:r>
          </a:p>
          <a:p>
            <a:r>
              <a:rPr lang="en-US" sz="1200" b="0" i="0" u="none" strike="noStrike" kern="1200" baseline="0">
                <a:solidFill>
                  <a:schemeClr val="tx1"/>
                </a:solidFill>
                <a:latin typeface="+mn-lt"/>
                <a:ea typeface="+mn-ea"/>
                <a:cs typeface="+mn-cs"/>
              </a:rPr>
              <a:t>implementing such a filter. For example, we need to properly handle the first</a:t>
            </a:r>
          </a:p>
          <a:p>
            <a:r>
              <a:rPr lang="en-US" sz="1200" b="0" i="0" u="none" strike="noStrike" kern="1200" baseline="0">
                <a:solidFill>
                  <a:schemeClr val="tx1"/>
                </a:solidFill>
                <a:latin typeface="+mn-lt"/>
                <a:ea typeface="+mn-ea"/>
                <a:cs typeface="+mn-cs"/>
              </a:rPr>
              <a:t>two frames of input, during which the 3-element array has not yet been filled</a:t>
            </a:r>
          </a:p>
          <a:p>
            <a:r>
              <a:rPr lang="en-US" sz="1200" b="0" i="0" u="none" strike="noStrike" kern="1200" baseline="0">
                <a:solidFill>
                  <a:schemeClr val="tx1"/>
                </a:solidFill>
                <a:latin typeface="+mn-lt"/>
                <a:ea typeface="+mn-ea"/>
                <a:cs typeface="+mn-cs"/>
              </a:rPr>
              <a:t>with valid data. However, the implementation is not particularly complicated.</a:t>
            </a:r>
          </a:p>
          <a:p>
            <a:r>
              <a:rPr lang="en-US" sz="1200" b="0" i="0" u="none" strike="noStrike" kern="1200" baseline="0">
                <a:solidFill>
                  <a:schemeClr val="tx1"/>
                </a:solidFill>
                <a:latin typeface="+mn-lt"/>
                <a:ea typeface="+mn-ea"/>
                <a:cs typeface="+mn-cs"/>
              </a:rPr>
              <a:t>The code above shows one way to properly implement an </a:t>
            </a:r>
            <a:r>
              <a:rPr lang="en-US" sz="1200" b="0" i="1" u="none" strike="noStrike" kern="1200" baseline="0">
                <a:solidFill>
                  <a:schemeClr val="tx1"/>
                </a:solidFill>
                <a:latin typeface="+mn-lt"/>
                <a:ea typeface="+mn-ea"/>
                <a:cs typeface="+mn-cs"/>
              </a:rPr>
              <a:t>N</a:t>
            </a:r>
            <a:r>
              <a:rPr lang="en-US" sz="1200" b="0" i="0" u="none" strike="noStrike" kern="1200" baseline="0">
                <a:solidFill>
                  <a:schemeClr val="tx1"/>
                </a:solidFill>
                <a:latin typeface="+mn-lt"/>
                <a:ea typeface="+mn-ea"/>
                <a:cs typeface="+mn-cs"/>
              </a:rPr>
              <a:t>-element moving</a:t>
            </a:r>
          </a:p>
          <a:p>
            <a:r>
              <a:rPr lang="en-CA" sz="1200" b="0" i="0" u="none" strike="noStrike" kern="1200" baseline="0">
                <a:solidFill>
                  <a:schemeClr val="tx1"/>
                </a:solidFill>
                <a:latin typeface="+mn-lt"/>
                <a:ea typeface="+mn-ea"/>
                <a:cs typeface="+mn-cs"/>
              </a:rPr>
              <a:t>average.</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25</a:t>
            </a:fld>
            <a:endParaRPr lang="en-CA"/>
          </a:p>
        </p:txBody>
      </p:sp>
    </p:spTree>
    <p:extLst>
      <p:ext uri="{BB962C8B-B14F-4D97-AF65-F5344CB8AC3E}">
        <p14:creationId xmlns:p14="http://schemas.microsoft.com/office/powerpoint/2010/main" val="2419497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The exclusive OR (XOR) operator produces a 0 if its two inputs are identical</a:t>
            </a:r>
          </a:p>
          <a:p>
            <a:r>
              <a:rPr lang="en-US" sz="1200" b="0" i="0" u="none" strike="noStrike" kern="1200" baseline="0">
                <a:solidFill>
                  <a:schemeClr val="tx1"/>
                </a:solidFill>
                <a:latin typeface="+mn-lt"/>
                <a:ea typeface="+mn-ea"/>
                <a:cs typeface="+mn-cs"/>
              </a:rPr>
              <a:t>and a 1 if they differ. So if we apply the XOR operator to the previous and</a:t>
            </a:r>
          </a:p>
          <a:p>
            <a:r>
              <a:rPr lang="en-US" sz="1200" b="0" i="0" u="none" strike="noStrike" kern="1200" baseline="0">
                <a:solidFill>
                  <a:schemeClr val="tx1"/>
                </a:solidFill>
                <a:latin typeface="+mn-lt"/>
                <a:ea typeface="+mn-ea"/>
                <a:cs typeface="+mn-cs"/>
              </a:rPr>
              <a:t>current button state words, we’ll get 1’s only for buttons whose states have</a:t>
            </a:r>
          </a:p>
          <a:p>
            <a:r>
              <a:rPr lang="en-US" sz="1200" b="0" i="0" u="none" strike="noStrike" kern="1200" baseline="0">
                <a:solidFill>
                  <a:schemeClr val="tx1"/>
                </a:solidFill>
                <a:latin typeface="+mn-lt"/>
                <a:ea typeface="+mn-ea"/>
                <a:cs typeface="+mn-cs"/>
              </a:rPr>
              <a:t>changed between the last frame and this frame.</a:t>
            </a:r>
          </a:p>
          <a:p>
            <a:endParaRPr lang="en-US" sz="1200" b="0" i="0" u="none" strike="noStrike" kern="1200" baseline="0">
              <a:solidFill>
                <a:schemeClr val="tx1"/>
              </a:solidFill>
              <a:latin typeface="+mn-lt"/>
              <a:ea typeface="+mn-ea"/>
              <a:cs typeface="+mn-cs"/>
            </a:endParaRPr>
          </a:p>
          <a:p>
            <a:r>
              <a:rPr lang="en-CA" sz="1200" b="0" i="0" u="none" strike="noStrike" kern="1200" baseline="0">
                <a:solidFill>
                  <a:schemeClr val="tx1"/>
                </a:solidFill>
                <a:latin typeface="+mn-lt"/>
                <a:ea typeface="+mn-ea"/>
                <a:cs typeface="+mn-cs"/>
              </a:rPr>
              <a:t>To determine whether the</a:t>
            </a:r>
          </a:p>
          <a:p>
            <a:r>
              <a:rPr lang="en-US" sz="1200" b="0" i="0" u="none" strike="noStrike" kern="1200" baseline="0">
                <a:solidFill>
                  <a:schemeClr val="tx1"/>
                </a:solidFill>
                <a:latin typeface="+mn-lt"/>
                <a:ea typeface="+mn-ea"/>
                <a:cs typeface="+mn-cs"/>
              </a:rPr>
              <a:t>event is a button-up or a button-down, we need to look at the current state of</a:t>
            </a:r>
          </a:p>
          <a:p>
            <a:r>
              <a:rPr lang="en-US" sz="1200" b="0" i="0" u="none" strike="noStrike" kern="1200" baseline="0">
                <a:solidFill>
                  <a:schemeClr val="tx1"/>
                </a:solidFill>
                <a:latin typeface="+mn-lt"/>
                <a:ea typeface="+mn-ea"/>
                <a:cs typeface="+mn-cs"/>
              </a:rPr>
              <a:t>each button. Any button whose state has changed that is currently down generates</a:t>
            </a:r>
          </a:p>
          <a:p>
            <a:r>
              <a:rPr lang="en-US" sz="1200" b="0" i="0" u="none" strike="noStrike" kern="1200" baseline="0">
                <a:solidFill>
                  <a:schemeClr val="tx1"/>
                </a:solidFill>
                <a:latin typeface="+mn-lt"/>
                <a:ea typeface="+mn-ea"/>
                <a:cs typeface="+mn-cs"/>
              </a:rPr>
              <a:t>a button-down event, and vice versa for button-up events.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26</a:t>
            </a:fld>
            <a:endParaRPr lang="en-CA"/>
          </a:p>
        </p:txBody>
      </p:sp>
    </p:spTree>
    <p:extLst>
      <p:ext uri="{BB962C8B-B14F-4D97-AF65-F5344CB8AC3E}">
        <p14:creationId xmlns:p14="http://schemas.microsoft.com/office/powerpoint/2010/main" val="3156629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u="none" strike="noStrike" kern="1200" baseline="0">
                <a:solidFill>
                  <a:schemeClr val="tx1"/>
                </a:solidFill>
                <a:latin typeface="+mn-lt"/>
                <a:ea typeface="+mn-ea"/>
                <a:cs typeface="+mn-cs"/>
              </a:rPr>
              <a:t>If this </a:t>
            </a:r>
            <a:r>
              <a:rPr lang="en-US" sz="1200" b="0" i="0" u="none" strike="noStrike" kern="1200" baseline="0">
                <a:solidFill>
                  <a:schemeClr val="tx1"/>
                </a:solidFill>
                <a:latin typeface="+mn-lt"/>
                <a:ea typeface="+mn-ea"/>
                <a:cs typeface="+mn-cs"/>
              </a:rPr>
              <a:t>threshold (mi frequency) is satisfied, we update the value of </a:t>
            </a:r>
            <a:r>
              <a:rPr lang="en-US" sz="1200" b="0" i="1" u="none" strike="noStrike" kern="1200" baseline="0" err="1">
                <a:solidFill>
                  <a:schemeClr val="tx1"/>
                </a:solidFill>
                <a:latin typeface="+mn-lt"/>
                <a:ea typeface="+mn-ea"/>
                <a:cs typeface="+mn-cs"/>
              </a:rPr>
              <a:t>T</a:t>
            </a:r>
            <a:r>
              <a:rPr lang="en-US" sz="1200" b="0" i="0" u="none" strike="noStrike" kern="1200" baseline="0" err="1">
                <a:solidFill>
                  <a:schemeClr val="tx1"/>
                </a:solidFill>
                <a:latin typeface="+mn-lt"/>
                <a:ea typeface="+mn-ea"/>
                <a:cs typeface="+mn-cs"/>
              </a:rPr>
              <a:t>last</a:t>
            </a:r>
            <a:r>
              <a:rPr lang="en-US" sz="1200" b="0" i="0" u="none" strike="noStrike" kern="1200" baseline="0">
                <a:solidFill>
                  <a:schemeClr val="tx1"/>
                </a:solidFill>
                <a:latin typeface="+mn-lt"/>
                <a:ea typeface="+mn-ea"/>
                <a:cs typeface="+mn-cs"/>
              </a:rPr>
              <a:t>, and the gesture is considered</a:t>
            </a:r>
          </a:p>
          <a:p>
            <a:r>
              <a:rPr lang="en-US" sz="1200" b="0" i="0" u="none" strike="noStrike" kern="1200" baseline="0">
                <a:solidFill>
                  <a:schemeClr val="tx1"/>
                </a:solidFill>
                <a:latin typeface="+mn-lt"/>
                <a:ea typeface="+mn-ea"/>
                <a:cs typeface="+mn-cs"/>
              </a:rPr>
              <a:t>to be on-going. If the threshold is not satisfied, we simply don’t update</a:t>
            </a:r>
          </a:p>
          <a:p>
            <a:r>
              <a:rPr lang="en-US" sz="1200" b="0" i="1" u="none" strike="noStrike" kern="1200" baseline="0" err="1">
                <a:solidFill>
                  <a:schemeClr val="tx1"/>
                </a:solidFill>
                <a:latin typeface="+mn-lt"/>
                <a:ea typeface="+mn-ea"/>
                <a:cs typeface="+mn-cs"/>
              </a:rPr>
              <a:t>T</a:t>
            </a:r>
            <a:r>
              <a:rPr lang="en-US" sz="1200" b="0" i="0" u="none" strike="noStrike" kern="1200" baseline="0" err="1">
                <a:solidFill>
                  <a:schemeClr val="tx1"/>
                </a:solidFill>
                <a:latin typeface="+mn-lt"/>
                <a:ea typeface="+mn-ea"/>
                <a:cs typeface="+mn-cs"/>
              </a:rPr>
              <a:t>last</a:t>
            </a:r>
            <a:r>
              <a:rPr lang="en-US" sz="1200" b="0" i="0" u="none" strike="noStrike" kern="1200" baseline="0">
                <a:solidFill>
                  <a:schemeClr val="tx1"/>
                </a:solidFill>
                <a:latin typeface="+mn-lt"/>
                <a:ea typeface="+mn-ea"/>
                <a:cs typeface="+mn-cs"/>
              </a:rPr>
              <a:t>. The gesture will be considered invalid until a new pair of rapid-enough</a:t>
            </a:r>
          </a:p>
          <a:p>
            <a:r>
              <a:rPr lang="en-CA" sz="1200" b="0" i="0" u="none" strike="noStrike" kern="1200" baseline="0">
                <a:solidFill>
                  <a:schemeClr val="tx1"/>
                </a:solidFill>
                <a:latin typeface="+mn-lt"/>
                <a:ea typeface="+mn-ea"/>
                <a:cs typeface="+mn-cs"/>
              </a:rPr>
              <a:t>button-down events occurs.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29</a:t>
            </a:fld>
            <a:endParaRPr lang="en-CA"/>
          </a:p>
        </p:txBody>
      </p:sp>
    </p:spTree>
    <p:extLst>
      <p:ext uri="{BB962C8B-B14F-4D97-AF65-F5344CB8AC3E}">
        <p14:creationId xmlns:p14="http://schemas.microsoft.com/office/powerpoint/2010/main" val="767220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we assume that each button is identified by a</a:t>
            </a:r>
          </a:p>
          <a:p>
            <a:r>
              <a:rPr lang="en-US" sz="1200" b="0" i="0" u="none" strike="noStrike" kern="1200" baseline="0">
                <a:solidFill>
                  <a:schemeClr val="tx1"/>
                </a:solidFill>
                <a:latin typeface="+mn-lt"/>
                <a:ea typeface="+mn-ea"/>
                <a:cs typeface="+mn-cs"/>
              </a:rPr>
              <a:t>unique id. The id is really just an index, ranging from 0 to </a:t>
            </a:r>
            <a:r>
              <a:rPr lang="en-US" sz="1200" b="0" i="1" u="none" strike="noStrike" kern="1200" baseline="0">
                <a:solidFill>
                  <a:schemeClr val="tx1"/>
                </a:solidFill>
                <a:latin typeface="+mn-lt"/>
                <a:ea typeface="+mn-ea"/>
                <a:cs typeface="+mn-cs"/>
              </a:rPr>
              <a:t>N - </a:t>
            </a:r>
            <a:r>
              <a:rPr lang="en-US" sz="1200" b="0" i="0" u="none" strike="noStrike" kern="1200" baseline="0">
                <a:solidFill>
                  <a:schemeClr val="tx1"/>
                </a:solidFill>
                <a:latin typeface="+mn-lt"/>
                <a:ea typeface="+mn-ea"/>
                <a:cs typeface="+mn-cs"/>
              </a:rPr>
              <a:t>1 (where </a:t>
            </a:r>
            <a:r>
              <a:rPr lang="en-US" sz="1200" b="0" i="1" u="none" strike="noStrike" kern="1200" baseline="0">
                <a:solidFill>
                  <a:schemeClr val="tx1"/>
                </a:solidFill>
                <a:latin typeface="+mn-lt"/>
                <a:ea typeface="+mn-ea"/>
                <a:cs typeface="+mn-cs"/>
              </a:rPr>
              <a:t>N </a:t>
            </a:r>
            <a:r>
              <a:rPr lang="en-US" sz="1200" b="0" i="0" u="none" strike="noStrike" kern="1200" baseline="0">
                <a:solidFill>
                  <a:schemeClr val="tx1"/>
                </a:solidFill>
                <a:latin typeface="+mn-lt"/>
                <a:ea typeface="+mn-ea"/>
                <a:cs typeface="+mn-cs"/>
              </a:rPr>
              <a:t>is</a:t>
            </a:r>
          </a:p>
          <a:p>
            <a:r>
              <a:rPr lang="en-US" sz="1200" b="0" i="0" u="none" strike="noStrike" kern="1200" baseline="0">
                <a:solidFill>
                  <a:schemeClr val="tx1"/>
                </a:solidFill>
                <a:latin typeface="+mn-lt"/>
                <a:ea typeface="+mn-ea"/>
                <a:cs typeface="+mn-cs"/>
              </a:rPr>
              <a:t>the number of buttons on the HID in question). We convert the button id to a</a:t>
            </a:r>
          </a:p>
          <a:p>
            <a:r>
              <a:rPr lang="en-US" sz="1200" b="0" i="0" u="none" strike="noStrike" kern="1200" baseline="0">
                <a:solidFill>
                  <a:schemeClr val="tx1"/>
                </a:solidFill>
                <a:latin typeface="+mn-lt"/>
                <a:ea typeface="+mn-ea"/>
                <a:cs typeface="+mn-cs"/>
              </a:rPr>
              <a:t>bitmask by shifting an unsigned 1 bit to the left by an amount equaling the button’s</a:t>
            </a:r>
          </a:p>
          <a:p>
            <a:r>
              <a:rPr lang="en-US" sz="1200" b="0" i="0" u="none" strike="noStrike" kern="1200" baseline="0">
                <a:solidFill>
                  <a:schemeClr val="tx1"/>
                </a:solidFill>
                <a:latin typeface="+mn-lt"/>
                <a:ea typeface="+mn-ea"/>
                <a:cs typeface="+mn-cs"/>
              </a:rPr>
              <a:t>index (1U &lt;&lt; </a:t>
            </a:r>
            <a:r>
              <a:rPr lang="en-US" sz="1200" b="0" i="0" u="none" strike="noStrike" kern="1200" baseline="0" err="1">
                <a:solidFill>
                  <a:schemeClr val="tx1"/>
                </a:solidFill>
                <a:latin typeface="+mn-lt"/>
                <a:ea typeface="+mn-ea"/>
                <a:cs typeface="+mn-cs"/>
              </a:rPr>
              <a:t>buttonId</a:t>
            </a:r>
            <a:r>
              <a:rPr lang="en-US" sz="1200" b="0" i="0" u="none" strike="noStrike" kern="1200" baseline="0">
                <a:solidFill>
                  <a:schemeClr val="tx1"/>
                </a:solidFill>
                <a:latin typeface="+mn-lt"/>
                <a:ea typeface="+mn-ea"/>
                <a:cs typeface="+mn-cs"/>
              </a:rPr>
              <a:t>). The function </a:t>
            </a:r>
            <a:r>
              <a:rPr lang="en-US" sz="1200" b="0" i="0" u="none" strike="noStrike" kern="1200" baseline="0" err="1">
                <a:solidFill>
                  <a:schemeClr val="tx1"/>
                </a:solidFill>
                <a:latin typeface="+mn-lt"/>
                <a:ea typeface="+mn-ea"/>
                <a:cs typeface="+mn-cs"/>
              </a:rPr>
              <a:t>ButtonsJustWentDown</a:t>
            </a:r>
            <a:r>
              <a:rPr lang="en-US" sz="1200" b="0" i="0" u="none" strike="noStrike" kern="1200" baseline="0">
                <a:solidFill>
                  <a:schemeClr val="tx1"/>
                </a:solidFill>
                <a:latin typeface="+mn-lt"/>
                <a:ea typeface="+mn-ea"/>
                <a:cs typeface="+mn-cs"/>
              </a:rPr>
              <a:t>()</a:t>
            </a:r>
          </a:p>
          <a:p>
            <a:r>
              <a:rPr lang="en-US" sz="1200" b="0" i="0" u="none" strike="noStrike" kern="1200" baseline="0">
                <a:solidFill>
                  <a:schemeClr val="tx1"/>
                </a:solidFill>
                <a:latin typeface="+mn-lt"/>
                <a:ea typeface="+mn-ea"/>
                <a:cs typeface="+mn-cs"/>
              </a:rPr>
              <a:t>returns a nonzero value if </a:t>
            </a:r>
            <a:r>
              <a:rPr lang="en-US" sz="1200" b="0" i="1" u="none" strike="noStrike" kern="1200" baseline="0">
                <a:solidFill>
                  <a:schemeClr val="tx1"/>
                </a:solidFill>
                <a:latin typeface="+mn-lt"/>
                <a:ea typeface="+mn-ea"/>
                <a:cs typeface="+mn-cs"/>
              </a:rPr>
              <a:t>any one </a:t>
            </a:r>
            <a:r>
              <a:rPr lang="en-US" sz="1200" b="0" i="0" u="none" strike="noStrike" kern="1200" baseline="0">
                <a:solidFill>
                  <a:schemeClr val="tx1"/>
                </a:solidFill>
                <a:latin typeface="+mn-lt"/>
                <a:ea typeface="+mn-ea"/>
                <a:cs typeface="+mn-cs"/>
              </a:rPr>
              <a:t>of the buttons specified by the given bitmask</a:t>
            </a:r>
          </a:p>
          <a:p>
            <a:r>
              <a:rPr lang="en-US" sz="1200" b="0" i="0" u="none" strike="noStrike" kern="1200" baseline="0">
                <a:solidFill>
                  <a:schemeClr val="tx1"/>
                </a:solidFill>
                <a:latin typeface="+mn-lt"/>
                <a:ea typeface="+mn-ea"/>
                <a:cs typeface="+mn-cs"/>
              </a:rPr>
              <a:t>just went down this frame. Here, we’re only checking for a single button-down</a:t>
            </a:r>
          </a:p>
          <a:p>
            <a:r>
              <a:rPr lang="en-US" sz="1200" b="0" i="0" u="none" strike="noStrike" kern="1200" baseline="0">
                <a:solidFill>
                  <a:schemeClr val="tx1"/>
                </a:solidFill>
                <a:latin typeface="+mn-lt"/>
                <a:ea typeface="+mn-ea"/>
                <a:cs typeface="+mn-cs"/>
              </a:rPr>
              <a:t>event, but we can and will use this same function later to check for multiple</a:t>
            </a:r>
          </a:p>
          <a:p>
            <a:r>
              <a:rPr lang="en-CA" sz="1200" b="0" i="0" u="none" strike="noStrike" kern="1200" baseline="0">
                <a:solidFill>
                  <a:schemeClr val="tx1"/>
                </a:solidFill>
                <a:latin typeface="+mn-lt"/>
                <a:ea typeface="+mn-ea"/>
                <a:cs typeface="+mn-cs"/>
              </a:rPr>
              <a:t>simultaneous button-down events.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30</a:t>
            </a:fld>
            <a:endParaRPr lang="en-CA"/>
          </a:p>
        </p:txBody>
      </p:sp>
    </p:spTree>
    <p:extLst>
      <p:ext uri="{BB962C8B-B14F-4D97-AF65-F5344CB8AC3E}">
        <p14:creationId xmlns:p14="http://schemas.microsoft.com/office/powerpoint/2010/main" val="39384845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The logic goes like this: Whenever we see a button-down event that matches</a:t>
            </a:r>
          </a:p>
          <a:p>
            <a:r>
              <a:rPr lang="en-US" sz="1200" b="0" i="0" u="none" strike="noStrike" kern="1200" baseline="0">
                <a:solidFill>
                  <a:schemeClr val="tx1"/>
                </a:solidFill>
                <a:latin typeface="+mn-lt"/>
                <a:ea typeface="+mn-ea"/>
                <a:cs typeface="+mn-cs"/>
              </a:rPr>
              <a:t>the button we’re currently looking for, we check its time stamp against the</a:t>
            </a:r>
          </a:p>
          <a:p>
            <a:r>
              <a:rPr lang="en-US" sz="1200" b="0" i="0" u="none" strike="noStrike" kern="1200" baseline="0">
                <a:solidFill>
                  <a:schemeClr val="tx1"/>
                </a:solidFill>
                <a:latin typeface="+mn-lt"/>
                <a:ea typeface="+mn-ea"/>
                <a:cs typeface="+mn-cs"/>
              </a:rPr>
              <a:t>start time of the entire sequence, </a:t>
            </a:r>
            <a:r>
              <a:rPr lang="en-US" sz="1200" b="0" i="1" u="none" strike="noStrike" kern="1200" baseline="0" err="1">
                <a:solidFill>
                  <a:schemeClr val="tx1"/>
                </a:solidFill>
                <a:latin typeface="+mn-lt"/>
                <a:ea typeface="+mn-ea"/>
                <a:cs typeface="+mn-cs"/>
              </a:rPr>
              <a:t>T</a:t>
            </a:r>
            <a:r>
              <a:rPr lang="en-US" sz="1200" b="0" i="0" u="none" strike="noStrike" kern="1200" baseline="0" err="1">
                <a:solidFill>
                  <a:schemeClr val="tx1"/>
                </a:solidFill>
                <a:latin typeface="+mn-lt"/>
                <a:ea typeface="+mn-ea"/>
                <a:cs typeface="+mn-cs"/>
              </a:rPr>
              <a:t>start</a:t>
            </a:r>
            <a:r>
              <a:rPr lang="en-US" sz="1200" b="0" i="0" u="none" strike="noStrike" kern="1200" baseline="0">
                <a:solidFill>
                  <a:schemeClr val="tx1"/>
                </a:solidFill>
                <a:latin typeface="+mn-lt"/>
                <a:ea typeface="+mn-ea"/>
                <a:cs typeface="+mn-cs"/>
              </a:rPr>
              <a:t>. If it occurred within the valid time</a:t>
            </a:r>
          </a:p>
          <a:p>
            <a:r>
              <a:rPr lang="en-US" sz="1200" b="0" i="0" u="none" strike="noStrike" kern="1200" baseline="0">
                <a:solidFill>
                  <a:schemeClr val="tx1"/>
                </a:solidFill>
                <a:latin typeface="+mn-lt"/>
                <a:ea typeface="+mn-ea"/>
                <a:cs typeface="+mn-cs"/>
              </a:rPr>
              <a:t>window, we advance the current button to the next button in the sequence; for</a:t>
            </a:r>
          </a:p>
          <a:p>
            <a:r>
              <a:rPr lang="en-US" sz="1200" b="0" i="0" u="none" strike="noStrike" kern="1200" baseline="0">
                <a:solidFill>
                  <a:schemeClr val="tx1"/>
                </a:solidFill>
                <a:latin typeface="+mn-lt"/>
                <a:ea typeface="+mn-ea"/>
                <a:cs typeface="+mn-cs"/>
              </a:rPr>
              <a:t>the first button in the sequence only (</a:t>
            </a:r>
            <a:r>
              <a:rPr lang="en-US" sz="1200" b="0" i="1" u="none" strike="noStrike" kern="1200" baseline="0" err="1">
                <a:solidFill>
                  <a:schemeClr val="tx1"/>
                </a:solidFill>
                <a:latin typeface="+mn-lt"/>
                <a:ea typeface="+mn-ea"/>
                <a:cs typeface="+mn-cs"/>
              </a:rPr>
              <a:t>i</a:t>
            </a:r>
            <a:r>
              <a:rPr lang="en-US" sz="1200" b="0" i="1" u="none" strike="noStrike" kern="1200" baseline="0">
                <a:solidFill>
                  <a:schemeClr val="tx1"/>
                </a:solidFill>
                <a:latin typeface="+mn-lt"/>
                <a:ea typeface="+mn-ea"/>
                <a:cs typeface="+mn-cs"/>
              </a:rPr>
              <a:t> </a:t>
            </a:r>
            <a:r>
              <a:rPr lang="en-US" sz="1200" b="0" i="0" u="none" strike="noStrike" kern="1200" baseline="0">
                <a:solidFill>
                  <a:schemeClr val="tx1"/>
                </a:solidFill>
                <a:latin typeface="+mn-lt"/>
                <a:ea typeface="+mn-ea"/>
                <a:cs typeface="+mn-cs"/>
              </a:rPr>
              <a:t>= 0), we also update </a:t>
            </a:r>
            <a:r>
              <a:rPr lang="en-US" sz="1200" b="0" i="1" u="none" strike="noStrike" kern="1200" baseline="0" err="1">
                <a:solidFill>
                  <a:schemeClr val="tx1"/>
                </a:solidFill>
                <a:latin typeface="+mn-lt"/>
                <a:ea typeface="+mn-ea"/>
                <a:cs typeface="+mn-cs"/>
              </a:rPr>
              <a:t>T</a:t>
            </a:r>
            <a:r>
              <a:rPr lang="en-US" sz="1200" b="0" i="0" u="none" strike="noStrike" kern="1200" baseline="0" err="1">
                <a:solidFill>
                  <a:schemeClr val="tx1"/>
                </a:solidFill>
                <a:latin typeface="+mn-lt"/>
                <a:ea typeface="+mn-ea"/>
                <a:cs typeface="+mn-cs"/>
              </a:rPr>
              <a:t>start</a:t>
            </a:r>
            <a:r>
              <a:rPr lang="en-US" sz="1200" b="0" i="0" u="none" strike="noStrike" kern="1200" baseline="0">
                <a:solidFill>
                  <a:schemeClr val="tx1"/>
                </a:solidFill>
                <a:latin typeface="+mn-lt"/>
                <a:ea typeface="+mn-ea"/>
                <a:cs typeface="+mn-cs"/>
              </a:rPr>
              <a:t>. If we see</a:t>
            </a:r>
          </a:p>
          <a:p>
            <a:r>
              <a:rPr lang="en-US" sz="1200" b="0" i="0" u="none" strike="noStrike" kern="1200" baseline="0">
                <a:solidFill>
                  <a:schemeClr val="tx1"/>
                </a:solidFill>
                <a:latin typeface="+mn-lt"/>
                <a:ea typeface="+mn-ea"/>
                <a:cs typeface="+mn-cs"/>
              </a:rPr>
              <a:t>a button-down event that doesn’t match the next button in the sequence, or</a:t>
            </a:r>
          </a:p>
          <a:p>
            <a:r>
              <a:rPr lang="en-US" sz="1200" b="0" i="0" u="none" strike="noStrike" kern="1200" baseline="0">
                <a:solidFill>
                  <a:schemeClr val="tx1"/>
                </a:solidFill>
                <a:latin typeface="+mn-lt"/>
                <a:ea typeface="+mn-ea"/>
                <a:cs typeface="+mn-cs"/>
              </a:rPr>
              <a:t>if the time delta has grown too large, we reset the button index </a:t>
            </a:r>
            <a:r>
              <a:rPr lang="en-US" sz="1200" b="0" i="1" u="none" strike="noStrike" kern="1200" baseline="0" err="1">
                <a:solidFill>
                  <a:schemeClr val="tx1"/>
                </a:solidFill>
                <a:latin typeface="+mn-lt"/>
                <a:ea typeface="+mn-ea"/>
                <a:cs typeface="+mn-cs"/>
              </a:rPr>
              <a:t>i</a:t>
            </a:r>
            <a:r>
              <a:rPr lang="en-US" sz="1200" b="0" i="1" u="none" strike="noStrike" kern="1200" baseline="0">
                <a:solidFill>
                  <a:schemeClr val="tx1"/>
                </a:solidFill>
                <a:latin typeface="+mn-lt"/>
                <a:ea typeface="+mn-ea"/>
                <a:cs typeface="+mn-cs"/>
              </a:rPr>
              <a:t> </a:t>
            </a:r>
            <a:r>
              <a:rPr lang="en-US" sz="1200" b="0" i="0" u="none" strike="noStrike" kern="1200" baseline="0">
                <a:solidFill>
                  <a:schemeClr val="tx1"/>
                </a:solidFill>
                <a:latin typeface="+mn-lt"/>
                <a:ea typeface="+mn-ea"/>
                <a:cs typeface="+mn-cs"/>
              </a:rPr>
              <a:t>back to the</a:t>
            </a:r>
          </a:p>
          <a:p>
            <a:r>
              <a:rPr lang="en-US" sz="1200" b="0" i="0" u="none" strike="noStrike" kern="1200" baseline="0">
                <a:solidFill>
                  <a:schemeClr val="tx1"/>
                </a:solidFill>
                <a:latin typeface="+mn-lt"/>
                <a:ea typeface="+mn-ea"/>
                <a:cs typeface="+mn-cs"/>
              </a:rPr>
              <a:t>beginning of the sequence and set </a:t>
            </a:r>
            <a:r>
              <a:rPr lang="en-US" sz="1200" b="0" i="1" u="none" strike="noStrike" kern="1200" baseline="0" err="1">
                <a:solidFill>
                  <a:schemeClr val="tx1"/>
                </a:solidFill>
                <a:latin typeface="+mn-lt"/>
                <a:ea typeface="+mn-ea"/>
                <a:cs typeface="+mn-cs"/>
              </a:rPr>
              <a:t>T</a:t>
            </a:r>
            <a:r>
              <a:rPr lang="en-US" sz="1200" b="0" i="0" u="none" strike="noStrike" kern="1200" baseline="0" err="1">
                <a:solidFill>
                  <a:schemeClr val="tx1"/>
                </a:solidFill>
                <a:latin typeface="+mn-lt"/>
                <a:ea typeface="+mn-ea"/>
                <a:cs typeface="+mn-cs"/>
              </a:rPr>
              <a:t>start</a:t>
            </a:r>
            <a:r>
              <a:rPr lang="en-US" sz="1200" b="0" i="0" u="none" strike="noStrike" kern="1200" baseline="0">
                <a:solidFill>
                  <a:schemeClr val="tx1"/>
                </a:solidFill>
                <a:latin typeface="+mn-lt"/>
                <a:ea typeface="+mn-ea"/>
                <a:cs typeface="+mn-cs"/>
              </a:rPr>
              <a:t> to some invalid value (such as 0).</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31</a:t>
            </a:fld>
            <a:endParaRPr lang="en-CA"/>
          </a:p>
        </p:txBody>
      </p:sp>
    </p:spTree>
    <p:extLst>
      <p:ext uri="{BB962C8B-B14F-4D97-AF65-F5344CB8AC3E}">
        <p14:creationId xmlns:p14="http://schemas.microsoft.com/office/powerpoint/2010/main" val="472369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In performing the mapping between physical and abstract controls, we’ll</a:t>
            </a:r>
          </a:p>
          <a:p>
            <a:r>
              <a:rPr lang="en-US" sz="1200" b="0" i="0" u="none" strike="noStrike" kern="1200" baseline="0">
                <a:solidFill>
                  <a:schemeClr val="tx1"/>
                </a:solidFill>
                <a:latin typeface="+mn-lt"/>
                <a:ea typeface="+mn-ea"/>
                <a:cs typeface="+mn-cs"/>
              </a:rPr>
              <a:t>sometimes need to get a bit clever. For example, on the Xbox, the left and right</a:t>
            </a:r>
          </a:p>
          <a:p>
            <a:r>
              <a:rPr lang="en-US" sz="1200" b="0" i="0" u="none" strike="noStrike" kern="1200" baseline="0">
                <a:solidFill>
                  <a:schemeClr val="tx1"/>
                </a:solidFill>
                <a:latin typeface="+mn-lt"/>
                <a:ea typeface="+mn-ea"/>
                <a:cs typeface="+mn-cs"/>
              </a:rPr>
              <a:t>triggers act as a single axis, producing negative values when the left trigger is</a:t>
            </a:r>
          </a:p>
          <a:p>
            <a:r>
              <a:rPr lang="en-US" sz="1200" b="0" i="0" u="none" strike="noStrike" kern="1200" baseline="0">
                <a:solidFill>
                  <a:schemeClr val="tx1"/>
                </a:solidFill>
                <a:latin typeface="+mn-lt"/>
                <a:ea typeface="+mn-ea"/>
                <a:cs typeface="+mn-cs"/>
              </a:rPr>
              <a:t>pressed, zero when neither is trigger is pressed, and positive values when the</a:t>
            </a:r>
          </a:p>
          <a:p>
            <a:r>
              <a:rPr lang="en-US" sz="1200" b="0" i="0" u="none" strike="noStrike" kern="1200" baseline="0">
                <a:solidFill>
                  <a:schemeClr val="tx1"/>
                </a:solidFill>
                <a:latin typeface="+mn-lt"/>
                <a:ea typeface="+mn-ea"/>
                <a:cs typeface="+mn-cs"/>
              </a:rPr>
              <a:t>right trigger is pressed. To match the behavior of the PlayStation’s DualShock</a:t>
            </a:r>
          </a:p>
          <a:p>
            <a:r>
              <a:rPr lang="en-US" sz="1200" b="0" i="0" u="none" strike="noStrike" kern="1200" baseline="0">
                <a:solidFill>
                  <a:schemeClr val="tx1"/>
                </a:solidFill>
                <a:latin typeface="+mn-lt"/>
                <a:ea typeface="+mn-ea"/>
                <a:cs typeface="+mn-cs"/>
              </a:rPr>
              <a:t>controller, we might want to separate this axis into two distinct axes on the</a:t>
            </a:r>
          </a:p>
          <a:p>
            <a:r>
              <a:rPr lang="en-US" sz="1200" b="0" i="0" u="none" strike="noStrike" kern="1200" baseline="0">
                <a:solidFill>
                  <a:schemeClr val="tx1"/>
                </a:solidFill>
                <a:latin typeface="+mn-lt"/>
                <a:ea typeface="+mn-ea"/>
                <a:cs typeface="+mn-cs"/>
              </a:rPr>
              <a:t>Xbox, scaling the values appropriately so the range of valid values is the same</a:t>
            </a:r>
          </a:p>
          <a:p>
            <a:r>
              <a:rPr lang="en-CA" sz="1200" b="0" i="0" u="none" strike="noStrike" kern="1200" baseline="0">
                <a:solidFill>
                  <a:schemeClr val="tx1"/>
                </a:solidFill>
                <a:latin typeface="+mn-lt"/>
                <a:ea typeface="+mn-ea"/>
                <a:cs typeface="+mn-cs"/>
              </a:rPr>
              <a:t>on all platforms.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35</a:t>
            </a:fld>
            <a:endParaRPr lang="en-CA"/>
          </a:p>
        </p:txBody>
      </p:sp>
    </p:spTree>
    <p:extLst>
      <p:ext uri="{BB962C8B-B14F-4D97-AF65-F5344CB8AC3E}">
        <p14:creationId xmlns:p14="http://schemas.microsoft.com/office/powerpoint/2010/main" val="1762452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mn-lt"/>
                <a:ea typeface="+mn-ea"/>
                <a:cs typeface="+mn-cs"/>
              </a:rPr>
              <a:t>A common option is the sense of the vertical axis of the right thumb stick for camera control in a console</a:t>
            </a:r>
          </a:p>
          <a:p>
            <a:r>
              <a:rPr lang="en-US" sz="1200" b="0" i="0" u="none" strike="noStrike" kern="1200" baseline="0">
                <a:solidFill>
                  <a:schemeClr val="tx1"/>
                </a:solidFill>
                <a:latin typeface="+mn-lt"/>
                <a:ea typeface="+mn-ea"/>
                <a:cs typeface="+mn-cs"/>
              </a:rPr>
              <a:t>game. Some folks like to push forward on the stick to angle the camera up, while others like an inverted control scheme, where pulling back on the</a:t>
            </a:r>
          </a:p>
          <a:p>
            <a:r>
              <a:rPr lang="en-US" sz="1200" b="0" i="0" u="none" strike="noStrike" kern="1200" baseline="0">
                <a:solidFill>
                  <a:schemeClr val="tx1"/>
                </a:solidFill>
                <a:latin typeface="+mn-lt"/>
                <a:ea typeface="+mn-ea"/>
                <a:cs typeface="+mn-cs"/>
              </a:rPr>
              <a:t>stick angles the camera up (much like an airplane control stick). Other games</a:t>
            </a:r>
          </a:p>
          <a:p>
            <a:r>
              <a:rPr lang="en-US" sz="1200" b="0" i="0" u="none" strike="noStrike" kern="1200" baseline="0">
                <a:solidFill>
                  <a:schemeClr val="tx1"/>
                </a:solidFill>
                <a:latin typeface="+mn-lt"/>
                <a:ea typeface="+mn-ea"/>
                <a:cs typeface="+mn-cs"/>
              </a:rPr>
              <a:t>allow the player to select between two or more predefined button mappings.</a:t>
            </a:r>
          </a:p>
          <a:p>
            <a:r>
              <a:rPr lang="en-US" sz="1200" b="0" i="0" u="none" strike="noStrike" kern="1200" baseline="0">
                <a:solidFill>
                  <a:schemeClr val="tx1"/>
                </a:solidFill>
                <a:latin typeface="+mn-lt"/>
                <a:ea typeface="+mn-ea"/>
                <a:cs typeface="+mn-cs"/>
              </a:rPr>
              <a:t>Some PC games allow the user full control over the functions of individual</a:t>
            </a:r>
          </a:p>
          <a:p>
            <a:r>
              <a:rPr lang="en-US" sz="1200" b="0" i="0" u="none" strike="noStrike" kern="1200" baseline="0">
                <a:solidFill>
                  <a:schemeClr val="tx1"/>
                </a:solidFill>
                <a:latin typeface="+mn-lt"/>
                <a:ea typeface="+mn-ea"/>
                <a:cs typeface="+mn-cs"/>
              </a:rPr>
              <a:t>keys on the keyboard, the mouse buttons and the mouse wheel, plus a choice</a:t>
            </a:r>
          </a:p>
          <a:p>
            <a:r>
              <a:rPr lang="en-US" sz="1200" b="0" i="0" u="none" strike="noStrike" kern="1200" baseline="0">
                <a:solidFill>
                  <a:schemeClr val="tx1"/>
                </a:solidFill>
                <a:latin typeface="+mn-lt"/>
                <a:ea typeface="+mn-ea"/>
                <a:cs typeface="+mn-cs"/>
              </a:rPr>
              <a:t>between various control schemes for the two mouse axes.</a:t>
            </a:r>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36</a:t>
            </a:fld>
            <a:endParaRPr lang="en-CA"/>
          </a:p>
        </p:txBody>
      </p:sp>
    </p:spTree>
    <p:extLst>
      <p:ext uri="{BB962C8B-B14F-4D97-AF65-F5344CB8AC3E}">
        <p14:creationId xmlns:p14="http://schemas.microsoft.com/office/powerpoint/2010/main" val="813146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https://docs.unity3d.com/Packages/com.unity.inputsystem@1.8/manual/HID.html</a:t>
            </a:r>
          </a:p>
        </p:txBody>
      </p:sp>
      <p:sp>
        <p:nvSpPr>
          <p:cNvPr id="4" name="Slide Number Placeholder 3"/>
          <p:cNvSpPr>
            <a:spLocks noGrp="1"/>
          </p:cNvSpPr>
          <p:nvPr>
            <p:ph type="sldNum" sz="quarter" idx="5"/>
          </p:nvPr>
        </p:nvSpPr>
        <p:spPr/>
        <p:txBody>
          <a:bodyPr/>
          <a:lstStyle/>
          <a:p>
            <a:fld id="{F195FCB9-FB9C-4B06-A318-450E48AC1CCB}" type="slidenum">
              <a:rPr lang="en-CA" smtClean="0"/>
              <a:t>41</a:t>
            </a:fld>
            <a:endParaRPr lang="en-CA"/>
          </a:p>
        </p:txBody>
      </p:sp>
    </p:spTree>
    <p:extLst>
      <p:ext uri="{BB962C8B-B14F-4D97-AF65-F5344CB8AC3E}">
        <p14:creationId xmlns:p14="http://schemas.microsoft.com/office/powerpoint/2010/main" val="2398445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Google Sans"/>
              </a:rPr>
              <a:t>The </a:t>
            </a:r>
            <a:r>
              <a:rPr lang="en-US" b="0" i="0" dirty="0" err="1">
                <a:solidFill>
                  <a:srgbClr val="FFFFFF"/>
                </a:solidFill>
                <a:effectLst/>
                <a:latin typeface="Google Sans"/>
              </a:rPr>
              <a:t>RawInput</a:t>
            </a:r>
            <a:r>
              <a:rPr lang="en-US" b="0" i="0" dirty="0">
                <a:solidFill>
                  <a:srgbClr val="FFFFFF"/>
                </a:solidFill>
                <a:effectLst/>
                <a:latin typeface="Google Sans"/>
              </a:rPr>
              <a:t> provides support for specific, user-defined devices that aren't properly handled by Microsoft's </a:t>
            </a:r>
            <a:r>
              <a:rPr lang="en-US" b="0" i="0" dirty="0" err="1">
                <a:solidFill>
                  <a:srgbClr val="FFFFFF"/>
                </a:solidFill>
                <a:effectLst/>
                <a:latin typeface="Google Sans"/>
              </a:rPr>
              <a:t>XInput</a:t>
            </a:r>
            <a:r>
              <a:rPr lang="en-US" b="0" i="0" dirty="0">
                <a:solidFill>
                  <a:srgbClr val="FFFFFF"/>
                </a:solidFill>
                <a:effectLst/>
                <a:latin typeface="Google Sans"/>
              </a:rPr>
              <a:t> API (Application Programming Interface)</a:t>
            </a:r>
            <a:r>
              <a:rPr lang="en-US" b="0" i="0" dirty="0">
                <a:solidFill>
                  <a:srgbClr val="E8E8E8"/>
                </a:solidFill>
                <a:effectLst/>
                <a:latin typeface="Google Sans"/>
              </a:rPr>
              <a:t>, usually flight sticks and steering wheels.</a:t>
            </a:r>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43</a:t>
            </a:fld>
            <a:endParaRPr lang="en-CA"/>
          </a:p>
        </p:txBody>
      </p:sp>
    </p:spTree>
    <p:extLst>
      <p:ext uri="{BB962C8B-B14F-4D97-AF65-F5344CB8AC3E}">
        <p14:creationId xmlns:p14="http://schemas.microsoft.com/office/powerpoint/2010/main" val="4009561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33333"/>
                </a:solidFill>
                <a:effectLst/>
                <a:latin typeface="Roboto" panose="02000000000000000000" pitchFamily="2" charset="0"/>
              </a:rPr>
              <a:t>Window space</a:t>
            </a:r>
          </a:p>
          <a:p>
            <a:pPr algn="l"/>
            <a:r>
              <a:rPr lang="en-US" b="0" i="0">
                <a:solidFill>
                  <a:srgbClr val="333333"/>
                </a:solidFill>
                <a:effectLst/>
                <a:latin typeface="Roboto" panose="02000000000000000000" pitchFamily="2" charset="0"/>
              </a:rPr>
              <a:t>The coordinates within Player code are in the coordinate space of the Player window.</a:t>
            </a:r>
          </a:p>
          <a:p>
            <a:pPr algn="l"/>
            <a:r>
              <a:rPr lang="en-US" b="0" i="0">
                <a:solidFill>
                  <a:srgbClr val="333333"/>
                </a:solidFill>
                <a:effectLst/>
                <a:latin typeface="Roboto" panose="02000000000000000000" pitchFamily="2" charset="0"/>
              </a:rPr>
              <a:t>Within Editor code, the coordinates are in the coordinate space of the current </a:t>
            </a:r>
            <a:r>
              <a:rPr lang="en-US" b="0" i="0" u="none" strike="noStrike" err="1">
                <a:solidFill>
                  <a:srgbClr val="337AB7"/>
                </a:solidFill>
                <a:effectLst/>
                <a:latin typeface="Roboto" panose="02000000000000000000" pitchFamily="2" charset="0"/>
                <a:hlinkClick r:id="rId3"/>
              </a:rPr>
              <a:t>EditorWindow</a:t>
            </a:r>
            <a:r>
              <a:rPr lang="en-US" b="0" i="0">
                <a:solidFill>
                  <a:srgbClr val="333333"/>
                </a:solidFill>
                <a:effectLst/>
                <a:latin typeface="Roboto" panose="02000000000000000000" pitchFamily="2" charset="0"/>
              </a:rPr>
              <a:t>. If you query </a:t>
            </a:r>
            <a:r>
              <a:rPr lang="en-US" b="0" i="0" u="none" strike="noStrike" err="1">
                <a:solidFill>
                  <a:srgbClr val="337AB7"/>
                </a:solidFill>
                <a:effectLst/>
                <a:latin typeface="Roboto" panose="02000000000000000000" pitchFamily="2" charset="0"/>
                <a:hlinkClick r:id="rId4"/>
              </a:rPr>
              <a:t>Pointer.current.position</a:t>
            </a:r>
            <a:r>
              <a:rPr lang="en-US" b="0" i="0">
                <a:solidFill>
                  <a:srgbClr val="333333"/>
                </a:solidFill>
                <a:effectLst/>
                <a:latin typeface="Roboto" panose="02000000000000000000" pitchFamily="2" charset="0"/>
              </a:rPr>
              <a:t> in </a:t>
            </a:r>
            <a:r>
              <a:rPr lang="en-US" b="0" i="0" u="none" strike="noStrike" err="1">
                <a:solidFill>
                  <a:srgbClr val="337AB7"/>
                </a:solidFill>
                <a:effectLst/>
                <a:latin typeface="Roboto" panose="02000000000000000000" pitchFamily="2" charset="0"/>
                <a:hlinkClick r:id="rId5"/>
              </a:rPr>
              <a:t>UnityEditor.EditorWindow.OnGUI</a:t>
            </a:r>
            <a:r>
              <a:rPr lang="en-US" b="0" i="0">
                <a:solidFill>
                  <a:srgbClr val="333333"/>
                </a:solidFill>
                <a:effectLst/>
                <a:latin typeface="Roboto" panose="02000000000000000000" pitchFamily="2" charset="0"/>
              </a:rPr>
              <a:t>, for example, the returned 2D vector will be in the coordinate space of your local GUI (same as </a:t>
            </a:r>
            <a:r>
              <a:rPr lang="en-US" b="0" i="0" u="none" strike="noStrike" err="1">
                <a:solidFill>
                  <a:srgbClr val="23527C"/>
                </a:solidFill>
                <a:effectLst/>
                <a:latin typeface="Roboto" panose="02000000000000000000" pitchFamily="2" charset="0"/>
                <a:hlinkClick r:id="rId6"/>
              </a:rPr>
              <a:t>UnityEngine.Event.mousePosition</a:t>
            </a:r>
            <a:r>
              <a:rPr lang="en-US" b="0" i="0">
                <a:solidFill>
                  <a:srgbClr val="333333"/>
                </a:solidFill>
                <a:effectLst/>
                <a:latin typeface="Roboto" panose="02000000000000000000" pitchFamily="2" charset="0"/>
              </a:rPr>
              <a:t>).</a:t>
            </a:r>
          </a:p>
          <a:p>
            <a:endParaRPr lang="en-CA"/>
          </a:p>
        </p:txBody>
      </p:sp>
      <p:sp>
        <p:nvSpPr>
          <p:cNvPr id="4" name="Slide Number Placeholder 3"/>
          <p:cNvSpPr>
            <a:spLocks noGrp="1"/>
          </p:cNvSpPr>
          <p:nvPr>
            <p:ph type="sldNum" sz="quarter" idx="5"/>
          </p:nvPr>
        </p:nvSpPr>
        <p:spPr/>
        <p:txBody>
          <a:bodyPr/>
          <a:lstStyle/>
          <a:p>
            <a:fld id="{F195FCB9-FB9C-4B06-A318-450E48AC1CCB}" type="slidenum">
              <a:rPr lang="en-CA" smtClean="0"/>
              <a:t>62</a:t>
            </a:fld>
            <a:endParaRPr lang="en-CA"/>
          </a:p>
        </p:txBody>
      </p:sp>
    </p:spTree>
    <p:extLst>
      <p:ext uri="{BB962C8B-B14F-4D97-AF65-F5344CB8AC3E}">
        <p14:creationId xmlns:p14="http://schemas.microsoft.com/office/powerpoint/2010/main" val="18700442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64</a:t>
            </a:fld>
            <a:endParaRPr lang="en-CA"/>
          </a:p>
        </p:txBody>
      </p:sp>
    </p:spTree>
    <p:extLst>
      <p:ext uri="{BB962C8B-B14F-4D97-AF65-F5344CB8AC3E}">
        <p14:creationId xmlns:p14="http://schemas.microsoft.com/office/powerpoint/2010/main" val="1826093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195FCB9-FB9C-4B06-A318-450E48AC1CCB}" type="slidenum">
              <a:rPr lang="en-CA" smtClean="0"/>
              <a:t>86</a:t>
            </a:fld>
            <a:endParaRPr lang="en-CA"/>
          </a:p>
        </p:txBody>
      </p:sp>
    </p:spTree>
    <p:extLst>
      <p:ext uri="{BB962C8B-B14F-4D97-AF65-F5344CB8AC3E}">
        <p14:creationId xmlns:p14="http://schemas.microsoft.com/office/powerpoint/2010/main" val="900207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0BBF1F5-97F3-44B9-A0F3-F228633C71DF}" type="slidenum">
              <a:rPr lang="en-US" smtClean="0"/>
              <a:pPr>
                <a:defRPr/>
              </a:pPr>
              <a:t>‹#›</a:t>
            </a:fld>
            <a:endParaRPr lang="en-US"/>
          </a:p>
        </p:txBody>
      </p:sp>
    </p:spTree>
    <p:extLst>
      <p:ext uri="{BB962C8B-B14F-4D97-AF65-F5344CB8AC3E}">
        <p14:creationId xmlns:p14="http://schemas.microsoft.com/office/powerpoint/2010/main" val="276451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ED1A403-6694-4813-8CB4-D3558F1C1F3B}" type="slidenum">
              <a:rPr lang="en-US" smtClean="0"/>
              <a:pPr>
                <a:defRPr/>
              </a:pPr>
              <a:t>‹#›</a:t>
            </a:fld>
            <a:endParaRPr lang="en-US"/>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26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3" r:id="rId2"/>
    <p:sldLayoutId id="2147483655"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0.jpe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hyperlink" Target="https://www.usb.org/hid"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www.usb.org/document-library/hid-usage-tables-112"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hyperlink" Target="https://docs.unity3d.com/Packages/com.unity.inputsystem@1.11/manual/Actions.html" TargetMode="External"/><Relationship Id="rId7" Type="http://schemas.openxmlformats.org/officeDocument/2006/relationships/hyperlink" Target="https://docs.unity3d.com/Packages/com.unity.inputsystem@1.11/manual/Settings.html" TargetMode="External"/><Relationship Id="rId2" Type="http://schemas.openxmlformats.org/officeDocument/2006/relationships/hyperlink" Target="https://docs.unity3d.com/Packages/com.unity.inputsystem@1.11/manual/Devices.html" TargetMode="External"/><Relationship Id="rId1" Type="http://schemas.openxmlformats.org/officeDocument/2006/relationships/slideLayout" Target="../slideLayouts/slideLayout6.xml"/><Relationship Id="rId6" Type="http://schemas.openxmlformats.org/officeDocument/2006/relationships/hyperlink" Target="https://docs.unity3d.com/Packages/com.unity.inputsystem@1.11/manual/Debugging.html#debugging-users-and-playerinput" TargetMode="External"/><Relationship Id="rId5" Type="http://schemas.openxmlformats.org/officeDocument/2006/relationships/hyperlink" Target="https://docs.unity3d.com/Packages/com.unity.inputsystem@1.11/manual/UserManagement.html" TargetMode="External"/><Relationship Id="rId4" Type="http://schemas.openxmlformats.org/officeDocument/2006/relationships/hyperlink" Target="https://docs.unity3d.com/Packages/com.unity.inputsystem@1.11/manual/Debugging.html#debugging-actions"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docs.unity3d.com/ScriptReference/MonoBehaviour.FixedUpdate.html" TargetMode="External"/><Relationship Id="rId2" Type="http://schemas.openxmlformats.org/officeDocument/2006/relationships/hyperlink" Target="https://docs.unity3d.com/Packages/com.unity.inputsystem@1.4/api/UnityEngine.InputSystem.InputSettings.UpdateMode.html" TargetMode="Externa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hyperlink" Target="https://docs.unity3d.com/Packages/com.unity.inputsystem@1.4/api/UnityEngine.InputSystem.InputSystem.html#UnityEngine_InputSystem_InputSystem_Update" TargetMode="External"/><Relationship Id="rId4" Type="http://schemas.openxmlformats.org/officeDocument/2006/relationships/hyperlink" Target="https://docs.unity3d.com/ScriptReference/Time-fixedDeltaTime.html"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ocs.unity3d.com/Manual/class-PlayerSettings.html"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hyperlink" Target="https://docs.unity3d.com/Packages/com.unity.inputsystem@1.4/manual/Devices.html#device-resets" TargetMode="External"/><Relationship Id="rId3" Type="http://schemas.openxmlformats.org/officeDocument/2006/relationships/hyperlink" Target="https://docs.unity3d.com/Packages/com.unity.inputsystem@1.4/api/UnityEngine.InputSystem.InputSystem.html#UnityEngine_InputSystem_InputSystem_ResetDevice_UnityEngine_InputSystem_InputDevice_System_Boolean_" TargetMode="External"/><Relationship Id="rId7" Type="http://schemas.openxmlformats.org/officeDocument/2006/relationships/hyperlink" Target="https://docs.unity3d.com/Packages/com.unity.inputsystem@1.4/api/UnityEngine.InputSystem.InputSystem.html#UnityEngine_InputSystem_InputSystem_TrySyncDevice_UnityEngine_InputSystem_InputDevice_" TargetMode="External"/><Relationship Id="rId2" Type="http://schemas.openxmlformats.org/officeDocument/2006/relationships/hyperlink" Target="https://docs.unity3d.com/Packages/com.unity.inputsystem@1.4/api/UnityEngine.InputSystem.InputSettings.BackgroundBehavior.html#UnityEngine_InputSystem_InputSettings_BackgroundBehavior_ResetAndDisableNonBackgroundDevices" TargetMode="External"/><Relationship Id="rId1" Type="http://schemas.openxmlformats.org/officeDocument/2006/relationships/slideLayout" Target="../slideLayouts/slideLayout6.xml"/><Relationship Id="rId6" Type="http://schemas.openxmlformats.org/officeDocument/2006/relationships/hyperlink" Target="https://docs.unity3d.com/Packages/com.unity.inputsystem@1.4/api/UnityEngine.InputSystem.InputSystem.html#UnityEngine_InputSystem_InputSystem_EnableDevice_UnityEngine_InputSystem_InputDevice_" TargetMode="External"/><Relationship Id="rId11" Type="http://schemas.openxmlformats.org/officeDocument/2006/relationships/hyperlink" Target="https://docs.unity3d.com/Packages/com.unity.inputsystem@1.4/manual/Devices.html#device-syncs" TargetMode="External"/><Relationship Id="rId5" Type="http://schemas.openxmlformats.org/officeDocument/2006/relationships/hyperlink" Target="https://docs.unity3d.com/Packages/com.unity.inputsystem@1.4/api/UnityEngine.InputSystem.InputSystem.html#UnityEngine_InputSystem_InputSystem_DisableDevice_UnityEngine_InputSystem_InputDevice_System_Boolean_" TargetMode="External"/><Relationship Id="rId10" Type="http://schemas.openxmlformats.org/officeDocument/2006/relationships/hyperlink" Target="https://docs.unity3d.com/Packages/com.unity.inputsystem@1.4/api/UnityEngine.InputSystem.InputSettings.BackgroundBehavior.html#UnityEngine_InputSystem_InputSettings_BackgroundBehavior_IgnoreFocus" TargetMode="External"/><Relationship Id="rId4" Type="http://schemas.openxmlformats.org/officeDocument/2006/relationships/hyperlink" Target="https://docs.unity3d.com/Packages/com.unity.inputsystem@1.4/api/UnityEngine.InputSystem.InputDevice.html#UnityEngine_InputSystem_InputDevice_canRunInBackground" TargetMode="External"/><Relationship Id="rId9" Type="http://schemas.openxmlformats.org/officeDocument/2006/relationships/hyperlink" Target="https://docs.unity3d.com/Packages/com.unity.inputsystem@1.4/api/UnityEngine.InputSystem.InputSettings.BackgroundBehavior.html#UnityEngine_InputSystem_InputSettings_BackgroundBehavior_ResetAndDisableAllDevice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hyperlink" Target="https://docs.unity3d.com/Packages/com.unity.inputsystem@1.4/manual/Keyboard.html" TargetMode="External"/><Relationship Id="rId7" Type="http://schemas.openxmlformats.org/officeDocument/2006/relationships/hyperlink" Target="https://docs.unity3d.com/Packages/com.unity.inputsystem@1.4/manual/SupportedDevices.html#other-gamepads-joysticks-and-racing-wheels" TargetMode="External"/><Relationship Id="rId2" Type="http://schemas.openxmlformats.org/officeDocument/2006/relationships/hyperlink" Target="https://docs.unity3d.com/Packages/com.unity.inputsystem@1.4/manual/Mouse.html" TargetMode="External"/><Relationship Id="rId1" Type="http://schemas.openxmlformats.org/officeDocument/2006/relationships/slideLayout" Target="../slideLayouts/slideLayout6.xml"/><Relationship Id="rId6" Type="http://schemas.openxmlformats.org/officeDocument/2006/relationships/hyperlink" Target="https://docs.unity3d.com/Packages/com.unity.inputsystem@1.4/manual/Sensors.html" TargetMode="External"/><Relationship Id="rId5" Type="http://schemas.openxmlformats.org/officeDocument/2006/relationships/hyperlink" Target="https://docs.unity3d.com/Packages/com.unity.inputsystem@1.4/manual/Touch.html" TargetMode="External"/><Relationship Id="rId4" Type="http://schemas.openxmlformats.org/officeDocument/2006/relationships/hyperlink" Target="https://docs.unity3d.com/Packages/com.unity.inputsystem@1.4/manual/Pen.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8" Type="http://schemas.openxmlformats.org/officeDocument/2006/relationships/hyperlink" Target="https://docs.unity3d.com/Packages/com.unity.inputsystem@1.4/api/UnityEngine.InputSystem.Pointer.html#UnityEngine_InputSystem_Pointer_pressure" TargetMode="External"/><Relationship Id="rId3" Type="http://schemas.openxmlformats.org/officeDocument/2006/relationships/hyperlink" Target="https://docs.unity3d.com/Packages/com.unity.inputsystem@1.4/api/UnityEngine.InputSystem.Pointer.html#UnityEngine_InputSystem_Pointer_position" TargetMode="External"/><Relationship Id="rId7" Type="http://schemas.openxmlformats.org/officeDocument/2006/relationships/hyperlink" Target="https://docs.unity3d.com/Packages/com.unity.inputsystem@1.4/api/UnityEngine.InputSystem.Controls.ButtonControl.html"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hyperlink" Target="https://docs.unity3d.com/Packages/com.unity.inputsystem@1.4/api/UnityEngine.InputSystem.Pointer.html#UnityEngine_InputSystem_Pointer_press" TargetMode="External"/><Relationship Id="rId5" Type="http://schemas.openxmlformats.org/officeDocument/2006/relationships/hyperlink" Target="https://docs.unity3d.com/Packages/com.unity.inputsystem@1.4/api/UnityEngine.InputSystem.Pointer.html#UnityEngine_InputSystem_Pointer_delta" TargetMode="External"/><Relationship Id="rId10" Type="http://schemas.openxmlformats.org/officeDocument/2006/relationships/hyperlink" Target="https://docs.unity3d.com/Packages/com.unity.inputsystem@1.4/api/UnityEngine.InputSystem.Pointer.html#UnityEngine_InputSystem_Pointer_radius" TargetMode="External"/><Relationship Id="rId4" Type="http://schemas.openxmlformats.org/officeDocument/2006/relationships/hyperlink" Target="https://docs.unity3d.com/Packages/com.unity.inputsystem@1.4/api/UnityEngine.InputSystem.Controls.Vector2Control.html" TargetMode="External"/><Relationship Id="rId9" Type="http://schemas.openxmlformats.org/officeDocument/2006/relationships/hyperlink" Target="https://docs.unity3d.com/Packages/com.unity.inputsystem@1.4/api/UnityEngine.InputSystem.Controls.AxisControl.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s://docs.unity3d.com/Packages/com.unity.inputsystem@1.4/api/UnityEngine.InputSystem.InputAction.html#UnityEngine_InputSystem_InputAction_name" TargetMode="External"/><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hyperlink" Target="https://docs.unity3d.com/Packages/com.unity.inputsystem@1.4/api/UnityEngine.InputSystem.InputAction.html#UnityEngine_InputSystem_InputAction_id"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hyperlink" Target="https://docs.unity3d.com/Packages/com.unity.inputsystem@1.4/manual/Actions.html" TargetMode="Externa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hyperlink" Target="https://docs.unity3d.com/Packages/com.unity.inputsystem@1.4/manual/Controls.html#control-paths" TargetMode="Externa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hyperlink" Target="https://docs.unity3d.com/Packages/com.unity.inputsystem@1.4/manual/Components.html#playerinput-component" TargetMode="Externa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hyperlink" Target="https://docs.unity3d.com/Packages/com.unity.inputsystem@1.4/manual/Actions.html#using-actions" TargetMode="Externa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hyperlink" Target="https://docs.unity3d.com/Packages/com.unity.inputsystem@1.4/api/UnityEngine.InputSystem.DefaultInputActions.html" TargetMode="External"/><Relationship Id="rId2" Type="http://schemas.openxmlformats.org/officeDocument/2006/relationships/hyperlink" Target="https://docs.unity3d.com/Packages/com.unity.inputsystem@1.4/manual/ActionAssets.html" TargetMode="Externa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hyperlink" Target="https://docs.unity3d.com/Packages/com.unity.inputsystem@1.4/manual/Actions.html#inputsystemonactionchange-callback" TargetMode="External"/><Relationship Id="rId2" Type="http://schemas.openxmlformats.org/officeDocument/2006/relationships/hyperlink" Target="https://docs.unity3d.com/Packages/com.unity.inputsystem@1.4/manual/Actions.html#action-callbacks" TargetMode="External"/><Relationship Id="rId1" Type="http://schemas.openxmlformats.org/officeDocument/2006/relationships/slideLayout" Target="../slideLayouts/slideLayout6.xml"/><Relationship Id="rId6" Type="http://schemas.openxmlformats.org/officeDocument/2006/relationships/hyperlink" Target="https://docs.unity3d.com/Packages/com.unity.inputsystem@1.4/manual/Actions.html#inputactiontrace" TargetMode="External"/><Relationship Id="rId5" Type="http://schemas.openxmlformats.org/officeDocument/2006/relationships/hyperlink" Target="https://docs.unity3d.com/Packages/com.unity.inputsystem@1.4/manual/Actions.html#polling-actions" TargetMode="External"/><Relationship Id="rId4" Type="http://schemas.openxmlformats.org/officeDocument/2006/relationships/hyperlink" Target="https://docs.unity3d.com/Packages/com.unity.inputsystem@1.4/manual/Actions.html#inputactionmapactiontriggered-callback" TargetMode="External"/></Relationships>
</file>

<file path=ppt/slides/_rels/slide95.xml.rels><?xml version="1.0" encoding="UTF-8" standalone="yes"?>
<Relationships xmlns="http://schemas.openxmlformats.org/package/2006/relationships"><Relationship Id="rId3" Type="http://schemas.openxmlformats.org/officeDocument/2006/relationships/hyperlink" Target="https://docs.unity3d.com/Packages/com.unity.inputsystem@1.4/api/UnityEngine.InputSystem.InputAction.CallbackContext.html" TargetMode="External"/><Relationship Id="rId2" Type="http://schemas.openxmlformats.org/officeDocument/2006/relationships/hyperlink" Target="https://docs.unity3d.com/Packages/com.unity.inputsystem@1.4/api/UnityEngine.InputSystem.InputAction.html#UnityEngine_InputSystem_InputAction_phase" TargetMode="External"/><Relationship Id="rId1" Type="http://schemas.openxmlformats.org/officeDocument/2006/relationships/slideLayout" Target="../slideLayouts/slideLayout6.xml"/><Relationship Id="rId4" Type="http://schemas.openxmlformats.org/officeDocument/2006/relationships/hyperlink" Target="https://docs.unity3d.com/Packages/com.unity.inputsystem@1.4/api/UnityEngine.InputSystem.InputAction.CallbackContext.html#UnityEngine_InputSystem_InputAction_CallbackContext_ReadValue__1"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hyperlink" Target="https://docs.unity3d.com/Packages/com.unity.inputsystem@1.4/api/UnityEngine.InputSystem.InputAction.html#UnityEngine_InputSystem_InputAction_WasPerformedThisFrame" TargetMode="Externa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2667000" y="1857376"/>
            <a:ext cx="7924800" cy="1343025"/>
          </a:xfrm>
          <a:prstGeom prst="rect">
            <a:avLst/>
          </a:prstGeom>
          <a:noFill/>
          <a:ln>
            <a:noFill/>
          </a:ln>
        </p:spPr>
        <p:txBody>
          <a:bodyPr spcFirstLastPara="1" vert="horz" wrap="square" lIns="68569" tIns="0" rIns="68569" bIns="0" rtlCol="0" anchor="t" anchorCtr="0">
            <a:noAutofit/>
          </a:bodyPr>
          <a:lstStyle/>
          <a:p>
            <a:r>
              <a:rPr lang="en-US" sz="4000" dirty="0"/>
              <a:t>Week 7</a:t>
            </a:r>
            <a:br>
              <a:rPr lang="en-US" sz="4000" dirty="0"/>
            </a:br>
            <a:r>
              <a:rPr lang="en-US" sz="4000" dirty="0"/>
              <a:t>Game Engine Development Unity</a:t>
            </a:r>
            <a:br>
              <a:rPr lang="en-US" sz="4000" dirty="0"/>
            </a:br>
            <a:r>
              <a:rPr lang="en-US" sz="4000" dirty="0"/>
              <a:t>User Interface</a:t>
            </a:r>
            <a:endParaRPr sz="4000" dirty="0"/>
          </a:p>
        </p:txBody>
      </p:sp>
      <p:sp>
        <p:nvSpPr>
          <p:cNvPr id="58" name="Google Shape;58;p1"/>
          <p:cNvSpPr txBox="1"/>
          <p:nvPr/>
        </p:nvSpPr>
        <p:spPr>
          <a:xfrm>
            <a:off x="7582323" y="4798945"/>
            <a:ext cx="1835523" cy="371424"/>
          </a:xfrm>
          <a:prstGeom prst="rect">
            <a:avLst/>
          </a:prstGeom>
          <a:noFill/>
          <a:ln>
            <a:noFill/>
          </a:ln>
        </p:spPr>
        <p:txBody>
          <a:bodyPr spcFirstLastPara="1" wrap="square" lIns="68569" tIns="34275" rIns="68569" bIns="34275" anchor="t" anchorCtr="0">
            <a:normAutofit/>
          </a:bodyPr>
          <a:lstStyle/>
          <a:p>
            <a:pPr>
              <a:lnSpc>
                <a:spcPct val="90000"/>
              </a:lnSpc>
              <a:buClr>
                <a:schemeClr val="lt1"/>
              </a:buClr>
              <a:buSzPts val="1800"/>
            </a:pPr>
            <a:r>
              <a:rPr lang="en-US" sz="1350">
                <a:solidFill>
                  <a:schemeClr val="lt1"/>
                </a:solidFill>
                <a:latin typeface="Quattrocento Sans"/>
                <a:ea typeface="Quattrocento Sans"/>
                <a:cs typeface="Quattrocento Sans"/>
                <a:sym typeface="Quattrocento Sans"/>
              </a:rPr>
              <a:t>Hooman Salamat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1928622" y="857250"/>
            <a:ext cx="5157216" cy="480060"/>
          </a:xfrm>
          <a:prstGeom prst="rect">
            <a:avLst/>
          </a:prstGeom>
          <a:noFill/>
          <a:ln>
            <a:noFill/>
          </a:ln>
        </p:spPr>
        <p:txBody>
          <a:bodyPr spcFirstLastPara="1" vert="horz" wrap="square" lIns="68569" tIns="34275" rIns="68569" bIns="34275" rtlCol="0" anchor="ctr" anchorCtr="0">
            <a:normAutofit fontScale="90000"/>
          </a:bodyPr>
          <a:lstStyle/>
          <a:p>
            <a:r>
              <a:rPr lang="en-US" dirty="0"/>
              <a:t>Objective &amp; Concept</a:t>
            </a:r>
            <a:endParaRPr dirty="0"/>
          </a:p>
        </p:txBody>
      </p:sp>
      <p:sp>
        <p:nvSpPr>
          <p:cNvPr id="87" name="Google Shape;87;p5"/>
          <p:cNvSpPr txBox="1">
            <a:spLocks noGrp="1"/>
          </p:cNvSpPr>
          <p:nvPr>
            <p:ph type="body" idx="1"/>
          </p:nvPr>
        </p:nvSpPr>
        <p:spPr>
          <a:xfrm>
            <a:off x="1928622" y="2777490"/>
            <a:ext cx="7084314" cy="3623310"/>
          </a:xfrm>
          <a:prstGeom prst="rect">
            <a:avLst/>
          </a:prstGeom>
          <a:noFill/>
          <a:ln>
            <a:noFill/>
          </a:ln>
        </p:spPr>
        <p:txBody>
          <a:bodyPr spcFirstLastPara="1" vert="horz" wrap="square" lIns="68569" tIns="34275" rIns="68569" bIns="34275" rtlCol="0" anchor="t" anchorCtr="0">
            <a:normAutofit/>
          </a:bodyPr>
          <a:lstStyle/>
          <a:p>
            <a:pPr marL="0" indent="0">
              <a:spcBef>
                <a:spcPts val="0"/>
              </a:spcBef>
              <a:buSzPts val="1500"/>
              <a:buNone/>
            </a:pPr>
            <a:r>
              <a:rPr lang="en-US" sz="1125" b="1" dirty="0"/>
              <a:t>Objective</a:t>
            </a:r>
            <a:endParaRPr sz="1125" dirty="0"/>
          </a:p>
          <a:p>
            <a:r>
              <a:rPr lang="en-US" sz="1200" dirty="0"/>
              <a:t>Types of input devices</a:t>
            </a:r>
          </a:p>
          <a:p>
            <a:r>
              <a:rPr lang="en-US" sz="1200" dirty="0"/>
              <a:t>Interfacing with a HID</a:t>
            </a:r>
          </a:p>
          <a:p>
            <a:r>
              <a:rPr lang="en-US" sz="1200" dirty="0"/>
              <a:t>Types of input</a:t>
            </a:r>
          </a:p>
          <a:p>
            <a:r>
              <a:rPr lang="en-US" sz="1200" dirty="0"/>
              <a:t>Types of output</a:t>
            </a:r>
          </a:p>
          <a:p>
            <a:r>
              <a:rPr lang="en-US" sz="1200" dirty="0"/>
              <a:t>Game engine HID systems</a:t>
            </a:r>
            <a:endParaRPr lang="en-CA" sz="1125" dirty="0"/>
          </a:p>
          <a:p>
            <a:pPr marL="0" indent="0">
              <a:buSzPts val="1500"/>
              <a:buNone/>
            </a:pPr>
            <a:r>
              <a:rPr lang="en-US" sz="1125" b="1" dirty="0"/>
              <a:t>Concepts </a:t>
            </a:r>
            <a:endParaRPr dirty="0"/>
          </a:p>
          <a:p>
            <a:r>
              <a:rPr lang="en-CA" sz="1200" dirty="0"/>
              <a:t>A user interface (UI) is what allows a user to interact with a program and a UI designer is responsible for making those interactions as clear and enjoyable as possible. In this lecture, you’ll learn a bit more about what UI design is and the tools available in Unity to help you create UIs. Then, you’ll open your project and begin customizing your scene.</a:t>
            </a:r>
          </a:p>
          <a:p>
            <a:pPr lvl="0"/>
            <a:r>
              <a:rPr lang="en-CA" sz="1200" dirty="0"/>
              <a:t>Define "UI" and the role of user interfaces in real-time 3D experiences.</a:t>
            </a:r>
          </a:p>
          <a:p>
            <a:pPr lvl="0"/>
            <a:r>
              <a:rPr lang="en-CA" sz="1200" dirty="0"/>
              <a:t>Distinguish between Unity's three available UI systems: </a:t>
            </a:r>
            <a:r>
              <a:rPr lang="en-CA" sz="1200" dirty="0" err="1"/>
              <a:t>uGUI</a:t>
            </a:r>
            <a:r>
              <a:rPr lang="en-CA" sz="1200" dirty="0"/>
              <a:t> (or Unity UI), IMGUI (or “Immediate Mode” GUI), and UI Toolkit.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C568-1E4B-4F8F-8DDA-A1F8FC28A1DD}"/>
              </a:ext>
            </a:extLst>
          </p:cNvPr>
          <p:cNvSpPr>
            <a:spLocks noGrp="1"/>
          </p:cNvSpPr>
          <p:nvPr>
            <p:ph type="title"/>
          </p:nvPr>
        </p:nvSpPr>
        <p:spPr/>
        <p:txBody>
          <a:bodyPr/>
          <a:lstStyle/>
          <a:p>
            <a:r>
              <a:rPr lang="en-CA"/>
              <a:t>HID</a:t>
            </a:r>
          </a:p>
        </p:txBody>
      </p:sp>
      <p:sp>
        <p:nvSpPr>
          <p:cNvPr id="3" name="Content Placeholder 2">
            <a:extLst>
              <a:ext uri="{FF2B5EF4-FFF2-40B4-BE49-F238E27FC236}">
                <a16:creationId xmlns:a16="http://schemas.microsoft.com/office/drawing/2014/main" id="{5C1C79E8-AB7E-4D2F-9D45-47F3D1714FA2}"/>
              </a:ext>
            </a:extLst>
          </p:cNvPr>
          <p:cNvSpPr>
            <a:spLocks noGrp="1"/>
          </p:cNvSpPr>
          <p:nvPr>
            <p:ph idx="1"/>
          </p:nvPr>
        </p:nvSpPr>
        <p:spPr/>
        <p:txBody>
          <a:bodyPr>
            <a:normAutofit fontScale="85000" lnSpcReduction="20000"/>
          </a:bodyPr>
          <a:lstStyle/>
          <a:p>
            <a:r>
              <a:rPr lang="en-US"/>
              <a:t>A human interface device or HID is a type of computer device usually used by humans that takes input from humans and gives output to humans.</a:t>
            </a:r>
          </a:p>
          <a:p>
            <a:endParaRPr lang="en-US"/>
          </a:p>
          <a:p>
            <a:r>
              <a:rPr lang="en-US"/>
              <a:t>The term "HID" most commonly refers to the USB-HID specification. </a:t>
            </a:r>
          </a:p>
          <a:p>
            <a:endParaRPr lang="en-US"/>
          </a:p>
          <a:p>
            <a:r>
              <a:rPr lang="en-US"/>
              <a:t>The term was coined by Mike Van </a:t>
            </a:r>
            <a:r>
              <a:rPr lang="en-US" err="1"/>
              <a:t>Flandern</a:t>
            </a:r>
            <a:r>
              <a:rPr lang="en-US"/>
              <a:t> of Microsoft when he proposed that the USB committee create a Human Input Device class working group</a:t>
            </a:r>
          </a:p>
          <a:p>
            <a:endParaRPr lang="en-US"/>
          </a:p>
          <a:p>
            <a:r>
              <a:rPr lang="en-US"/>
              <a:t>The working group was renamed as the Human Interface Device class at the suggestion of Tom Schmidt of DEC because the proposed standard supported bi-directional communication.</a:t>
            </a:r>
            <a:endParaRPr lang="en-CA"/>
          </a:p>
        </p:txBody>
      </p:sp>
    </p:spTree>
    <p:extLst>
      <p:ext uri="{BB962C8B-B14F-4D97-AF65-F5344CB8AC3E}">
        <p14:creationId xmlns:p14="http://schemas.microsoft.com/office/powerpoint/2010/main" val="177169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HIDs</a:t>
            </a:r>
          </a:p>
        </p:txBody>
      </p:sp>
      <p:sp>
        <p:nvSpPr>
          <p:cNvPr id="3" name="Content Placeholder 2"/>
          <p:cNvSpPr>
            <a:spLocks noGrp="1"/>
          </p:cNvSpPr>
          <p:nvPr>
            <p:ph idx="1"/>
          </p:nvPr>
        </p:nvSpPr>
        <p:spPr>
          <a:xfrm>
            <a:off x="1981200" y="1729293"/>
            <a:ext cx="8229600" cy="4525963"/>
          </a:xfrm>
        </p:spPr>
        <p:txBody>
          <a:bodyPr>
            <a:normAutofit fontScale="70000" lnSpcReduction="20000"/>
          </a:bodyPr>
          <a:lstStyle/>
          <a:p>
            <a:r>
              <a:rPr lang="en-US"/>
              <a:t>Consoles typically come with a Joypad device</a:t>
            </a:r>
          </a:p>
          <a:p>
            <a:r>
              <a:rPr lang="en-US"/>
              <a:t>Computers often use the keyboard and mouse</a:t>
            </a:r>
          </a:p>
          <a:p>
            <a:r>
              <a:rPr lang="en-US"/>
              <a:t>Arcade games have very specialized input</a:t>
            </a:r>
          </a:p>
          <a:p>
            <a:r>
              <a:rPr lang="en-US"/>
              <a:t>Many specialized devices</a:t>
            </a:r>
          </a:p>
          <a:p>
            <a:pPr lvl="1"/>
            <a:r>
              <a:rPr lang="en-US"/>
              <a:t>Guitar Hero</a:t>
            </a:r>
          </a:p>
          <a:p>
            <a:pPr lvl="1"/>
            <a:r>
              <a:rPr lang="en-US"/>
              <a:t>Dance </a:t>
            </a:r>
            <a:r>
              <a:rPr lang="en-US" err="1"/>
              <a:t>Dance</a:t>
            </a:r>
            <a:r>
              <a:rPr lang="en-US"/>
              <a:t> Revolution</a:t>
            </a:r>
          </a:p>
          <a:p>
            <a:r>
              <a:rPr lang="en-US"/>
              <a:t>Modifiers on existing devices</a:t>
            </a:r>
          </a:p>
          <a:p>
            <a:pPr lvl="1"/>
            <a:r>
              <a:rPr lang="en-US"/>
              <a:t>Steering wheel for </a:t>
            </a:r>
            <a:r>
              <a:rPr lang="en-US" err="1"/>
              <a:t>WiiMote</a:t>
            </a:r>
            <a:endParaRPr lang="en-US"/>
          </a:p>
          <a:p>
            <a:r>
              <a:rPr lang="en-US"/>
              <a:t>Nintendo Switch’s hybrid console</a:t>
            </a:r>
          </a:p>
          <a:p>
            <a:pPr lvl="1"/>
            <a:r>
              <a:rPr lang="en-US"/>
              <a:t>Can be used as either a home console or portable device</a:t>
            </a:r>
          </a:p>
          <a:p>
            <a:r>
              <a:rPr lang="en-US"/>
              <a:t> Azure Kinect</a:t>
            </a:r>
          </a:p>
          <a:p>
            <a:pPr lvl="1"/>
            <a:r>
              <a:rPr lang="en-US"/>
              <a:t>The new iteration of Kinect technology designed primarily for enterprise software and artificial intelligence usage. It is designed around the Microsoft Azure cloud platform, and is meant to "leverage the richness of Azure AI to dramatically improve insights and operations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HIDs</a:t>
            </a:r>
          </a:p>
        </p:txBody>
      </p:sp>
      <p:pic>
        <p:nvPicPr>
          <p:cNvPr id="4" name="Content Placeholder 3" descr="dancepad.png"/>
          <p:cNvPicPr>
            <a:picLocks noGrp="1" noChangeAspect="1"/>
          </p:cNvPicPr>
          <p:nvPr>
            <p:ph idx="1"/>
          </p:nvPr>
        </p:nvPicPr>
        <p:blipFill>
          <a:blip r:embed="rId3" cstate="print"/>
          <a:stretch>
            <a:fillRect/>
          </a:stretch>
        </p:blipFill>
        <p:spPr>
          <a:xfrm>
            <a:off x="4230051" y="1877389"/>
            <a:ext cx="1287911" cy="1393636"/>
          </a:xfrm>
        </p:spPr>
      </p:pic>
      <p:pic>
        <p:nvPicPr>
          <p:cNvPr id="6" name="Picture 5" descr="guitar.png"/>
          <p:cNvPicPr>
            <a:picLocks noChangeAspect="1"/>
          </p:cNvPicPr>
          <p:nvPr/>
        </p:nvPicPr>
        <p:blipFill>
          <a:blip r:embed="rId4" cstate="print"/>
          <a:stretch>
            <a:fillRect/>
          </a:stretch>
        </p:blipFill>
        <p:spPr>
          <a:xfrm>
            <a:off x="2363132" y="3511774"/>
            <a:ext cx="2057400" cy="1282253"/>
          </a:xfrm>
          <a:prstGeom prst="rect">
            <a:avLst/>
          </a:prstGeom>
        </p:spPr>
      </p:pic>
      <p:pic>
        <p:nvPicPr>
          <p:cNvPr id="7" name="Picture 6" descr="imagesCADNM0EJ.jpg"/>
          <p:cNvPicPr>
            <a:picLocks noChangeAspect="1"/>
          </p:cNvPicPr>
          <p:nvPr/>
        </p:nvPicPr>
        <p:blipFill>
          <a:blip r:embed="rId5" cstate="print"/>
          <a:stretch>
            <a:fillRect/>
          </a:stretch>
        </p:blipFill>
        <p:spPr>
          <a:xfrm>
            <a:off x="1944032" y="1877389"/>
            <a:ext cx="1447800" cy="1447800"/>
          </a:xfrm>
          <a:prstGeom prst="rect">
            <a:avLst/>
          </a:prstGeom>
        </p:spPr>
      </p:pic>
      <p:pic>
        <p:nvPicPr>
          <p:cNvPr id="9" name="Picture 8" descr="mortalcombat.png"/>
          <p:cNvPicPr>
            <a:picLocks noChangeAspect="1"/>
          </p:cNvPicPr>
          <p:nvPr/>
        </p:nvPicPr>
        <p:blipFill>
          <a:blip r:embed="rId6" cstate="print"/>
          <a:srcRect l="11077" t="19794" r="11077" b="44536"/>
          <a:stretch>
            <a:fillRect/>
          </a:stretch>
        </p:blipFill>
        <p:spPr>
          <a:xfrm>
            <a:off x="4484099" y="3511773"/>
            <a:ext cx="2897464" cy="990600"/>
          </a:xfrm>
          <a:prstGeom prst="rect">
            <a:avLst/>
          </a:prstGeom>
        </p:spPr>
      </p:pic>
      <p:pic>
        <p:nvPicPr>
          <p:cNvPr id="10" name="Picture 9" descr="untitled.png"/>
          <p:cNvPicPr>
            <a:picLocks noChangeAspect="1"/>
          </p:cNvPicPr>
          <p:nvPr/>
        </p:nvPicPr>
        <p:blipFill>
          <a:blip r:embed="rId7" cstate="print"/>
          <a:stretch>
            <a:fillRect/>
          </a:stretch>
        </p:blipFill>
        <p:spPr>
          <a:xfrm>
            <a:off x="5866235" y="2021645"/>
            <a:ext cx="1503947" cy="1143000"/>
          </a:xfrm>
          <a:prstGeom prst="rect">
            <a:avLst/>
          </a:prstGeom>
        </p:spPr>
      </p:pic>
      <p:pic>
        <p:nvPicPr>
          <p:cNvPr id="11" name="Picture 10" descr="wiisteering.png"/>
          <p:cNvPicPr>
            <a:picLocks noChangeAspect="1"/>
          </p:cNvPicPr>
          <p:nvPr/>
        </p:nvPicPr>
        <p:blipFill>
          <a:blip r:embed="rId8" cstate="print"/>
          <a:stretch>
            <a:fillRect/>
          </a:stretch>
        </p:blipFill>
        <p:spPr>
          <a:xfrm>
            <a:off x="7771470" y="1877389"/>
            <a:ext cx="1295400" cy="1295400"/>
          </a:xfrm>
          <a:prstGeom prst="rect">
            <a:avLst/>
          </a:prstGeom>
        </p:spPr>
      </p:pic>
      <p:pic>
        <p:nvPicPr>
          <p:cNvPr id="1026" name="Picture 2">
            <a:extLst>
              <a:ext uri="{FF2B5EF4-FFF2-40B4-BE49-F238E27FC236}">
                <a16:creationId xmlns:a16="http://schemas.microsoft.com/office/drawing/2014/main" id="{6E4E42AE-416F-47B2-8314-9E575C1725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3406" y="5034775"/>
            <a:ext cx="2857500" cy="1381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16AE3A6-CD81-44A4-8FB8-CC8059C53B6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53300" y="4902423"/>
            <a:ext cx="285750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E526C88-2FDA-4BCA-8A44-94BA9DB60F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14966" y="3429000"/>
            <a:ext cx="2857500" cy="13906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20663AD-96D6-46C2-9B60-351E157269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59504" y="4902424"/>
            <a:ext cx="2857500" cy="1628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Interfacing to a HID</a:t>
            </a:r>
          </a:p>
        </p:txBody>
      </p:sp>
      <p:sp>
        <p:nvSpPr>
          <p:cNvPr id="3" name="Content Placeholder 2"/>
          <p:cNvSpPr>
            <a:spLocks noGrp="1"/>
          </p:cNvSpPr>
          <p:nvPr>
            <p:ph idx="1"/>
          </p:nvPr>
        </p:nvSpPr>
        <p:spPr/>
        <p:txBody>
          <a:bodyPr/>
          <a:lstStyle/>
          <a:p>
            <a:r>
              <a:rPr lang="en-US"/>
              <a:t>Depends on the device</a:t>
            </a:r>
          </a:p>
          <a:p>
            <a:r>
              <a:rPr lang="en-US"/>
              <a:t>Polling – reading the state once per iteration</a:t>
            </a:r>
          </a:p>
          <a:p>
            <a:pPr lvl="1"/>
            <a:r>
              <a:rPr lang="en-US"/>
              <a:t>Hardware register</a:t>
            </a:r>
          </a:p>
          <a:p>
            <a:pPr lvl="1"/>
            <a:r>
              <a:rPr lang="en-US"/>
              <a:t>Memory mapped I/O port</a:t>
            </a:r>
          </a:p>
          <a:p>
            <a:pPr lvl="1"/>
            <a:r>
              <a:rPr lang="en-US"/>
              <a:t>Using a higher level function</a:t>
            </a:r>
          </a:p>
          <a:p>
            <a:r>
              <a:rPr lang="en-US" err="1"/>
              <a:t>XInput</a:t>
            </a:r>
            <a:r>
              <a:rPr lang="en-US"/>
              <a:t> on the </a:t>
            </a:r>
            <a:r>
              <a:rPr lang="en-US" err="1"/>
              <a:t>XBox</a:t>
            </a:r>
            <a:r>
              <a:rPr lang="en-US"/>
              <a:t> 360 is a good example</a:t>
            </a:r>
          </a:p>
          <a:p>
            <a:pPr lvl="1"/>
            <a:r>
              <a:rPr lang="en-US"/>
              <a:t>Call </a:t>
            </a:r>
            <a:r>
              <a:rPr lang="en-US" err="1"/>
              <a:t>XInputGetState</a:t>
            </a:r>
            <a:r>
              <a:rPr lang="en-US"/>
              <a:t>() which returns a XINPUT_STATE </a:t>
            </a:r>
            <a:r>
              <a:rPr lang="en-US" err="1"/>
              <a:t>struct</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Interfacing</a:t>
            </a:r>
          </a:p>
        </p:txBody>
      </p:sp>
      <p:sp>
        <p:nvSpPr>
          <p:cNvPr id="3" name="Content Placeholder 2"/>
          <p:cNvSpPr>
            <a:spLocks noGrp="1"/>
          </p:cNvSpPr>
          <p:nvPr>
            <p:ph idx="1"/>
          </p:nvPr>
        </p:nvSpPr>
        <p:spPr>
          <a:xfrm>
            <a:off x="1997336" y="1757980"/>
            <a:ext cx="7788537" cy="3048001"/>
          </a:xfrm>
        </p:spPr>
        <p:txBody>
          <a:bodyPr>
            <a:normAutofit fontScale="77500" lnSpcReduction="20000"/>
          </a:bodyPr>
          <a:lstStyle/>
          <a:p>
            <a:r>
              <a:rPr lang="en-US"/>
              <a:t>Interrupts</a:t>
            </a:r>
          </a:p>
          <a:p>
            <a:pPr lvl="1"/>
            <a:r>
              <a:rPr lang="en-US"/>
              <a:t>Triggered by a state change in the hardware</a:t>
            </a:r>
          </a:p>
          <a:p>
            <a:pPr lvl="1"/>
            <a:r>
              <a:rPr lang="en-US"/>
              <a:t>Temporarily interrupts the CPU to run a small piece of code</a:t>
            </a:r>
          </a:p>
          <a:p>
            <a:pPr lvl="2"/>
            <a:r>
              <a:rPr lang="en-US"/>
              <a:t>Interrupt Service Routine (ISR)</a:t>
            </a:r>
          </a:p>
          <a:p>
            <a:pPr lvl="1"/>
            <a:r>
              <a:rPr lang="en-US"/>
              <a:t>ISRs typically just read the change and store the data</a:t>
            </a:r>
          </a:p>
          <a:p>
            <a:r>
              <a:rPr lang="en-US"/>
              <a:t>Wireless</a:t>
            </a:r>
          </a:p>
          <a:p>
            <a:pPr lvl="1"/>
            <a:r>
              <a:rPr lang="en-US"/>
              <a:t>Many of the wireless controllers use Bluetooth to communicate</a:t>
            </a:r>
          </a:p>
          <a:p>
            <a:pPr lvl="1"/>
            <a:r>
              <a:rPr lang="en-US"/>
              <a:t>Software requests HID state</a:t>
            </a:r>
          </a:p>
          <a:p>
            <a:pPr lvl="1"/>
            <a:r>
              <a:rPr lang="en-US"/>
              <a:t>Usually handled by a separate thread</a:t>
            </a:r>
          </a:p>
          <a:p>
            <a:pPr lvl="1"/>
            <a:r>
              <a:rPr lang="en-US"/>
              <a:t>Looks like polling to the application developer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 of input</a:t>
            </a:r>
          </a:p>
        </p:txBody>
      </p:sp>
      <p:sp>
        <p:nvSpPr>
          <p:cNvPr id="3" name="Content Placeholder 2"/>
          <p:cNvSpPr>
            <a:spLocks noGrp="1"/>
          </p:cNvSpPr>
          <p:nvPr>
            <p:ph idx="1"/>
          </p:nvPr>
        </p:nvSpPr>
        <p:spPr/>
        <p:txBody>
          <a:bodyPr/>
          <a:lstStyle/>
          <a:p>
            <a:r>
              <a:rPr lang="en-US"/>
              <a:t>Almost every HID has at least a few </a:t>
            </a:r>
            <a:r>
              <a:rPr lang="en-US" i="1"/>
              <a:t>digital buttons </a:t>
            </a:r>
            <a:r>
              <a:rPr lang="en-US"/>
              <a:t>Digital Buttons</a:t>
            </a:r>
          </a:p>
          <a:p>
            <a:pPr lvl="1"/>
            <a:r>
              <a:rPr lang="en-US"/>
              <a:t>Have two states </a:t>
            </a:r>
          </a:p>
          <a:p>
            <a:pPr lvl="1"/>
            <a:r>
              <a:rPr lang="en-US"/>
              <a:t>Pressed represented by a 1</a:t>
            </a:r>
          </a:p>
          <a:p>
            <a:pPr lvl="1"/>
            <a:r>
              <a:rPr lang="en-US"/>
              <a:t>Not pressed represented as a 0</a:t>
            </a:r>
          </a:p>
          <a:p>
            <a:pPr lvl="1"/>
            <a:r>
              <a:rPr lang="en-US"/>
              <a:t>Depends on the hardware developer</a:t>
            </a:r>
          </a:p>
          <a:p>
            <a:r>
              <a:rPr lang="en-US"/>
              <a:t>Electrical engineers speak of a circuit containing a switch as being </a:t>
            </a:r>
            <a:r>
              <a:rPr lang="en-US" i="1"/>
              <a:t>closed</a:t>
            </a:r>
            <a:r>
              <a:rPr lang="en-US"/>
              <a:t>(meaning electricity is flowing through the circuit) or </a:t>
            </a:r>
            <a:r>
              <a:rPr lang="en-US" i="1"/>
              <a:t>open </a:t>
            </a:r>
            <a:r>
              <a:rPr lang="en-US"/>
              <a:t>(no electricity is </a:t>
            </a:r>
            <a:r>
              <a:rPr lang="en-CA"/>
              <a:t>flowing)</a:t>
            </a:r>
            <a:endParaRPr lang="en-US"/>
          </a:p>
          <a:p>
            <a:r>
              <a:rPr lang="en-US"/>
              <a:t>Often the button state is combine into one </a:t>
            </a:r>
            <a:r>
              <a:rPr lang="en-US" err="1"/>
              <a:t>struct</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6215C-EB31-43F9-B7ED-6789D112E528}"/>
              </a:ext>
            </a:extLst>
          </p:cNvPr>
          <p:cNvSpPr>
            <a:spLocks noGrp="1"/>
          </p:cNvSpPr>
          <p:nvPr>
            <p:ph type="title"/>
          </p:nvPr>
        </p:nvSpPr>
        <p:spPr/>
        <p:txBody>
          <a:bodyPr/>
          <a:lstStyle/>
          <a:p>
            <a:r>
              <a:rPr lang="en-US" err="1">
                <a:solidFill>
                  <a:schemeClr val="tx1"/>
                </a:solidFill>
              </a:rPr>
              <a:t>wButtons</a:t>
            </a:r>
            <a:endParaRPr lang="en-CA"/>
          </a:p>
        </p:txBody>
      </p:sp>
      <p:sp>
        <p:nvSpPr>
          <p:cNvPr id="3" name="Content Placeholder 2">
            <a:extLst>
              <a:ext uri="{FF2B5EF4-FFF2-40B4-BE49-F238E27FC236}">
                <a16:creationId xmlns:a16="http://schemas.microsoft.com/office/drawing/2014/main" id="{A45977F2-79DC-47B9-959A-2D4F80CB5C44}"/>
              </a:ext>
            </a:extLst>
          </p:cNvPr>
          <p:cNvSpPr>
            <a:spLocks noGrp="1"/>
          </p:cNvSpPr>
          <p:nvPr>
            <p:ph idx="1"/>
          </p:nvPr>
        </p:nvSpPr>
        <p:spPr/>
        <p:txBody>
          <a:bodyPr>
            <a:normAutofit fontScale="55000" lnSpcReduction="20000"/>
          </a:bodyPr>
          <a:lstStyle/>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XINPUT_GAMEPAD_DPAD_UP</a:t>
            </a:r>
            <a:r>
              <a:rPr lang="en-US">
                <a:solidFill>
                  <a:srgbClr val="000000"/>
                </a:solidFill>
                <a:latin typeface="Consolas" panose="020B0609020204030204" pitchFamily="49" charset="0"/>
              </a:rPr>
              <a:t> 0x0001 </a:t>
            </a:r>
            <a:r>
              <a:rPr lang="en-US">
                <a:solidFill>
                  <a:srgbClr val="008000"/>
                </a:solidFill>
                <a:latin typeface="Consolas" panose="020B0609020204030204" pitchFamily="49" charset="0"/>
              </a:rPr>
              <a:t>// bit 0</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XINPUT_GAMEPAD_DPAD_DOWN</a:t>
            </a:r>
            <a:r>
              <a:rPr lang="en-US">
                <a:solidFill>
                  <a:srgbClr val="000000"/>
                </a:solidFill>
                <a:latin typeface="Consolas" panose="020B0609020204030204" pitchFamily="49" charset="0"/>
              </a:rPr>
              <a:t> 0x0002 </a:t>
            </a:r>
            <a:r>
              <a:rPr lang="en-US">
                <a:solidFill>
                  <a:srgbClr val="008000"/>
                </a:solidFill>
                <a:latin typeface="Consolas" panose="020B0609020204030204" pitchFamily="49" charset="0"/>
              </a:rPr>
              <a:t>// bit 1</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XINPUT_GAMEPAD_DPAD_LEFT</a:t>
            </a:r>
            <a:r>
              <a:rPr lang="en-US">
                <a:solidFill>
                  <a:srgbClr val="000000"/>
                </a:solidFill>
                <a:latin typeface="Consolas" panose="020B0609020204030204" pitchFamily="49" charset="0"/>
              </a:rPr>
              <a:t> 0x0004 </a:t>
            </a:r>
            <a:r>
              <a:rPr lang="en-US">
                <a:solidFill>
                  <a:srgbClr val="008000"/>
                </a:solidFill>
                <a:latin typeface="Consolas" panose="020B0609020204030204" pitchFamily="49" charset="0"/>
              </a:rPr>
              <a:t>// bit 2</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XINPUT_GAMEPAD_DPAD_RIGHT</a:t>
            </a:r>
            <a:r>
              <a:rPr lang="en-US">
                <a:solidFill>
                  <a:srgbClr val="000000"/>
                </a:solidFill>
                <a:latin typeface="Consolas" panose="020B0609020204030204" pitchFamily="49" charset="0"/>
              </a:rPr>
              <a:t> 0x0008 </a:t>
            </a:r>
            <a:r>
              <a:rPr lang="en-US">
                <a:solidFill>
                  <a:srgbClr val="008000"/>
                </a:solidFill>
                <a:latin typeface="Consolas" panose="020B0609020204030204" pitchFamily="49" charset="0"/>
              </a:rPr>
              <a:t>// bit 3</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XINPUT_GAMEPAD_START</a:t>
            </a:r>
            <a:r>
              <a:rPr lang="en-US">
                <a:solidFill>
                  <a:srgbClr val="000000"/>
                </a:solidFill>
                <a:latin typeface="Consolas" panose="020B0609020204030204" pitchFamily="49" charset="0"/>
              </a:rPr>
              <a:t> 0x0010 </a:t>
            </a:r>
            <a:r>
              <a:rPr lang="en-US">
                <a:solidFill>
                  <a:srgbClr val="008000"/>
                </a:solidFill>
                <a:latin typeface="Consolas" panose="020B0609020204030204" pitchFamily="49" charset="0"/>
              </a:rPr>
              <a:t>// bit 4</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XINPUT_GAMEPAD_BACK</a:t>
            </a:r>
            <a:r>
              <a:rPr lang="en-US">
                <a:solidFill>
                  <a:srgbClr val="000000"/>
                </a:solidFill>
                <a:latin typeface="Consolas" panose="020B0609020204030204" pitchFamily="49" charset="0"/>
              </a:rPr>
              <a:t> 0x0020 </a:t>
            </a:r>
            <a:r>
              <a:rPr lang="en-US">
                <a:solidFill>
                  <a:srgbClr val="008000"/>
                </a:solidFill>
                <a:latin typeface="Consolas" panose="020B0609020204030204" pitchFamily="49" charset="0"/>
              </a:rPr>
              <a:t>// bit 5</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XINPUT_GAMEPAD_LEFT_THUMB</a:t>
            </a:r>
            <a:r>
              <a:rPr lang="en-US">
                <a:solidFill>
                  <a:srgbClr val="000000"/>
                </a:solidFill>
                <a:latin typeface="Consolas" panose="020B0609020204030204" pitchFamily="49" charset="0"/>
              </a:rPr>
              <a:t> 0x0040 </a:t>
            </a:r>
            <a:r>
              <a:rPr lang="en-US">
                <a:solidFill>
                  <a:srgbClr val="008000"/>
                </a:solidFill>
                <a:latin typeface="Consolas" panose="020B0609020204030204" pitchFamily="49" charset="0"/>
              </a:rPr>
              <a:t>// bit 6</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XINPUT_GAMEPAD_RIGHT_THUMB</a:t>
            </a:r>
            <a:r>
              <a:rPr lang="en-US">
                <a:solidFill>
                  <a:srgbClr val="000000"/>
                </a:solidFill>
                <a:latin typeface="Consolas" panose="020B0609020204030204" pitchFamily="49" charset="0"/>
              </a:rPr>
              <a:t> 0x0080 </a:t>
            </a:r>
            <a:r>
              <a:rPr lang="en-US">
                <a:solidFill>
                  <a:srgbClr val="008000"/>
                </a:solidFill>
                <a:latin typeface="Consolas" panose="020B0609020204030204" pitchFamily="49" charset="0"/>
              </a:rPr>
              <a:t>// bit 7</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XINPUT_GAMEPAD_LEFT_SHOULDER</a:t>
            </a:r>
            <a:r>
              <a:rPr lang="en-US">
                <a:solidFill>
                  <a:srgbClr val="000000"/>
                </a:solidFill>
                <a:latin typeface="Consolas" panose="020B0609020204030204" pitchFamily="49" charset="0"/>
              </a:rPr>
              <a:t> 0x0100 </a:t>
            </a:r>
            <a:r>
              <a:rPr lang="en-US">
                <a:solidFill>
                  <a:srgbClr val="008000"/>
                </a:solidFill>
                <a:latin typeface="Consolas" panose="020B0609020204030204" pitchFamily="49" charset="0"/>
              </a:rPr>
              <a:t>// bit 8</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XINPUT_GAMEPAD_RIGHT_SHOULDER</a:t>
            </a:r>
            <a:r>
              <a:rPr lang="en-US">
                <a:solidFill>
                  <a:srgbClr val="000000"/>
                </a:solidFill>
                <a:latin typeface="Consolas" panose="020B0609020204030204" pitchFamily="49" charset="0"/>
              </a:rPr>
              <a:t> 0x0200 </a:t>
            </a:r>
            <a:r>
              <a:rPr lang="en-US">
                <a:solidFill>
                  <a:srgbClr val="008000"/>
                </a:solidFill>
                <a:latin typeface="Consolas" panose="020B0609020204030204" pitchFamily="49" charset="0"/>
              </a:rPr>
              <a:t>// bit 9</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XINPUT_GAMEPAD_A</a:t>
            </a:r>
            <a:r>
              <a:rPr lang="en-US">
                <a:solidFill>
                  <a:srgbClr val="000000"/>
                </a:solidFill>
                <a:latin typeface="Consolas" panose="020B0609020204030204" pitchFamily="49" charset="0"/>
              </a:rPr>
              <a:t> 0x1000 </a:t>
            </a:r>
            <a:r>
              <a:rPr lang="en-US">
                <a:solidFill>
                  <a:srgbClr val="008000"/>
                </a:solidFill>
                <a:latin typeface="Consolas" panose="020B0609020204030204" pitchFamily="49" charset="0"/>
              </a:rPr>
              <a:t>// bit 12</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XINPUT_GAMEPAD_B</a:t>
            </a:r>
            <a:r>
              <a:rPr lang="en-US">
                <a:solidFill>
                  <a:srgbClr val="000000"/>
                </a:solidFill>
                <a:latin typeface="Consolas" panose="020B0609020204030204" pitchFamily="49" charset="0"/>
              </a:rPr>
              <a:t> 0x2000 </a:t>
            </a:r>
            <a:r>
              <a:rPr lang="en-US">
                <a:solidFill>
                  <a:srgbClr val="008000"/>
                </a:solidFill>
                <a:latin typeface="Consolas" panose="020B0609020204030204" pitchFamily="49" charset="0"/>
              </a:rPr>
              <a:t>// bit 13</a:t>
            </a:r>
            <a:endParaRPr lang="en-US">
              <a:solidFill>
                <a:srgbClr val="000000"/>
              </a:solidFill>
              <a:latin typeface="Consolas" panose="020B0609020204030204" pitchFamily="49" charset="0"/>
            </a:endParaRPr>
          </a:p>
          <a:p>
            <a:r>
              <a:rPr lang="en-US">
                <a:solidFill>
                  <a:srgbClr val="808080"/>
                </a:solidFill>
                <a:latin typeface="Consolas" panose="020B0609020204030204" pitchFamily="49" charset="0"/>
              </a:rPr>
              <a:t>#define</a:t>
            </a:r>
            <a:r>
              <a:rPr lang="en-US">
                <a:solidFill>
                  <a:srgbClr val="000000"/>
                </a:solidFill>
                <a:latin typeface="Consolas" panose="020B0609020204030204" pitchFamily="49" charset="0"/>
              </a:rPr>
              <a:t> </a:t>
            </a:r>
            <a:r>
              <a:rPr lang="en-US">
                <a:solidFill>
                  <a:srgbClr val="6F008A"/>
                </a:solidFill>
                <a:latin typeface="Consolas" panose="020B0609020204030204" pitchFamily="49" charset="0"/>
              </a:rPr>
              <a:t>XINPUT_GAMEPAD_X</a:t>
            </a:r>
            <a:r>
              <a:rPr lang="en-US">
                <a:solidFill>
                  <a:srgbClr val="000000"/>
                </a:solidFill>
                <a:latin typeface="Consolas" panose="020B0609020204030204" pitchFamily="49" charset="0"/>
              </a:rPr>
              <a:t> 0x4000 </a:t>
            </a:r>
            <a:r>
              <a:rPr lang="en-US">
                <a:solidFill>
                  <a:srgbClr val="008000"/>
                </a:solidFill>
                <a:latin typeface="Consolas" panose="020B0609020204030204" pitchFamily="49" charset="0"/>
              </a:rPr>
              <a:t>// bit 14</a:t>
            </a:r>
            <a:endParaRPr lang="en-US">
              <a:solidFill>
                <a:srgbClr val="000000"/>
              </a:solidFill>
              <a:latin typeface="Consolas" panose="020B0609020204030204" pitchFamily="49" charset="0"/>
            </a:endParaRPr>
          </a:p>
          <a:p>
            <a:r>
              <a:rPr lang="en-CA">
                <a:solidFill>
                  <a:srgbClr val="808080"/>
                </a:solidFill>
                <a:latin typeface="Consolas" panose="020B0609020204030204" pitchFamily="49" charset="0"/>
              </a:rPr>
              <a:t>#define</a:t>
            </a:r>
            <a:r>
              <a:rPr lang="en-CA">
                <a:solidFill>
                  <a:srgbClr val="000000"/>
                </a:solidFill>
                <a:latin typeface="Consolas" panose="020B0609020204030204" pitchFamily="49" charset="0"/>
              </a:rPr>
              <a:t> </a:t>
            </a:r>
            <a:r>
              <a:rPr lang="en-CA">
                <a:solidFill>
                  <a:srgbClr val="6F008A"/>
                </a:solidFill>
                <a:latin typeface="Consolas" panose="020B0609020204030204" pitchFamily="49" charset="0"/>
              </a:rPr>
              <a:t>XINPUT_GAMEPAD_Y</a:t>
            </a:r>
            <a:r>
              <a:rPr lang="en-CA">
                <a:solidFill>
                  <a:srgbClr val="000000"/>
                </a:solidFill>
                <a:latin typeface="Consolas" panose="020B0609020204030204" pitchFamily="49" charset="0"/>
              </a:rPr>
              <a:t> 0x8000 </a:t>
            </a:r>
            <a:r>
              <a:rPr lang="en-CA">
                <a:solidFill>
                  <a:srgbClr val="008000"/>
                </a:solidFill>
                <a:latin typeface="Consolas" panose="020B0609020204030204" pitchFamily="49" charset="0"/>
              </a:rPr>
              <a:t>// bit 15</a:t>
            </a:r>
            <a:endParaRPr lang="en-CA"/>
          </a:p>
        </p:txBody>
      </p:sp>
    </p:spTree>
    <p:extLst>
      <p:ext uri="{BB962C8B-B14F-4D97-AF65-F5344CB8AC3E}">
        <p14:creationId xmlns:p14="http://schemas.microsoft.com/office/powerpoint/2010/main" val="3308625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269402"/>
          </a:xfrm>
        </p:spPr>
        <p:txBody>
          <a:bodyPr/>
          <a:lstStyle/>
          <a:p>
            <a:r>
              <a:rPr lang="en-US" err="1"/>
              <a:t>Xinput_gamepad</a:t>
            </a:r>
            <a:endParaRPr lang="en-US"/>
          </a:p>
        </p:txBody>
      </p:sp>
      <p:sp>
        <p:nvSpPr>
          <p:cNvPr id="3" name="Content Placeholder 2"/>
          <p:cNvSpPr>
            <a:spLocks noGrp="1"/>
          </p:cNvSpPr>
          <p:nvPr>
            <p:ph idx="1"/>
          </p:nvPr>
        </p:nvSpPr>
        <p:spPr/>
        <p:txBody>
          <a:bodyPr>
            <a:normAutofit fontScale="40000" lnSpcReduction="20000"/>
          </a:bodyPr>
          <a:lstStyle/>
          <a:p>
            <a:pPr marL="0" indent="0">
              <a:buNone/>
            </a:pPr>
            <a:r>
              <a:rPr lang="en-CA">
                <a:solidFill>
                  <a:srgbClr val="0000FF"/>
                </a:solidFill>
                <a:latin typeface="Consolas" panose="020B0609020204030204" pitchFamily="49" charset="0"/>
              </a:rPr>
              <a:t>typedef</a:t>
            </a:r>
            <a:r>
              <a:rPr lang="en-CA">
                <a:solidFill>
                  <a:srgbClr val="000000"/>
                </a:solidFill>
                <a:latin typeface="Consolas" panose="020B0609020204030204" pitchFamily="49" charset="0"/>
              </a:rPr>
              <a:t> </a:t>
            </a:r>
            <a:r>
              <a:rPr lang="en-CA">
                <a:solidFill>
                  <a:srgbClr val="0000FF"/>
                </a:solidFill>
                <a:latin typeface="Consolas" panose="020B0609020204030204" pitchFamily="49" charset="0"/>
              </a:rPr>
              <a:t>struct</a:t>
            </a:r>
            <a:r>
              <a:rPr lang="en-CA">
                <a:solidFill>
                  <a:srgbClr val="000000"/>
                </a:solidFill>
                <a:latin typeface="Consolas" panose="020B0609020204030204" pitchFamily="49" charset="0"/>
              </a:rPr>
              <a:t> </a:t>
            </a:r>
            <a:r>
              <a:rPr lang="en-CA">
                <a:solidFill>
                  <a:srgbClr val="2B91AF"/>
                </a:solidFill>
                <a:latin typeface="Consolas" panose="020B0609020204030204" pitchFamily="49" charset="0"/>
              </a:rPr>
              <a:t>_XINPUT_GAMEPAD</a:t>
            </a:r>
            <a:r>
              <a:rPr lang="en-CA">
                <a:solidFill>
                  <a:srgbClr val="000000"/>
                </a:solidFill>
                <a:latin typeface="Consolas" panose="020B0609020204030204" pitchFamily="49" charset="0"/>
              </a:rPr>
              <a:t> {</a:t>
            </a:r>
          </a:p>
          <a:p>
            <a:pPr marL="0" indent="0">
              <a:buNone/>
            </a:pPr>
            <a:r>
              <a:rPr lang="en-CA">
                <a:solidFill>
                  <a:srgbClr val="000000"/>
                </a:solidFill>
                <a:latin typeface="Consolas" panose="020B0609020204030204" pitchFamily="49" charset="0"/>
              </a:rPr>
              <a:t>WORD </a:t>
            </a:r>
            <a:r>
              <a:rPr lang="en-CA" err="1">
                <a:solidFill>
                  <a:srgbClr val="000000"/>
                </a:solidFill>
                <a:latin typeface="Consolas" panose="020B0609020204030204" pitchFamily="49" charset="0"/>
              </a:rPr>
              <a:t>wButtons</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BYTE </a:t>
            </a:r>
            <a:r>
              <a:rPr lang="en-CA" err="1">
                <a:solidFill>
                  <a:srgbClr val="000000"/>
                </a:solidFill>
                <a:latin typeface="Consolas" panose="020B0609020204030204" pitchFamily="49" charset="0"/>
              </a:rPr>
              <a:t>bLeftTrigger</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BYTE </a:t>
            </a:r>
            <a:r>
              <a:rPr lang="en-CA" err="1">
                <a:solidFill>
                  <a:srgbClr val="000000"/>
                </a:solidFill>
                <a:latin typeface="Consolas" panose="020B0609020204030204" pitchFamily="49" charset="0"/>
              </a:rPr>
              <a:t>bRightTrigger</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sThumbLX</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sThumbLY</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sThumbRX</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sThumbRY</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endParaRPr lang="en-US"/>
          </a:p>
          <a:p>
            <a:r>
              <a:rPr lang="en-US" err="1"/>
              <a:t>xButtons</a:t>
            </a:r>
            <a:r>
              <a:rPr lang="en-US"/>
              <a:t> contains the state of all the buttons and you apply masks to get their current state</a:t>
            </a:r>
          </a:p>
          <a:p>
            <a:endParaRPr lang="en-CA">
              <a:solidFill>
                <a:srgbClr val="000000"/>
              </a:solidFill>
              <a:latin typeface="Consolas" panose="020B0609020204030204" pitchFamily="49" charset="0"/>
            </a:endParaRPr>
          </a:p>
          <a:p>
            <a:pPr marL="0" indent="0">
              <a:buNone/>
            </a:pPr>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IsButtonADown</a:t>
            </a:r>
            <a:r>
              <a:rPr lang="en-US">
                <a:solidFill>
                  <a:srgbClr val="000000"/>
                </a:solidFill>
                <a:latin typeface="Consolas" panose="020B0609020204030204" pitchFamily="49" charset="0"/>
              </a:rPr>
              <a:t>(</a:t>
            </a:r>
            <a:r>
              <a:rPr lang="en-US">
                <a:solidFill>
                  <a:srgbClr val="0000FF"/>
                </a:solidFill>
                <a:latin typeface="Consolas" panose="020B0609020204030204" pitchFamily="49" charset="0"/>
              </a:rPr>
              <a:t>const</a:t>
            </a:r>
            <a:r>
              <a:rPr lang="en-US">
                <a:solidFill>
                  <a:srgbClr val="000000"/>
                </a:solidFill>
                <a:latin typeface="Consolas" panose="020B0609020204030204" pitchFamily="49" charset="0"/>
              </a:rPr>
              <a:t> XINPUT_GAMEPAD&amp; </a:t>
            </a:r>
            <a:r>
              <a:rPr lang="en-US">
                <a:solidFill>
                  <a:srgbClr val="808080"/>
                </a:solidFill>
                <a:latin typeface="Consolas" panose="020B0609020204030204" pitchFamily="49" charset="0"/>
              </a:rPr>
              <a:t>pad</a:t>
            </a:r>
            <a:r>
              <a:rPr lang="en-US">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Mask off all bits but bit 12 (the A button).</a:t>
            </a:r>
            <a:endParaRPr lang="en-US">
              <a:solidFill>
                <a:srgbClr val="000000"/>
              </a:solidFill>
              <a:latin typeface="Consolas" panose="020B0609020204030204" pitchFamily="49" charset="0"/>
            </a:endParaRPr>
          </a:p>
          <a:p>
            <a:pPr marL="0" indent="0">
              <a:buNone/>
            </a:pP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a:t>
            </a:r>
            <a:r>
              <a:rPr lang="en-US" err="1">
                <a:solidFill>
                  <a:srgbClr val="808080"/>
                </a:solidFill>
                <a:latin typeface="Consolas" panose="020B0609020204030204" pitchFamily="49" charset="0"/>
              </a:rPr>
              <a:t>pad</a:t>
            </a:r>
            <a:r>
              <a:rPr lang="en-US" err="1">
                <a:solidFill>
                  <a:srgbClr val="000000"/>
                </a:solidFill>
                <a:latin typeface="Consolas" panose="020B0609020204030204" pitchFamily="49" charset="0"/>
              </a:rPr>
              <a:t>.wButtons</a:t>
            </a:r>
            <a:r>
              <a:rPr lang="en-US">
                <a:solidFill>
                  <a:srgbClr val="000000"/>
                </a:solidFill>
                <a:latin typeface="Consolas" panose="020B0609020204030204" pitchFamily="49" charset="0"/>
              </a:rPr>
              <a:t> &amp; </a:t>
            </a:r>
            <a:r>
              <a:rPr lang="en-US">
                <a:solidFill>
                  <a:srgbClr val="6F008A"/>
                </a:solidFill>
                <a:latin typeface="Consolas" panose="020B0609020204030204" pitchFamily="49" charset="0"/>
              </a:rPr>
              <a:t>XINPUT_GAMEPAD_A</a:t>
            </a:r>
            <a:r>
              <a:rPr lang="en-US">
                <a:solidFill>
                  <a:srgbClr val="000000"/>
                </a:solidFill>
                <a:latin typeface="Consolas" panose="020B0609020204030204" pitchFamily="49" charset="0"/>
              </a:rPr>
              <a:t>) != 0);</a:t>
            </a:r>
          </a:p>
          <a:p>
            <a:pPr marL="0" indent="0">
              <a:buNone/>
            </a:pPr>
            <a:r>
              <a:rPr lang="en-CA">
                <a:solidFill>
                  <a:srgbClr val="000000"/>
                </a:solidFill>
                <a:latin typeface="Consolas" panose="020B0609020204030204" pitchFamily="49" charset="0"/>
              </a:rPr>
              <a: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Analog axes and buttons</a:t>
            </a:r>
          </a:p>
        </p:txBody>
      </p:sp>
      <p:sp>
        <p:nvSpPr>
          <p:cNvPr id="3" name="Content Placeholder 2"/>
          <p:cNvSpPr>
            <a:spLocks noGrp="1"/>
          </p:cNvSpPr>
          <p:nvPr>
            <p:ph idx="1"/>
          </p:nvPr>
        </p:nvSpPr>
        <p:spPr/>
        <p:txBody>
          <a:bodyPr/>
          <a:lstStyle/>
          <a:p>
            <a:r>
              <a:rPr lang="en-US"/>
              <a:t>An </a:t>
            </a:r>
            <a:r>
              <a:rPr lang="en-US" i="1"/>
              <a:t>analog input </a:t>
            </a:r>
            <a:r>
              <a:rPr lang="en-US"/>
              <a:t>is one that can take on a range of values (rather than just 0 or 1).</a:t>
            </a:r>
          </a:p>
          <a:p>
            <a:r>
              <a:rPr lang="en-US"/>
              <a:t>Unlike buttons, joysticks have a range of values</a:t>
            </a:r>
          </a:p>
          <a:p>
            <a:r>
              <a:rPr lang="en-CA"/>
              <a:t>Analog inputs are sometimes </a:t>
            </a:r>
            <a:r>
              <a:rPr lang="en-US"/>
              <a:t>called </a:t>
            </a:r>
            <a:r>
              <a:rPr lang="en-US" i="1"/>
              <a:t>analog axes</a:t>
            </a:r>
            <a:r>
              <a:rPr lang="en-US"/>
              <a:t>, or just </a:t>
            </a:r>
            <a:r>
              <a:rPr lang="en-US" i="1"/>
              <a:t>axes</a:t>
            </a:r>
            <a:endParaRPr lang="en-US"/>
          </a:p>
          <a:p>
            <a:r>
              <a:rPr lang="en-US"/>
              <a:t>They aren’t truly analog because they are digitized</a:t>
            </a:r>
          </a:p>
          <a:p>
            <a:pPr lvl="1"/>
            <a:r>
              <a:rPr lang="en-US"/>
              <a:t>Range from -32,768 to +32,767</a:t>
            </a:r>
          </a:p>
          <a:p>
            <a:pPr lvl="1"/>
            <a:r>
              <a:rPr lang="en-US"/>
              <a:t>or -1 to +1</a:t>
            </a: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7416" y="4126553"/>
            <a:ext cx="2428310" cy="2216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14839F-D052-4D40-9AC3-A927ACD1C5F2}"/>
              </a:ext>
            </a:extLst>
          </p:cNvPr>
          <p:cNvSpPr>
            <a:spLocks noGrp="1"/>
          </p:cNvSpPr>
          <p:nvPr>
            <p:ph type="title"/>
          </p:nvPr>
        </p:nvSpPr>
        <p:spPr/>
        <p:txBody>
          <a:bodyPr/>
          <a:lstStyle/>
          <a:p>
            <a:r>
              <a:rPr lang="en-CA">
                <a:solidFill>
                  <a:srgbClr val="2B91AF"/>
                </a:solidFill>
                <a:latin typeface="Consolas" panose="020B0609020204030204" pitchFamily="49" charset="0"/>
              </a:rPr>
              <a:t>_XINPUT_GAMEPAD</a:t>
            </a:r>
            <a:endParaRPr lang="en-CA"/>
          </a:p>
        </p:txBody>
      </p:sp>
      <p:sp>
        <p:nvSpPr>
          <p:cNvPr id="5" name="Content Placeholder 4">
            <a:extLst>
              <a:ext uri="{FF2B5EF4-FFF2-40B4-BE49-F238E27FC236}">
                <a16:creationId xmlns:a16="http://schemas.microsoft.com/office/drawing/2014/main" id="{983BD087-0C43-45E4-A5A0-9A3E18E484F5}"/>
              </a:ext>
            </a:extLst>
          </p:cNvPr>
          <p:cNvSpPr>
            <a:spLocks noGrp="1"/>
          </p:cNvSpPr>
          <p:nvPr>
            <p:ph sz="half" idx="2"/>
          </p:nvPr>
        </p:nvSpPr>
        <p:spPr/>
        <p:txBody>
          <a:bodyPr>
            <a:normAutofit fontScale="92500" lnSpcReduction="20000"/>
          </a:bodyPr>
          <a:lstStyle/>
          <a:p>
            <a:pPr marL="0" indent="0">
              <a:buNone/>
            </a:pPr>
            <a:r>
              <a:rPr lang="en-CA">
                <a:solidFill>
                  <a:srgbClr val="0000FF"/>
                </a:solidFill>
                <a:latin typeface="Consolas" panose="020B0609020204030204" pitchFamily="49" charset="0"/>
              </a:rPr>
              <a:t>typedef</a:t>
            </a:r>
            <a:r>
              <a:rPr lang="en-CA">
                <a:solidFill>
                  <a:srgbClr val="000000"/>
                </a:solidFill>
                <a:latin typeface="Consolas" panose="020B0609020204030204" pitchFamily="49" charset="0"/>
              </a:rPr>
              <a:t> </a:t>
            </a:r>
            <a:r>
              <a:rPr lang="en-CA">
                <a:solidFill>
                  <a:srgbClr val="0000FF"/>
                </a:solidFill>
                <a:latin typeface="Consolas" panose="020B0609020204030204" pitchFamily="49" charset="0"/>
              </a:rPr>
              <a:t>struct</a:t>
            </a:r>
            <a:r>
              <a:rPr lang="en-CA">
                <a:solidFill>
                  <a:srgbClr val="000000"/>
                </a:solidFill>
                <a:latin typeface="Consolas" panose="020B0609020204030204" pitchFamily="49" charset="0"/>
              </a:rPr>
              <a:t> </a:t>
            </a:r>
            <a:r>
              <a:rPr lang="en-CA">
                <a:solidFill>
                  <a:srgbClr val="2B91AF"/>
                </a:solidFill>
                <a:latin typeface="Consolas" panose="020B0609020204030204" pitchFamily="49" charset="0"/>
              </a:rPr>
              <a:t>_XINPUT_GAMEPAD</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WORD </a:t>
            </a:r>
            <a:r>
              <a:rPr lang="en-CA" err="1">
                <a:solidFill>
                  <a:srgbClr val="000000"/>
                </a:solidFill>
                <a:latin typeface="Consolas" panose="020B0609020204030204" pitchFamily="49" charset="0"/>
              </a:rPr>
              <a:t>wButtons</a:t>
            </a: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8-bit unsigned</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BYTE </a:t>
            </a:r>
            <a:r>
              <a:rPr lang="en-CA" err="1">
                <a:solidFill>
                  <a:srgbClr val="000000"/>
                </a:solidFill>
                <a:latin typeface="Consolas" panose="020B0609020204030204" pitchFamily="49" charset="0"/>
              </a:rPr>
              <a:t>bLeftTrigger</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BYTE </a:t>
            </a:r>
            <a:r>
              <a:rPr lang="en-CA" err="1">
                <a:solidFill>
                  <a:srgbClr val="000000"/>
                </a:solidFill>
                <a:latin typeface="Consolas" panose="020B0609020204030204" pitchFamily="49" charset="0"/>
              </a:rPr>
              <a:t>bRightTrigger</a:t>
            </a: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16-bit signed</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sThumbLX</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sThumbLY</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sThumbRX</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SHORT </a:t>
            </a:r>
            <a:r>
              <a:rPr lang="en-CA" err="1">
                <a:solidFill>
                  <a:srgbClr val="000000"/>
                </a:solidFill>
                <a:latin typeface="Consolas" panose="020B0609020204030204" pitchFamily="49" charset="0"/>
              </a:rPr>
              <a:t>sThumbRY</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 </a:t>
            </a:r>
            <a:r>
              <a:rPr lang="en-CA">
                <a:solidFill>
                  <a:srgbClr val="2B91AF"/>
                </a:solidFill>
                <a:latin typeface="Consolas" panose="020B0609020204030204" pitchFamily="49" charset="0"/>
              </a:rPr>
              <a:t>XINPUT_GAMEPAD</a:t>
            </a:r>
            <a:r>
              <a:rPr lang="en-CA">
                <a:solidFill>
                  <a:srgbClr val="000000"/>
                </a:solidFill>
                <a:latin typeface="Consolas" panose="020B0609020204030204" pitchFamily="49" charset="0"/>
              </a:rPr>
              <a:t>;</a:t>
            </a:r>
            <a:endParaRPr lang="en-CA"/>
          </a:p>
        </p:txBody>
      </p:sp>
      <p:sp>
        <p:nvSpPr>
          <p:cNvPr id="6" name="Content Placeholder 5">
            <a:extLst>
              <a:ext uri="{FF2B5EF4-FFF2-40B4-BE49-F238E27FC236}">
                <a16:creationId xmlns:a16="http://schemas.microsoft.com/office/drawing/2014/main" id="{CAF41E59-46DD-4386-9ADD-ED58C58E3009}"/>
              </a:ext>
            </a:extLst>
          </p:cNvPr>
          <p:cNvSpPr>
            <a:spLocks noGrp="1"/>
          </p:cNvSpPr>
          <p:nvPr>
            <p:ph sz="quarter" idx="13"/>
          </p:nvPr>
        </p:nvSpPr>
        <p:spPr/>
        <p:txBody>
          <a:bodyPr>
            <a:normAutofit fontScale="55000" lnSpcReduction="20000"/>
          </a:bodyPr>
          <a:lstStyle/>
          <a:p>
            <a:r>
              <a:rPr lang="en-US"/>
              <a:t>XINPUT_GAMEPAD: Microsoft represents the deflections of the left and right thumb sticks on the Xbox 360 gamepad using 16-bit signed integers (</a:t>
            </a:r>
            <a:r>
              <a:rPr lang="en-US" err="1"/>
              <a:t>sThumbLX</a:t>
            </a:r>
            <a:r>
              <a:rPr lang="en-US"/>
              <a:t> and </a:t>
            </a:r>
            <a:r>
              <a:rPr lang="en-US" err="1"/>
              <a:t>sThumbLY</a:t>
            </a:r>
            <a:r>
              <a:rPr lang="en-US"/>
              <a:t> for the left stick and </a:t>
            </a:r>
            <a:r>
              <a:rPr lang="en-US" err="1"/>
              <a:t>sThumbRX</a:t>
            </a:r>
            <a:r>
              <a:rPr lang="en-US"/>
              <a:t> and </a:t>
            </a:r>
            <a:r>
              <a:rPr lang="en-US" err="1"/>
              <a:t>sThumbRY</a:t>
            </a:r>
            <a:r>
              <a:rPr lang="en-US"/>
              <a:t> for the right).</a:t>
            </a:r>
          </a:p>
          <a:p>
            <a:endParaRPr lang="en-US"/>
          </a:p>
          <a:p>
            <a:r>
              <a:rPr lang="en-US"/>
              <a:t>these values range from -32,768 (left or down) to 32,767 (right or up).</a:t>
            </a:r>
          </a:p>
          <a:p>
            <a:endParaRPr lang="en-US"/>
          </a:p>
          <a:p>
            <a:r>
              <a:rPr lang="en-US"/>
              <a:t>To represent the positions of the left and right shoulder triggers, Microsoft chose to use eight-bit unsigned integers (</a:t>
            </a:r>
            <a:r>
              <a:rPr lang="en-US" err="1"/>
              <a:t>bLeftTrigger</a:t>
            </a:r>
            <a:r>
              <a:rPr lang="en-US"/>
              <a:t> and </a:t>
            </a:r>
            <a:r>
              <a:rPr lang="en-US" err="1"/>
              <a:t>bRightTrigger</a:t>
            </a:r>
            <a:r>
              <a:rPr lang="en-US"/>
              <a:t>, respectively). </a:t>
            </a:r>
          </a:p>
          <a:p>
            <a:endParaRPr lang="en-US"/>
          </a:p>
          <a:p>
            <a:r>
              <a:rPr lang="en-US"/>
              <a:t>These input values range from 0 (not pressed) to 255 (fully pressed). </a:t>
            </a:r>
          </a:p>
          <a:p>
            <a:endParaRPr lang="en-US"/>
          </a:p>
          <a:p>
            <a:r>
              <a:rPr lang="en-US"/>
              <a:t>Different game machines use different digital </a:t>
            </a:r>
            <a:r>
              <a:rPr lang="en-US" err="1"/>
              <a:t>representions</a:t>
            </a:r>
            <a:r>
              <a:rPr lang="en-US"/>
              <a:t> for their analog axes.</a:t>
            </a:r>
            <a:endParaRPr lang="en-CA"/>
          </a:p>
        </p:txBody>
      </p:sp>
    </p:spTree>
    <p:extLst>
      <p:ext uri="{BB962C8B-B14F-4D97-AF65-F5344CB8AC3E}">
        <p14:creationId xmlns:p14="http://schemas.microsoft.com/office/powerpoint/2010/main" val="816032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Relative axes</a:t>
            </a:r>
          </a:p>
        </p:txBody>
      </p:sp>
      <p:sp>
        <p:nvSpPr>
          <p:cNvPr id="3" name="Content Placeholder 2"/>
          <p:cNvSpPr>
            <a:spLocks noGrp="1"/>
          </p:cNvSpPr>
          <p:nvPr>
            <p:ph idx="1"/>
          </p:nvPr>
        </p:nvSpPr>
        <p:spPr/>
        <p:txBody>
          <a:bodyPr/>
          <a:lstStyle/>
          <a:p>
            <a:r>
              <a:rPr lang="en-US"/>
              <a:t>Most of the time the position of the trigger, joystick, or thumb stick is absolute – relative to a 0,0 point</a:t>
            </a:r>
          </a:p>
          <a:p>
            <a:r>
              <a:rPr lang="en-US"/>
              <a:t>Some input devices provide information in a relative format</a:t>
            </a:r>
          </a:p>
          <a:p>
            <a:pPr lvl="1"/>
            <a:r>
              <a:rPr lang="en-US"/>
              <a:t>They return 0 if the device has not moved from its past position</a:t>
            </a:r>
          </a:p>
          <a:p>
            <a:r>
              <a:rPr lang="en-US"/>
              <a:t>Examples include mice, mice wheels, and track balls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Accelerometers</a:t>
            </a:r>
          </a:p>
        </p:txBody>
      </p:sp>
      <p:sp>
        <p:nvSpPr>
          <p:cNvPr id="3" name="Content Placeholder 2"/>
          <p:cNvSpPr>
            <a:spLocks noGrp="1"/>
          </p:cNvSpPr>
          <p:nvPr>
            <p:ph sz="half" idx="2"/>
          </p:nvPr>
        </p:nvSpPr>
        <p:spPr>
          <a:xfrm>
            <a:off x="5492462" y="1600201"/>
            <a:ext cx="4865052" cy="4525963"/>
          </a:xfrm>
        </p:spPr>
        <p:txBody>
          <a:bodyPr>
            <a:normAutofit fontScale="92500" lnSpcReduction="20000"/>
          </a:bodyPr>
          <a:lstStyle/>
          <a:p>
            <a:r>
              <a:rPr lang="en-US"/>
              <a:t>Newer controllers have accelerometers built in</a:t>
            </a:r>
          </a:p>
          <a:p>
            <a:r>
              <a:rPr lang="en-US"/>
              <a:t>These provide information about g-force in three directions (1 g ~</a:t>
            </a:r>
            <a:r>
              <a:rPr lang="en-US" i="1"/>
              <a:t> </a:t>
            </a:r>
            <a:r>
              <a:rPr lang="en-US"/>
              <a:t>9.8 m/s2). </a:t>
            </a:r>
          </a:p>
          <a:p>
            <a:r>
              <a:rPr lang="en-CA"/>
              <a:t>These are </a:t>
            </a:r>
            <a:r>
              <a:rPr lang="en-US" i="1"/>
              <a:t>relative </a:t>
            </a:r>
            <a:r>
              <a:rPr lang="en-US"/>
              <a:t>analog inputs, much like a mouse’s two-dimensional axes. </a:t>
            </a:r>
          </a:p>
          <a:p>
            <a:r>
              <a:rPr lang="en-US"/>
              <a:t>When the controller is not accelerating these inputs are zero.</a:t>
            </a:r>
          </a:p>
          <a:p>
            <a:r>
              <a:rPr lang="en-US"/>
              <a:t>When the controller is accelerating, they measure the acceleration up to 3 g along each axis, quantized into three signed eight-bit integers, one for each of </a:t>
            </a:r>
            <a:r>
              <a:rPr lang="en-US" i="1"/>
              <a:t>x</a:t>
            </a:r>
            <a:r>
              <a:rPr lang="en-US"/>
              <a:t>, </a:t>
            </a:r>
            <a:r>
              <a:rPr lang="en-US" i="1"/>
              <a:t>y </a:t>
            </a:r>
            <a:r>
              <a:rPr lang="en-US"/>
              <a:t>and </a:t>
            </a:r>
            <a:r>
              <a:rPr lang="en-US" i="1"/>
              <a:t>z</a:t>
            </a:r>
            <a:r>
              <a:rPr lang="en-US"/>
              <a:t>.</a:t>
            </a:r>
          </a:p>
        </p:txBody>
      </p:sp>
      <p:pic>
        <p:nvPicPr>
          <p:cNvPr id="6" name="Content Placeholder 5">
            <a:extLst>
              <a:ext uri="{FF2B5EF4-FFF2-40B4-BE49-F238E27FC236}">
                <a16:creationId xmlns:a16="http://schemas.microsoft.com/office/drawing/2014/main" id="{9286AEB9-3D35-4234-8F97-E117C6DE12F8}"/>
              </a:ext>
            </a:extLst>
          </p:cNvPr>
          <p:cNvPicPr>
            <a:picLocks noGrp="1" noChangeAspect="1"/>
          </p:cNvPicPr>
          <p:nvPr>
            <p:ph sz="quarter" idx="13"/>
          </p:nvPr>
        </p:nvPicPr>
        <p:blipFill>
          <a:blip r:embed="rId3"/>
          <a:stretch>
            <a:fillRect/>
          </a:stretch>
        </p:blipFill>
        <p:spPr>
          <a:xfrm>
            <a:off x="1834486" y="2323174"/>
            <a:ext cx="3657976" cy="278754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WiiMote</a:t>
            </a:r>
            <a:r>
              <a:rPr lang="en-US"/>
              <a:t> and </a:t>
            </a:r>
            <a:r>
              <a:rPr lang="en-US" err="1"/>
              <a:t>DualShock</a:t>
            </a:r>
            <a:endParaRPr lang="en-US"/>
          </a:p>
        </p:txBody>
      </p:sp>
      <p:sp>
        <p:nvSpPr>
          <p:cNvPr id="3" name="Content Placeholder 2"/>
          <p:cNvSpPr>
            <a:spLocks noGrp="1"/>
          </p:cNvSpPr>
          <p:nvPr>
            <p:ph idx="1"/>
          </p:nvPr>
        </p:nvSpPr>
        <p:spPr>
          <a:xfrm>
            <a:off x="1981200" y="1600200"/>
            <a:ext cx="6021572" cy="4687186"/>
          </a:xfrm>
        </p:spPr>
        <p:txBody>
          <a:bodyPr>
            <a:normAutofit fontScale="85000" lnSpcReduction="20000"/>
          </a:bodyPr>
          <a:lstStyle/>
          <a:p>
            <a:r>
              <a:rPr lang="en-US"/>
              <a:t>One issue is that the accelerometers don’t give you orientation information</a:t>
            </a:r>
          </a:p>
          <a:p>
            <a:r>
              <a:rPr lang="en-US"/>
              <a:t>One way to do it is to remember that gravity has 1g of force in the downward direction</a:t>
            </a:r>
          </a:p>
          <a:p>
            <a:r>
              <a:rPr lang="en-US"/>
              <a:t>If the player is holding the device, is not holding still, the accelerometer inputs will include this acceleration in their values, invalidating our math. </a:t>
            </a:r>
          </a:p>
          <a:p>
            <a:r>
              <a:rPr lang="en-US"/>
              <a:t>The </a:t>
            </a:r>
            <a:r>
              <a:rPr lang="en-US" i="1"/>
              <a:t>z</a:t>
            </a:r>
            <a:r>
              <a:rPr lang="en-US"/>
              <a:t>-axis of the accelerometer has been calibrated to account for gravity, but the other two axes have not!</a:t>
            </a:r>
          </a:p>
          <a:p>
            <a:r>
              <a:rPr lang="en-US"/>
              <a:t>you can calibrate the device based on which axis is experiencing 1g of force</a:t>
            </a: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9534" y="2041208"/>
            <a:ext cx="1886979" cy="1504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6D6D18-7DF6-4579-9596-F03D562095C6}"/>
              </a:ext>
            </a:extLst>
          </p:cNvPr>
          <p:cNvSpPr>
            <a:spLocks noGrp="1"/>
          </p:cNvSpPr>
          <p:nvPr>
            <p:ph type="title"/>
          </p:nvPr>
        </p:nvSpPr>
        <p:spPr/>
        <p:txBody>
          <a:bodyPr/>
          <a:lstStyle/>
          <a:p>
            <a:r>
              <a:rPr lang="en-CA"/>
              <a:t>Dual Sense</a:t>
            </a:r>
          </a:p>
        </p:txBody>
      </p:sp>
      <p:sp>
        <p:nvSpPr>
          <p:cNvPr id="6" name="Content Placeholder 5">
            <a:extLst>
              <a:ext uri="{FF2B5EF4-FFF2-40B4-BE49-F238E27FC236}">
                <a16:creationId xmlns:a16="http://schemas.microsoft.com/office/drawing/2014/main" id="{613A0C5B-52FC-4FBC-AD3A-4B4CBEBB0699}"/>
              </a:ext>
            </a:extLst>
          </p:cNvPr>
          <p:cNvSpPr>
            <a:spLocks noGrp="1"/>
          </p:cNvSpPr>
          <p:nvPr>
            <p:ph sz="quarter" idx="13"/>
          </p:nvPr>
        </p:nvSpPr>
        <p:spPr/>
        <p:txBody>
          <a:bodyPr>
            <a:normAutofit/>
          </a:bodyPr>
          <a:lstStyle/>
          <a:p>
            <a:r>
              <a:rPr lang="en-US"/>
              <a:t>The </a:t>
            </a:r>
            <a:r>
              <a:rPr lang="en-US" err="1"/>
              <a:t>DualSense</a:t>
            </a:r>
            <a:r>
              <a:rPr lang="en-US"/>
              <a:t> is the PlayStation 5's controller and was unveiled on April 7, 2020. </a:t>
            </a:r>
          </a:p>
          <a:p>
            <a:r>
              <a:rPr lang="en-US"/>
              <a:t>It is based on the DualShock 4 controller</a:t>
            </a:r>
          </a:p>
          <a:p>
            <a:r>
              <a:rPr lang="en-US"/>
              <a:t> It incorporates a more ergonomic design that is somewhat bigger and rounder than the DualShock 4</a:t>
            </a:r>
            <a:endParaRPr lang="en-CA"/>
          </a:p>
        </p:txBody>
      </p:sp>
      <p:pic>
        <p:nvPicPr>
          <p:cNvPr id="3074" name="Picture 2">
            <a:extLst>
              <a:ext uri="{FF2B5EF4-FFF2-40B4-BE49-F238E27FC236}">
                <a16:creationId xmlns:a16="http://schemas.microsoft.com/office/drawing/2014/main" id="{A904F8D3-E37B-49C1-BB4D-B2155230F18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62750" y="2758281"/>
            <a:ext cx="28575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256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Cameras</a:t>
            </a:r>
          </a:p>
        </p:txBody>
      </p:sp>
      <p:sp>
        <p:nvSpPr>
          <p:cNvPr id="3" name="Content Placeholder 2"/>
          <p:cNvSpPr>
            <a:spLocks noGrp="1"/>
          </p:cNvSpPr>
          <p:nvPr>
            <p:ph idx="1"/>
          </p:nvPr>
        </p:nvSpPr>
        <p:spPr/>
        <p:txBody>
          <a:bodyPr>
            <a:normAutofit/>
          </a:bodyPr>
          <a:lstStyle/>
          <a:p>
            <a:r>
              <a:rPr lang="en-US" sz="2000"/>
              <a:t>The </a:t>
            </a:r>
            <a:r>
              <a:rPr lang="en-US" sz="2000" err="1"/>
              <a:t>Wii</a:t>
            </a:r>
            <a:r>
              <a:rPr lang="en-US" sz="2000"/>
              <a:t> uses a very low resolution IR camera to read the location of the </a:t>
            </a:r>
            <a:r>
              <a:rPr lang="en-US" sz="2000" err="1"/>
              <a:t>WiiMote</a:t>
            </a:r>
            <a:endParaRPr lang="en-US" sz="2000"/>
          </a:p>
          <a:p>
            <a:pPr lvl="1"/>
            <a:r>
              <a:rPr lang="en-US" sz="1400" err="1"/>
              <a:t>WiiMote</a:t>
            </a:r>
            <a:r>
              <a:rPr lang="en-US" sz="1400"/>
              <a:t> has two IR LEDs</a:t>
            </a:r>
          </a:p>
          <a:p>
            <a:r>
              <a:rPr lang="en-US" sz="2000"/>
              <a:t>The distance between the two dots, the size of the dots, and the relative position of the dots provides a lot of information about where the mote is pointing</a:t>
            </a:r>
          </a:p>
          <a:p>
            <a:r>
              <a:rPr lang="en-US" sz="2000"/>
              <a:t>Other examples include the Sony </a:t>
            </a:r>
            <a:r>
              <a:rPr lang="en-US" sz="2000" err="1"/>
              <a:t>EyeToy</a:t>
            </a:r>
            <a:r>
              <a:rPr lang="en-US" sz="2000"/>
              <a:t> and Xbox </a:t>
            </a:r>
            <a:r>
              <a:rPr lang="en-US" sz="2000" err="1"/>
              <a:t>Kinect</a:t>
            </a:r>
            <a:endParaRPr lang="en-US" sz="200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881" y="4067981"/>
            <a:ext cx="4841844" cy="2326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Camera input</a:t>
            </a:r>
          </a:p>
        </p:txBody>
      </p:sp>
      <p:pic>
        <p:nvPicPr>
          <p:cNvPr id="1026" name="Picture 2" descr="\\condor.ad.utulsa.edu\home\roger-mailler\Teaching\CS4033\GEA2Figures\Chapter8\fig8-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5061" y="4346360"/>
            <a:ext cx="2700338" cy="180816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ondor.ad.utulsa.edu\home\roger-mailler\Teaching\CS4033\GEA2Figures\Chapter8\fig8-1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45230" y="1861343"/>
            <a:ext cx="3121026" cy="2368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ndor.ad.utulsa.edu\home\roger-mailler\Teaching\CS4033\GEA2Figures\Chapter8\fig8-1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98042" y="2107050"/>
            <a:ext cx="1371600" cy="1471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output</a:t>
            </a:r>
          </a:p>
        </p:txBody>
      </p:sp>
      <p:sp>
        <p:nvSpPr>
          <p:cNvPr id="3" name="Content Placeholder 2"/>
          <p:cNvSpPr>
            <a:spLocks noGrp="1"/>
          </p:cNvSpPr>
          <p:nvPr>
            <p:ph idx="1"/>
          </p:nvPr>
        </p:nvSpPr>
        <p:spPr/>
        <p:txBody>
          <a:bodyPr>
            <a:normAutofit fontScale="85000" lnSpcReduction="20000"/>
          </a:bodyPr>
          <a:lstStyle/>
          <a:p>
            <a:r>
              <a:rPr lang="en-US" sz="2000"/>
              <a:t>Rumble</a:t>
            </a:r>
          </a:p>
          <a:p>
            <a:pPr lvl="1"/>
            <a:r>
              <a:rPr lang="en-US" sz="1800"/>
              <a:t>Vibrations are usually produced by one or two motors with an unbalanced weight at various speed.</a:t>
            </a:r>
          </a:p>
          <a:p>
            <a:pPr lvl="1"/>
            <a:r>
              <a:rPr lang="en-US"/>
              <a:t>The game can turn these motors on and off, </a:t>
            </a:r>
            <a:r>
              <a:rPr lang="en-US" sz="1800"/>
              <a:t>and control the speed to create different feels</a:t>
            </a:r>
          </a:p>
          <a:p>
            <a:r>
              <a:rPr lang="en-US" sz="2000"/>
              <a:t>Force feedback</a:t>
            </a:r>
          </a:p>
          <a:p>
            <a:pPr lvl="1"/>
            <a:r>
              <a:rPr lang="en-US" sz="1800"/>
              <a:t>A motor attached to the HID that resists input from the user</a:t>
            </a:r>
          </a:p>
          <a:p>
            <a:pPr lvl="1"/>
            <a:r>
              <a:rPr lang="en-US"/>
              <a:t>In arcade driving games, where the steering wheel resists the player’s attempt to turn it</a:t>
            </a:r>
          </a:p>
          <a:p>
            <a:pPr lvl="1"/>
            <a:r>
              <a:rPr lang="en-US"/>
              <a:t>The </a:t>
            </a:r>
            <a:r>
              <a:rPr lang="en-US" err="1"/>
              <a:t>Sixaxis</a:t>
            </a:r>
            <a:r>
              <a:rPr lang="en-US"/>
              <a:t> was succeeded by the DualShock 3, an updated version of the controller that, like the DualShock and DualShock 2 controllers, incorporates haptic technology – also known as force feedback </a:t>
            </a:r>
          </a:p>
          <a:p>
            <a:r>
              <a:rPr lang="en-US"/>
              <a:t>Audio</a:t>
            </a:r>
          </a:p>
          <a:p>
            <a:pPr lvl="1"/>
            <a:r>
              <a:rPr lang="en-US" sz="1800" err="1"/>
              <a:t>WiiMote</a:t>
            </a:r>
            <a:r>
              <a:rPr lang="en-US" sz="1800"/>
              <a:t> has </a:t>
            </a:r>
            <a:r>
              <a:rPr lang="en-US" sz="1800" err="1"/>
              <a:t>has</a:t>
            </a:r>
            <a:r>
              <a:rPr lang="en-US" sz="1800"/>
              <a:t> low-quality speaker</a:t>
            </a:r>
          </a:p>
          <a:p>
            <a:pPr lvl="1"/>
            <a:r>
              <a:rPr lang="en-US" sz="1800" err="1"/>
              <a:t>DualShock</a:t>
            </a:r>
            <a:r>
              <a:rPr lang="en-US" sz="1800"/>
              <a:t> 4, Xbox 360 and Xbox One controllers have headphone jack </a:t>
            </a:r>
          </a:p>
          <a:p>
            <a:r>
              <a:rPr lang="en-US" sz="2000"/>
              <a:t>Others</a:t>
            </a:r>
          </a:p>
          <a:p>
            <a:pPr lvl="1"/>
            <a:r>
              <a:rPr lang="en-US" sz="1800"/>
              <a:t>Some have LEDs that can be controlled via software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Game Engine HID Systems</a:t>
            </a:r>
          </a:p>
        </p:txBody>
      </p:sp>
      <p:sp>
        <p:nvSpPr>
          <p:cNvPr id="3" name="Content Placeholder 2"/>
          <p:cNvSpPr>
            <a:spLocks noGrp="1"/>
          </p:cNvSpPr>
          <p:nvPr>
            <p:ph idx="1"/>
          </p:nvPr>
        </p:nvSpPr>
        <p:spPr/>
        <p:txBody>
          <a:bodyPr>
            <a:normAutofit/>
          </a:bodyPr>
          <a:lstStyle/>
          <a:p>
            <a:r>
              <a:rPr lang="en-US"/>
              <a:t>Most game engines don’t use “raw” HID inputs directly</a:t>
            </a:r>
          </a:p>
          <a:p>
            <a:r>
              <a:rPr lang="en-CA"/>
              <a:t>Most </a:t>
            </a:r>
            <a:r>
              <a:rPr lang="en-US"/>
              <a:t>engines introduce at least one additional level of indirection between the HID and the game in order to abstract HID inputs in various ways</a:t>
            </a:r>
          </a:p>
          <a:p>
            <a:r>
              <a:rPr lang="en-US"/>
              <a:t>Most game engine massage the data coming in from the controllers</a:t>
            </a:r>
          </a:p>
          <a:p>
            <a:r>
              <a:rPr lang="en-CA"/>
              <a:t>For example, a </a:t>
            </a:r>
            <a:r>
              <a:rPr lang="en-US"/>
              <a:t>button-mapping table might be used to translate raw button inputs into logical game actions, so that human players can reassign the buttons’ functions </a:t>
            </a:r>
            <a:r>
              <a:rPr lang="en-CA"/>
              <a:t>as they see fit.</a:t>
            </a:r>
            <a:endParaRPr lang="en-US" sz="4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344706"/>
          </a:xfrm>
        </p:spPr>
        <p:txBody>
          <a:bodyPr>
            <a:normAutofit/>
          </a:bodyPr>
          <a:lstStyle/>
          <a:p>
            <a:r>
              <a:rPr lang="en-US"/>
              <a:t>Typical requirements</a:t>
            </a:r>
          </a:p>
        </p:txBody>
      </p:sp>
      <p:sp>
        <p:nvSpPr>
          <p:cNvPr id="3" name="Content Placeholder 2"/>
          <p:cNvSpPr>
            <a:spLocks noGrp="1"/>
          </p:cNvSpPr>
          <p:nvPr>
            <p:ph idx="1"/>
          </p:nvPr>
        </p:nvSpPr>
        <p:spPr>
          <a:xfrm>
            <a:off x="2214113" y="1600201"/>
            <a:ext cx="7996687" cy="4525963"/>
          </a:xfrm>
        </p:spPr>
        <p:txBody>
          <a:bodyPr>
            <a:normAutofit fontScale="92500" lnSpcReduction="20000"/>
          </a:bodyPr>
          <a:lstStyle/>
          <a:p>
            <a:r>
              <a:rPr lang="en-US"/>
              <a:t>Dead zones</a:t>
            </a:r>
          </a:p>
          <a:p>
            <a:r>
              <a:rPr lang="en-US"/>
              <a:t>Analog signal filtering</a:t>
            </a:r>
          </a:p>
          <a:p>
            <a:r>
              <a:rPr lang="en-US"/>
              <a:t>Event detection</a:t>
            </a:r>
          </a:p>
          <a:p>
            <a:r>
              <a:rPr lang="en-US"/>
              <a:t>Detection of sequences and chords</a:t>
            </a:r>
          </a:p>
          <a:p>
            <a:r>
              <a:rPr lang="en-US"/>
              <a:t>Gesture detection</a:t>
            </a:r>
          </a:p>
          <a:p>
            <a:r>
              <a:rPr lang="en-US"/>
              <a:t>Management of multiple HIDs</a:t>
            </a:r>
          </a:p>
          <a:p>
            <a:r>
              <a:rPr lang="en-US"/>
              <a:t>Multiplatform HID support</a:t>
            </a:r>
          </a:p>
          <a:p>
            <a:r>
              <a:rPr lang="en-US"/>
              <a:t>Controller input re-mapping</a:t>
            </a:r>
          </a:p>
          <a:p>
            <a:r>
              <a:rPr lang="en-US"/>
              <a:t>Context sensitive inputs</a:t>
            </a:r>
          </a:p>
          <a:p>
            <a:r>
              <a:rPr lang="en-US"/>
              <a:t>The ability to disable certain inputs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Dead zones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40000" lnSpcReduction="20000"/>
              </a:bodyPr>
              <a:lstStyle/>
              <a:p>
                <a:r>
                  <a:rPr lang="en-US"/>
                  <a:t>HIDs are analog devices by nature</a:t>
                </a:r>
              </a:p>
              <a:p>
                <a:endParaRPr lang="en-US"/>
              </a:p>
              <a:p>
                <a:r>
                  <a:rPr lang="en-US"/>
                  <a:t>A joystick, thumb stick, shoulder trigger, or any other analog axis produces input values that range between a predefined minimum and maximum value, </a:t>
                </a:r>
                <a14:m>
                  <m:oMath xmlns:m="http://schemas.openxmlformats.org/officeDocument/2006/math">
                    <m:r>
                      <a:rPr lang="en-US" i="1" dirty="0" smtClean="0">
                        <a:latin typeface="Cambria Math" panose="02040503050406030204" pitchFamily="18" charset="0"/>
                      </a:rPr>
                      <m:t>𝐼</m:t>
                    </m:r>
                    <m:r>
                      <m:rPr>
                        <m:sty m:val="p"/>
                      </m:rPr>
                      <a:rPr lang="en-US" i="1" baseline="-25000" dirty="0" smtClean="0">
                        <a:latin typeface="Cambria Math" panose="02040503050406030204" pitchFamily="18" charset="0"/>
                      </a:rPr>
                      <m:t>min</m:t>
                    </m:r>
                    <m:r>
                      <a:rPr lang="en-CA" i="1" baseline="-25000" dirty="0" smtClean="0">
                        <a:latin typeface="Cambria Math" panose="02040503050406030204" pitchFamily="18" charset="0"/>
                      </a:rPr>
                      <m:t>⁡</m:t>
                    </m:r>
                  </m:oMath>
                </a14:m>
                <a:r>
                  <a:rPr lang="en-US"/>
                  <a:t> and </a:t>
                </a:r>
                <a:r>
                  <a:rPr lang="en-US" i="1"/>
                  <a:t>I</a:t>
                </a:r>
                <a:r>
                  <a:rPr lang="en-US" baseline="-25000"/>
                  <a:t>max</a:t>
                </a:r>
                <a:r>
                  <a:rPr lang="en-US"/>
                  <a:t>.</a:t>
                </a:r>
              </a:p>
              <a:p>
                <a:endParaRPr lang="en-US"/>
              </a:p>
              <a:p>
                <a:r>
                  <a:rPr lang="en-US"/>
                  <a:t>When the control is not being touched, we would expect it to produce a steady and clear “undisturbed” value</a:t>
                </a:r>
                <a:r>
                  <a:rPr lang="en-CA"/>
                  <a:t> </a:t>
                </a:r>
                <a:r>
                  <a:rPr lang="en-CA" i="1"/>
                  <a:t>I</a:t>
                </a:r>
                <a:r>
                  <a:rPr lang="en-CA" baseline="-25000"/>
                  <a:t>0</a:t>
                </a:r>
                <a:r>
                  <a:rPr lang="en-CA"/>
                  <a:t>.</a:t>
                </a:r>
              </a:p>
              <a:p>
                <a:endParaRPr lang="en-CA"/>
              </a:p>
              <a:p>
                <a:r>
                  <a:rPr lang="en-CA" i="1"/>
                  <a:t>I</a:t>
                </a:r>
                <a:r>
                  <a:rPr lang="en-CA" baseline="-25000"/>
                  <a:t>0 </a:t>
                </a:r>
                <a:r>
                  <a:rPr lang="en-US"/>
                  <a:t>is usually numerically equal to zero, and it either lies halfway between </a:t>
                </a:r>
                <a:r>
                  <a:rPr lang="en-US" i="1" err="1"/>
                  <a:t>I</a:t>
                </a:r>
                <a:r>
                  <a:rPr lang="en-US" baseline="-25000" err="1"/>
                  <a:t>min</a:t>
                </a:r>
                <a:r>
                  <a:rPr lang="en-US"/>
                  <a:t> and </a:t>
                </a:r>
                <a:r>
                  <a:rPr lang="en-US" i="1"/>
                  <a:t>I</a:t>
                </a:r>
                <a:r>
                  <a:rPr lang="en-US" baseline="-25000"/>
                  <a:t>max</a:t>
                </a:r>
                <a:r>
                  <a:rPr lang="en-US"/>
                  <a:t> for a centered, two-way control like a joystick axis, or it coincides with </a:t>
                </a:r>
                <a:r>
                  <a:rPr lang="en-US" i="1" err="1"/>
                  <a:t>I</a:t>
                </a:r>
                <a:r>
                  <a:rPr lang="en-US" baseline="-25000" err="1"/>
                  <a:t>min</a:t>
                </a:r>
                <a:r>
                  <a:rPr lang="en-US"/>
                  <a:t> for a one-way control like a trigger</a:t>
                </a:r>
              </a:p>
              <a:p>
                <a:endParaRPr lang="en-US"/>
              </a:p>
              <a:p>
                <a:r>
                  <a:rPr lang="en-US"/>
                  <a:t>the voltage produced by the device is noisy , the actual inputs we observe may fluctuate </a:t>
                </a:r>
                <a:r>
                  <a:rPr lang="en-CA"/>
                  <a:t>slightly around </a:t>
                </a:r>
                <a:r>
                  <a:rPr lang="en-CA" i="1"/>
                  <a:t>I</a:t>
                </a:r>
                <a:r>
                  <a:rPr lang="en-CA" baseline="-25000"/>
                  <a:t>0</a:t>
                </a:r>
                <a:endParaRPr lang="en-US"/>
              </a:p>
              <a:p>
                <a:endParaRPr lang="en-US"/>
              </a:p>
              <a:p>
                <a:r>
                  <a:rPr lang="en-US"/>
                  <a:t>The most common solution to this problem is to introduce a small </a:t>
                </a:r>
                <a:r>
                  <a:rPr lang="en-US" i="1"/>
                  <a:t>dead zone </a:t>
                </a:r>
                <a:r>
                  <a:rPr lang="en-US"/>
                  <a:t>around </a:t>
                </a:r>
                <a14:m>
                  <m:oMath xmlns:m="http://schemas.openxmlformats.org/officeDocument/2006/math">
                    <m:sSub>
                      <m:sSubPr>
                        <m:ctrlPr>
                          <a:rPr lang="en-US" i="1">
                            <a:latin typeface="Cambria Math"/>
                          </a:rPr>
                        </m:ctrlPr>
                      </m:sSubPr>
                      <m:e>
                        <m:r>
                          <a:rPr lang="en-US" i="1">
                            <a:latin typeface="Cambria Math"/>
                          </a:rPr>
                          <m:t>𝐼</m:t>
                        </m:r>
                      </m:e>
                      <m:sub>
                        <m:r>
                          <a:rPr lang="en-US" i="1">
                            <a:latin typeface="Cambria Math"/>
                          </a:rPr>
                          <m:t>0</m:t>
                        </m:r>
                      </m:sub>
                    </m:sSub>
                  </m:oMath>
                </a14:m>
                <a:endParaRPr lang="en-CA"/>
              </a:p>
              <a:p>
                <a:endParaRPr lang="en-US"/>
              </a:p>
              <a:p>
                <a:r>
                  <a:rPr lang="en-US"/>
                  <a:t>The dead zone might be defined as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a:rPr>
                            </m:ctrlPr>
                          </m:sSubPr>
                          <m:e>
                            <m:r>
                              <a:rPr lang="en-US" i="1">
                                <a:latin typeface="Cambria Math"/>
                              </a:rPr>
                              <m:t>𝐼</m:t>
                            </m:r>
                          </m:e>
                          <m:sub>
                            <m:r>
                              <a:rPr lang="en-US" i="1">
                                <a:latin typeface="Cambria Math"/>
                              </a:rPr>
                              <m:t>0</m:t>
                            </m:r>
                          </m:sub>
                        </m:sSub>
                        <m:r>
                          <a:rPr lang="en-CA" i="1">
                            <a:latin typeface="Cambria Math" panose="02040503050406030204" pitchFamily="18" charset="0"/>
                          </a:rPr>
                          <m:t>−</m:t>
                        </m:r>
                        <m:r>
                          <a:rPr lang="en-US" i="1">
                            <a:latin typeface="Cambria Math"/>
                            <a:ea typeface="Cambria Math"/>
                          </a:rPr>
                          <m:t>𝛿</m:t>
                        </m:r>
                        <m:r>
                          <a:rPr lang="en-US" i="1">
                            <a:latin typeface="Cambria Math"/>
                          </a:rPr>
                          <m:t>,</m:t>
                        </m:r>
                        <m:sSub>
                          <m:sSubPr>
                            <m:ctrlPr>
                              <a:rPr lang="en-US" i="1">
                                <a:latin typeface="Cambria Math"/>
                              </a:rPr>
                            </m:ctrlPr>
                          </m:sSubPr>
                          <m:e>
                            <m:r>
                              <a:rPr lang="en-US" i="1">
                                <a:latin typeface="Cambria Math"/>
                              </a:rPr>
                              <m:t>𝐼</m:t>
                            </m:r>
                          </m:e>
                          <m:sub>
                            <m:r>
                              <a:rPr lang="en-CA" b="0" i="1" smtClean="0">
                                <a:latin typeface="Cambria Math" panose="02040503050406030204" pitchFamily="18" charset="0"/>
                              </a:rPr>
                              <m:t>0</m:t>
                            </m:r>
                          </m:sub>
                        </m:sSub>
                        <m:r>
                          <a:rPr lang="en-US" i="1">
                            <a:latin typeface="Cambria Math"/>
                          </a:rPr>
                          <m:t>+</m:t>
                        </m:r>
                        <m:r>
                          <a:rPr lang="en-US" i="1">
                            <a:latin typeface="Cambria Math"/>
                            <a:ea typeface="Cambria Math"/>
                          </a:rPr>
                          <m:t>𝛿</m:t>
                        </m:r>
                      </m:e>
                    </m:d>
                  </m:oMath>
                </a14:m>
                <a:r>
                  <a:rPr lang="en-US"/>
                  <a:t> for a joystick or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a:rPr>
                            </m:ctrlPr>
                          </m:sSubPr>
                          <m:e>
                            <m:r>
                              <a:rPr lang="en-US" i="1">
                                <a:latin typeface="Cambria Math"/>
                              </a:rPr>
                              <m:t>𝐼</m:t>
                            </m:r>
                          </m:e>
                          <m:sub>
                            <m:r>
                              <a:rPr lang="en-US" i="1">
                                <a:latin typeface="Cambria Math"/>
                              </a:rPr>
                              <m:t>0</m:t>
                            </m:r>
                          </m:sub>
                        </m:sSub>
                        <m:r>
                          <a:rPr lang="en-US" i="1">
                            <a:latin typeface="Cambria Math"/>
                          </a:rPr>
                          <m:t>,</m:t>
                        </m:r>
                        <m:sSub>
                          <m:sSubPr>
                            <m:ctrlPr>
                              <a:rPr lang="en-US" i="1">
                                <a:latin typeface="Cambria Math"/>
                              </a:rPr>
                            </m:ctrlPr>
                          </m:sSubPr>
                          <m:e>
                            <m:r>
                              <a:rPr lang="en-US" i="1">
                                <a:latin typeface="Cambria Math"/>
                              </a:rPr>
                              <m:t>𝐼</m:t>
                            </m:r>
                          </m:e>
                          <m:sub>
                            <m:r>
                              <a:rPr lang="en-CA" b="0" i="1" smtClean="0">
                                <a:latin typeface="Cambria Math" panose="02040503050406030204" pitchFamily="18" charset="0"/>
                              </a:rPr>
                              <m:t>0</m:t>
                            </m:r>
                          </m:sub>
                        </m:sSub>
                        <m:r>
                          <a:rPr lang="en-US" i="1">
                            <a:latin typeface="Cambria Math"/>
                          </a:rPr>
                          <m:t>+</m:t>
                        </m:r>
                        <m:r>
                          <a:rPr lang="en-US" i="1">
                            <a:latin typeface="Cambria Math"/>
                            <a:ea typeface="Cambria Math"/>
                          </a:rPr>
                          <m:t>𝛿</m:t>
                        </m:r>
                      </m:e>
                    </m:d>
                  </m:oMath>
                </a14:m>
                <a:r>
                  <a:rPr lang="en-US"/>
                  <a:t> for a trigger</a:t>
                </a:r>
              </a:p>
              <a:p>
                <a:endParaRPr lang="en-US"/>
              </a:p>
              <a:p>
                <a:r>
                  <a:rPr lang="en-US"/>
                  <a:t>Dead zones allow the developer to clamp values within a small range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a:rPr>
                            </m:ctrlPr>
                          </m:sSubPr>
                          <m:e>
                            <m:r>
                              <a:rPr lang="en-US" b="0" i="1" smtClean="0">
                                <a:latin typeface="Cambria Math"/>
                              </a:rPr>
                              <m:t>𝐼</m:t>
                            </m:r>
                          </m:e>
                          <m:sub>
                            <m:r>
                              <a:rPr lang="en-US" b="0" i="1" smtClean="0">
                                <a:latin typeface="Cambria Math"/>
                              </a:rPr>
                              <m:t>0</m:t>
                            </m:r>
                          </m:sub>
                        </m:sSub>
                        <m:r>
                          <a:rPr lang="en-US" b="0" i="1" smtClean="0">
                            <a:latin typeface="Cambria Math"/>
                          </a:rPr>
                          <m:t>,</m:t>
                        </m:r>
                        <m:sSub>
                          <m:sSubPr>
                            <m:ctrlPr>
                              <a:rPr lang="en-US" b="0" i="1" smtClean="0">
                                <a:latin typeface="Cambria Math"/>
                              </a:rPr>
                            </m:ctrlPr>
                          </m:sSubPr>
                          <m:e>
                            <m:r>
                              <a:rPr lang="en-US" b="0" i="1" smtClean="0">
                                <a:latin typeface="Cambria Math"/>
                              </a:rPr>
                              <m:t>𝐼</m:t>
                            </m:r>
                          </m:e>
                          <m:sub>
                            <m:r>
                              <a:rPr lang="en-CA" b="0" i="1" smtClean="0">
                                <a:latin typeface="Cambria Math" panose="02040503050406030204" pitchFamily="18" charset="0"/>
                              </a:rPr>
                              <m:t>0</m:t>
                            </m:r>
                          </m:sub>
                        </m:sSub>
                        <m:r>
                          <a:rPr lang="en-US" b="0" i="1" smtClean="0">
                            <a:latin typeface="Cambria Math"/>
                          </a:rPr>
                          <m:t>+</m:t>
                        </m:r>
                        <m:r>
                          <a:rPr lang="en-US" b="0" i="1" smtClean="0">
                            <a:latin typeface="Cambria Math"/>
                            <a:ea typeface="Cambria Math"/>
                          </a:rPr>
                          <m:t>𝛿</m:t>
                        </m:r>
                      </m:e>
                    </m:d>
                  </m:oMath>
                </a14:m>
                <a:r>
                  <a:rPr lang="en-US">
                    <a:sym typeface="Symbol"/>
                  </a:rPr>
                  <a:t>to the value </a:t>
                </a:r>
                <a14:m>
                  <m:oMath xmlns:m="http://schemas.openxmlformats.org/officeDocument/2006/math">
                    <m:sSub>
                      <m:sSubPr>
                        <m:ctrlPr>
                          <a:rPr lang="en-US" i="1">
                            <a:latin typeface="Cambria Math"/>
                          </a:rPr>
                        </m:ctrlPr>
                      </m:sSubPr>
                      <m:e>
                        <m:r>
                          <a:rPr lang="en-US" i="1">
                            <a:latin typeface="Cambria Math"/>
                          </a:rPr>
                          <m:t>𝐼</m:t>
                        </m:r>
                      </m:e>
                      <m:sub>
                        <m:r>
                          <a:rPr lang="en-US" i="1">
                            <a:latin typeface="Cambria Math"/>
                          </a:rPr>
                          <m:t>0</m:t>
                        </m:r>
                      </m:sub>
                    </m:sSub>
                  </m:oMath>
                </a14:m>
                <a:r>
                  <a:rPr lang="en-US">
                    <a:sym typeface="Symbol"/>
                  </a:rPr>
                  <a:t> for a trigger</a:t>
                </a:r>
              </a:p>
              <a:p>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03" t="-3488"/>
                </a:stretch>
              </a:blipFill>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a:t>Analog signal filtering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a:t>Even with dead-zone clamping, the noise from the analog input can cause the motion to be jerky</a:t>
                </a:r>
              </a:p>
              <a:p>
                <a:r>
                  <a:rPr lang="en-US"/>
                  <a:t>For this reason, many games </a:t>
                </a:r>
                <a:r>
                  <a:rPr lang="en-US" i="1"/>
                  <a:t>filter </a:t>
                </a:r>
                <a:r>
                  <a:rPr lang="en-US"/>
                  <a:t>the raw inputs coming from the HID.</a:t>
                </a:r>
              </a:p>
              <a:p>
                <a:r>
                  <a:rPr lang="en-US"/>
                  <a:t>Noise is usually high-frequency so we can isolate user input by using a low-pass filter</a:t>
                </a:r>
              </a:p>
              <a:p>
                <a:endParaRPr lang="en-US"/>
              </a:p>
              <a:p>
                <a:pPr marL="0" indent="0">
                  <a:buNone/>
                </a:pPr>
                <a14:m>
                  <m:oMathPara xmlns:m="http://schemas.openxmlformats.org/officeDocument/2006/math">
                    <m:oMath>
                      <m:r>
                        <a:rPr lang="en-US" b="0" i="1" smtClean="0">
                          <a:latin typeface="Cambria Math"/>
                        </a:rPr>
                        <m:t>𝑓</m:t>
                      </m:r>
                      <m:d>
                        <m:dPr>
                          <m:ctrlPr>
                            <a:rPr lang="en-US" b="0" i="1" smtClean="0">
                              <a:latin typeface="Cambria Math"/>
                            </a:rPr>
                          </m:ctrlPr>
                        </m:dPr>
                        <m:e>
                          <m:r>
                            <a:rPr lang="en-US" b="0" i="1" smtClean="0">
                              <a:latin typeface="Cambria Math"/>
                            </a:rPr>
                            <m:t>𝑡</m:t>
                          </m:r>
                        </m:e>
                      </m:d>
                      <m:r>
                        <a:rPr lang="en-US" b="0" i="1" smtClean="0">
                          <a:latin typeface="Cambria Math"/>
                        </a:rPr>
                        <m:t>=</m:t>
                      </m:r>
                      <m:d>
                        <m:dPr>
                          <m:ctrlPr>
                            <a:rPr lang="en-US" b="0" i="1" smtClean="0">
                              <a:latin typeface="Cambria Math"/>
                            </a:rPr>
                          </m:ctrlPr>
                        </m:dPr>
                        <m:e>
                          <m:r>
                            <a:rPr lang="en-US" b="0" i="1" smtClean="0">
                              <a:latin typeface="Cambria Math"/>
                            </a:rPr>
                            <m:t>1−</m:t>
                          </m:r>
                          <m:r>
                            <a:rPr lang="en-US" b="0" i="1" smtClean="0">
                              <a:latin typeface="Cambria Math"/>
                            </a:rPr>
                            <m:t>𝑎</m:t>
                          </m:r>
                        </m:e>
                      </m:d>
                      <m:r>
                        <a:rPr lang="en-US" b="0" i="1" smtClean="0">
                          <a:latin typeface="Cambria Math"/>
                        </a:rPr>
                        <m:t>𝑓</m:t>
                      </m:r>
                      <m:d>
                        <m:dPr>
                          <m:ctrlPr>
                            <a:rPr lang="en-US" b="0" i="1" smtClean="0">
                              <a:latin typeface="Cambria Math"/>
                            </a:rPr>
                          </m:ctrlPr>
                        </m:dPr>
                        <m:e>
                          <m:r>
                            <a:rPr lang="en-US" b="0" i="1" smtClean="0">
                              <a:latin typeface="Cambria Math"/>
                            </a:rPr>
                            <m:t>𝑡</m:t>
                          </m:r>
                          <m:r>
                            <a:rPr lang="en-US" b="0" i="1" smtClean="0">
                              <a:latin typeface="Cambria Math"/>
                            </a:rPr>
                            <m:t>−</m:t>
                          </m:r>
                          <m:r>
                            <m:rPr>
                              <m:sty m:val="p"/>
                            </m:rPr>
                            <a:rPr lang="en-US" b="0" i="0" smtClean="0">
                              <a:latin typeface="Cambria Math"/>
                            </a:rPr>
                            <m:t>Δ</m:t>
                          </m:r>
                          <m:r>
                            <a:rPr lang="en-US" b="0" i="1" smtClean="0">
                              <a:latin typeface="Cambria Math"/>
                            </a:rPr>
                            <m:t>𝑡</m:t>
                          </m:r>
                        </m:e>
                      </m:d>
                      <m:r>
                        <a:rPr lang="en-US" b="0" i="1" smtClean="0">
                          <a:latin typeface="Cambria Math"/>
                        </a:rPr>
                        <m:t>+</m:t>
                      </m:r>
                      <m:r>
                        <a:rPr lang="en-US" b="0" i="1" smtClean="0">
                          <a:latin typeface="Cambria Math"/>
                        </a:rPr>
                        <m:t>𝑎𝑢</m:t>
                      </m:r>
                      <m:r>
                        <a:rPr lang="en-US" b="0" i="1" smtClean="0">
                          <a:latin typeface="Cambria Math"/>
                        </a:rPr>
                        <m:t>(</m:t>
                      </m:r>
                      <m:r>
                        <a:rPr lang="en-US" b="0" i="1" smtClean="0">
                          <a:latin typeface="Cambria Math"/>
                        </a:rPr>
                        <m:t>𝑡</m:t>
                      </m:r>
                      <m:r>
                        <a:rPr lang="en-US" b="0" i="1" smtClean="0">
                          <a:latin typeface="Cambria Math"/>
                        </a:rPr>
                        <m:t>)</m:t>
                      </m:r>
                    </m:oMath>
                  </m:oMathPara>
                </a14:m>
                <a:endParaRPr lang="en-US"/>
              </a:p>
              <a:p>
                <a:pPr marL="0" indent="0">
                  <a:buNone/>
                </a:pPr>
                <a:endParaRPr lang="en-US"/>
              </a:p>
              <a:p>
                <a:pPr marL="0" indent="0">
                  <a:buNone/>
                </a:pPr>
                <a:endParaRPr lang="en-US"/>
              </a:p>
              <a:p>
                <a:pPr marL="0" indent="0">
                  <a:buNone/>
                </a:pPr>
                <a14:m>
                  <m:oMathPara xmlns:m="http://schemas.openxmlformats.org/officeDocument/2006/math">
                    <m:oMath>
                      <m:r>
                        <a:rPr lang="en-US" b="0" i="1" smtClean="0">
                          <a:latin typeface="Cambria Math"/>
                        </a:rPr>
                        <m:t>𝑎</m:t>
                      </m:r>
                      <m:r>
                        <a:rPr lang="en-US" b="0" i="1" smtClean="0">
                          <a:latin typeface="Cambria Math"/>
                        </a:rPr>
                        <m:t>=</m:t>
                      </m:r>
                      <m:f>
                        <m:fPr>
                          <m:ctrlPr>
                            <a:rPr lang="en-US" b="0" i="0" smtClean="0">
                              <a:latin typeface="Cambria Math"/>
                            </a:rPr>
                          </m:ctrlPr>
                        </m:fPr>
                        <m:num>
                          <m:r>
                            <m:rPr>
                              <m:sty m:val="p"/>
                            </m:rPr>
                            <a:rPr lang="en-US" b="0" i="0" smtClean="0">
                              <a:latin typeface="Cambria Math"/>
                            </a:rPr>
                            <m:t>Δ</m:t>
                          </m:r>
                          <m:r>
                            <a:rPr lang="en-US" b="0" i="1" smtClean="0">
                              <a:latin typeface="Cambria Math"/>
                            </a:rPr>
                            <m:t>𝑡</m:t>
                          </m:r>
                        </m:num>
                        <m:den>
                          <m:r>
                            <a:rPr lang="en-US" b="0" i="1" smtClean="0">
                              <a:latin typeface="Cambria Math"/>
                            </a:rPr>
                            <m:t>𝑅𝐶</m:t>
                          </m:r>
                          <m:r>
                            <a:rPr lang="en-US" b="0" i="1" smtClean="0">
                              <a:latin typeface="Cambria Math"/>
                            </a:rPr>
                            <m:t>+</m:t>
                          </m:r>
                          <m:r>
                            <m:rPr>
                              <m:sty m:val="p"/>
                            </m:rPr>
                            <a:rPr lang="en-US" b="0" i="0" smtClean="0">
                              <a:latin typeface="Cambria Math"/>
                            </a:rPr>
                            <m:t>Δ</m:t>
                          </m:r>
                          <m:r>
                            <a:rPr lang="en-US" b="0" i="1" smtClean="0">
                              <a:latin typeface="Cambria Math"/>
                            </a:rPr>
                            <m:t>𝑡</m:t>
                          </m:r>
                        </m:den>
                      </m:f>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03" t="-581"/>
                </a:stretch>
              </a:blipFill>
            </p:spPr>
            <p:txBody>
              <a:bodyPr/>
              <a:lstStyle/>
              <a:p>
                <a:r>
                  <a:rPr lang="en-US">
                    <a:noFill/>
                  </a:rPr>
                  <a:t> </a:t>
                </a:r>
              </a:p>
            </p:txBody>
          </p:sp>
        </mc:Fallback>
      </mc:AlternateContent>
      <p:sp>
        <p:nvSpPr>
          <p:cNvPr id="7" name="TextBox 6"/>
          <p:cNvSpPr txBox="1"/>
          <p:nvPr/>
        </p:nvSpPr>
        <p:spPr>
          <a:xfrm>
            <a:off x="7886334" y="4734550"/>
            <a:ext cx="920445" cy="307777"/>
          </a:xfrm>
          <a:prstGeom prst="rect">
            <a:avLst/>
          </a:prstGeom>
          <a:noFill/>
        </p:spPr>
        <p:txBody>
          <a:bodyPr wrap="none" rtlCol="0">
            <a:spAutoFit/>
          </a:bodyPr>
          <a:lstStyle/>
          <a:p>
            <a:r>
              <a:rPr lang="en-US">
                <a:solidFill>
                  <a:schemeClr val="tx1">
                    <a:lumMod val="50000"/>
                    <a:lumOff val="50000"/>
                  </a:schemeClr>
                </a:solidFill>
              </a:rPr>
              <a:t>unfiltered</a:t>
            </a:r>
          </a:p>
        </p:txBody>
      </p:sp>
      <p:cxnSp>
        <p:nvCxnSpPr>
          <p:cNvPr id="11" name="Straight Arrow Connector 10"/>
          <p:cNvCxnSpPr>
            <a:cxnSpLocks/>
          </p:cNvCxnSpPr>
          <p:nvPr/>
        </p:nvCxnSpPr>
        <p:spPr>
          <a:xfrm flipH="1" flipV="1">
            <a:off x="8000606" y="4574058"/>
            <a:ext cx="272384" cy="198407"/>
          </a:xfrm>
          <a:prstGeom prst="straightConnector1">
            <a:avLst/>
          </a:prstGeom>
          <a:ln w="158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4636488" y="4539551"/>
            <a:ext cx="721672" cy="424234"/>
            <a:chOff x="3008971" y="4017786"/>
            <a:chExt cx="721672" cy="424234"/>
          </a:xfrm>
        </p:grpSpPr>
        <p:sp>
          <p:nvSpPr>
            <p:cNvPr id="9" name="TextBox 8"/>
            <p:cNvSpPr txBox="1"/>
            <p:nvPr/>
          </p:nvSpPr>
          <p:spPr>
            <a:xfrm>
              <a:off x="3008971" y="4134243"/>
              <a:ext cx="721672" cy="307777"/>
            </a:xfrm>
            <a:prstGeom prst="rect">
              <a:avLst/>
            </a:prstGeom>
            <a:noFill/>
          </p:spPr>
          <p:txBody>
            <a:bodyPr wrap="none" rtlCol="0">
              <a:spAutoFit/>
            </a:bodyPr>
            <a:lstStyle/>
            <a:p>
              <a:r>
                <a:rPr lang="en-US">
                  <a:solidFill>
                    <a:schemeClr val="tx1">
                      <a:lumMod val="50000"/>
                      <a:lumOff val="50000"/>
                    </a:schemeClr>
                  </a:solidFill>
                </a:rPr>
                <a:t>filtered</a:t>
              </a:r>
            </a:p>
          </p:txBody>
        </p:sp>
        <p:cxnSp>
          <p:nvCxnSpPr>
            <p:cNvPr id="13" name="Straight Arrow Connector 12"/>
            <p:cNvCxnSpPr/>
            <p:nvPr/>
          </p:nvCxnSpPr>
          <p:spPr>
            <a:xfrm flipV="1">
              <a:off x="3317232" y="4017786"/>
              <a:ext cx="393521" cy="232913"/>
            </a:xfrm>
            <a:prstGeom prst="straightConnector1">
              <a:avLst/>
            </a:prstGeom>
            <a:ln w="158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Low-pass filter</a:t>
            </a:r>
          </a:p>
        </p:txBody>
      </p:sp>
      <p:sp>
        <p:nvSpPr>
          <p:cNvPr id="3" name="Content Placeholder 2"/>
          <p:cNvSpPr>
            <a:spLocks noGrp="1"/>
          </p:cNvSpPr>
          <p:nvPr>
            <p:ph idx="1"/>
          </p:nvPr>
        </p:nvSpPr>
        <p:spPr>
          <a:xfrm>
            <a:off x="2748951" y="2001329"/>
            <a:ext cx="7461849" cy="4124835"/>
          </a:xfrm>
        </p:spPr>
        <p:txBody>
          <a:bodyPr>
            <a:normAutofit/>
          </a:bodyPr>
          <a:lstStyle/>
          <a:p>
            <a:pPr marL="0" indent="0">
              <a:buNone/>
            </a:pPr>
            <a:r>
              <a:rPr lang="en-US" sz="2000"/>
              <a:t>F32 </a:t>
            </a:r>
            <a:r>
              <a:rPr lang="en-US" sz="2000" b="1" err="1"/>
              <a:t>lowPassFilter</a:t>
            </a:r>
            <a:r>
              <a:rPr lang="en-US" sz="2000"/>
              <a:t>(F32 </a:t>
            </a:r>
            <a:r>
              <a:rPr lang="en-US" sz="2000" err="1"/>
              <a:t>unfilteredInput</a:t>
            </a:r>
            <a:r>
              <a:rPr lang="en-US" sz="2000"/>
              <a:t>, </a:t>
            </a:r>
          </a:p>
          <a:p>
            <a:pPr marL="0" indent="0">
              <a:buNone/>
            </a:pPr>
            <a:r>
              <a:rPr lang="en-US" sz="2000"/>
              <a:t>		     F32 </a:t>
            </a:r>
            <a:r>
              <a:rPr lang="en-US" sz="2000" err="1"/>
              <a:t>lastFramesFilteredInput</a:t>
            </a:r>
            <a:r>
              <a:rPr lang="en-US" sz="2000"/>
              <a:t>, </a:t>
            </a:r>
          </a:p>
          <a:p>
            <a:pPr marL="0" indent="0">
              <a:buNone/>
            </a:pPr>
            <a:r>
              <a:rPr lang="en-US" sz="2000"/>
              <a:t>	 	     F32 </a:t>
            </a:r>
            <a:r>
              <a:rPr lang="en-US" sz="2000" err="1"/>
              <a:t>rc</a:t>
            </a:r>
            <a:r>
              <a:rPr lang="en-US" sz="2000"/>
              <a:t>, F32 </a:t>
            </a:r>
            <a:r>
              <a:rPr lang="en-US" sz="2000" err="1"/>
              <a:t>dt</a:t>
            </a:r>
            <a:r>
              <a:rPr lang="en-US" sz="2000"/>
              <a:t>)</a:t>
            </a:r>
          </a:p>
          <a:p>
            <a:pPr marL="0" indent="0">
              <a:buNone/>
            </a:pPr>
            <a:r>
              <a:rPr lang="en-US" sz="2000"/>
              <a:t>{</a:t>
            </a:r>
          </a:p>
          <a:p>
            <a:pPr marL="0" indent="0">
              <a:buNone/>
              <a:tabLst>
                <a:tab pos="517525" algn="l"/>
              </a:tabLst>
            </a:pPr>
            <a:r>
              <a:rPr lang="en-US" sz="2000"/>
              <a:t>	F32 a= </a:t>
            </a:r>
            <a:r>
              <a:rPr lang="en-US" sz="2000" err="1"/>
              <a:t>dt</a:t>
            </a:r>
            <a:r>
              <a:rPr lang="en-US" sz="2000"/>
              <a:t> / (</a:t>
            </a:r>
            <a:r>
              <a:rPr lang="en-US" sz="2000" err="1"/>
              <a:t>rc</a:t>
            </a:r>
            <a:r>
              <a:rPr lang="en-US" sz="2000"/>
              <a:t> +</a:t>
            </a:r>
            <a:r>
              <a:rPr lang="en-US" sz="2000" err="1"/>
              <a:t>dt</a:t>
            </a:r>
            <a:r>
              <a:rPr lang="en-US" sz="2000"/>
              <a:t>);</a:t>
            </a:r>
          </a:p>
          <a:p>
            <a:pPr marL="0" indent="0">
              <a:buNone/>
              <a:tabLst>
                <a:tab pos="517525" algn="l"/>
              </a:tabLst>
            </a:pPr>
            <a:r>
              <a:rPr lang="en-US" sz="2000"/>
              <a:t>	return (1-a) * </a:t>
            </a:r>
            <a:r>
              <a:rPr lang="en-US" sz="2000" err="1"/>
              <a:t>lastFramesFilteredInput</a:t>
            </a:r>
            <a:endParaRPr lang="en-US" sz="2000"/>
          </a:p>
          <a:p>
            <a:pPr marL="0" indent="0">
              <a:buNone/>
              <a:tabLst>
                <a:tab pos="517525" algn="l"/>
              </a:tabLst>
            </a:pPr>
            <a:r>
              <a:rPr lang="en-US" sz="2000"/>
              <a:t>		       + a * </a:t>
            </a:r>
            <a:r>
              <a:rPr lang="en-US" sz="2000" err="1"/>
              <a:t>unfilteredInput</a:t>
            </a:r>
            <a:r>
              <a:rPr lang="en-US" sz="2000"/>
              <a:t>;</a:t>
            </a:r>
          </a:p>
          <a:p>
            <a:pPr marL="0" indent="0">
              <a:buNone/>
            </a:pPr>
            <a:r>
              <a:rPr lang="en-US" sz="2000"/>
              <a:t>}</a:t>
            </a:r>
          </a:p>
        </p:txBody>
      </p:sp>
    </p:spTree>
    <p:extLst>
      <p:ext uri="{BB962C8B-B14F-4D97-AF65-F5344CB8AC3E}">
        <p14:creationId xmlns:p14="http://schemas.microsoft.com/office/powerpoint/2010/main" val="4202158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Moving average</a:t>
            </a:r>
          </a:p>
        </p:txBody>
      </p:sp>
      <p:sp>
        <p:nvSpPr>
          <p:cNvPr id="3" name="Content Placeholder 2"/>
          <p:cNvSpPr>
            <a:spLocks noGrp="1"/>
          </p:cNvSpPr>
          <p:nvPr>
            <p:ph sz="half" idx="2"/>
          </p:nvPr>
        </p:nvSpPr>
        <p:spPr>
          <a:xfrm>
            <a:off x="1915696" y="1675064"/>
            <a:ext cx="4038600" cy="4525963"/>
          </a:xfrm>
        </p:spPr>
        <p:txBody>
          <a:bodyPr>
            <a:normAutofit/>
          </a:bodyPr>
          <a:lstStyle/>
          <a:p>
            <a:r>
              <a:rPr lang="en-US"/>
              <a:t>An equally interesting way of filtering the data is to use a moving average</a:t>
            </a:r>
          </a:p>
          <a:p>
            <a:r>
              <a:rPr lang="en-US"/>
              <a:t>This can be done using a circular queue that maintains the last </a:t>
            </a:r>
            <a:r>
              <a:rPr lang="en-US" i="1"/>
              <a:t>n</a:t>
            </a:r>
            <a:r>
              <a:rPr lang="en-US"/>
              <a:t> values</a:t>
            </a:r>
          </a:p>
          <a:p>
            <a:r>
              <a:rPr lang="en-US"/>
              <a:t>You can also keep the running sum by adding the new value and subtracting the one it is replacing in the queue</a:t>
            </a:r>
          </a:p>
        </p:txBody>
      </p:sp>
      <p:sp>
        <p:nvSpPr>
          <p:cNvPr id="4" name="Content Placeholder 3">
            <a:extLst>
              <a:ext uri="{FF2B5EF4-FFF2-40B4-BE49-F238E27FC236}">
                <a16:creationId xmlns:a16="http://schemas.microsoft.com/office/drawing/2014/main" id="{CF8E3627-E06F-482A-B47E-C0CD8BC49407}"/>
              </a:ext>
            </a:extLst>
          </p:cNvPr>
          <p:cNvSpPr>
            <a:spLocks noGrp="1"/>
          </p:cNvSpPr>
          <p:nvPr>
            <p:ph sz="quarter" idx="13"/>
          </p:nvPr>
        </p:nvSpPr>
        <p:spPr>
          <a:xfrm>
            <a:off x="6440371" y="1606884"/>
            <a:ext cx="4041648" cy="5251116"/>
          </a:xfrm>
        </p:spPr>
        <p:txBody>
          <a:bodyPr>
            <a:normAutofit fontScale="25000" lnSpcReduction="20000"/>
          </a:bodyPr>
          <a:lstStyle/>
          <a:p>
            <a:pPr marL="0" indent="0">
              <a:buNone/>
            </a:pPr>
            <a:r>
              <a:rPr lang="en-US">
                <a:solidFill>
                  <a:srgbClr val="0000FF"/>
                </a:solidFill>
                <a:latin typeface="Consolas" panose="020B0609020204030204" pitchFamily="49" charset="0"/>
              </a:rPr>
              <a:t>template</a:t>
            </a:r>
            <a:r>
              <a:rPr lang="en-US">
                <a:solidFill>
                  <a:srgbClr val="000000"/>
                </a:solidFill>
                <a:latin typeface="Consolas" panose="020B0609020204030204" pitchFamily="49" charset="0"/>
              </a:rPr>
              <a:t>&lt; </a:t>
            </a:r>
            <a:r>
              <a:rPr lang="en-US" err="1">
                <a:solidFill>
                  <a:srgbClr val="0000FF"/>
                </a:solidFill>
                <a:latin typeface="Consolas" panose="020B0609020204030204" pitchFamily="49" charset="0"/>
              </a:rPr>
              <a:t>typename</a:t>
            </a:r>
            <a:r>
              <a:rPr lang="en-US">
                <a:solidFill>
                  <a:srgbClr val="000000"/>
                </a:solidFill>
                <a:latin typeface="Consolas" panose="020B0609020204030204" pitchFamily="49" charset="0"/>
              </a:rPr>
              <a:t> </a:t>
            </a:r>
            <a:r>
              <a:rPr lang="en-US">
                <a:solidFill>
                  <a:srgbClr val="2B91AF"/>
                </a:solidFill>
                <a:latin typeface="Consolas" panose="020B0609020204030204" pitchFamily="49" charset="0"/>
              </a:rPr>
              <a:t>TYPE</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SIZE &gt;</a:t>
            </a:r>
          </a:p>
          <a:p>
            <a:pPr marL="0" indent="0">
              <a:buNone/>
            </a:pPr>
            <a:r>
              <a:rPr lang="en-CA">
                <a:solidFill>
                  <a:srgbClr val="0000FF"/>
                </a:solidFill>
                <a:latin typeface="Consolas" panose="020B0609020204030204" pitchFamily="49" charset="0"/>
              </a:rPr>
              <a:t>class</a:t>
            </a:r>
            <a:r>
              <a:rPr lang="en-CA">
                <a:solidFill>
                  <a:srgbClr val="000000"/>
                </a:solidFill>
                <a:latin typeface="Consolas" panose="020B0609020204030204" pitchFamily="49" charset="0"/>
              </a:rPr>
              <a:t> </a:t>
            </a:r>
            <a:r>
              <a:rPr lang="en-CA" err="1">
                <a:solidFill>
                  <a:srgbClr val="2B91AF"/>
                </a:solidFill>
                <a:latin typeface="Consolas" panose="020B0609020204030204" pitchFamily="49" charset="0"/>
              </a:rPr>
              <a:t>MovingAverage</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2B91AF"/>
                </a:solidFill>
                <a:latin typeface="Consolas" panose="020B0609020204030204" pitchFamily="49" charset="0"/>
              </a:rPr>
              <a:t>TYPE</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m_samples</a:t>
            </a:r>
            <a:r>
              <a:rPr lang="en-CA">
                <a:solidFill>
                  <a:srgbClr val="000000"/>
                </a:solidFill>
                <a:latin typeface="Consolas" panose="020B0609020204030204" pitchFamily="49" charset="0"/>
              </a:rPr>
              <a:t>[SIZE];</a:t>
            </a:r>
          </a:p>
          <a:p>
            <a:pPr marL="0" indent="0">
              <a:buNone/>
            </a:pPr>
            <a:r>
              <a:rPr lang="en-CA">
                <a:solidFill>
                  <a:srgbClr val="2B91AF"/>
                </a:solidFill>
                <a:latin typeface="Consolas" panose="020B0609020204030204" pitchFamily="49" charset="0"/>
              </a:rPr>
              <a:t>TYPE</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m_sum</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U32 </a:t>
            </a:r>
            <a:r>
              <a:rPr lang="en-CA" err="1">
                <a:solidFill>
                  <a:srgbClr val="000000"/>
                </a:solidFill>
                <a:latin typeface="Consolas" panose="020B0609020204030204" pitchFamily="49" charset="0"/>
              </a:rPr>
              <a:t>m_curSample</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U32 </a:t>
            </a:r>
            <a:r>
              <a:rPr lang="en-CA" err="1">
                <a:solidFill>
                  <a:srgbClr val="000000"/>
                </a:solidFill>
                <a:latin typeface="Consolas" panose="020B0609020204030204" pitchFamily="49" charset="0"/>
              </a:rPr>
              <a:t>m_sampleCount</a:t>
            </a: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public</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MovingAverage</a:t>
            </a:r>
            <a:r>
              <a:rPr lang="en-CA">
                <a:solidFill>
                  <a:srgbClr val="000000"/>
                </a:solidFill>
                <a:latin typeface="Consolas" panose="020B0609020204030204" pitchFamily="49" charset="0"/>
              </a:rPr>
              <a:t>() :</a:t>
            </a:r>
          </a:p>
          <a:p>
            <a:pPr marL="0" indent="0">
              <a:buNone/>
            </a:pPr>
            <a:r>
              <a:rPr lang="en-US" err="1">
                <a:solidFill>
                  <a:srgbClr val="000000"/>
                </a:solidFill>
                <a:latin typeface="Consolas" panose="020B0609020204030204" pitchFamily="49" charset="0"/>
              </a:rPr>
              <a:t>m_sum</a:t>
            </a:r>
            <a:r>
              <a:rPr lang="en-US">
                <a:solidFill>
                  <a:srgbClr val="000000"/>
                </a:solidFill>
                <a:latin typeface="Consolas" panose="020B0609020204030204" pitchFamily="49" charset="0"/>
              </a:rPr>
              <a:t>(</a:t>
            </a:r>
            <a:r>
              <a:rPr lang="en-US" err="1">
                <a:solidFill>
                  <a:srgbClr val="0000FF"/>
                </a:solidFill>
                <a:latin typeface="Consolas" panose="020B0609020204030204" pitchFamily="49" charset="0"/>
              </a:rPr>
              <a:t>static_cast</a:t>
            </a:r>
            <a:r>
              <a:rPr lang="en-US">
                <a:solidFill>
                  <a:srgbClr val="000000"/>
                </a:solidFill>
                <a:latin typeface="Consolas" panose="020B0609020204030204" pitchFamily="49" charset="0"/>
              </a:rPr>
              <a:t>&lt;</a:t>
            </a:r>
            <a:r>
              <a:rPr lang="en-US">
                <a:solidFill>
                  <a:srgbClr val="2B91AF"/>
                </a:solidFill>
                <a:latin typeface="Consolas" panose="020B0609020204030204" pitchFamily="49" charset="0"/>
              </a:rPr>
              <a:t>TYPE</a:t>
            </a:r>
            <a:r>
              <a:rPr lang="en-US">
                <a:solidFill>
                  <a:srgbClr val="000000"/>
                </a:solidFill>
                <a:latin typeface="Consolas" panose="020B0609020204030204" pitchFamily="49" charset="0"/>
              </a:rPr>
              <a:t>&gt;(0)),</a:t>
            </a:r>
          </a:p>
          <a:p>
            <a:pPr marL="0" indent="0">
              <a:buNone/>
            </a:pPr>
            <a:r>
              <a:rPr lang="en-CA" err="1">
                <a:solidFill>
                  <a:srgbClr val="000000"/>
                </a:solidFill>
                <a:latin typeface="Consolas" panose="020B0609020204030204" pitchFamily="49" charset="0"/>
              </a:rPr>
              <a:t>m_curSample</a:t>
            </a:r>
            <a:r>
              <a:rPr lang="en-CA">
                <a:solidFill>
                  <a:srgbClr val="000000"/>
                </a:solidFill>
                <a:latin typeface="Consolas" panose="020B0609020204030204" pitchFamily="49" charset="0"/>
              </a:rPr>
              <a:t>(0),</a:t>
            </a:r>
          </a:p>
          <a:p>
            <a:pPr marL="0" indent="0">
              <a:buNone/>
            </a:pPr>
            <a:r>
              <a:rPr lang="en-CA" err="1">
                <a:solidFill>
                  <a:srgbClr val="000000"/>
                </a:solidFill>
                <a:latin typeface="Consolas" panose="020B0609020204030204" pitchFamily="49" charset="0"/>
              </a:rPr>
              <a:t>m_sampleCount</a:t>
            </a:r>
            <a:r>
              <a:rPr lang="en-CA">
                <a:solidFill>
                  <a:srgbClr val="000000"/>
                </a:solidFill>
                <a:latin typeface="Consolas" panose="020B0609020204030204" pitchFamily="49" charset="0"/>
              </a:rPr>
              <a:t>(0)</a:t>
            </a: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void</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addSample</a:t>
            </a:r>
            <a:r>
              <a:rPr lang="en-CA">
                <a:solidFill>
                  <a:srgbClr val="000000"/>
                </a:solidFill>
                <a:latin typeface="Consolas" panose="020B0609020204030204" pitchFamily="49" charset="0"/>
              </a:rPr>
              <a:t>(</a:t>
            </a:r>
            <a:r>
              <a:rPr lang="en-CA">
                <a:solidFill>
                  <a:srgbClr val="2B91AF"/>
                </a:solidFill>
                <a:latin typeface="Consolas" panose="020B0609020204030204" pitchFamily="49" charset="0"/>
              </a:rPr>
              <a:t>TYPE</a:t>
            </a:r>
            <a:r>
              <a:rPr lang="en-CA">
                <a:solidFill>
                  <a:srgbClr val="000000"/>
                </a:solidFill>
                <a:latin typeface="Consolas" panose="020B0609020204030204" pitchFamily="49" charset="0"/>
              </a:rPr>
              <a:t> </a:t>
            </a:r>
            <a:r>
              <a:rPr lang="en-CA">
                <a:solidFill>
                  <a:srgbClr val="808080"/>
                </a:solidFill>
                <a:latin typeface="Consolas" panose="020B0609020204030204" pitchFamily="49" charset="0"/>
              </a:rPr>
              <a:t>data</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m_sampleCount</a:t>
            </a:r>
            <a:r>
              <a:rPr lang="en-CA">
                <a:solidFill>
                  <a:srgbClr val="000000"/>
                </a:solidFill>
                <a:latin typeface="Consolas" panose="020B0609020204030204" pitchFamily="49" charset="0"/>
              </a:rPr>
              <a:t> == SIZE)</a:t>
            </a:r>
          </a:p>
          <a:p>
            <a:pPr marL="0" indent="0">
              <a:buNone/>
            </a:pPr>
            <a:r>
              <a:rPr lang="en-CA">
                <a:solidFill>
                  <a:srgbClr val="000000"/>
                </a:solidFill>
                <a:latin typeface="Consolas" panose="020B0609020204030204" pitchFamily="49" charset="0"/>
              </a:rPr>
              <a:t>{</a:t>
            </a:r>
          </a:p>
          <a:p>
            <a:pPr marL="0" indent="0">
              <a:buNone/>
            </a:pPr>
            <a:r>
              <a:rPr lang="pt-BR">
                <a:solidFill>
                  <a:srgbClr val="000000"/>
                </a:solidFill>
                <a:latin typeface="Consolas" panose="020B0609020204030204" pitchFamily="49" charset="0"/>
              </a:rPr>
              <a:t>m_sum -= m_samples[m_curSample];</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else</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m_sampleCount</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pt-BR">
                <a:solidFill>
                  <a:srgbClr val="000000"/>
                </a:solidFill>
                <a:latin typeface="Consolas" panose="020B0609020204030204" pitchFamily="49" charset="0"/>
              </a:rPr>
              <a:t>m_samples[m_curSample] = </a:t>
            </a:r>
            <a:r>
              <a:rPr lang="pt-BR">
                <a:solidFill>
                  <a:srgbClr val="808080"/>
                </a:solidFill>
                <a:latin typeface="Consolas" panose="020B0609020204030204" pitchFamily="49" charset="0"/>
              </a:rPr>
              <a:t>data</a:t>
            </a:r>
            <a:r>
              <a:rPr lang="pt-BR">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m_sum</a:t>
            </a:r>
            <a:r>
              <a:rPr lang="en-CA">
                <a:solidFill>
                  <a:srgbClr val="000000"/>
                </a:solidFill>
                <a:latin typeface="Consolas" panose="020B0609020204030204" pitchFamily="49" charset="0"/>
              </a:rPr>
              <a:t> += </a:t>
            </a:r>
            <a:r>
              <a:rPr lang="en-CA">
                <a:solidFill>
                  <a:srgbClr val="808080"/>
                </a:solidFill>
                <a:latin typeface="Consolas" panose="020B0609020204030204" pitchFamily="49" charset="0"/>
              </a:rPr>
              <a:t>data</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m_curSample</a:t>
            </a: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m_curSample</a:t>
            </a:r>
            <a:r>
              <a:rPr lang="en-CA">
                <a:solidFill>
                  <a:srgbClr val="000000"/>
                </a:solidFill>
                <a:latin typeface="Consolas" panose="020B0609020204030204" pitchFamily="49" charset="0"/>
              </a:rPr>
              <a:t> &gt;= SIZE)</a:t>
            </a:r>
          </a:p>
          <a:p>
            <a:pPr marL="0" indent="0">
              <a:buNone/>
            </a:pP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m_curSample</a:t>
            </a:r>
            <a:r>
              <a:rPr lang="en-CA">
                <a:solidFill>
                  <a:srgbClr val="000000"/>
                </a:solidFill>
                <a:latin typeface="Consolas" panose="020B0609020204030204" pitchFamily="49" charset="0"/>
              </a:rPr>
              <a:t> = 0;</a:t>
            </a: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F32 </a:t>
            </a:r>
            <a:r>
              <a:rPr lang="en-CA" err="1">
                <a:solidFill>
                  <a:srgbClr val="000000"/>
                </a:solidFill>
                <a:latin typeface="Consolas" panose="020B0609020204030204" pitchFamily="49" charset="0"/>
              </a:rPr>
              <a:t>getCurrentAverage</a:t>
            </a:r>
            <a:r>
              <a:rPr lang="en-CA">
                <a:solidFill>
                  <a:srgbClr val="000000"/>
                </a:solidFill>
                <a:latin typeface="Consolas" panose="020B0609020204030204" pitchFamily="49" charset="0"/>
              </a:rPr>
              <a:t>() </a:t>
            </a:r>
            <a:r>
              <a:rPr lang="en-CA">
                <a:solidFill>
                  <a:srgbClr val="0000FF"/>
                </a:solidFill>
                <a:latin typeface="Consolas" panose="020B0609020204030204" pitchFamily="49" charset="0"/>
              </a:rPr>
              <a:t>const</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m_sampleCount</a:t>
            </a:r>
            <a:r>
              <a:rPr lang="en-CA">
                <a:solidFill>
                  <a:srgbClr val="000000"/>
                </a:solidFill>
                <a:latin typeface="Consolas" panose="020B0609020204030204" pitchFamily="49" charset="0"/>
              </a:rPr>
              <a:t> != 0)</a:t>
            </a:r>
          </a:p>
          <a:p>
            <a:pPr marL="0" indent="0">
              <a:buNone/>
            </a:pPr>
            <a:r>
              <a:rPr lang="en-CA">
                <a:solidFill>
                  <a:srgbClr val="000000"/>
                </a:solidFill>
                <a:latin typeface="Consolas" panose="020B0609020204030204" pitchFamily="49" charset="0"/>
              </a:rPr>
              <a:t>{</a:t>
            </a:r>
          </a:p>
          <a:p>
            <a:pPr marL="0" indent="0">
              <a:buNone/>
            </a:pPr>
            <a:r>
              <a:rPr lang="en-US">
                <a:solidFill>
                  <a:srgbClr val="0000FF"/>
                </a:solidFill>
                <a:latin typeface="Consolas" panose="020B0609020204030204" pitchFamily="49" charset="0"/>
              </a:rPr>
              <a:t>return</a:t>
            </a:r>
            <a:r>
              <a:rPr lang="en-US">
                <a:solidFill>
                  <a:srgbClr val="000000"/>
                </a:solidFill>
                <a:latin typeface="Consolas" panose="020B0609020204030204" pitchFamily="49" charset="0"/>
              </a:rPr>
              <a:t> </a:t>
            </a:r>
            <a:r>
              <a:rPr lang="en-US" err="1">
                <a:solidFill>
                  <a:srgbClr val="0000FF"/>
                </a:solidFill>
                <a:latin typeface="Consolas" panose="020B0609020204030204" pitchFamily="49" charset="0"/>
              </a:rPr>
              <a:t>static_cast</a:t>
            </a:r>
            <a:r>
              <a:rPr lang="en-US">
                <a:solidFill>
                  <a:srgbClr val="000000"/>
                </a:solidFill>
                <a:latin typeface="Consolas" panose="020B0609020204030204" pitchFamily="49" charset="0"/>
              </a:rPr>
              <a:t>&lt;F32&gt;(</a:t>
            </a:r>
            <a:r>
              <a:rPr lang="en-US" err="1">
                <a:solidFill>
                  <a:srgbClr val="000000"/>
                </a:solidFill>
                <a:latin typeface="Consolas" panose="020B0609020204030204" pitchFamily="49" charset="0"/>
              </a:rPr>
              <a:t>m_sum</a:t>
            </a:r>
            <a:r>
              <a:rPr lang="en-US">
                <a:solidFill>
                  <a:srgbClr val="000000"/>
                </a:solidFill>
                <a:latin typeface="Consolas" panose="020B0609020204030204" pitchFamily="49" charset="0"/>
              </a:rPr>
              <a:t>)</a:t>
            </a:r>
          </a:p>
          <a:p>
            <a:pPr marL="0" indent="0">
              <a:buNone/>
            </a:pPr>
            <a:r>
              <a:rPr lang="en-US">
                <a:solidFill>
                  <a:srgbClr val="000000"/>
                </a:solidFill>
                <a:latin typeface="Consolas" panose="020B0609020204030204" pitchFamily="49" charset="0"/>
              </a:rPr>
              <a:t>/ </a:t>
            </a:r>
            <a:r>
              <a:rPr lang="en-US" err="1">
                <a:solidFill>
                  <a:srgbClr val="0000FF"/>
                </a:solidFill>
                <a:latin typeface="Consolas" panose="020B0609020204030204" pitchFamily="49" charset="0"/>
              </a:rPr>
              <a:t>static_cast</a:t>
            </a:r>
            <a:r>
              <a:rPr lang="en-US">
                <a:solidFill>
                  <a:srgbClr val="000000"/>
                </a:solidFill>
                <a:latin typeface="Consolas" panose="020B0609020204030204" pitchFamily="49" charset="0"/>
              </a:rPr>
              <a:t>&lt;F32&gt;(</a:t>
            </a:r>
            <a:r>
              <a:rPr lang="en-US" err="1">
                <a:solidFill>
                  <a:srgbClr val="000000"/>
                </a:solidFill>
                <a:latin typeface="Consolas" panose="020B0609020204030204" pitchFamily="49" charset="0"/>
              </a:rPr>
              <a:t>m_sampleCount</a:t>
            </a:r>
            <a:r>
              <a:rPr lang="en-US">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return</a:t>
            </a:r>
            <a:r>
              <a:rPr lang="en-CA">
                <a:solidFill>
                  <a:srgbClr val="000000"/>
                </a:solidFill>
                <a:latin typeface="Consolas" panose="020B0609020204030204" pitchFamily="49" charset="0"/>
              </a:rPr>
              <a:t> 0.0f;</a:t>
            </a: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endParaRPr lang="en-C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Input event detection</a:t>
            </a:r>
          </a:p>
        </p:txBody>
      </p:sp>
      <p:sp>
        <p:nvSpPr>
          <p:cNvPr id="3" name="Content Placeholder 2"/>
          <p:cNvSpPr>
            <a:spLocks noGrp="1"/>
          </p:cNvSpPr>
          <p:nvPr>
            <p:ph sz="half" idx="2"/>
          </p:nvPr>
        </p:nvSpPr>
        <p:spPr>
          <a:xfrm>
            <a:off x="1620402" y="1600201"/>
            <a:ext cx="4038600" cy="4525963"/>
          </a:xfrm>
        </p:spPr>
        <p:txBody>
          <a:bodyPr>
            <a:normAutofit fontScale="85000" lnSpcReduction="20000"/>
          </a:bodyPr>
          <a:lstStyle/>
          <a:p>
            <a:r>
              <a:rPr lang="en-US"/>
              <a:t>The easiest way to detect a change to states is to keep the previous state and XOR it with the current state</a:t>
            </a:r>
          </a:p>
          <a:p>
            <a:pPr lvl="1"/>
            <a:r>
              <a:rPr lang="en-US"/>
              <a:t>XOR produces a 1 when the state has changed</a:t>
            </a:r>
          </a:p>
          <a:p>
            <a:r>
              <a:rPr lang="en-US"/>
              <a:t>In </a:t>
            </a:r>
            <a:r>
              <a:rPr lang="en-US" err="1">
                <a:solidFill>
                  <a:srgbClr val="000000"/>
                </a:solidFill>
                <a:latin typeface="Consolas" panose="020B0609020204030204" pitchFamily="49" charset="0"/>
              </a:rPr>
              <a:t>m_buttonDowns</a:t>
            </a:r>
            <a:r>
              <a:rPr lang="en-US">
                <a:solidFill>
                  <a:srgbClr val="000000"/>
                </a:solidFill>
                <a:latin typeface="Consolas" panose="020B0609020204030204" pitchFamily="49" charset="0"/>
              </a:rPr>
              <a:t> and </a:t>
            </a:r>
            <a:r>
              <a:rPr lang="en-US" err="1">
                <a:solidFill>
                  <a:srgbClr val="000000"/>
                </a:solidFill>
                <a:latin typeface="Consolas" panose="020B0609020204030204" pitchFamily="49" charset="0"/>
              </a:rPr>
              <a:t>m_buttonUps</a:t>
            </a:r>
            <a:r>
              <a:rPr lang="en-US">
                <a:solidFill>
                  <a:srgbClr val="000000"/>
                </a:solidFill>
                <a:latin typeface="Consolas" panose="020B0609020204030204" pitchFamily="49" charset="0"/>
              </a:rPr>
              <a:t> </a:t>
            </a:r>
            <a:r>
              <a:rPr lang="en-US"/>
              <a:t>, the bit corresponding to each button will be 0 if the event has not occurred in this frame and 1 if it has.</a:t>
            </a:r>
          </a:p>
          <a:p>
            <a:r>
              <a:rPr lang="en-US"/>
              <a:t>We can then mask out the up events and the down events by using AND</a:t>
            </a:r>
          </a:p>
          <a:p>
            <a:pPr lvl="1"/>
            <a:r>
              <a:rPr lang="en-US" err="1"/>
              <a:t>ANDing</a:t>
            </a:r>
            <a:r>
              <a:rPr lang="en-US"/>
              <a:t> the original state with the changed state gives us the DOWNs</a:t>
            </a:r>
          </a:p>
          <a:p>
            <a:pPr lvl="1"/>
            <a:r>
              <a:rPr lang="en-US" err="1"/>
              <a:t>NANDing</a:t>
            </a:r>
            <a:r>
              <a:rPr lang="en-US"/>
              <a:t> gives us the UPs</a:t>
            </a:r>
          </a:p>
        </p:txBody>
      </p:sp>
      <p:sp>
        <p:nvSpPr>
          <p:cNvPr id="4" name="Content Placeholder 3">
            <a:extLst>
              <a:ext uri="{FF2B5EF4-FFF2-40B4-BE49-F238E27FC236}">
                <a16:creationId xmlns:a16="http://schemas.microsoft.com/office/drawing/2014/main" id="{79064F38-C3F0-4022-9E2B-B81F421D9387}"/>
              </a:ext>
            </a:extLst>
          </p:cNvPr>
          <p:cNvSpPr>
            <a:spLocks noGrp="1"/>
          </p:cNvSpPr>
          <p:nvPr>
            <p:ph sz="quarter" idx="13"/>
          </p:nvPr>
        </p:nvSpPr>
        <p:spPr>
          <a:xfrm>
            <a:off x="5659002" y="1600200"/>
            <a:ext cx="5008998" cy="4526280"/>
          </a:xfrm>
        </p:spPr>
        <p:txBody>
          <a:bodyPr>
            <a:normAutofit fontScale="25000" lnSpcReduction="20000"/>
          </a:bodyPr>
          <a:lstStyle/>
          <a:p>
            <a:pPr marL="0" indent="0">
              <a:buNone/>
            </a:pPr>
            <a:r>
              <a:rPr lang="en-CA">
                <a:solidFill>
                  <a:srgbClr val="0000FF"/>
                </a:solidFill>
                <a:latin typeface="Consolas" panose="020B0609020204030204" pitchFamily="49" charset="0"/>
              </a:rPr>
              <a:t>class</a:t>
            </a:r>
            <a:r>
              <a:rPr lang="en-CA">
                <a:solidFill>
                  <a:srgbClr val="000000"/>
                </a:solidFill>
                <a:latin typeface="Consolas" panose="020B0609020204030204" pitchFamily="49" charset="0"/>
              </a:rPr>
              <a:t> </a:t>
            </a:r>
            <a:r>
              <a:rPr lang="en-CA" err="1">
                <a:solidFill>
                  <a:srgbClr val="2B91AF"/>
                </a:solidFill>
                <a:latin typeface="Consolas" panose="020B0609020204030204" pitchFamily="49" charset="0"/>
              </a:rPr>
              <a:t>ButtonState</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m_buttonStates</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current frame's button </a:t>
            </a:r>
            <a:r>
              <a:rPr lang="en-CA">
                <a:solidFill>
                  <a:srgbClr val="008000"/>
                </a:solidFill>
                <a:latin typeface="Consolas" panose="020B0609020204030204" pitchFamily="49" charset="0"/>
              </a:rPr>
              <a:t>states</a:t>
            </a:r>
            <a:endParaRPr lang="en-CA">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m_prevButtonStates</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previous frame's states</a:t>
            </a:r>
            <a:endParaRPr lang="en-US">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m_buttonDowns</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1 = button pressed this</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frame</a:t>
            </a:r>
            <a:endParaRPr lang="en-CA">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m_buttonUps</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1 = button released this</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 frame</a:t>
            </a:r>
            <a:endParaRPr lang="en-CA">
              <a:solidFill>
                <a:srgbClr val="000000"/>
              </a:solidFill>
              <a:latin typeface="Consolas" panose="020B0609020204030204" pitchFamily="49" charset="0"/>
            </a:endParaRPr>
          </a:p>
          <a:p>
            <a:pPr marL="0" indent="0">
              <a:buNone/>
            </a:pPr>
            <a:r>
              <a:rPr lang="en-CA">
                <a:solidFill>
                  <a:srgbClr val="0000FF"/>
                </a:solidFill>
                <a:latin typeface="Consolas" panose="020B0609020204030204" pitchFamily="49" charset="0"/>
              </a:rPr>
              <a:t>void</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DetectButtonUpDownEvents</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Assuming that </a:t>
            </a:r>
            <a:r>
              <a:rPr lang="en-US" err="1">
                <a:solidFill>
                  <a:srgbClr val="008000"/>
                </a:solidFill>
                <a:latin typeface="Consolas" panose="020B0609020204030204" pitchFamily="49" charset="0"/>
              </a:rPr>
              <a:t>m_buttonStates</a:t>
            </a:r>
            <a:r>
              <a:rPr lang="en-US">
                <a:solidFill>
                  <a:srgbClr val="008000"/>
                </a:solidFill>
                <a:latin typeface="Consolas" panose="020B0609020204030204" pitchFamily="49" charset="0"/>
              </a:rPr>
              <a:t> and</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a:t>
            </a:r>
            <a:r>
              <a:rPr lang="en-US" err="1">
                <a:solidFill>
                  <a:srgbClr val="008000"/>
                </a:solidFill>
                <a:latin typeface="Consolas" panose="020B0609020204030204" pitchFamily="49" charset="0"/>
              </a:rPr>
              <a:t>m_prevButtonStates</a:t>
            </a:r>
            <a:r>
              <a:rPr lang="en-US">
                <a:solidFill>
                  <a:srgbClr val="008000"/>
                </a:solidFill>
                <a:latin typeface="Consolas" panose="020B0609020204030204" pitchFamily="49" charset="0"/>
              </a:rPr>
              <a:t> are valid, generate</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a:t>
            </a:r>
            <a:r>
              <a:rPr lang="en-US" err="1">
                <a:solidFill>
                  <a:srgbClr val="008000"/>
                </a:solidFill>
                <a:latin typeface="Consolas" panose="020B0609020204030204" pitchFamily="49" charset="0"/>
              </a:rPr>
              <a:t>m_buttonDowns</a:t>
            </a:r>
            <a:r>
              <a:rPr lang="en-US">
                <a:solidFill>
                  <a:srgbClr val="008000"/>
                </a:solidFill>
                <a:latin typeface="Consolas" panose="020B0609020204030204" pitchFamily="49" charset="0"/>
              </a:rPr>
              <a:t> and </a:t>
            </a:r>
            <a:r>
              <a:rPr lang="en-US" err="1">
                <a:solidFill>
                  <a:srgbClr val="008000"/>
                </a:solidFill>
                <a:latin typeface="Consolas" panose="020B0609020204030204" pitchFamily="49" charset="0"/>
              </a:rPr>
              <a:t>m_buttonUps</a:t>
            </a:r>
            <a:r>
              <a:rPr lang="en-US">
                <a:solidFill>
                  <a:srgbClr val="008000"/>
                </a:solidFill>
                <a:latin typeface="Consolas" panose="020B0609020204030204" pitchFamily="49" charset="0"/>
              </a:rPr>
              <a:t>.</a:t>
            </a:r>
            <a:endParaRPr lang="en-US">
              <a:solidFill>
                <a:srgbClr val="000000"/>
              </a:solidFill>
              <a:latin typeface="Consolas" panose="020B0609020204030204" pitchFamily="49" charset="0"/>
            </a:endParaRPr>
          </a:p>
          <a:p>
            <a:pPr marL="0" indent="0">
              <a:buNone/>
            </a:pPr>
            <a:endParaRPr lang="en-US">
              <a:solidFill>
                <a:srgbClr val="008000"/>
              </a:solidFill>
              <a:latin typeface="Consolas" panose="020B0609020204030204" pitchFamily="49" charset="0"/>
            </a:endParaRPr>
          </a:p>
          <a:p>
            <a:pPr marL="0" indent="0">
              <a:buNone/>
            </a:pPr>
            <a:r>
              <a:rPr lang="en-US">
                <a:solidFill>
                  <a:srgbClr val="008000"/>
                </a:solidFill>
                <a:latin typeface="Consolas" panose="020B0609020204030204" pitchFamily="49" charset="0"/>
              </a:rPr>
              <a:t>// First determine which bits have changed via</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XOR.</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U32 </a:t>
            </a:r>
            <a:r>
              <a:rPr lang="en-CA" err="1">
                <a:solidFill>
                  <a:srgbClr val="000000"/>
                </a:solidFill>
                <a:latin typeface="Consolas" panose="020B0609020204030204" pitchFamily="49" charset="0"/>
              </a:rPr>
              <a:t>buttonChanges</a:t>
            </a:r>
            <a:r>
              <a:rPr lang="en-CA">
                <a:solidFill>
                  <a:srgbClr val="000000"/>
                </a:solidFill>
                <a:latin typeface="Consolas" panose="020B0609020204030204" pitchFamily="49" charset="0"/>
              </a:rPr>
              <a:t> = </a:t>
            </a:r>
            <a:r>
              <a:rPr lang="en-CA" err="1">
                <a:solidFill>
                  <a:srgbClr val="000000"/>
                </a:solidFill>
                <a:latin typeface="Consolas" panose="020B0609020204030204" pitchFamily="49" charset="0"/>
              </a:rPr>
              <a:t>m_buttonStates</a:t>
            </a:r>
            <a:r>
              <a:rPr lang="en-CA">
                <a:solidFill>
                  <a:srgbClr val="000000"/>
                </a:solidFill>
                <a:latin typeface="Consolas" panose="020B0609020204030204" pitchFamily="49" charset="0"/>
              </a:rPr>
              <a:t> ^ </a:t>
            </a:r>
            <a:r>
              <a:rPr lang="en-CA" err="1">
                <a:solidFill>
                  <a:srgbClr val="000000"/>
                </a:solidFill>
                <a:latin typeface="Consolas" panose="020B0609020204030204" pitchFamily="49" charset="0"/>
              </a:rPr>
              <a:t>m_prevButtonStates</a:t>
            </a:r>
            <a:r>
              <a:rPr lang="en-CA">
                <a:solidFill>
                  <a:srgbClr val="000000"/>
                </a:solidFill>
                <a:latin typeface="Consolas" panose="020B0609020204030204" pitchFamily="49" charset="0"/>
              </a:rPr>
              <a:t>;</a:t>
            </a:r>
          </a:p>
          <a:p>
            <a:pPr marL="0" indent="0">
              <a:buNone/>
            </a:pPr>
            <a:endParaRPr lang="en-CA">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Now use AND to mask off only the bits that</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are DOWN.</a:t>
            </a:r>
            <a:endParaRPr lang="en-CA">
              <a:solidFill>
                <a:srgbClr val="000000"/>
              </a:solidFill>
              <a:latin typeface="Consolas" panose="020B0609020204030204" pitchFamily="49" charset="0"/>
            </a:endParaRPr>
          </a:p>
          <a:p>
            <a:pPr marL="0" indent="0">
              <a:buNone/>
            </a:pPr>
            <a:r>
              <a:rPr lang="en-US" err="1">
                <a:solidFill>
                  <a:srgbClr val="000000"/>
                </a:solidFill>
                <a:latin typeface="Consolas" panose="020B0609020204030204" pitchFamily="49" charset="0"/>
              </a:rPr>
              <a:t>m_buttonDowns</a:t>
            </a:r>
            <a:r>
              <a:rPr lang="en-US">
                <a:solidFill>
                  <a:srgbClr val="000000"/>
                </a:solidFill>
                <a:latin typeface="Consolas" panose="020B0609020204030204" pitchFamily="49" charset="0"/>
              </a:rPr>
              <a:t> = </a:t>
            </a:r>
            <a:r>
              <a:rPr lang="en-US" err="1">
                <a:solidFill>
                  <a:srgbClr val="000000"/>
                </a:solidFill>
                <a:latin typeface="Consolas" panose="020B0609020204030204" pitchFamily="49" charset="0"/>
              </a:rPr>
              <a:t>buttonChanges</a:t>
            </a:r>
            <a:r>
              <a:rPr lang="en-US">
                <a:solidFill>
                  <a:srgbClr val="000000"/>
                </a:solidFill>
                <a:latin typeface="Consolas" panose="020B0609020204030204" pitchFamily="49" charset="0"/>
              </a:rPr>
              <a:t> &amp; </a:t>
            </a:r>
            <a:r>
              <a:rPr lang="en-US" err="1">
                <a:solidFill>
                  <a:srgbClr val="000000"/>
                </a:solidFill>
                <a:latin typeface="Consolas" panose="020B0609020204030204" pitchFamily="49" charset="0"/>
              </a:rPr>
              <a:t>m_buttonStates</a:t>
            </a:r>
            <a:r>
              <a:rPr lang="en-US">
                <a:solidFill>
                  <a:srgbClr val="000000"/>
                </a:solidFill>
                <a:latin typeface="Consolas" panose="020B0609020204030204" pitchFamily="49" charset="0"/>
              </a:rPr>
              <a:t>;</a:t>
            </a:r>
          </a:p>
          <a:p>
            <a:pPr marL="0" indent="0">
              <a:buNone/>
            </a:pPr>
            <a:endParaRPr lang="en-US">
              <a:solidFill>
                <a:srgbClr val="008000"/>
              </a:solidFill>
              <a:latin typeface="Consolas" panose="020B0609020204030204" pitchFamily="49" charset="0"/>
            </a:endParaRPr>
          </a:p>
          <a:p>
            <a:pPr marL="0" indent="0">
              <a:buNone/>
            </a:pPr>
            <a:r>
              <a:rPr lang="en-US">
                <a:solidFill>
                  <a:srgbClr val="008000"/>
                </a:solidFill>
                <a:latin typeface="Consolas" panose="020B0609020204030204" pitchFamily="49" charset="0"/>
              </a:rPr>
              <a:t>// Use AND-NOT to mask off only the bits that</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are UP.</a:t>
            </a:r>
            <a:endParaRPr lang="en-CA">
              <a:solidFill>
                <a:srgbClr val="000000"/>
              </a:solidFill>
              <a:latin typeface="Consolas" panose="020B0609020204030204" pitchFamily="49" charset="0"/>
            </a:endParaRPr>
          </a:p>
          <a:p>
            <a:pPr marL="0" indent="0">
              <a:buNone/>
            </a:pPr>
            <a:r>
              <a:rPr lang="en-US" err="1">
                <a:solidFill>
                  <a:srgbClr val="000000"/>
                </a:solidFill>
                <a:latin typeface="Consolas" panose="020B0609020204030204" pitchFamily="49" charset="0"/>
              </a:rPr>
              <a:t>m_buttonUps</a:t>
            </a:r>
            <a:r>
              <a:rPr lang="en-US">
                <a:solidFill>
                  <a:srgbClr val="000000"/>
                </a:solidFill>
                <a:latin typeface="Consolas" panose="020B0609020204030204" pitchFamily="49" charset="0"/>
              </a:rPr>
              <a:t> = </a:t>
            </a:r>
            <a:r>
              <a:rPr lang="en-US" err="1">
                <a:solidFill>
                  <a:srgbClr val="000000"/>
                </a:solidFill>
                <a:latin typeface="Consolas" panose="020B0609020204030204" pitchFamily="49" charset="0"/>
              </a:rPr>
              <a:t>buttonChanges</a:t>
            </a:r>
            <a:r>
              <a:rPr lang="en-US">
                <a:solidFill>
                  <a:srgbClr val="000000"/>
                </a:solidFill>
                <a:latin typeface="Consolas" panose="020B0609020204030204" pitchFamily="49" charset="0"/>
              </a:rPr>
              <a:t> &amp; (~</a:t>
            </a:r>
            <a:r>
              <a:rPr lang="en-US" err="1">
                <a:solidFill>
                  <a:srgbClr val="000000"/>
                </a:solidFill>
                <a:latin typeface="Consolas" panose="020B0609020204030204" pitchFamily="49" charset="0"/>
              </a:rPr>
              <a:t>m_buttonStates</a:t>
            </a:r>
            <a:r>
              <a:rPr lang="en-US">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endParaRPr lang="en-C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Chords</a:t>
            </a:r>
          </a:p>
        </p:txBody>
      </p:sp>
      <p:sp>
        <p:nvSpPr>
          <p:cNvPr id="3" name="Content Placeholder 2"/>
          <p:cNvSpPr>
            <a:spLocks noGrp="1"/>
          </p:cNvSpPr>
          <p:nvPr>
            <p:ph idx="1"/>
          </p:nvPr>
        </p:nvSpPr>
        <p:spPr>
          <a:xfrm>
            <a:off x="2395269" y="1739662"/>
            <a:ext cx="7177176" cy="3833003"/>
          </a:xfrm>
        </p:spPr>
        <p:txBody>
          <a:bodyPr>
            <a:noAutofit/>
          </a:bodyPr>
          <a:lstStyle/>
          <a:p>
            <a:r>
              <a:rPr lang="en-US" sz="1800"/>
              <a:t>Chords are combinations of button presses</a:t>
            </a:r>
          </a:p>
          <a:p>
            <a:pPr lvl="1"/>
            <a:r>
              <a:rPr lang="en-US"/>
              <a:t>A+B at the same time</a:t>
            </a:r>
          </a:p>
          <a:p>
            <a:r>
              <a:rPr lang="en-US" sz="1800"/>
              <a:t>Easy to create masks for chords, but there are some subtle issues</a:t>
            </a:r>
          </a:p>
          <a:p>
            <a:pPr lvl="1"/>
            <a:r>
              <a:rPr lang="en-US"/>
              <a:t>Users aren’t perfect in the timing of the presses</a:t>
            </a:r>
          </a:p>
          <a:p>
            <a:pPr lvl="1"/>
            <a:r>
              <a:rPr lang="en-US"/>
              <a:t>The code must be robust to not triggering the non-chord events too</a:t>
            </a:r>
          </a:p>
          <a:p>
            <a:r>
              <a:rPr lang="en-US" sz="1800"/>
              <a:t>Lots of ways to resolve these</a:t>
            </a:r>
          </a:p>
          <a:p>
            <a:pPr lvl="1"/>
            <a:r>
              <a:rPr lang="en-US"/>
              <a:t>Design button inputs so the chord does the individual actions plus something else</a:t>
            </a:r>
          </a:p>
          <a:p>
            <a:pPr lvl="1"/>
            <a:r>
              <a:rPr lang="en-US"/>
              <a:t>Introduce a delay in processing individual inputs so a chord can form</a:t>
            </a:r>
          </a:p>
          <a:p>
            <a:pPr lvl="1"/>
            <a:r>
              <a:rPr lang="en-US"/>
              <a:t>Wait for button release to start an event</a:t>
            </a:r>
          </a:p>
          <a:p>
            <a:pPr lvl="1"/>
            <a:r>
              <a:rPr lang="en-US"/>
              <a:t>Start a single button move right away and override it with a chord move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a:t>Sequences and gestures</a:t>
            </a:r>
          </a:p>
        </p:txBody>
      </p:sp>
      <p:sp>
        <p:nvSpPr>
          <p:cNvPr id="3" name="Content Placeholder 2"/>
          <p:cNvSpPr>
            <a:spLocks noGrp="1"/>
          </p:cNvSpPr>
          <p:nvPr>
            <p:ph idx="1"/>
          </p:nvPr>
        </p:nvSpPr>
        <p:spPr/>
        <p:txBody>
          <a:bodyPr>
            <a:normAutofit fontScale="92500" lnSpcReduction="20000"/>
          </a:bodyPr>
          <a:lstStyle/>
          <a:p>
            <a:r>
              <a:rPr lang="en-US"/>
              <a:t>The idea of introducing a delay between when a button actually goes down and when it really “counts” as down is a special case of </a:t>
            </a:r>
            <a:r>
              <a:rPr lang="en-US" i="1"/>
              <a:t>gesture detection</a:t>
            </a:r>
            <a:r>
              <a:rPr lang="en-US"/>
              <a:t>. </a:t>
            </a:r>
          </a:p>
          <a:p>
            <a:r>
              <a:rPr lang="en-US"/>
              <a:t>A gesture is a sequence of actions performed via a HID by the human player over a period of time.</a:t>
            </a:r>
          </a:p>
          <a:p>
            <a:r>
              <a:rPr lang="en-US"/>
              <a:t>Sequences are usually done by storing the input events and tagging them with time</a:t>
            </a:r>
          </a:p>
          <a:p>
            <a:r>
              <a:rPr lang="en-US"/>
              <a:t>When the next button is pressed, determine if the time for the sequence has expired or if the sequence is invalid</a:t>
            </a:r>
          </a:p>
          <a:p>
            <a:r>
              <a:rPr lang="en-US"/>
              <a:t>Can be used for</a:t>
            </a:r>
          </a:p>
          <a:p>
            <a:pPr lvl="1"/>
            <a:r>
              <a:rPr lang="en-US" sz="1800"/>
              <a:t>Rapid button tapping</a:t>
            </a:r>
          </a:p>
          <a:p>
            <a:pPr lvl="1"/>
            <a:r>
              <a:rPr lang="en-US" sz="1800"/>
              <a:t>Button sequences</a:t>
            </a:r>
          </a:p>
          <a:p>
            <a:pPr lvl="1"/>
            <a:r>
              <a:rPr lang="en-US" sz="1800"/>
              <a:t>Thumb stick rotations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4C7A7-3FB0-40AE-B964-94F1C6C94A1B}"/>
              </a:ext>
            </a:extLst>
          </p:cNvPr>
          <p:cNvSpPr>
            <a:spLocks noGrp="1"/>
          </p:cNvSpPr>
          <p:nvPr>
            <p:ph type="title"/>
          </p:nvPr>
        </p:nvSpPr>
        <p:spPr/>
        <p:txBody>
          <a:bodyPr/>
          <a:lstStyle/>
          <a:p>
            <a:r>
              <a:rPr lang="en-CA" dirty="0"/>
              <a:t>Rapid Button Tapping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1ACD2F-1D12-45CF-BEA5-AC668A96E562}"/>
                  </a:ext>
                </a:extLst>
              </p:cNvPr>
              <p:cNvSpPr>
                <a:spLocks noGrp="1"/>
              </p:cNvSpPr>
              <p:nvPr>
                <p:ph idx="1"/>
              </p:nvPr>
            </p:nvSpPr>
            <p:spPr/>
            <p:txBody>
              <a:bodyPr>
                <a:normAutofit fontScale="85000" lnSpcReduction="20000"/>
              </a:bodyPr>
              <a:lstStyle/>
              <a:p>
                <a:r>
                  <a:rPr lang="en-US" dirty="0"/>
                  <a:t>Many games require the user to tap a button rapidly in order to perform an action. </a:t>
                </a:r>
              </a:p>
              <a:p>
                <a:r>
                  <a:rPr lang="en-US" dirty="0"/>
                  <a:t>The frequency of the button presses may or may not translate into some quantity in the game, such as the speed with which the player character runs or performs some other action</a:t>
                </a:r>
              </a:p>
              <a:p>
                <a:r>
                  <a:rPr lang="en-US" dirty="0"/>
                  <a:t>The frequency </a:t>
                </a:r>
                <a:r>
                  <a:rPr lang="en-US" i="1" dirty="0"/>
                  <a:t>f </a:t>
                </a:r>
                <a:r>
                  <a:rPr lang="en-US" dirty="0"/>
                  <a:t>is then just the inverse of the time interval between presses </a:t>
                </a:r>
              </a:p>
              <a:p>
                <a:pPr lvl="1"/>
                <a14:m>
                  <m:oMath xmlns:m="http://schemas.openxmlformats.org/officeDocument/2006/math">
                    <m:r>
                      <m:rPr>
                        <m:sty m:val="p"/>
                      </m:rPr>
                      <a:rPr lang="en-US" i="0" dirty="0" smtClean="0">
                        <a:latin typeface="Cambria Math" panose="02040503050406030204" pitchFamily="18" charset="0"/>
                      </a:rPr>
                      <m:t>Δ</m:t>
                    </m:r>
                    <m:r>
                      <a:rPr lang="en-US" i="1" dirty="0">
                        <a:latin typeface="Cambria Math" panose="02040503050406030204" pitchFamily="18" charset="0"/>
                      </a:rPr>
                      <m:t>𝑇</m:t>
                    </m:r>
                    <m:r>
                      <a:rPr lang="en-US" i="1" dirty="0">
                        <a:latin typeface="Cambria Math" panose="02040503050406030204" pitchFamily="18" charset="0"/>
                      </a:rPr>
                      <m:t> = </m:t>
                    </m:r>
                    <m:r>
                      <a:rPr lang="en-US" i="1" dirty="0" err="1">
                        <a:latin typeface="Cambria Math" panose="02040503050406030204" pitchFamily="18" charset="0"/>
                      </a:rPr>
                      <m:t>𝑇</m:t>
                    </m:r>
                    <m:r>
                      <a:rPr lang="en-US" i="1" baseline="-25000" dirty="0" err="1">
                        <a:latin typeface="Cambria Math" panose="02040503050406030204" pitchFamily="18" charset="0"/>
                      </a:rPr>
                      <m:t>𝑐𝑢𝑟</m:t>
                    </m:r>
                    <m:r>
                      <a:rPr lang="en-US" i="1" dirty="0">
                        <a:latin typeface="Cambria Math" panose="02040503050406030204" pitchFamily="18" charset="0"/>
                      </a:rPr>
                      <m:t> </m:t>
                    </m:r>
                    <m:r>
                      <a:rPr lang="en-US" i="1" dirty="0" smtClean="0">
                        <a:latin typeface="Cambria Math" panose="02040503050406030204" pitchFamily="18" charset="0"/>
                      </a:rPr>
                      <m:t>− </m:t>
                    </m:r>
                    <m:r>
                      <a:rPr lang="en-US" i="1" dirty="0" err="1">
                        <a:latin typeface="Cambria Math" panose="02040503050406030204" pitchFamily="18" charset="0"/>
                      </a:rPr>
                      <m:t>𝑇</m:t>
                    </m:r>
                    <m:r>
                      <a:rPr lang="en-US" i="1" baseline="-25000" dirty="0" err="1">
                        <a:latin typeface="Cambria Math" panose="02040503050406030204" pitchFamily="18" charset="0"/>
                      </a:rPr>
                      <m:t>𝑙𝑎𝑠𝑡</m:t>
                    </m:r>
                    <m:r>
                      <a:rPr lang="en-US" i="1" dirty="0">
                        <a:latin typeface="Cambria Math" panose="02040503050406030204" pitchFamily="18" charset="0"/>
                      </a:rPr>
                      <m:t> </m:t>
                    </m:r>
                  </m:oMath>
                </a14:m>
                <a:endParaRPr lang="en-CA" i="1" dirty="0">
                  <a:latin typeface="Cambria Math" panose="02040503050406030204" pitchFamily="18" charset="0"/>
                </a:endParaRPr>
              </a:p>
              <a:p>
                <a:pPr lvl="1"/>
                <a14:m>
                  <m:oMath xmlns:m="http://schemas.openxmlformats.org/officeDocument/2006/math">
                    <m:r>
                      <a:rPr lang="en-US" i="1" dirty="0">
                        <a:latin typeface="Cambria Math" panose="02040503050406030204" pitchFamily="18" charset="0"/>
                      </a:rPr>
                      <m:t> </m:t>
                    </m:r>
                    <m:r>
                      <a:rPr lang="en-US" i="1" dirty="0">
                        <a:latin typeface="Cambria Math" panose="02040503050406030204" pitchFamily="18" charset="0"/>
                      </a:rPr>
                      <m:t>𝑓</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m:rPr>
                            <m:sty m:val="p"/>
                          </m:rPr>
                          <a:rPr lang="en-US" i="0" dirty="0">
                            <a:latin typeface="Cambria Math" panose="02040503050406030204" pitchFamily="18" charset="0"/>
                          </a:rPr>
                          <m:t>Δ</m:t>
                        </m:r>
                        <m:r>
                          <a:rPr lang="en-US" i="1" dirty="0">
                            <a:latin typeface="Cambria Math" panose="02040503050406030204" pitchFamily="18" charset="0"/>
                          </a:rPr>
                          <m:t>𝑇</m:t>
                        </m:r>
                      </m:den>
                    </m:f>
                  </m:oMath>
                </a14:m>
                <a:endParaRPr lang="en-CA" dirty="0"/>
              </a:p>
              <a:p>
                <a:r>
                  <a:rPr lang="en-CA" dirty="0"/>
                  <a:t>To implement a minimum valid </a:t>
                </a:r>
                <a:r>
                  <a:rPr lang="en-US" dirty="0"/>
                  <a:t>frequency, we simply check </a:t>
                </a:r>
                <a:r>
                  <a:rPr lang="en-US" i="1" dirty="0"/>
                  <a:t>f </a:t>
                </a:r>
                <a:r>
                  <a:rPr lang="en-US" dirty="0"/>
                  <a:t>against the minimum frequency </a:t>
                </a:r>
                <a:r>
                  <a:rPr lang="en-US" i="1" dirty="0" err="1"/>
                  <a:t>f</a:t>
                </a:r>
                <a:r>
                  <a:rPr lang="en-US" sz="800" dirty="0" err="1"/>
                  <a:t>min</a:t>
                </a:r>
                <a:r>
                  <a:rPr lang="en-US" sz="800" dirty="0"/>
                  <a:t> </a:t>
                </a:r>
              </a:p>
              <a:p>
                <a:r>
                  <a:rPr lang="en-US" dirty="0"/>
                  <a:t>or we can just check Δ</a:t>
                </a:r>
                <a:r>
                  <a:rPr lang="en-US" i="1" dirty="0"/>
                  <a:t>T </a:t>
                </a:r>
                <a:r>
                  <a:rPr lang="en-US" dirty="0"/>
                  <a:t>against the maximum period </a:t>
                </a:r>
                <a:r>
                  <a:rPr lang="en-US" dirty="0" err="1"/>
                  <a:t>Δ</a:t>
                </a:r>
                <a:r>
                  <a:rPr lang="en-US" i="1" dirty="0" err="1"/>
                  <a:t>T</a:t>
                </a:r>
                <a:r>
                  <a:rPr lang="en-US" sz="800" dirty="0" err="1"/>
                  <a:t>max</a:t>
                </a:r>
                <a:r>
                  <a:rPr lang="en-US" sz="800" dirty="0"/>
                  <a:t> </a:t>
                </a:r>
                <a:r>
                  <a:rPr lang="en-US" dirty="0"/>
                  <a:t>= 1/ </a:t>
                </a:r>
                <a:r>
                  <a:rPr lang="en-US" i="1" dirty="0" err="1"/>
                  <a:t>f</a:t>
                </a:r>
                <a:r>
                  <a:rPr lang="en-US" sz="800" dirty="0" err="1"/>
                  <a:t>min</a:t>
                </a:r>
                <a:r>
                  <a:rPr lang="en-US" sz="800" dirty="0"/>
                  <a:t> </a:t>
                </a:r>
                <a:r>
                  <a:rPr lang="en-US" dirty="0"/>
                  <a:t>directly</a:t>
                </a:r>
                <a:endParaRPr lang="en-CA" dirty="0"/>
              </a:p>
            </p:txBody>
          </p:sp>
        </mc:Choice>
        <mc:Fallback xmlns="">
          <p:sp>
            <p:nvSpPr>
              <p:cNvPr id="3" name="Content Placeholder 2">
                <a:extLst>
                  <a:ext uri="{FF2B5EF4-FFF2-40B4-BE49-F238E27FC236}">
                    <a16:creationId xmlns:a16="http://schemas.microsoft.com/office/drawing/2014/main" id="{631ACD2F-1D12-45CF-BEA5-AC668A96E562}"/>
                  </a:ext>
                </a:extLst>
              </p:cNvPr>
              <p:cNvSpPr>
                <a:spLocks noGrp="1" noRot="1" noChangeAspect="1" noMove="1" noResize="1" noEditPoints="1" noAdjustHandles="1" noChangeArrowheads="1" noChangeShapeType="1" noTextEdit="1"/>
              </p:cNvSpPr>
              <p:nvPr>
                <p:ph idx="1"/>
              </p:nvPr>
            </p:nvSpPr>
            <p:spPr>
              <a:blipFill>
                <a:blip r:embed="rId3"/>
                <a:stretch>
                  <a:fillRect l="-603" t="-1163" r="-844"/>
                </a:stretch>
              </a:blipFill>
            </p:spPr>
            <p:txBody>
              <a:bodyPr/>
              <a:lstStyle/>
              <a:p>
                <a:r>
                  <a:rPr lang="en-US">
                    <a:noFill/>
                  </a:rPr>
                  <a:t> </a:t>
                </a:r>
              </a:p>
            </p:txBody>
          </p:sp>
        </mc:Fallback>
      </mc:AlternateContent>
    </p:spTree>
    <p:extLst>
      <p:ext uri="{BB962C8B-B14F-4D97-AF65-F5344CB8AC3E}">
        <p14:creationId xmlns:p14="http://schemas.microsoft.com/office/powerpoint/2010/main" val="677681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4204-3EA9-4CD3-9618-CAA9D502AADD}"/>
              </a:ext>
            </a:extLst>
          </p:cNvPr>
          <p:cNvSpPr>
            <a:spLocks noGrp="1"/>
          </p:cNvSpPr>
          <p:nvPr>
            <p:ph type="title"/>
          </p:nvPr>
        </p:nvSpPr>
        <p:spPr/>
        <p:txBody>
          <a:bodyPr/>
          <a:lstStyle/>
          <a:p>
            <a:r>
              <a:rPr lang="en-CA" dirty="0" err="1"/>
              <a:t>ButtonTapDetector</a:t>
            </a:r>
            <a:endParaRPr lang="en-CA" dirty="0"/>
          </a:p>
        </p:txBody>
      </p:sp>
      <p:sp>
        <p:nvSpPr>
          <p:cNvPr id="3" name="Content Placeholder 2">
            <a:extLst>
              <a:ext uri="{FF2B5EF4-FFF2-40B4-BE49-F238E27FC236}">
                <a16:creationId xmlns:a16="http://schemas.microsoft.com/office/drawing/2014/main" id="{B7BD643D-CA24-4E97-A870-CC571588E8F4}"/>
              </a:ext>
            </a:extLst>
          </p:cNvPr>
          <p:cNvSpPr>
            <a:spLocks noGrp="1"/>
          </p:cNvSpPr>
          <p:nvPr>
            <p:ph idx="1"/>
          </p:nvPr>
        </p:nvSpPr>
        <p:spPr/>
        <p:txBody>
          <a:bodyPr>
            <a:normAutofit fontScale="25000" lnSpcReduction="20000"/>
          </a:bodyPr>
          <a:lstStyle/>
          <a:p>
            <a:pPr marL="0" indent="0">
              <a:buNone/>
            </a:pPr>
            <a:r>
              <a:rPr lang="en-CA" dirty="0">
                <a:solidFill>
                  <a:srgbClr val="0000FF"/>
                </a:solidFill>
                <a:latin typeface="Consolas" panose="020B0609020204030204" pitchFamily="49" charset="0"/>
              </a:rPr>
              <a:t>class</a:t>
            </a:r>
            <a:r>
              <a:rPr lang="en-CA" dirty="0">
                <a:solidFill>
                  <a:srgbClr val="000000"/>
                </a:solidFill>
                <a:latin typeface="Consolas" panose="020B0609020204030204" pitchFamily="49" charset="0"/>
              </a:rPr>
              <a:t> </a:t>
            </a:r>
            <a:r>
              <a:rPr lang="en-CA" dirty="0" err="1">
                <a:solidFill>
                  <a:srgbClr val="2B91AF"/>
                </a:solidFill>
                <a:latin typeface="Consolas" panose="020B0609020204030204" pitchFamily="49" charset="0"/>
              </a:rPr>
              <a:t>ButtonTapDetector</a:t>
            </a:r>
            <a:endParaRPr lang="en-CA" dirty="0">
              <a:solidFill>
                <a:srgbClr val="000000"/>
              </a:solidFill>
              <a:latin typeface="Consolas" panose="020B0609020204030204" pitchFamily="49" charset="0"/>
            </a:endParaRPr>
          </a:p>
          <a:p>
            <a:pPr marL="0" indent="0">
              <a:buNone/>
            </a:pPr>
            <a:r>
              <a:rPr lang="en-CA" dirty="0">
                <a:solidFill>
                  <a:srgbClr val="000000"/>
                </a:solidFill>
                <a:latin typeface="Consolas" panose="020B0609020204030204" pitchFamily="49" charset="0"/>
              </a:rPr>
              <a:t>{</a:t>
            </a:r>
          </a:p>
          <a:p>
            <a:pPr marL="0" indent="0">
              <a:buNone/>
            </a:pPr>
            <a:r>
              <a:rPr lang="en-US" dirty="0">
                <a:solidFill>
                  <a:srgbClr val="000000"/>
                </a:solidFill>
                <a:latin typeface="Consolas" panose="020B0609020204030204" pitchFamily="49" charset="0"/>
              </a:rPr>
              <a:t>U32 </a:t>
            </a:r>
            <a:r>
              <a:rPr lang="en-US" dirty="0" err="1">
                <a:solidFill>
                  <a:srgbClr val="000000"/>
                </a:solidFill>
                <a:latin typeface="Consolas" panose="020B0609020204030204" pitchFamily="49" charset="0"/>
              </a:rPr>
              <a:t>m_buttonMask</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which button to observe (bit  mask)</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F32 </a:t>
            </a:r>
            <a:r>
              <a:rPr lang="en-US" dirty="0" err="1">
                <a:solidFill>
                  <a:srgbClr val="000000"/>
                </a:solidFill>
                <a:latin typeface="Consolas" panose="020B0609020204030204" pitchFamily="49" charset="0"/>
              </a:rPr>
              <a:t>m_dtMax</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max allowed time between  presses</a:t>
            </a: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F32 </a:t>
            </a:r>
            <a:r>
              <a:rPr lang="en-US" dirty="0" err="1">
                <a:solidFill>
                  <a:srgbClr val="000000"/>
                </a:solidFill>
                <a:latin typeface="Consolas" panose="020B0609020204030204" pitchFamily="49" charset="0"/>
              </a:rPr>
              <a:t>m_tLast</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last button-down event, in seconds</a:t>
            </a:r>
            <a:endParaRPr lang="en-US" dirty="0">
              <a:solidFill>
                <a:srgbClr val="000000"/>
              </a:solidFill>
              <a:latin typeface="Consolas" panose="020B0609020204030204" pitchFamily="49" charset="0"/>
            </a:endParaRPr>
          </a:p>
          <a:p>
            <a:pPr marL="0" indent="0">
              <a:buNone/>
            </a:pPr>
            <a:r>
              <a:rPr lang="en-CA" dirty="0">
                <a:solidFill>
                  <a:srgbClr val="0000FF"/>
                </a:solidFill>
                <a:latin typeface="Consolas" panose="020B0609020204030204" pitchFamily="49" charset="0"/>
              </a:rPr>
              <a:t>public</a:t>
            </a:r>
            <a:r>
              <a:rPr lang="en-CA" dirty="0">
                <a:solidFill>
                  <a:srgbClr val="000000"/>
                </a:solidFill>
                <a:latin typeface="Consolas" panose="020B0609020204030204" pitchFamily="49" charset="0"/>
              </a:rPr>
              <a:t>:</a:t>
            </a:r>
          </a:p>
          <a:p>
            <a:pPr marL="0" indent="0">
              <a:buNone/>
            </a:pPr>
            <a:r>
              <a:rPr lang="en-US" dirty="0">
                <a:solidFill>
                  <a:srgbClr val="008000"/>
                </a:solidFill>
                <a:latin typeface="Consolas" panose="020B0609020204030204" pitchFamily="49" charset="0"/>
              </a:rPr>
              <a:t>// Construct an object that detects rapid tapping of</a:t>
            </a:r>
            <a:endParaRPr lang="en-US" dirty="0">
              <a:solidFill>
                <a:srgbClr val="000000"/>
              </a:solidFill>
              <a:latin typeface="Consolas" panose="020B0609020204030204" pitchFamily="49" charset="0"/>
            </a:endParaRPr>
          </a:p>
          <a:p>
            <a:pPr marL="0" indent="0">
              <a:buNone/>
            </a:pPr>
            <a:r>
              <a:rPr lang="en-US" dirty="0">
                <a:solidFill>
                  <a:srgbClr val="008000"/>
                </a:solidFill>
                <a:latin typeface="Consolas" panose="020B0609020204030204" pitchFamily="49" charset="0"/>
              </a:rPr>
              <a:t>// the given button (identified by an index).</a:t>
            </a:r>
            <a:endParaRPr lang="en-US" dirty="0">
              <a:solidFill>
                <a:srgbClr val="000000"/>
              </a:solidFill>
              <a:latin typeface="Consolas" panose="020B0609020204030204" pitchFamily="49" charset="0"/>
            </a:endParaRPr>
          </a:p>
          <a:p>
            <a:pPr marL="0" indent="0">
              <a:buNone/>
            </a:pPr>
            <a:r>
              <a:rPr lang="en-CA" dirty="0" err="1">
                <a:solidFill>
                  <a:srgbClr val="000000"/>
                </a:solidFill>
                <a:latin typeface="Consolas" panose="020B0609020204030204" pitchFamily="49" charset="0"/>
              </a:rPr>
              <a:t>ButtonTapDetector</a:t>
            </a:r>
            <a:r>
              <a:rPr lang="en-CA" dirty="0">
                <a:solidFill>
                  <a:srgbClr val="000000"/>
                </a:solidFill>
                <a:latin typeface="Consolas" panose="020B0609020204030204" pitchFamily="49" charset="0"/>
              </a:rPr>
              <a:t>(U32 </a:t>
            </a:r>
            <a:r>
              <a:rPr lang="en-CA" dirty="0" err="1">
                <a:solidFill>
                  <a:srgbClr val="808080"/>
                </a:solidFill>
                <a:latin typeface="Consolas" panose="020B0609020204030204" pitchFamily="49" charset="0"/>
              </a:rPr>
              <a:t>buttonId</a:t>
            </a:r>
            <a:r>
              <a:rPr lang="en-CA" dirty="0">
                <a:solidFill>
                  <a:srgbClr val="000000"/>
                </a:solidFill>
                <a:latin typeface="Consolas" panose="020B0609020204030204" pitchFamily="49" charset="0"/>
              </a:rPr>
              <a:t>, F32 </a:t>
            </a:r>
            <a:r>
              <a:rPr lang="en-CA" dirty="0" err="1">
                <a:solidFill>
                  <a:srgbClr val="808080"/>
                </a:solidFill>
                <a:latin typeface="Consolas" panose="020B0609020204030204" pitchFamily="49" charset="0"/>
              </a:rPr>
              <a:t>dtMax</a:t>
            </a:r>
            <a:r>
              <a:rPr lang="en-CA" dirty="0">
                <a:solidFill>
                  <a:srgbClr val="000000"/>
                </a:solidFill>
                <a:latin typeface="Consolas" panose="020B0609020204030204" pitchFamily="49" charset="0"/>
              </a:rPr>
              <a:t>) :</a:t>
            </a:r>
          </a:p>
          <a:p>
            <a:pPr marL="0" indent="0">
              <a:buNone/>
            </a:pPr>
            <a:r>
              <a:rPr lang="en-CA" dirty="0" err="1">
                <a:solidFill>
                  <a:srgbClr val="000000"/>
                </a:solidFill>
                <a:latin typeface="Consolas" panose="020B0609020204030204" pitchFamily="49" charset="0"/>
              </a:rPr>
              <a:t>m_buttonMask</a:t>
            </a:r>
            <a:r>
              <a:rPr lang="en-CA" dirty="0">
                <a:solidFill>
                  <a:srgbClr val="000000"/>
                </a:solidFill>
                <a:latin typeface="Consolas" panose="020B0609020204030204" pitchFamily="49" charset="0"/>
              </a:rPr>
              <a:t>(1U &lt;&lt; </a:t>
            </a:r>
            <a:r>
              <a:rPr lang="en-CA" dirty="0" err="1">
                <a:solidFill>
                  <a:srgbClr val="808080"/>
                </a:solidFill>
                <a:latin typeface="Consolas" panose="020B0609020204030204" pitchFamily="49" charset="0"/>
              </a:rPr>
              <a:t>buttonId</a:t>
            </a:r>
            <a:r>
              <a:rPr lang="en-CA" dirty="0">
                <a:solidFill>
                  <a:srgbClr val="000000"/>
                </a:solidFill>
                <a:latin typeface="Consolas" panose="020B0609020204030204" pitchFamily="49" charset="0"/>
              </a:rPr>
              <a:t>),</a:t>
            </a:r>
          </a:p>
          <a:p>
            <a:pPr marL="0" indent="0">
              <a:buNone/>
            </a:pPr>
            <a:r>
              <a:rPr lang="en-CA" dirty="0" err="1">
                <a:solidFill>
                  <a:srgbClr val="000000"/>
                </a:solidFill>
                <a:latin typeface="Consolas" panose="020B0609020204030204" pitchFamily="49" charset="0"/>
              </a:rPr>
              <a:t>m_dtMax</a:t>
            </a:r>
            <a:r>
              <a:rPr lang="en-CA" dirty="0">
                <a:solidFill>
                  <a:srgbClr val="000000"/>
                </a:solidFill>
                <a:latin typeface="Consolas" panose="020B0609020204030204" pitchFamily="49" charset="0"/>
              </a:rPr>
              <a:t>(</a:t>
            </a:r>
            <a:r>
              <a:rPr lang="en-CA" dirty="0" err="1">
                <a:solidFill>
                  <a:srgbClr val="000000"/>
                </a:solidFill>
                <a:latin typeface="Consolas" panose="020B0609020204030204" pitchFamily="49" charset="0"/>
              </a:rPr>
              <a:t>dtMax</a:t>
            </a:r>
            <a:r>
              <a:rPr lang="en-CA" dirty="0">
                <a:solidFill>
                  <a:srgbClr val="000000"/>
                </a:solidFill>
                <a:latin typeface="Consolas" panose="020B0609020204030204" pitchFamily="49" charset="0"/>
              </a:rPr>
              <a:t>),</a:t>
            </a:r>
          </a:p>
          <a:p>
            <a:pPr marL="0" indent="0">
              <a:buNone/>
            </a:pPr>
            <a:r>
              <a:rPr lang="en-US" dirty="0" err="1">
                <a:solidFill>
                  <a:srgbClr val="000000"/>
                </a:solidFill>
                <a:latin typeface="Consolas" panose="020B0609020204030204" pitchFamily="49" charset="0"/>
              </a:rPr>
              <a:t>m_tLast</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CurrentTime</a:t>
            </a:r>
            <a:r>
              <a:rPr lang="en-US" dirty="0">
                <a:solidFill>
                  <a:srgbClr val="000000"/>
                </a:solidFill>
                <a:latin typeface="Consolas" panose="020B0609020204030204" pitchFamily="49" charset="0"/>
              </a:rPr>
              <a:t>() - </a:t>
            </a:r>
            <a:r>
              <a:rPr lang="en-US" dirty="0" err="1">
                <a:solidFill>
                  <a:srgbClr val="808080"/>
                </a:solidFill>
                <a:latin typeface="Consolas" panose="020B0609020204030204" pitchFamily="49" charset="0"/>
              </a:rPr>
              <a:t>dtMax</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start out invalid</a:t>
            </a:r>
            <a:endParaRPr lang="en-US" dirty="0">
              <a:solidFill>
                <a:srgbClr val="000000"/>
              </a:solidFill>
              <a:latin typeface="Consolas" panose="020B0609020204030204" pitchFamily="49" charset="0"/>
            </a:endParaRPr>
          </a:p>
          <a:p>
            <a:pPr marL="0" indent="0">
              <a:buNone/>
            </a:pP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p>
          <a:p>
            <a:pPr marL="0" indent="0">
              <a:buNone/>
            </a:pPr>
            <a:r>
              <a:rPr lang="en-US" dirty="0">
                <a:solidFill>
                  <a:srgbClr val="008000"/>
                </a:solidFill>
                <a:latin typeface="Consolas" panose="020B0609020204030204" pitchFamily="49" charset="0"/>
              </a:rPr>
              <a:t>// Call this at any time to query whether or not</a:t>
            </a:r>
            <a:endParaRPr lang="en-US" dirty="0">
              <a:solidFill>
                <a:srgbClr val="000000"/>
              </a:solidFill>
              <a:latin typeface="Consolas" panose="020B0609020204030204" pitchFamily="49" charset="0"/>
            </a:endParaRPr>
          </a:p>
          <a:p>
            <a:pPr marL="0" indent="0">
              <a:buNone/>
            </a:pPr>
            <a:r>
              <a:rPr lang="en-US" dirty="0">
                <a:solidFill>
                  <a:srgbClr val="008000"/>
                </a:solidFill>
                <a:latin typeface="Consolas" panose="020B0609020204030204" pitchFamily="49" charset="0"/>
              </a:rPr>
              <a:t>// the gesture is currently being performed.</a:t>
            </a:r>
            <a:endParaRPr lang="en-US" dirty="0">
              <a:solidFill>
                <a:srgbClr val="000000"/>
              </a:solidFill>
              <a:latin typeface="Consolas" panose="020B0609020204030204" pitchFamily="49" charset="0"/>
            </a:endParaRPr>
          </a:p>
          <a:p>
            <a:pPr marL="0" indent="0">
              <a:buNone/>
            </a:pPr>
            <a:r>
              <a:rPr lang="en-CA" dirty="0">
                <a:solidFill>
                  <a:srgbClr val="0000FF"/>
                </a:solidFill>
                <a:latin typeface="Consolas" panose="020B0609020204030204" pitchFamily="49" charset="0"/>
              </a:rPr>
              <a:t>bool</a:t>
            </a:r>
            <a:r>
              <a:rPr lang="en-CA" dirty="0">
                <a:solidFill>
                  <a:srgbClr val="000000"/>
                </a:solidFill>
                <a:latin typeface="Consolas" panose="020B0609020204030204" pitchFamily="49" charset="0"/>
              </a:rPr>
              <a:t> </a:t>
            </a:r>
            <a:r>
              <a:rPr lang="en-CA" dirty="0" err="1">
                <a:solidFill>
                  <a:srgbClr val="000000"/>
                </a:solidFill>
                <a:latin typeface="Consolas" panose="020B0609020204030204" pitchFamily="49" charset="0"/>
              </a:rPr>
              <a:t>IsGestureValid</a:t>
            </a:r>
            <a:r>
              <a:rPr lang="en-CA" dirty="0">
                <a:solidFill>
                  <a:srgbClr val="000000"/>
                </a:solidFill>
                <a:latin typeface="Consolas" panose="020B0609020204030204" pitchFamily="49" charset="0"/>
              </a:rPr>
              <a:t>() </a:t>
            </a:r>
            <a:r>
              <a:rPr lang="en-CA" dirty="0">
                <a:solidFill>
                  <a:srgbClr val="0000FF"/>
                </a:solidFill>
                <a:latin typeface="Consolas" panose="020B0609020204030204" pitchFamily="49" charset="0"/>
              </a:rPr>
              <a:t>const</a:t>
            </a:r>
            <a:endParaRPr lang="en-CA" dirty="0">
              <a:solidFill>
                <a:srgbClr val="000000"/>
              </a:solidFill>
              <a:latin typeface="Consolas" panose="020B0609020204030204" pitchFamily="49" charset="0"/>
            </a:endParaRPr>
          </a:p>
          <a:p>
            <a:pPr marL="0" indent="0">
              <a:buNone/>
            </a:pP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F32 t = </a:t>
            </a:r>
            <a:r>
              <a:rPr lang="en-CA" dirty="0" err="1">
                <a:solidFill>
                  <a:srgbClr val="000000"/>
                </a:solidFill>
                <a:latin typeface="Consolas" panose="020B0609020204030204" pitchFamily="49" charset="0"/>
              </a:rPr>
              <a:t>CurrentTime</a:t>
            </a:r>
            <a:r>
              <a:rPr lang="en-CA" dirty="0">
                <a:solidFill>
                  <a:srgbClr val="000000"/>
                </a:solidFill>
                <a:latin typeface="Consolas" panose="020B0609020204030204" pitchFamily="49" charset="0"/>
              </a:rPr>
              <a:t>();</a:t>
            </a:r>
          </a:p>
          <a:p>
            <a:pPr marL="0" indent="0">
              <a:buNone/>
            </a:pPr>
            <a:r>
              <a:rPr lang="de-DE" dirty="0">
                <a:solidFill>
                  <a:srgbClr val="000000"/>
                </a:solidFill>
                <a:latin typeface="Consolas" panose="020B0609020204030204" pitchFamily="49" charset="0"/>
              </a:rPr>
              <a:t>F32 dt = t - m_tLast;</a:t>
            </a:r>
          </a:p>
          <a:p>
            <a:pPr marL="0" indent="0">
              <a:buNone/>
            </a:pPr>
            <a:r>
              <a:rPr lang="en-CA" dirty="0">
                <a:solidFill>
                  <a:srgbClr val="0000FF"/>
                </a:solidFill>
                <a:latin typeface="Consolas" panose="020B0609020204030204" pitchFamily="49" charset="0"/>
              </a:rPr>
              <a:t>return</a:t>
            </a:r>
            <a:r>
              <a:rPr lang="en-CA" dirty="0">
                <a:solidFill>
                  <a:srgbClr val="000000"/>
                </a:solidFill>
                <a:latin typeface="Consolas" panose="020B0609020204030204" pitchFamily="49" charset="0"/>
              </a:rPr>
              <a:t> (dt &lt; </a:t>
            </a:r>
            <a:r>
              <a:rPr lang="en-CA" dirty="0" err="1">
                <a:solidFill>
                  <a:srgbClr val="000000"/>
                </a:solidFill>
                <a:latin typeface="Consolas" panose="020B0609020204030204" pitchFamily="49" charset="0"/>
              </a:rPr>
              <a:t>m_dtMax</a:t>
            </a: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p>
          <a:p>
            <a:pPr marL="0" indent="0">
              <a:buNone/>
            </a:pPr>
            <a:r>
              <a:rPr lang="en-US" dirty="0">
                <a:solidFill>
                  <a:srgbClr val="008000"/>
                </a:solidFill>
                <a:latin typeface="Consolas" panose="020B0609020204030204" pitchFamily="49" charset="0"/>
              </a:rPr>
              <a:t>// Call this once per frame.</a:t>
            </a:r>
            <a:endParaRPr lang="en-US" dirty="0">
              <a:solidFill>
                <a:srgbClr val="000000"/>
              </a:solidFill>
              <a:latin typeface="Consolas" panose="020B0609020204030204" pitchFamily="49" charset="0"/>
            </a:endParaRPr>
          </a:p>
          <a:p>
            <a:pPr marL="0" indent="0">
              <a:buNone/>
            </a:pPr>
            <a:r>
              <a:rPr lang="en-CA" dirty="0">
                <a:solidFill>
                  <a:srgbClr val="0000FF"/>
                </a:solidFill>
                <a:latin typeface="Consolas" panose="020B0609020204030204" pitchFamily="49" charset="0"/>
              </a:rPr>
              <a:t>void</a:t>
            </a:r>
            <a:r>
              <a:rPr lang="en-CA" dirty="0">
                <a:solidFill>
                  <a:srgbClr val="000000"/>
                </a:solidFill>
                <a:latin typeface="Consolas" panose="020B0609020204030204" pitchFamily="49" charset="0"/>
              </a:rPr>
              <a:t> Update()</a:t>
            </a:r>
          </a:p>
          <a:p>
            <a:pPr marL="0" indent="0">
              <a:buNone/>
            </a:pPr>
            <a:r>
              <a:rPr lang="en-CA" dirty="0">
                <a:solidFill>
                  <a:srgbClr val="000000"/>
                </a:solidFill>
                <a:latin typeface="Consolas" panose="020B0609020204030204" pitchFamily="49" charset="0"/>
              </a:rPr>
              <a:t>{</a:t>
            </a:r>
          </a:p>
          <a:p>
            <a:pPr marL="0" indent="0">
              <a:buNone/>
            </a:pPr>
            <a:r>
              <a:rPr lang="en-CA" dirty="0">
                <a:solidFill>
                  <a:srgbClr val="0000FF"/>
                </a:solidFill>
                <a:latin typeface="Consolas" panose="020B0609020204030204" pitchFamily="49" charset="0"/>
              </a:rPr>
              <a:t>if</a:t>
            </a:r>
            <a:r>
              <a:rPr lang="en-CA" dirty="0">
                <a:solidFill>
                  <a:srgbClr val="000000"/>
                </a:solidFill>
                <a:latin typeface="Consolas" panose="020B0609020204030204" pitchFamily="49" charset="0"/>
              </a:rPr>
              <a:t> (</a:t>
            </a:r>
            <a:r>
              <a:rPr lang="en-CA" dirty="0" err="1">
                <a:solidFill>
                  <a:srgbClr val="000000"/>
                </a:solidFill>
                <a:latin typeface="Consolas" panose="020B0609020204030204" pitchFamily="49" charset="0"/>
              </a:rPr>
              <a:t>ButtonsJustWentDown</a:t>
            </a:r>
            <a:r>
              <a:rPr lang="en-CA" dirty="0">
                <a:solidFill>
                  <a:srgbClr val="000000"/>
                </a:solidFill>
                <a:latin typeface="Consolas" panose="020B0609020204030204" pitchFamily="49" charset="0"/>
              </a:rPr>
              <a:t>(</a:t>
            </a:r>
            <a:r>
              <a:rPr lang="en-CA" dirty="0" err="1">
                <a:solidFill>
                  <a:srgbClr val="000000"/>
                </a:solidFill>
                <a:latin typeface="Consolas" panose="020B0609020204030204" pitchFamily="49" charset="0"/>
              </a:rPr>
              <a:t>m_buttonMask</a:t>
            </a: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p>
          <a:p>
            <a:pPr marL="0" indent="0">
              <a:buNone/>
            </a:pPr>
            <a:r>
              <a:rPr lang="en-CA" dirty="0" err="1">
                <a:solidFill>
                  <a:srgbClr val="000000"/>
                </a:solidFill>
                <a:latin typeface="Consolas" panose="020B0609020204030204" pitchFamily="49" charset="0"/>
              </a:rPr>
              <a:t>m_tLast</a:t>
            </a:r>
            <a:r>
              <a:rPr lang="en-CA" dirty="0">
                <a:solidFill>
                  <a:srgbClr val="000000"/>
                </a:solidFill>
                <a:latin typeface="Consolas" panose="020B0609020204030204" pitchFamily="49" charset="0"/>
              </a:rPr>
              <a:t> = </a:t>
            </a:r>
            <a:r>
              <a:rPr lang="en-CA" dirty="0" err="1">
                <a:solidFill>
                  <a:srgbClr val="000000"/>
                </a:solidFill>
                <a:latin typeface="Consolas" panose="020B0609020204030204" pitchFamily="49" charset="0"/>
              </a:rPr>
              <a:t>CurrentTime</a:t>
            </a: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p>
          <a:p>
            <a:pPr marL="0" indent="0">
              <a:buNone/>
            </a:pPr>
            <a:r>
              <a:rPr lang="en-CA" dirty="0">
                <a:solidFill>
                  <a:srgbClr val="000000"/>
                </a:solidFill>
                <a:latin typeface="Consolas" panose="020B0609020204030204" pitchFamily="49" charset="0"/>
              </a:rPr>
              <a:t>};</a:t>
            </a:r>
            <a:endParaRPr lang="en-CA" dirty="0"/>
          </a:p>
        </p:txBody>
      </p:sp>
    </p:spTree>
    <p:extLst>
      <p:ext uri="{BB962C8B-B14F-4D97-AF65-F5344CB8AC3E}">
        <p14:creationId xmlns:p14="http://schemas.microsoft.com/office/powerpoint/2010/main" val="137101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957E-A1E6-4965-89E8-4EF1C4966975}"/>
              </a:ext>
            </a:extLst>
          </p:cNvPr>
          <p:cNvSpPr>
            <a:spLocks noGrp="1"/>
          </p:cNvSpPr>
          <p:nvPr>
            <p:ph type="title"/>
          </p:nvPr>
        </p:nvSpPr>
        <p:spPr/>
        <p:txBody>
          <a:bodyPr/>
          <a:lstStyle/>
          <a:p>
            <a:r>
              <a:rPr lang="en-CA" dirty="0" err="1"/>
              <a:t>Multibutton</a:t>
            </a:r>
            <a:r>
              <a:rPr lang="en-CA" i="1" dirty="0"/>
              <a:t> </a:t>
            </a:r>
            <a:r>
              <a:rPr lang="en-CA" dirty="0"/>
              <a:t>Sequence</a:t>
            </a:r>
          </a:p>
        </p:txBody>
      </p:sp>
      <p:sp>
        <p:nvSpPr>
          <p:cNvPr id="4" name="Content Placeholder 3">
            <a:extLst>
              <a:ext uri="{FF2B5EF4-FFF2-40B4-BE49-F238E27FC236}">
                <a16:creationId xmlns:a16="http://schemas.microsoft.com/office/drawing/2014/main" id="{9627375D-32AF-4152-A8A5-BB907A1D7E76}"/>
              </a:ext>
            </a:extLst>
          </p:cNvPr>
          <p:cNvSpPr>
            <a:spLocks noGrp="1"/>
          </p:cNvSpPr>
          <p:nvPr>
            <p:ph sz="half" idx="2"/>
          </p:nvPr>
        </p:nvSpPr>
        <p:spPr>
          <a:xfrm>
            <a:off x="6172200" y="1600200"/>
            <a:ext cx="4038600" cy="5188688"/>
          </a:xfrm>
        </p:spPr>
        <p:txBody>
          <a:bodyPr>
            <a:normAutofit fontScale="25000" lnSpcReduction="20000"/>
          </a:bodyPr>
          <a:lstStyle/>
          <a:p>
            <a:pPr marL="0" indent="0">
              <a:buNone/>
            </a:pPr>
            <a:r>
              <a:rPr lang="en-US">
                <a:solidFill>
                  <a:srgbClr val="008000"/>
                </a:solidFill>
                <a:latin typeface="Consolas" panose="020B0609020204030204" pitchFamily="49" charset="0"/>
              </a:rPr>
              <a:t>// Call this once per frame.</a:t>
            </a:r>
            <a:endParaRPr lang="en-US">
              <a:solidFill>
                <a:srgbClr val="000000"/>
              </a:solidFill>
              <a:latin typeface="Consolas" panose="020B0609020204030204" pitchFamily="49" charset="0"/>
            </a:endParaRPr>
          </a:p>
          <a:p>
            <a:pPr marL="0" indent="0">
              <a:buNone/>
            </a:pPr>
            <a:r>
              <a:rPr lang="en-CA">
                <a:solidFill>
                  <a:srgbClr val="0000FF"/>
                </a:solidFill>
                <a:latin typeface="Consolas" panose="020B0609020204030204" pitchFamily="49" charset="0"/>
              </a:rPr>
              <a:t>void</a:t>
            </a:r>
            <a:r>
              <a:rPr lang="en-CA">
                <a:solidFill>
                  <a:srgbClr val="000000"/>
                </a:solidFill>
                <a:latin typeface="Consolas" panose="020B0609020204030204" pitchFamily="49" charset="0"/>
              </a:rPr>
              <a:t> Update()</a:t>
            </a:r>
          </a:p>
          <a:p>
            <a:pPr marL="0" indent="0">
              <a:buNone/>
            </a:pPr>
            <a:r>
              <a:rPr lang="en-CA">
                <a:solidFill>
                  <a:srgbClr val="000000"/>
                </a:solidFill>
                <a:latin typeface="Consolas" panose="020B0609020204030204" pitchFamily="49" charset="0"/>
              </a:rPr>
              <a:t>{</a:t>
            </a:r>
          </a:p>
          <a:p>
            <a:pPr marL="0" indent="0">
              <a:buNone/>
            </a:pPr>
            <a:r>
              <a:rPr lang="en-US">
                <a:solidFill>
                  <a:srgbClr val="000000"/>
                </a:solidFill>
                <a:latin typeface="Consolas" panose="020B0609020204030204" pitchFamily="49" charset="0"/>
              </a:rPr>
              <a:t>ASSERT(</a:t>
            </a: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 &lt; </a:t>
            </a:r>
            <a:r>
              <a:rPr lang="en-US" err="1">
                <a:solidFill>
                  <a:srgbClr val="000000"/>
                </a:solidFill>
                <a:latin typeface="Consolas" panose="020B0609020204030204" pitchFamily="49" charset="0"/>
              </a:rPr>
              <a:t>m_buttonCount</a:t>
            </a:r>
            <a:r>
              <a:rPr lang="en-US">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Determine which button we're expecting next, as</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a bitmask (shift a 1 up to the correct bit</a:t>
            </a:r>
            <a:r>
              <a:rPr lang="en-US">
                <a:solidFill>
                  <a:srgbClr val="000000"/>
                </a:solidFill>
                <a:latin typeface="Consolas" panose="020B0609020204030204" pitchFamily="49" charset="0"/>
              </a:rPr>
              <a:t> </a:t>
            </a:r>
            <a:r>
              <a:rPr lang="en-CA">
                <a:solidFill>
                  <a:srgbClr val="008000"/>
                </a:solidFill>
                <a:latin typeface="Consolas" panose="020B0609020204030204" pitchFamily="49" charset="0"/>
              </a:rPr>
              <a:t>index).</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U32 </a:t>
            </a:r>
            <a:r>
              <a:rPr lang="en-CA" err="1">
                <a:solidFill>
                  <a:srgbClr val="000000"/>
                </a:solidFill>
                <a:latin typeface="Consolas" panose="020B0609020204030204" pitchFamily="49" charset="0"/>
              </a:rPr>
              <a:t>buttonMask</a:t>
            </a:r>
            <a:r>
              <a:rPr lang="en-CA">
                <a:solidFill>
                  <a:srgbClr val="000000"/>
                </a:solidFill>
                <a:latin typeface="Consolas" panose="020B0609020204030204" pitchFamily="49" charset="0"/>
              </a:rPr>
              <a:t> = (1U &lt;&lt; </a:t>
            </a:r>
            <a:r>
              <a:rPr lang="en-CA" err="1">
                <a:solidFill>
                  <a:srgbClr val="000000"/>
                </a:solidFill>
                <a:latin typeface="Consolas" panose="020B0609020204030204" pitchFamily="49" charset="0"/>
              </a:rPr>
              <a:t>m_aButtonId</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m_iButton</a:t>
            </a: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If any button OTHER than the expected button just went down, invalidate the sequence. (Use</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the bitwise NOT operator to check for all other</a:t>
            </a:r>
            <a:r>
              <a:rPr lang="en-CA">
                <a:solidFill>
                  <a:srgbClr val="008000"/>
                </a:solidFill>
                <a:latin typeface="Consolas" panose="020B0609020204030204" pitchFamily="49" charset="0"/>
              </a:rPr>
              <a:t> buttons.)</a:t>
            </a:r>
            <a:endParaRPr lang="en-CA">
              <a:solidFill>
                <a:srgbClr val="000000"/>
              </a:solidFill>
              <a:latin typeface="Consolas" panose="020B0609020204030204" pitchFamily="49" charset="0"/>
            </a:endParaRP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ButtonsJustWentDown</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buttonMask</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m_iButton</a:t>
            </a:r>
            <a:r>
              <a:rPr lang="en-CA">
                <a:solidFill>
                  <a:srgbClr val="000000"/>
                </a:solidFill>
                <a:latin typeface="Consolas" panose="020B0609020204030204" pitchFamily="49" charset="0"/>
              </a:rPr>
              <a:t> = 0; </a:t>
            </a:r>
            <a:r>
              <a:rPr lang="en-CA">
                <a:solidFill>
                  <a:srgbClr val="008000"/>
                </a:solidFill>
                <a:latin typeface="Consolas" panose="020B0609020204030204" pitchFamily="49" charset="0"/>
              </a:rPr>
              <a:t>// reset</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Otherwise, if the expected button just went</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down, check dt and update our state appropriately.</a:t>
            </a:r>
            <a:endParaRPr lang="en-US">
              <a:solidFill>
                <a:srgbClr val="000000"/>
              </a:solidFill>
              <a:latin typeface="Consolas" panose="020B0609020204030204" pitchFamily="49" charset="0"/>
            </a:endParaRPr>
          </a:p>
          <a:p>
            <a:pPr marL="0" indent="0">
              <a:buNone/>
            </a:pPr>
            <a:r>
              <a:rPr lang="en-CA">
                <a:solidFill>
                  <a:srgbClr val="0000FF"/>
                </a:solidFill>
                <a:latin typeface="Consolas" panose="020B0609020204030204" pitchFamily="49" charset="0"/>
              </a:rPr>
              <a:t>else</a:t>
            </a:r>
            <a:r>
              <a:rPr lang="en-CA">
                <a:solidFill>
                  <a:srgbClr val="000000"/>
                </a:solidFill>
                <a:latin typeface="Consolas" panose="020B0609020204030204" pitchFamily="49" charset="0"/>
              </a:rPr>
              <a:t> </a:t>
            </a: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ButtonsJustWentDown</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buttonMask</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a:t>
            </a:r>
            <a:r>
              <a:rPr lang="en-CA" err="1">
                <a:solidFill>
                  <a:srgbClr val="000000"/>
                </a:solidFill>
                <a:latin typeface="Consolas" panose="020B0609020204030204" pitchFamily="49" charset="0"/>
              </a:rPr>
              <a:t>m_iButton</a:t>
            </a:r>
            <a:r>
              <a:rPr lang="en-CA">
                <a:solidFill>
                  <a:srgbClr val="000000"/>
                </a:solidFill>
                <a:latin typeface="Consolas" panose="020B0609020204030204" pitchFamily="49" charset="0"/>
              </a:rPr>
              <a:t> == 0)</a:t>
            </a:r>
          </a:p>
          <a:p>
            <a:pPr marL="0" indent="0">
              <a:buNone/>
            </a:pP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This is the first button in the</a:t>
            </a:r>
            <a:r>
              <a:rPr lang="en-CA">
                <a:solidFill>
                  <a:srgbClr val="008000"/>
                </a:solidFill>
                <a:latin typeface="Consolas" panose="020B0609020204030204" pitchFamily="49" charset="0"/>
              </a:rPr>
              <a:t> sequence.</a:t>
            </a:r>
            <a:endParaRPr lang="en-CA">
              <a:solidFill>
                <a:srgbClr val="000000"/>
              </a:solidFill>
              <a:latin typeface="Consolas" panose="020B0609020204030204" pitchFamily="49" charset="0"/>
            </a:endParaRPr>
          </a:p>
          <a:p>
            <a:pPr marL="0" indent="0">
              <a:buNone/>
            </a:pPr>
            <a:r>
              <a:rPr lang="en-CA" err="1">
                <a:solidFill>
                  <a:srgbClr val="000000"/>
                </a:solidFill>
                <a:latin typeface="Consolas" panose="020B0609020204030204" pitchFamily="49" charset="0"/>
              </a:rPr>
              <a:t>m_tStart</a:t>
            </a:r>
            <a:r>
              <a:rPr lang="en-CA">
                <a:solidFill>
                  <a:srgbClr val="000000"/>
                </a:solidFill>
                <a:latin typeface="Consolas" panose="020B0609020204030204" pitchFamily="49" charset="0"/>
              </a:rPr>
              <a:t> = </a:t>
            </a:r>
            <a:r>
              <a:rPr lang="en-CA" err="1">
                <a:solidFill>
                  <a:srgbClr val="000000"/>
                </a:solidFill>
                <a:latin typeface="Consolas" panose="020B0609020204030204" pitchFamily="49" charset="0"/>
              </a:rPr>
              <a:t>CurrentTime</a:t>
            </a:r>
            <a:r>
              <a:rPr lang="en-CA">
                <a:solidFill>
                  <a:srgbClr val="000000"/>
                </a:solidFill>
                <a:latin typeface="Consolas" panose="020B0609020204030204" pitchFamily="49" charset="0"/>
              </a:rPr>
              <a:t>();</a:t>
            </a:r>
          </a:p>
          <a:p>
            <a:pPr marL="0" indent="0">
              <a:buNone/>
            </a:pP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advance to next button</a:t>
            </a:r>
            <a:endParaRPr lang="en-US">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else</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US">
                <a:solidFill>
                  <a:srgbClr val="000000"/>
                </a:solidFill>
                <a:latin typeface="Consolas" panose="020B0609020204030204" pitchFamily="49" charset="0"/>
              </a:rPr>
              <a:t>F32 dt = </a:t>
            </a:r>
            <a:r>
              <a:rPr lang="en-US" err="1">
                <a:solidFill>
                  <a:srgbClr val="000000"/>
                </a:solidFill>
                <a:latin typeface="Consolas" panose="020B0609020204030204" pitchFamily="49" charset="0"/>
              </a:rPr>
              <a:t>CurrentTime</a:t>
            </a:r>
            <a:r>
              <a:rPr lang="en-US">
                <a:solidFill>
                  <a:srgbClr val="000000"/>
                </a:solidFill>
                <a:latin typeface="Consolas" panose="020B0609020204030204" pitchFamily="49" charset="0"/>
              </a:rPr>
              <a:t>() - </a:t>
            </a:r>
            <a:r>
              <a:rPr lang="en-US" err="1">
                <a:solidFill>
                  <a:srgbClr val="000000"/>
                </a:solidFill>
                <a:latin typeface="Consolas" panose="020B0609020204030204" pitchFamily="49" charset="0"/>
              </a:rPr>
              <a:t>m_tStart</a:t>
            </a:r>
            <a:r>
              <a:rPr lang="en-US">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if</a:t>
            </a:r>
            <a:r>
              <a:rPr lang="en-CA">
                <a:solidFill>
                  <a:srgbClr val="000000"/>
                </a:solidFill>
                <a:latin typeface="Consolas" panose="020B0609020204030204" pitchFamily="49" charset="0"/>
              </a:rPr>
              <a:t> (dt &lt; </a:t>
            </a:r>
            <a:r>
              <a:rPr lang="en-CA" err="1">
                <a:solidFill>
                  <a:srgbClr val="000000"/>
                </a:solidFill>
                <a:latin typeface="Consolas" panose="020B0609020204030204" pitchFamily="49" charset="0"/>
              </a:rPr>
              <a:t>m_dtMax</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Sequence is still valid.</a:t>
            </a:r>
            <a:endParaRPr lang="en-CA">
              <a:solidFill>
                <a:srgbClr val="000000"/>
              </a:solidFill>
              <a:latin typeface="Consolas" panose="020B0609020204030204" pitchFamily="49" charset="0"/>
            </a:endParaRPr>
          </a:p>
          <a:p>
            <a:pPr marL="0" indent="0">
              <a:buNone/>
            </a:pP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advance to next button</a:t>
            </a:r>
            <a:r>
              <a:rPr lang="en-CA">
                <a:solidFill>
                  <a:srgbClr val="008000"/>
                </a:solidFill>
                <a:latin typeface="Consolas" panose="020B0609020204030204" pitchFamily="49" charset="0"/>
              </a:rPr>
              <a:t> Is the sequence complete?</a:t>
            </a:r>
            <a:endParaRPr lang="en-CA">
              <a:solidFill>
                <a:srgbClr val="000000"/>
              </a:solidFill>
              <a:latin typeface="Consolas" panose="020B0609020204030204" pitchFamily="49" charset="0"/>
            </a:endParaRPr>
          </a:p>
          <a:p>
            <a:pPr marL="0" indent="0">
              <a:buNone/>
            </a:pPr>
            <a:r>
              <a:rPr lang="en-US">
                <a:solidFill>
                  <a:srgbClr val="0000FF"/>
                </a:solidFill>
                <a:latin typeface="Consolas" panose="020B0609020204030204" pitchFamily="49" charset="0"/>
              </a:rPr>
              <a:t>if</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 == </a:t>
            </a:r>
            <a:r>
              <a:rPr lang="en-US" err="1">
                <a:solidFill>
                  <a:srgbClr val="000000"/>
                </a:solidFill>
                <a:latin typeface="Consolas" panose="020B0609020204030204" pitchFamily="49" charset="0"/>
              </a:rPr>
              <a:t>m_buttonCount</a:t>
            </a:r>
            <a:r>
              <a:rPr lang="en-US">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BroadcastEvent</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m_eventId</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m_iButton</a:t>
            </a:r>
            <a:r>
              <a:rPr lang="en-CA">
                <a:solidFill>
                  <a:srgbClr val="000000"/>
                </a:solidFill>
                <a:latin typeface="Consolas" panose="020B0609020204030204" pitchFamily="49" charset="0"/>
              </a:rPr>
              <a:t> = 0; </a:t>
            </a:r>
            <a:r>
              <a:rPr lang="en-CA">
                <a:solidFill>
                  <a:srgbClr val="008000"/>
                </a:solidFill>
                <a:latin typeface="Consolas" panose="020B0609020204030204" pitchFamily="49" charset="0"/>
              </a:rPr>
              <a:t>// reset</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p>
          <a:p>
            <a:pPr marL="0" indent="0">
              <a:buNone/>
            </a:pPr>
            <a:r>
              <a:rPr lang="en-CA">
                <a:solidFill>
                  <a:srgbClr val="0000FF"/>
                </a:solidFill>
                <a:latin typeface="Consolas" panose="020B0609020204030204" pitchFamily="49" charset="0"/>
              </a:rPr>
              <a:t>else</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Sorry, not fast enough.</a:t>
            </a:r>
            <a:endParaRPr lang="en-CA">
              <a:solidFill>
                <a:srgbClr val="000000"/>
              </a:solidFill>
              <a:latin typeface="Consolas" panose="020B0609020204030204" pitchFamily="49" charset="0"/>
            </a:endParaRPr>
          </a:p>
          <a:p>
            <a:pPr marL="0" indent="0">
              <a:buNone/>
            </a:pPr>
            <a:r>
              <a:rPr lang="en-CA" err="1">
                <a:solidFill>
                  <a:srgbClr val="000000"/>
                </a:solidFill>
                <a:latin typeface="Consolas" panose="020B0609020204030204" pitchFamily="49" charset="0"/>
              </a:rPr>
              <a:t>m_iButton</a:t>
            </a:r>
            <a:r>
              <a:rPr lang="en-CA">
                <a:solidFill>
                  <a:srgbClr val="000000"/>
                </a:solidFill>
                <a:latin typeface="Consolas" panose="020B0609020204030204" pitchFamily="49" charset="0"/>
              </a:rPr>
              <a:t> = 0; </a:t>
            </a:r>
            <a:r>
              <a:rPr lang="en-CA">
                <a:solidFill>
                  <a:srgbClr val="008000"/>
                </a:solidFill>
                <a:latin typeface="Consolas" panose="020B0609020204030204" pitchFamily="49" charset="0"/>
              </a:rPr>
              <a:t>// reset</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endParaRPr lang="en-CA"/>
          </a:p>
        </p:txBody>
      </p:sp>
      <p:sp>
        <p:nvSpPr>
          <p:cNvPr id="5" name="Content Placeholder 4">
            <a:extLst>
              <a:ext uri="{FF2B5EF4-FFF2-40B4-BE49-F238E27FC236}">
                <a16:creationId xmlns:a16="http://schemas.microsoft.com/office/drawing/2014/main" id="{59CE0FF7-F55B-41B7-B2E4-89AE6073D4BF}"/>
              </a:ext>
            </a:extLst>
          </p:cNvPr>
          <p:cNvSpPr>
            <a:spLocks noGrp="1"/>
          </p:cNvSpPr>
          <p:nvPr>
            <p:ph sz="quarter" idx="13"/>
          </p:nvPr>
        </p:nvSpPr>
        <p:spPr/>
        <p:txBody>
          <a:bodyPr>
            <a:normAutofit fontScale="25000" lnSpcReduction="20000"/>
          </a:bodyPr>
          <a:lstStyle/>
          <a:p>
            <a:pPr marL="0" indent="0">
              <a:buNone/>
            </a:pPr>
            <a:r>
              <a:rPr lang="en-CA">
                <a:solidFill>
                  <a:srgbClr val="0000FF"/>
                </a:solidFill>
                <a:latin typeface="Consolas" panose="020B0609020204030204" pitchFamily="49" charset="0"/>
              </a:rPr>
              <a:t>class</a:t>
            </a:r>
            <a:r>
              <a:rPr lang="en-CA">
                <a:solidFill>
                  <a:srgbClr val="000000"/>
                </a:solidFill>
                <a:latin typeface="Consolas" panose="020B0609020204030204" pitchFamily="49" charset="0"/>
              </a:rPr>
              <a:t> </a:t>
            </a:r>
            <a:r>
              <a:rPr lang="en-CA" err="1">
                <a:solidFill>
                  <a:srgbClr val="2B91AF"/>
                </a:solidFill>
                <a:latin typeface="Consolas" panose="020B0609020204030204" pitchFamily="49" charset="0"/>
              </a:rPr>
              <a:t>ButtonSequenceDetector</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m_aButtonIds</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sequence of buttons to watch for</a:t>
            </a:r>
            <a:endParaRPr lang="en-US">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m_buttonCount</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number of buttons in sequence</a:t>
            </a:r>
            <a:endParaRPr lang="en-US">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F32 </a:t>
            </a:r>
            <a:r>
              <a:rPr lang="en-US" err="1">
                <a:solidFill>
                  <a:srgbClr val="000000"/>
                </a:solidFill>
                <a:latin typeface="Consolas" panose="020B0609020204030204" pitchFamily="49" charset="0"/>
              </a:rPr>
              <a:t>m_dtMax</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max time for entire sequence</a:t>
            </a:r>
            <a:endParaRPr lang="en-US">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U32 </a:t>
            </a: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next button to watch for in seq.</a:t>
            </a:r>
            <a:endParaRPr lang="en-US">
              <a:solidFill>
                <a:srgbClr val="000000"/>
              </a:solidFill>
              <a:latin typeface="Consolas" panose="020B0609020204030204" pitchFamily="49" charset="0"/>
            </a:endParaRPr>
          </a:p>
          <a:p>
            <a:pPr marL="0" indent="0">
              <a:buNone/>
            </a:pPr>
            <a:r>
              <a:rPr lang="en-US">
                <a:solidFill>
                  <a:srgbClr val="000000"/>
                </a:solidFill>
                <a:latin typeface="Consolas" panose="020B0609020204030204" pitchFamily="49" charset="0"/>
              </a:rPr>
              <a:t>F32 </a:t>
            </a:r>
            <a:r>
              <a:rPr lang="en-US" err="1">
                <a:solidFill>
                  <a:srgbClr val="000000"/>
                </a:solidFill>
                <a:latin typeface="Consolas" panose="020B0609020204030204" pitchFamily="49" charset="0"/>
              </a:rPr>
              <a:t>m_tStart</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start time of sequence, in seconds</a:t>
            </a:r>
            <a:endParaRPr lang="en-US">
              <a:solidFill>
                <a:srgbClr val="000000"/>
              </a:solidFill>
              <a:latin typeface="Consolas" panose="020B0609020204030204" pitchFamily="49" charset="0"/>
            </a:endParaRPr>
          </a:p>
          <a:p>
            <a:pPr marL="0" indent="0">
              <a:buNone/>
            </a:pPr>
            <a:r>
              <a:rPr lang="en-CA">
                <a:solidFill>
                  <a:srgbClr val="0000FF"/>
                </a:solidFill>
                <a:latin typeface="Consolas" panose="020B0609020204030204" pitchFamily="49" charset="0"/>
              </a:rPr>
              <a:t>public</a:t>
            </a: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Construct an object that detects the given button</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sequence. When the sequence is successfully</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detected, the given event is broadcast so that the</a:t>
            </a:r>
            <a:endParaRPr lang="en-US">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rest of the game can respond in an appropriate way.</a:t>
            </a:r>
            <a:endParaRPr lang="en-US">
              <a:solidFill>
                <a:srgbClr val="000000"/>
              </a:solidFill>
              <a:latin typeface="Consolas" panose="020B0609020204030204" pitchFamily="49" charset="0"/>
            </a:endParaRPr>
          </a:p>
          <a:p>
            <a:pPr marL="0" indent="0">
              <a:buNone/>
            </a:pPr>
            <a:r>
              <a:rPr lang="en-CA" err="1">
                <a:solidFill>
                  <a:srgbClr val="000000"/>
                </a:solidFill>
                <a:latin typeface="Consolas" panose="020B0609020204030204" pitchFamily="49" charset="0"/>
              </a:rPr>
              <a:t>ButtonSequenceDetector</a:t>
            </a:r>
            <a:r>
              <a:rPr lang="en-CA">
                <a:solidFill>
                  <a:srgbClr val="000000"/>
                </a:solidFill>
                <a:latin typeface="Consolas" panose="020B0609020204030204" pitchFamily="49" charset="0"/>
              </a:rPr>
              <a:t>(U32* </a:t>
            </a:r>
            <a:r>
              <a:rPr lang="en-CA" err="1">
                <a:solidFill>
                  <a:srgbClr val="808080"/>
                </a:solidFill>
                <a:latin typeface="Consolas" panose="020B0609020204030204" pitchFamily="49" charset="0"/>
              </a:rPr>
              <a:t>aButtonIds</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U32 </a:t>
            </a:r>
            <a:r>
              <a:rPr lang="en-CA" err="1">
                <a:solidFill>
                  <a:srgbClr val="808080"/>
                </a:solidFill>
                <a:latin typeface="Consolas" panose="020B0609020204030204" pitchFamily="49" charset="0"/>
              </a:rPr>
              <a:t>buttonCount</a:t>
            </a: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F32 </a:t>
            </a:r>
            <a:r>
              <a:rPr lang="en-CA" err="1">
                <a:solidFill>
                  <a:srgbClr val="808080"/>
                </a:solidFill>
                <a:latin typeface="Consolas" panose="020B0609020204030204" pitchFamily="49" charset="0"/>
              </a:rPr>
              <a:t>dtMax</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EventId</a:t>
            </a:r>
            <a:r>
              <a:rPr lang="en-CA">
                <a:solidFill>
                  <a:srgbClr val="000000"/>
                </a:solidFill>
                <a:latin typeface="Consolas" panose="020B0609020204030204" pitchFamily="49" charset="0"/>
              </a:rPr>
              <a:t> </a:t>
            </a:r>
            <a:r>
              <a:rPr lang="en-CA" err="1">
                <a:solidFill>
                  <a:srgbClr val="808080"/>
                </a:solidFill>
                <a:latin typeface="Consolas" panose="020B0609020204030204" pitchFamily="49" charset="0"/>
              </a:rPr>
              <a:t>eventIdToSend</a:t>
            </a:r>
            <a:r>
              <a:rPr lang="en-CA">
                <a:solidFill>
                  <a:srgbClr val="000000"/>
                </a:solidFill>
                <a:latin typeface="Consolas" panose="020B0609020204030204" pitchFamily="49" charset="0"/>
              </a:rPr>
              <a:t>) :</a:t>
            </a:r>
          </a:p>
          <a:p>
            <a:pPr marL="0" indent="0">
              <a:buNone/>
            </a:pPr>
            <a:r>
              <a:rPr lang="en-CA" err="1">
                <a:solidFill>
                  <a:srgbClr val="000000"/>
                </a:solidFill>
                <a:latin typeface="Consolas" panose="020B0609020204030204" pitchFamily="49" charset="0"/>
              </a:rPr>
              <a:t>m_aButtonIds</a:t>
            </a:r>
            <a:r>
              <a:rPr lang="en-CA">
                <a:solidFill>
                  <a:srgbClr val="000000"/>
                </a:solidFill>
                <a:latin typeface="Consolas" panose="020B0609020204030204" pitchFamily="49" charset="0"/>
              </a:rPr>
              <a:t>(</a:t>
            </a:r>
            <a:r>
              <a:rPr lang="en-CA" err="1">
                <a:solidFill>
                  <a:srgbClr val="808080"/>
                </a:solidFill>
                <a:latin typeface="Consolas" panose="020B0609020204030204" pitchFamily="49" charset="0"/>
              </a:rPr>
              <a:t>aButtonIds</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m_buttonCount</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buttonCount</a:t>
            </a:r>
            <a:r>
              <a:rPr lang="en-CA">
                <a:solidFill>
                  <a:srgbClr val="000000"/>
                </a:solidFill>
                <a:latin typeface="Consolas" panose="020B0609020204030204" pitchFamily="49" charset="0"/>
              </a:rPr>
              <a:t>),</a:t>
            </a:r>
          </a:p>
          <a:p>
            <a:pPr marL="0" indent="0">
              <a:buNone/>
            </a:pPr>
            <a:r>
              <a:rPr lang="en-CA" err="1">
                <a:solidFill>
                  <a:srgbClr val="000000"/>
                </a:solidFill>
                <a:latin typeface="Consolas" panose="020B0609020204030204" pitchFamily="49" charset="0"/>
              </a:rPr>
              <a:t>m_dtMax</a:t>
            </a:r>
            <a:r>
              <a:rPr lang="en-CA">
                <a:solidFill>
                  <a:srgbClr val="000000"/>
                </a:solidFill>
                <a:latin typeface="Consolas" panose="020B0609020204030204" pitchFamily="49" charset="0"/>
              </a:rPr>
              <a:t>(</a:t>
            </a:r>
            <a:r>
              <a:rPr lang="en-CA" err="1">
                <a:solidFill>
                  <a:srgbClr val="000000"/>
                </a:solidFill>
                <a:latin typeface="Consolas" panose="020B0609020204030204" pitchFamily="49" charset="0"/>
              </a:rPr>
              <a:t>dtMax</a:t>
            </a:r>
            <a:r>
              <a:rPr lang="en-CA">
                <a:solidFill>
                  <a:srgbClr val="000000"/>
                </a:solidFill>
                <a:latin typeface="Consolas" panose="020B0609020204030204" pitchFamily="49" charset="0"/>
              </a:rPr>
              <a:t>),</a:t>
            </a:r>
          </a:p>
          <a:p>
            <a:pPr marL="0" indent="0">
              <a:buNone/>
            </a:pPr>
            <a:r>
              <a:rPr lang="en-US" err="1">
                <a:solidFill>
                  <a:srgbClr val="000000"/>
                </a:solidFill>
                <a:latin typeface="Consolas" panose="020B0609020204030204" pitchFamily="49" charset="0"/>
              </a:rPr>
              <a:t>m_eventId</a:t>
            </a:r>
            <a:r>
              <a:rPr lang="en-US">
                <a:solidFill>
                  <a:srgbClr val="000000"/>
                </a:solidFill>
                <a:latin typeface="Consolas" panose="020B0609020204030204" pitchFamily="49" charset="0"/>
              </a:rPr>
              <a:t>(</a:t>
            </a:r>
            <a:r>
              <a:rPr lang="en-US" err="1">
                <a:solidFill>
                  <a:srgbClr val="000000"/>
                </a:solidFill>
                <a:latin typeface="Consolas" panose="020B0609020204030204" pitchFamily="49" charset="0"/>
              </a:rPr>
              <a:t>eventIdToSend</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event to send when  complete</a:t>
            </a:r>
            <a:endParaRPr lang="en-US">
              <a:solidFill>
                <a:srgbClr val="000000"/>
              </a:solidFill>
              <a:latin typeface="Consolas" panose="020B0609020204030204" pitchFamily="49" charset="0"/>
            </a:endParaRPr>
          </a:p>
          <a:p>
            <a:pPr marL="0" indent="0">
              <a:buNone/>
            </a:pPr>
            <a:r>
              <a:rPr lang="en-US" err="1">
                <a:solidFill>
                  <a:srgbClr val="000000"/>
                </a:solidFill>
                <a:latin typeface="Consolas" panose="020B0609020204030204" pitchFamily="49" charset="0"/>
              </a:rPr>
              <a:t>m_iButton</a:t>
            </a:r>
            <a:r>
              <a:rPr lang="en-US">
                <a:solidFill>
                  <a:srgbClr val="000000"/>
                </a:solidFill>
                <a:latin typeface="Consolas" panose="020B0609020204030204" pitchFamily="49" charset="0"/>
              </a:rPr>
              <a:t>(0), </a:t>
            </a:r>
            <a:r>
              <a:rPr lang="en-US">
                <a:solidFill>
                  <a:srgbClr val="008000"/>
                </a:solidFill>
                <a:latin typeface="Consolas" panose="020B0609020204030204" pitchFamily="49" charset="0"/>
              </a:rPr>
              <a:t>// start of sequence</a:t>
            </a:r>
            <a:endParaRPr lang="en-US">
              <a:solidFill>
                <a:srgbClr val="000000"/>
              </a:solidFill>
              <a:latin typeface="Consolas" panose="020B0609020204030204" pitchFamily="49" charset="0"/>
            </a:endParaRPr>
          </a:p>
          <a:p>
            <a:pPr marL="0" indent="0">
              <a:buNone/>
            </a:pPr>
            <a:r>
              <a:rPr lang="en-US" err="1">
                <a:solidFill>
                  <a:srgbClr val="000000"/>
                </a:solidFill>
                <a:latin typeface="Consolas" panose="020B0609020204030204" pitchFamily="49" charset="0"/>
              </a:rPr>
              <a:t>m_tStart</a:t>
            </a:r>
            <a:r>
              <a:rPr lang="en-US">
                <a:solidFill>
                  <a:srgbClr val="000000"/>
                </a:solidFill>
                <a:latin typeface="Consolas" panose="020B0609020204030204" pitchFamily="49" charset="0"/>
              </a:rPr>
              <a:t>(0) </a:t>
            </a:r>
            <a:r>
              <a:rPr lang="en-US">
                <a:solidFill>
                  <a:srgbClr val="008000"/>
                </a:solidFill>
                <a:latin typeface="Consolas" panose="020B0609020204030204" pitchFamily="49" charset="0"/>
              </a:rPr>
              <a:t>// initial value</a:t>
            </a:r>
            <a:endParaRPr lang="en-US">
              <a:solidFill>
                <a:srgbClr val="000000"/>
              </a:solidFill>
              <a:latin typeface="Consolas" panose="020B0609020204030204" pitchFamily="49" charset="0"/>
            </a:endParaRPr>
          </a:p>
          <a:p>
            <a:pPr marL="0" indent="0">
              <a:buNone/>
            </a:pPr>
            <a:r>
              <a:rPr lang="en-CA">
                <a:solidFill>
                  <a:srgbClr val="008000"/>
                </a:solidFill>
                <a:latin typeface="Consolas" panose="020B0609020204030204" pitchFamily="49" charset="0"/>
              </a:rPr>
              <a:t>// irrelevant</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0000"/>
                </a:solidFill>
                <a:latin typeface="Consolas" panose="020B0609020204030204" pitchFamily="49" charset="0"/>
              </a:rPr>
              <a:t>}</a:t>
            </a:r>
            <a:endParaRPr lang="en-CA"/>
          </a:p>
        </p:txBody>
      </p:sp>
    </p:spTree>
    <p:extLst>
      <p:ext uri="{BB962C8B-B14F-4D97-AF65-F5344CB8AC3E}">
        <p14:creationId xmlns:p14="http://schemas.microsoft.com/office/powerpoint/2010/main" val="801343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CE0CD5-FA49-4395-8E2D-5540DEB67553}"/>
              </a:ext>
            </a:extLst>
          </p:cNvPr>
          <p:cNvSpPr>
            <a:spLocks noGrp="1"/>
          </p:cNvSpPr>
          <p:nvPr>
            <p:ph type="title"/>
          </p:nvPr>
        </p:nvSpPr>
        <p:spPr/>
        <p:txBody>
          <a:bodyPr/>
          <a:lstStyle/>
          <a:p>
            <a:r>
              <a:rPr lang="en-CA" dirty="0"/>
              <a:t>Thumb Stick Rotation</a:t>
            </a:r>
          </a:p>
        </p:txBody>
      </p:sp>
      <p:sp>
        <p:nvSpPr>
          <p:cNvPr id="6" name="Content Placeholder 5">
            <a:extLst>
              <a:ext uri="{FF2B5EF4-FFF2-40B4-BE49-F238E27FC236}">
                <a16:creationId xmlns:a16="http://schemas.microsoft.com/office/drawing/2014/main" id="{96C8F243-6129-489E-9FD5-F6F694DF7C58}"/>
              </a:ext>
            </a:extLst>
          </p:cNvPr>
          <p:cNvSpPr>
            <a:spLocks noGrp="1"/>
          </p:cNvSpPr>
          <p:nvPr>
            <p:ph idx="1"/>
          </p:nvPr>
        </p:nvSpPr>
        <p:spPr>
          <a:xfrm>
            <a:off x="1981201" y="1600201"/>
            <a:ext cx="6113721" cy="4525963"/>
          </a:xfrm>
        </p:spPr>
        <p:txBody>
          <a:bodyPr>
            <a:normAutofit fontScale="85000" lnSpcReduction="10000"/>
          </a:bodyPr>
          <a:lstStyle/>
          <a:p>
            <a:r>
              <a:rPr lang="en-US"/>
              <a:t>How to detect when the player is rotating the left thumb stick in a clockwise circle. </a:t>
            </a:r>
          </a:p>
          <a:p>
            <a:r>
              <a:rPr lang="en-US"/>
              <a:t>Divide the two-dimensional range of possible stick positions </a:t>
            </a:r>
            <a:r>
              <a:rPr lang="en-CA"/>
              <a:t>into quadrants</a:t>
            </a:r>
          </a:p>
          <a:p>
            <a:r>
              <a:rPr lang="en-US"/>
              <a:t>In a clockwise rotation, the stick passes through the upper-left quadrant, then the upper-right, then the lower-right and finally the lower-left. </a:t>
            </a:r>
          </a:p>
          <a:p>
            <a:r>
              <a:rPr lang="en-US"/>
              <a:t>We can treat each of these cases like a button press and detect a full rotation with a slightly modified version of the </a:t>
            </a:r>
            <a:r>
              <a:rPr lang="en-CA"/>
              <a:t>sequence detection code</a:t>
            </a:r>
          </a:p>
        </p:txBody>
      </p:sp>
      <p:pic>
        <p:nvPicPr>
          <p:cNvPr id="7" name="Picture 6">
            <a:extLst>
              <a:ext uri="{FF2B5EF4-FFF2-40B4-BE49-F238E27FC236}">
                <a16:creationId xmlns:a16="http://schemas.microsoft.com/office/drawing/2014/main" id="{449D7D70-FF5A-4257-B51C-87227A76D7D8}"/>
              </a:ext>
            </a:extLst>
          </p:cNvPr>
          <p:cNvPicPr>
            <a:picLocks noChangeAspect="1"/>
          </p:cNvPicPr>
          <p:nvPr/>
        </p:nvPicPr>
        <p:blipFill>
          <a:blip r:embed="rId2"/>
          <a:stretch>
            <a:fillRect/>
          </a:stretch>
        </p:blipFill>
        <p:spPr>
          <a:xfrm>
            <a:off x="7945277" y="2276866"/>
            <a:ext cx="1968601" cy="2038455"/>
          </a:xfrm>
          <a:prstGeom prst="rect">
            <a:avLst/>
          </a:prstGeom>
        </p:spPr>
      </p:pic>
    </p:spTree>
    <p:extLst>
      <p:ext uri="{BB962C8B-B14F-4D97-AF65-F5344CB8AC3E}">
        <p14:creationId xmlns:p14="http://schemas.microsoft.com/office/powerpoint/2010/main" val="4029837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Multiple HIDs</a:t>
            </a:r>
          </a:p>
        </p:txBody>
      </p:sp>
      <p:sp>
        <p:nvSpPr>
          <p:cNvPr id="3" name="Content Placeholder 2"/>
          <p:cNvSpPr>
            <a:spLocks noGrp="1"/>
          </p:cNvSpPr>
          <p:nvPr>
            <p:ph idx="1"/>
          </p:nvPr>
        </p:nvSpPr>
        <p:spPr/>
        <p:txBody>
          <a:bodyPr/>
          <a:lstStyle/>
          <a:p>
            <a:r>
              <a:rPr lang="en-US"/>
              <a:t>This just involves mapping the correct input to the correct player</a:t>
            </a:r>
          </a:p>
          <a:p>
            <a:r>
              <a:rPr lang="en-US"/>
              <a:t>Also involves detecting HID changes due to serious events</a:t>
            </a:r>
          </a:p>
          <a:p>
            <a:pPr lvl="1"/>
            <a:r>
              <a:rPr lang="en-US"/>
              <a:t>Controller unplugged</a:t>
            </a:r>
          </a:p>
          <a:p>
            <a:pPr lvl="1"/>
            <a:r>
              <a:rPr lang="en-US"/>
              <a:t>Batteries dying</a:t>
            </a:r>
          </a:p>
          <a:p>
            <a:pPr lvl="1"/>
            <a:r>
              <a:rPr lang="en-US"/>
              <a:t>Player being assaulted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Cross platform HIDs</a:t>
            </a:r>
          </a:p>
        </p:txBody>
      </p:sp>
      <p:sp>
        <p:nvSpPr>
          <p:cNvPr id="3" name="Content Placeholder 2"/>
          <p:cNvSpPr>
            <a:spLocks noGrp="1"/>
          </p:cNvSpPr>
          <p:nvPr>
            <p:ph idx="1"/>
          </p:nvPr>
        </p:nvSpPr>
        <p:spPr/>
        <p:txBody>
          <a:bodyPr>
            <a:normAutofit fontScale="77500" lnSpcReduction="20000"/>
          </a:bodyPr>
          <a:lstStyle/>
          <a:p>
            <a:r>
              <a:rPr lang="en-US"/>
              <a:t>Two main ways to handle this</a:t>
            </a:r>
          </a:p>
          <a:p>
            <a:pPr lvl="1"/>
            <a:r>
              <a:rPr lang="en-US"/>
              <a:t>Conditional compilations – YUCK messy code</a:t>
            </a:r>
          </a:p>
          <a:p>
            <a:pPr marL="400050" lvl="1" indent="0">
              <a:buNone/>
            </a:pPr>
            <a:r>
              <a:rPr lang="en-CA">
                <a:solidFill>
                  <a:srgbClr val="808080"/>
                </a:solidFill>
                <a:latin typeface="Consolas" panose="020B0609020204030204" pitchFamily="49" charset="0"/>
              </a:rPr>
              <a:t>#if</a:t>
            </a:r>
            <a:r>
              <a:rPr lang="en-CA">
                <a:solidFill>
                  <a:srgbClr val="000000"/>
                </a:solidFill>
                <a:latin typeface="Consolas" panose="020B0609020204030204" pitchFamily="49" charset="0"/>
              </a:rPr>
              <a:t> TARGET_XBOX360</a:t>
            </a:r>
          </a:p>
          <a:p>
            <a:pPr marL="400050" lvl="1" indent="0">
              <a:buNone/>
            </a:pPr>
            <a:r>
              <a:rPr lang="en-US">
                <a:solidFill>
                  <a:srgbClr val="0000FF"/>
                </a:solidFill>
                <a:latin typeface="Consolas" panose="020B0609020204030204" pitchFamily="49" charset="0"/>
              </a:rPr>
              <a:t>if</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ButtonsJustWentDown</a:t>
            </a:r>
            <a:r>
              <a:rPr lang="en-US">
                <a:solidFill>
                  <a:srgbClr val="000000"/>
                </a:solidFill>
                <a:latin typeface="Consolas" panose="020B0609020204030204" pitchFamily="49" charset="0"/>
              </a:rPr>
              <a:t>(XB360_BUTTONMASK_A))</a:t>
            </a:r>
          </a:p>
          <a:p>
            <a:pPr marL="400050" lvl="1" indent="0">
              <a:buNone/>
            </a:pPr>
            <a:r>
              <a:rPr lang="en-CA">
                <a:solidFill>
                  <a:srgbClr val="808080"/>
                </a:solidFill>
                <a:latin typeface="Consolas" panose="020B0609020204030204" pitchFamily="49" charset="0"/>
              </a:rPr>
              <a:t>#</a:t>
            </a:r>
            <a:r>
              <a:rPr lang="en-CA" err="1">
                <a:solidFill>
                  <a:srgbClr val="808080"/>
                </a:solidFill>
                <a:latin typeface="Consolas" panose="020B0609020204030204" pitchFamily="49" charset="0"/>
              </a:rPr>
              <a:t>elif</a:t>
            </a:r>
            <a:r>
              <a:rPr lang="en-CA">
                <a:solidFill>
                  <a:srgbClr val="000000"/>
                </a:solidFill>
                <a:latin typeface="Consolas" panose="020B0609020204030204" pitchFamily="49" charset="0"/>
              </a:rPr>
              <a:t> TARGET_PS3</a:t>
            </a:r>
          </a:p>
          <a:p>
            <a:pPr marL="400050" lvl="1" indent="0">
              <a:buNone/>
            </a:pPr>
            <a:r>
              <a:rPr lang="en-US">
                <a:solidFill>
                  <a:srgbClr val="0000FF"/>
                </a:solidFill>
                <a:latin typeface="Consolas" panose="020B0609020204030204" pitchFamily="49" charset="0"/>
              </a:rPr>
              <a:t>if</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ButtonsJustWentDown</a:t>
            </a:r>
            <a:r>
              <a:rPr lang="en-US">
                <a:solidFill>
                  <a:srgbClr val="000000"/>
                </a:solidFill>
                <a:latin typeface="Consolas" panose="020B0609020204030204" pitchFamily="49" charset="0"/>
              </a:rPr>
              <a:t>(PS3_BUTTONMASK_TRIANGLE))</a:t>
            </a:r>
          </a:p>
          <a:p>
            <a:pPr marL="400050" lvl="1" indent="0">
              <a:buNone/>
            </a:pPr>
            <a:r>
              <a:rPr lang="en-CA">
                <a:solidFill>
                  <a:srgbClr val="808080"/>
                </a:solidFill>
                <a:latin typeface="Consolas" panose="020B0609020204030204" pitchFamily="49" charset="0"/>
              </a:rPr>
              <a:t>#</a:t>
            </a:r>
            <a:r>
              <a:rPr lang="en-CA" err="1">
                <a:solidFill>
                  <a:srgbClr val="808080"/>
                </a:solidFill>
                <a:latin typeface="Consolas" panose="020B0609020204030204" pitchFamily="49" charset="0"/>
              </a:rPr>
              <a:t>elif</a:t>
            </a:r>
            <a:r>
              <a:rPr lang="en-CA">
                <a:solidFill>
                  <a:srgbClr val="000000"/>
                </a:solidFill>
                <a:latin typeface="Consolas" panose="020B0609020204030204" pitchFamily="49" charset="0"/>
              </a:rPr>
              <a:t> TARGET_WII</a:t>
            </a:r>
          </a:p>
          <a:p>
            <a:pPr marL="400050" lvl="1" indent="0">
              <a:buNone/>
            </a:pPr>
            <a:r>
              <a:rPr lang="en-US">
                <a:solidFill>
                  <a:srgbClr val="0000FF"/>
                </a:solidFill>
                <a:latin typeface="Consolas" panose="020B0609020204030204" pitchFamily="49" charset="0"/>
              </a:rPr>
              <a:t>if</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ButtonsJustWentDown</a:t>
            </a:r>
            <a:r>
              <a:rPr lang="en-US">
                <a:solidFill>
                  <a:srgbClr val="000000"/>
                </a:solidFill>
                <a:latin typeface="Consolas" panose="020B0609020204030204" pitchFamily="49" charset="0"/>
              </a:rPr>
              <a:t>(WII_BUTTONMASK_A))</a:t>
            </a:r>
          </a:p>
          <a:p>
            <a:pPr marL="400050" lvl="1" indent="0">
              <a:buNone/>
            </a:pPr>
            <a:r>
              <a:rPr lang="en-CA">
                <a:solidFill>
                  <a:srgbClr val="808080"/>
                </a:solidFill>
                <a:latin typeface="Consolas" panose="020B0609020204030204" pitchFamily="49" charset="0"/>
              </a:rPr>
              <a:t>#endif</a:t>
            </a:r>
            <a:endParaRPr lang="en-CA">
              <a:solidFill>
                <a:srgbClr val="000000"/>
              </a:solidFill>
              <a:latin typeface="Consolas" panose="020B0609020204030204" pitchFamily="49" charset="0"/>
            </a:endParaRPr>
          </a:p>
          <a:p>
            <a:pPr marL="400050" lvl="1" indent="0">
              <a:buNone/>
            </a:pPr>
            <a:r>
              <a:rPr lang="en-CA">
                <a:solidFill>
                  <a:srgbClr val="000000"/>
                </a:solidFill>
                <a:latin typeface="Consolas" panose="020B0609020204030204" pitchFamily="49" charset="0"/>
              </a:rPr>
              <a:t>{</a:t>
            </a:r>
          </a:p>
          <a:p>
            <a:pPr marL="400050" lvl="1" indent="0">
              <a:buNone/>
            </a:pPr>
            <a:r>
              <a:rPr lang="en-CA">
                <a:solidFill>
                  <a:srgbClr val="008000"/>
                </a:solidFill>
                <a:latin typeface="Consolas" panose="020B0609020204030204" pitchFamily="49" charset="0"/>
              </a:rPr>
              <a:t>// do something...</a:t>
            </a:r>
            <a:endParaRPr lang="en-CA">
              <a:solidFill>
                <a:srgbClr val="000000"/>
              </a:solidFill>
              <a:latin typeface="Consolas" panose="020B0609020204030204" pitchFamily="49" charset="0"/>
            </a:endParaRPr>
          </a:p>
          <a:p>
            <a:pPr marL="400050" lvl="1" indent="0">
              <a:buNone/>
            </a:pPr>
            <a:r>
              <a:rPr lang="en-CA">
                <a:solidFill>
                  <a:srgbClr val="000000"/>
                </a:solidFill>
                <a:latin typeface="Consolas" panose="020B0609020204030204" pitchFamily="49" charset="0"/>
              </a:rPr>
              <a:t>}</a:t>
            </a:r>
            <a:endParaRPr lang="en-US"/>
          </a:p>
          <a:p>
            <a:r>
              <a:rPr lang="en-US"/>
              <a:t>Hardware abstraction layer</a:t>
            </a:r>
          </a:p>
          <a:p>
            <a:pPr lvl="1"/>
            <a:r>
              <a:rPr lang="en-US"/>
              <a:t>Create your own input classes and add a translation layer</a:t>
            </a:r>
          </a:p>
          <a:p>
            <a:pPr lvl="1"/>
            <a:r>
              <a:rPr lang="en-US"/>
              <a:t>Certainly superior because it is easy to add new HIDs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3BD07-CB55-4673-A9E9-AFB5E209C222}"/>
              </a:ext>
            </a:extLst>
          </p:cNvPr>
          <p:cNvSpPr>
            <a:spLocks noGrp="1"/>
          </p:cNvSpPr>
          <p:nvPr>
            <p:ph type="title"/>
          </p:nvPr>
        </p:nvSpPr>
        <p:spPr/>
        <p:txBody>
          <a:bodyPr/>
          <a:lstStyle/>
          <a:p>
            <a:r>
              <a:rPr lang="en-US"/>
              <a:t>Hardware abstraction layer</a:t>
            </a:r>
            <a:endParaRPr lang="en-CA"/>
          </a:p>
        </p:txBody>
      </p:sp>
      <p:sp>
        <p:nvSpPr>
          <p:cNvPr id="3" name="Content Placeholder 2">
            <a:extLst>
              <a:ext uri="{FF2B5EF4-FFF2-40B4-BE49-F238E27FC236}">
                <a16:creationId xmlns:a16="http://schemas.microsoft.com/office/drawing/2014/main" id="{8D53B924-ACE2-4C12-8C40-23E19A174568}"/>
              </a:ext>
            </a:extLst>
          </p:cNvPr>
          <p:cNvSpPr>
            <a:spLocks noGrp="1"/>
          </p:cNvSpPr>
          <p:nvPr>
            <p:ph idx="1"/>
          </p:nvPr>
        </p:nvSpPr>
        <p:spPr>
          <a:xfrm>
            <a:off x="1981200" y="1600200"/>
            <a:ext cx="8229600" cy="5151474"/>
          </a:xfrm>
        </p:spPr>
        <p:txBody>
          <a:bodyPr>
            <a:normAutofit fontScale="25000" lnSpcReduction="20000"/>
          </a:bodyPr>
          <a:lstStyle/>
          <a:p>
            <a:pPr marL="0" indent="0">
              <a:buNone/>
            </a:pPr>
            <a:r>
              <a:rPr lang="en-CA" err="1">
                <a:solidFill>
                  <a:srgbClr val="0000FF"/>
                </a:solidFill>
                <a:latin typeface="Consolas" panose="020B0609020204030204" pitchFamily="49" charset="0"/>
              </a:rPr>
              <a:t>enum</a:t>
            </a:r>
            <a:r>
              <a:rPr lang="en-CA">
                <a:solidFill>
                  <a:srgbClr val="000000"/>
                </a:solidFill>
                <a:latin typeface="Consolas" panose="020B0609020204030204" pitchFamily="49" charset="0"/>
              </a:rPr>
              <a:t> </a:t>
            </a:r>
            <a:r>
              <a:rPr lang="en-CA" err="1">
                <a:solidFill>
                  <a:srgbClr val="2B91AF"/>
                </a:solidFill>
                <a:latin typeface="Consolas" panose="020B0609020204030204" pitchFamily="49" charset="0"/>
              </a:rPr>
              <a:t>AbstractControlIndex</a:t>
            </a:r>
            <a:endParaRPr lang="en-CA">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Start and back buttons</a:t>
            </a:r>
            <a:endParaRPr lang="en-CA">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AINDEX_START</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Start, PS3 Start</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AINDEX_BACK_SELECT</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Back, PS3 Select</a:t>
            </a:r>
            <a:endParaRPr lang="en-US">
              <a:solidFill>
                <a:srgbClr val="000000"/>
              </a:solidFill>
              <a:latin typeface="Consolas" panose="020B0609020204030204" pitchFamily="49" charset="0"/>
            </a:endParaRPr>
          </a:p>
          <a:p>
            <a:pPr marL="0" indent="0">
              <a:buNone/>
            </a:pPr>
            <a:r>
              <a:rPr lang="en-CA">
                <a:solidFill>
                  <a:srgbClr val="008000"/>
                </a:solidFill>
                <a:latin typeface="Consolas" panose="020B0609020204030204" pitchFamily="49" charset="0"/>
              </a:rPr>
              <a:t>// Left D-pad</a:t>
            </a:r>
            <a:endParaRPr lang="en-CA">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AINDEX_LPAD_DOWN</a:t>
            </a:r>
            <a:r>
              <a:rPr lang="en-CA">
                <a:solidFill>
                  <a:srgbClr val="000000"/>
                </a:solidFill>
                <a:latin typeface="Consolas" panose="020B0609020204030204" pitchFamily="49" charset="0"/>
              </a:rPr>
              <a:t>,</a:t>
            </a:r>
          </a:p>
          <a:p>
            <a:pPr marL="0" indent="0">
              <a:buNone/>
            </a:pPr>
            <a:r>
              <a:rPr lang="en-CA">
                <a:solidFill>
                  <a:srgbClr val="2F4F4F"/>
                </a:solidFill>
                <a:latin typeface="Consolas" panose="020B0609020204030204" pitchFamily="49" charset="0"/>
              </a:rPr>
              <a:t>AINDEX_LPAD_UP</a:t>
            </a:r>
            <a:r>
              <a:rPr lang="en-CA">
                <a:solidFill>
                  <a:srgbClr val="000000"/>
                </a:solidFill>
                <a:latin typeface="Consolas" panose="020B0609020204030204" pitchFamily="49" charset="0"/>
              </a:rPr>
              <a:t>,</a:t>
            </a:r>
          </a:p>
          <a:p>
            <a:pPr marL="0" indent="0">
              <a:buNone/>
            </a:pPr>
            <a:r>
              <a:rPr lang="en-CA">
                <a:solidFill>
                  <a:srgbClr val="2F4F4F"/>
                </a:solidFill>
                <a:latin typeface="Consolas" panose="020B0609020204030204" pitchFamily="49" charset="0"/>
              </a:rPr>
              <a:t>AINDEX_LPAD_LEFT</a:t>
            </a:r>
            <a:r>
              <a:rPr lang="en-CA">
                <a:solidFill>
                  <a:srgbClr val="000000"/>
                </a:solidFill>
                <a:latin typeface="Consolas" panose="020B0609020204030204" pitchFamily="49" charset="0"/>
              </a:rPr>
              <a:t>,</a:t>
            </a:r>
          </a:p>
          <a:p>
            <a:pPr marL="0" indent="0">
              <a:buNone/>
            </a:pPr>
            <a:r>
              <a:rPr lang="en-CA">
                <a:solidFill>
                  <a:srgbClr val="2F4F4F"/>
                </a:solidFill>
                <a:latin typeface="Consolas" panose="020B0609020204030204" pitchFamily="49" charset="0"/>
              </a:rPr>
              <a:t>AINDEX_LPAD_RIGHT</a:t>
            </a: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Right "pad" of four buttons</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AINDEX_RPAD_DOWN</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A, PS3 X</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AINDEX_RPAD_UP</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Y, PS3 Triangle</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AINDEX_RPAD_LEFT</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X, PS3 Square</a:t>
            </a:r>
            <a:endParaRPr lang="en-US">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AINDEX_RPAD_RIGHT</a:t>
            </a:r>
            <a:r>
              <a:rPr lang="en-CA">
                <a:solidFill>
                  <a:srgbClr val="000000"/>
                </a:solidFill>
                <a:latin typeface="Consolas" panose="020B0609020204030204" pitchFamily="49" charset="0"/>
              </a:rPr>
              <a:t>, </a:t>
            </a:r>
            <a:r>
              <a:rPr lang="en-CA">
                <a:solidFill>
                  <a:srgbClr val="008000"/>
                </a:solidFill>
                <a:latin typeface="Consolas" panose="020B0609020204030204" pitchFamily="49" charset="0"/>
              </a:rPr>
              <a:t>// Xbox 360 B, PS3 Circle</a:t>
            </a:r>
            <a:endParaRPr lang="en-CA">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Left and right thumb stick buttons</a:t>
            </a:r>
            <a:endParaRPr lang="en-US">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AINDEX_LSTICK_BUTTON</a:t>
            </a:r>
            <a:r>
              <a:rPr lang="en-CA">
                <a:solidFill>
                  <a:srgbClr val="000000"/>
                </a:solidFill>
                <a:latin typeface="Consolas" panose="020B0609020204030204" pitchFamily="49" charset="0"/>
              </a:rPr>
              <a:t>, </a:t>
            </a:r>
            <a:r>
              <a:rPr lang="en-CA">
                <a:solidFill>
                  <a:srgbClr val="008000"/>
                </a:solidFill>
                <a:latin typeface="Consolas" panose="020B0609020204030204" pitchFamily="49" charset="0"/>
              </a:rPr>
              <a:t>// Xbox 360 </a:t>
            </a:r>
            <a:r>
              <a:rPr lang="en-CA" err="1">
                <a:solidFill>
                  <a:srgbClr val="008000"/>
                </a:solidFill>
                <a:latin typeface="Consolas" panose="020B0609020204030204" pitchFamily="49" charset="0"/>
              </a:rPr>
              <a:t>LThumb</a:t>
            </a:r>
            <a:r>
              <a:rPr lang="en-CA">
                <a:solidFill>
                  <a:srgbClr val="008000"/>
                </a:solidFill>
                <a:latin typeface="Consolas" panose="020B0609020204030204" pitchFamily="49" charset="0"/>
              </a:rPr>
              <a:t>, PS3 L3, Xbox white</a:t>
            </a:r>
            <a:endParaRPr lang="en-CA">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AINDEX_RSTICK_BUTTON</a:t>
            </a:r>
            <a:r>
              <a:rPr lang="en-CA">
                <a:solidFill>
                  <a:srgbClr val="000000"/>
                </a:solidFill>
                <a:latin typeface="Consolas" panose="020B0609020204030204" pitchFamily="49" charset="0"/>
              </a:rPr>
              <a:t>, </a:t>
            </a:r>
            <a:r>
              <a:rPr lang="en-CA">
                <a:solidFill>
                  <a:srgbClr val="008000"/>
                </a:solidFill>
                <a:latin typeface="Consolas" panose="020B0609020204030204" pitchFamily="49" charset="0"/>
              </a:rPr>
              <a:t>// Xbox 360 </a:t>
            </a:r>
            <a:r>
              <a:rPr lang="en-CA" err="1">
                <a:solidFill>
                  <a:srgbClr val="008000"/>
                </a:solidFill>
                <a:latin typeface="Consolas" panose="020B0609020204030204" pitchFamily="49" charset="0"/>
              </a:rPr>
              <a:t>RThumb</a:t>
            </a:r>
            <a:r>
              <a:rPr lang="en-CA">
                <a:solidFill>
                  <a:srgbClr val="008000"/>
                </a:solidFill>
                <a:latin typeface="Consolas" panose="020B0609020204030204" pitchFamily="49" charset="0"/>
              </a:rPr>
              <a:t>, PS3 R3, Xbox black</a:t>
            </a:r>
            <a:endParaRPr lang="en-CA">
              <a:solidFill>
                <a:srgbClr val="000000"/>
              </a:solidFill>
              <a:latin typeface="Consolas" panose="020B0609020204030204" pitchFamily="49" charset="0"/>
            </a:endParaRPr>
          </a:p>
          <a:p>
            <a:pPr marL="0" indent="0">
              <a:buNone/>
            </a:pPr>
            <a:r>
              <a:rPr lang="en-US">
                <a:solidFill>
                  <a:srgbClr val="008000"/>
                </a:solidFill>
                <a:latin typeface="Consolas" panose="020B0609020204030204" pitchFamily="49" charset="0"/>
              </a:rPr>
              <a:t>// Left and right shoulder buttons</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AINDEX_LSHOULDER</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L shoulder, PS3 L1</a:t>
            </a:r>
            <a:endParaRPr lang="en-US">
              <a:solidFill>
                <a:srgbClr val="000000"/>
              </a:solidFill>
              <a:latin typeface="Consolas" panose="020B0609020204030204" pitchFamily="49" charset="0"/>
            </a:endParaRPr>
          </a:p>
          <a:p>
            <a:pPr marL="0" indent="0">
              <a:buNone/>
            </a:pPr>
            <a:r>
              <a:rPr lang="en-US">
                <a:solidFill>
                  <a:srgbClr val="2F4F4F"/>
                </a:solidFill>
                <a:latin typeface="Consolas" panose="020B0609020204030204" pitchFamily="49" charset="0"/>
              </a:rPr>
              <a:t>AINDEX_RSHOULDER</a:t>
            </a:r>
            <a:r>
              <a:rPr lang="en-US">
                <a:solidFill>
                  <a:srgbClr val="000000"/>
                </a:solidFill>
                <a:latin typeface="Consolas" panose="020B0609020204030204" pitchFamily="49" charset="0"/>
              </a:rPr>
              <a:t>, </a:t>
            </a:r>
            <a:r>
              <a:rPr lang="en-US">
                <a:solidFill>
                  <a:srgbClr val="008000"/>
                </a:solidFill>
                <a:latin typeface="Consolas" panose="020B0609020204030204" pitchFamily="49" charset="0"/>
              </a:rPr>
              <a:t>// Xbox 360 R shoulder, PS3 R1</a:t>
            </a:r>
            <a:endParaRPr lang="en-US">
              <a:solidFill>
                <a:srgbClr val="000000"/>
              </a:solidFill>
              <a:latin typeface="Consolas" panose="020B0609020204030204" pitchFamily="49" charset="0"/>
            </a:endParaRPr>
          </a:p>
          <a:p>
            <a:pPr marL="0" indent="0">
              <a:buNone/>
            </a:pPr>
            <a:r>
              <a:rPr lang="en-CA">
                <a:solidFill>
                  <a:srgbClr val="008000"/>
                </a:solidFill>
                <a:latin typeface="Consolas" panose="020B0609020204030204" pitchFamily="49" charset="0"/>
              </a:rPr>
              <a:t>// Left thumb stick axes</a:t>
            </a:r>
            <a:endParaRPr lang="en-CA">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AINDEX_LSTICK_X</a:t>
            </a:r>
            <a:r>
              <a:rPr lang="en-CA">
                <a:solidFill>
                  <a:srgbClr val="000000"/>
                </a:solidFill>
                <a:latin typeface="Consolas" panose="020B0609020204030204" pitchFamily="49" charset="0"/>
              </a:rPr>
              <a:t>,</a:t>
            </a:r>
          </a:p>
          <a:p>
            <a:pPr marL="0" indent="0">
              <a:buNone/>
            </a:pPr>
            <a:r>
              <a:rPr lang="en-CA">
                <a:solidFill>
                  <a:srgbClr val="2F4F4F"/>
                </a:solidFill>
                <a:latin typeface="Consolas" panose="020B0609020204030204" pitchFamily="49" charset="0"/>
              </a:rPr>
              <a:t>AINDEX_LSTICK_Y</a:t>
            </a:r>
            <a:r>
              <a:rPr lang="en-CA">
                <a:solidFill>
                  <a:srgbClr val="000000"/>
                </a:solidFill>
                <a:latin typeface="Consolas" panose="020B0609020204030204" pitchFamily="49" charset="0"/>
              </a:rPr>
              <a:t>,</a:t>
            </a:r>
          </a:p>
          <a:p>
            <a:pPr marL="0" indent="0">
              <a:buNone/>
            </a:pPr>
            <a:r>
              <a:rPr lang="en-CA">
                <a:solidFill>
                  <a:srgbClr val="008000"/>
                </a:solidFill>
                <a:latin typeface="Consolas" panose="020B0609020204030204" pitchFamily="49" charset="0"/>
              </a:rPr>
              <a:t>// Right thumb stick axes</a:t>
            </a:r>
            <a:endParaRPr lang="en-CA">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AINDEX_RSTICK_X</a:t>
            </a:r>
            <a:r>
              <a:rPr lang="en-CA">
                <a:solidFill>
                  <a:srgbClr val="000000"/>
                </a:solidFill>
                <a:latin typeface="Consolas" panose="020B0609020204030204" pitchFamily="49" charset="0"/>
              </a:rPr>
              <a:t>,</a:t>
            </a:r>
          </a:p>
          <a:p>
            <a:pPr marL="0" indent="0">
              <a:buNone/>
            </a:pPr>
            <a:r>
              <a:rPr lang="en-CA">
                <a:solidFill>
                  <a:srgbClr val="2F4F4F"/>
                </a:solidFill>
                <a:latin typeface="Consolas" panose="020B0609020204030204" pitchFamily="49" charset="0"/>
              </a:rPr>
              <a:t>AINDEX_RSTICK_Y</a:t>
            </a:r>
            <a:r>
              <a:rPr lang="en-CA">
                <a:solidFill>
                  <a:srgbClr val="000000"/>
                </a:solidFill>
                <a:latin typeface="Consolas" panose="020B0609020204030204" pitchFamily="49" charset="0"/>
              </a:rPr>
              <a:t>,</a:t>
            </a:r>
          </a:p>
          <a:p>
            <a:pPr marL="0" indent="0">
              <a:buNone/>
            </a:pPr>
            <a:r>
              <a:rPr lang="en-US">
                <a:solidFill>
                  <a:srgbClr val="008000"/>
                </a:solidFill>
                <a:latin typeface="Consolas" panose="020B0609020204030204" pitchFamily="49" charset="0"/>
              </a:rPr>
              <a:t>// Left and right trigger axes</a:t>
            </a:r>
            <a:endParaRPr lang="en-US">
              <a:solidFill>
                <a:srgbClr val="000000"/>
              </a:solidFill>
              <a:latin typeface="Consolas" panose="020B0609020204030204" pitchFamily="49" charset="0"/>
            </a:endParaRPr>
          </a:p>
          <a:p>
            <a:pPr marL="0" indent="0">
              <a:buNone/>
            </a:pPr>
            <a:r>
              <a:rPr lang="en-CA">
                <a:solidFill>
                  <a:srgbClr val="2F4F4F"/>
                </a:solidFill>
                <a:latin typeface="Consolas" panose="020B0609020204030204" pitchFamily="49" charset="0"/>
              </a:rPr>
              <a:t>AINDEX_LTRIGGER</a:t>
            </a:r>
            <a:r>
              <a:rPr lang="en-CA">
                <a:solidFill>
                  <a:srgbClr val="000000"/>
                </a:solidFill>
                <a:latin typeface="Consolas" panose="020B0609020204030204" pitchFamily="49" charset="0"/>
              </a:rPr>
              <a:t>, </a:t>
            </a:r>
            <a:r>
              <a:rPr lang="en-CA">
                <a:solidFill>
                  <a:srgbClr val="008000"/>
                </a:solidFill>
                <a:latin typeface="Consolas" panose="020B0609020204030204" pitchFamily="49" charset="0"/>
              </a:rPr>
              <a:t>// Xbox 360 -Z, PS3 L2</a:t>
            </a:r>
            <a:endParaRPr lang="en-CA">
              <a:solidFill>
                <a:srgbClr val="000000"/>
              </a:solidFill>
              <a:latin typeface="Consolas" panose="020B0609020204030204" pitchFamily="49" charset="0"/>
            </a:endParaRPr>
          </a:p>
          <a:p>
            <a:pPr marL="0" indent="0">
              <a:buNone/>
            </a:pPr>
            <a:r>
              <a:rPr lang="pt-BR">
                <a:solidFill>
                  <a:srgbClr val="2F4F4F"/>
                </a:solidFill>
                <a:latin typeface="Consolas" panose="020B0609020204030204" pitchFamily="49" charset="0"/>
              </a:rPr>
              <a:t>AINDEX_RTRIGGER</a:t>
            </a:r>
            <a:r>
              <a:rPr lang="pt-BR">
                <a:solidFill>
                  <a:srgbClr val="000000"/>
                </a:solidFill>
                <a:latin typeface="Consolas" panose="020B0609020204030204" pitchFamily="49" charset="0"/>
              </a:rPr>
              <a:t>, </a:t>
            </a:r>
            <a:r>
              <a:rPr lang="pt-BR">
                <a:solidFill>
                  <a:srgbClr val="008000"/>
                </a:solidFill>
                <a:latin typeface="Consolas" panose="020B0609020204030204" pitchFamily="49" charset="0"/>
              </a:rPr>
              <a:t>// Xbox 360 +Z, PS3 R2</a:t>
            </a:r>
            <a:endParaRPr lang="pt-BR">
              <a:solidFill>
                <a:srgbClr val="000000"/>
              </a:solidFill>
              <a:latin typeface="Consolas" panose="020B0609020204030204" pitchFamily="49" charset="0"/>
            </a:endParaRPr>
          </a:p>
          <a:p>
            <a:pPr marL="0" indent="0">
              <a:buNone/>
            </a:pPr>
            <a:r>
              <a:rPr lang="en-CA">
                <a:solidFill>
                  <a:srgbClr val="000000"/>
                </a:solidFill>
                <a:latin typeface="Consolas" panose="020B0609020204030204" pitchFamily="49" charset="0"/>
              </a:rPr>
              <a:t>};</a:t>
            </a:r>
            <a:endParaRPr lang="en-CA"/>
          </a:p>
        </p:txBody>
      </p:sp>
    </p:spTree>
    <p:extLst>
      <p:ext uri="{BB962C8B-B14F-4D97-AF65-F5344CB8AC3E}">
        <p14:creationId xmlns:p14="http://schemas.microsoft.com/office/powerpoint/2010/main" val="459487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Input re-mapping</a:t>
            </a:r>
          </a:p>
        </p:txBody>
      </p:sp>
      <p:sp>
        <p:nvSpPr>
          <p:cNvPr id="3" name="Content Placeholder 2"/>
          <p:cNvSpPr>
            <a:spLocks noGrp="1"/>
          </p:cNvSpPr>
          <p:nvPr>
            <p:ph idx="1"/>
          </p:nvPr>
        </p:nvSpPr>
        <p:spPr/>
        <p:txBody>
          <a:bodyPr/>
          <a:lstStyle/>
          <a:p>
            <a:r>
              <a:rPr lang="en-US"/>
              <a:t>We can provide a very nice feature by adding in a few classes that create a level of indirection – input remapping</a:t>
            </a:r>
          </a:p>
          <a:p>
            <a:r>
              <a:rPr lang="en-US"/>
              <a:t>If we give names to events that have nothing to do with the input that triggers it, then we simple create an input to event lookup table</a:t>
            </a:r>
          </a:p>
          <a:p>
            <a:r>
              <a:rPr lang="en-US"/>
              <a:t>Requires us to normalize the input a bit</a:t>
            </a:r>
          </a:p>
          <a:p>
            <a:pPr lvl="1"/>
            <a:r>
              <a:rPr lang="en-US"/>
              <a:t>Think about keyboard versus mouse for aircraft control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16D1-9B70-441B-A8E7-6B614A6C0788}"/>
              </a:ext>
            </a:extLst>
          </p:cNvPr>
          <p:cNvSpPr>
            <a:spLocks noGrp="1"/>
          </p:cNvSpPr>
          <p:nvPr>
            <p:ph type="title"/>
          </p:nvPr>
        </p:nvSpPr>
        <p:spPr/>
        <p:txBody>
          <a:bodyPr/>
          <a:lstStyle/>
          <a:p>
            <a:r>
              <a:rPr lang="en-CA"/>
              <a:t>Input values</a:t>
            </a:r>
          </a:p>
        </p:txBody>
      </p:sp>
      <p:sp>
        <p:nvSpPr>
          <p:cNvPr id="3" name="Content Placeholder 2">
            <a:extLst>
              <a:ext uri="{FF2B5EF4-FFF2-40B4-BE49-F238E27FC236}">
                <a16:creationId xmlns:a16="http://schemas.microsoft.com/office/drawing/2014/main" id="{BB93BA26-39EC-4679-8E8A-4E82E87028F1}"/>
              </a:ext>
            </a:extLst>
          </p:cNvPr>
          <p:cNvSpPr>
            <a:spLocks noGrp="1"/>
          </p:cNvSpPr>
          <p:nvPr>
            <p:ph idx="1"/>
          </p:nvPr>
        </p:nvSpPr>
        <p:spPr/>
        <p:txBody>
          <a:bodyPr>
            <a:normAutofit fontScale="85000" lnSpcReduction="20000"/>
          </a:bodyPr>
          <a:lstStyle/>
          <a:p>
            <a:r>
              <a:rPr lang="en-US"/>
              <a:t>Different controls produce different kinds of inputs.</a:t>
            </a:r>
          </a:p>
          <a:p>
            <a:r>
              <a:rPr lang="en-US"/>
              <a:t> Analog axes may produce values ranging from -32,768 to 32,767, or from 0 to 255, or some other range</a:t>
            </a:r>
          </a:p>
          <a:p>
            <a:r>
              <a:rPr lang="en-US"/>
              <a:t>A reasonable set of classes for a </a:t>
            </a:r>
            <a:r>
              <a:rPr lang="en-CA"/>
              <a:t>standard console joypad </a:t>
            </a:r>
            <a:r>
              <a:rPr lang="en-US"/>
              <a:t>and their normalized input values</a:t>
            </a:r>
            <a:r>
              <a:rPr lang="en-CA"/>
              <a:t>:</a:t>
            </a:r>
            <a:endParaRPr lang="en-US"/>
          </a:p>
          <a:p>
            <a:endParaRPr lang="en-US"/>
          </a:p>
          <a:p>
            <a:pPr lvl="1"/>
            <a:r>
              <a:rPr lang="en-US" i="1"/>
              <a:t>Digital buttons</a:t>
            </a:r>
            <a:r>
              <a:rPr lang="en-US"/>
              <a:t>. States are packed into a 32-bit word, one bit per button.</a:t>
            </a:r>
          </a:p>
          <a:p>
            <a:pPr lvl="1"/>
            <a:r>
              <a:rPr lang="en-CA" i="1"/>
              <a:t>Unidirectional absolute axes (e.g., triggers, analog buttons)</a:t>
            </a:r>
            <a:r>
              <a:rPr lang="en-CA"/>
              <a:t>. Produce floating-</a:t>
            </a:r>
            <a:r>
              <a:rPr lang="en-US"/>
              <a:t>point input values in the range [0, 1].</a:t>
            </a:r>
          </a:p>
          <a:p>
            <a:pPr lvl="1"/>
            <a:r>
              <a:rPr lang="en-US" i="1"/>
              <a:t>Bidirectional absolute axes (e.g., joy sticks)</a:t>
            </a:r>
            <a:r>
              <a:rPr lang="en-US"/>
              <a:t>. Produce floating-point input values in the range [-1, 1].</a:t>
            </a:r>
          </a:p>
          <a:p>
            <a:pPr lvl="1"/>
            <a:r>
              <a:rPr lang="en-US" i="1"/>
              <a:t>Relative axes (e.g., mouse axes, wheels, track balls)</a:t>
            </a:r>
            <a:r>
              <a:rPr lang="en-US"/>
              <a:t>. Produce floating-point input values in the range [</a:t>
            </a:r>
            <a:r>
              <a:rPr lang="en-US" i="1"/>
              <a:t>-</a:t>
            </a:r>
            <a:r>
              <a:rPr lang="en-US"/>
              <a:t>1, 1], where 1 represents the maximum relative offset possible within a single game frame (i.e., during a period of 1/30 or 1/60 of a second).</a:t>
            </a:r>
            <a:endParaRPr lang="en-CA"/>
          </a:p>
        </p:txBody>
      </p:sp>
    </p:spTree>
    <p:extLst>
      <p:ext uri="{BB962C8B-B14F-4D97-AF65-F5344CB8AC3E}">
        <p14:creationId xmlns:p14="http://schemas.microsoft.com/office/powerpoint/2010/main" val="42426195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Context sensitive controls</a:t>
            </a:r>
          </a:p>
        </p:txBody>
      </p:sp>
      <p:sp>
        <p:nvSpPr>
          <p:cNvPr id="3" name="Content Placeholder 2"/>
          <p:cNvSpPr>
            <a:spLocks noGrp="1"/>
          </p:cNvSpPr>
          <p:nvPr>
            <p:ph idx="1"/>
          </p:nvPr>
        </p:nvSpPr>
        <p:spPr/>
        <p:txBody>
          <a:bodyPr/>
          <a:lstStyle/>
          <a:p>
            <a:r>
              <a:rPr lang="en-US"/>
              <a:t>Often the controls will trigger different events based on the situation</a:t>
            </a:r>
          </a:p>
          <a:p>
            <a:pPr lvl="1"/>
            <a:r>
              <a:rPr lang="en-US"/>
              <a:t>The “use” button is a classic case</a:t>
            </a:r>
          </a:p>
          <a:p>
            <a:r>
              <a:rPr lang="en-US"/>
              <a:t>One way to implement this is to use a state machine</a:t>
            </a:r>
          </a:p>
          <a:p>
            <a:pPr lvl="1"/>
            <a:r>
              <a:rPr lang="en-US"/>
              <a:t>In state “walking” L1 means fire primary weapon</a:t>
            </a:r>
          </a:p>
          <a:p>
            <a:pPr lvl="1"/>
            <a:r>
              <a:rPr lang="en-US"/>
              <a:t>In state “driving” L1 means turbo</a:t>
            </a:r>
          </a:p>
          <a:p>
            <a:r>
              <a:rPr lang="en-US"/>
              <a:t>When mixed with user re-mapping the system can become quite complex</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Disabling inputs</a:t>
            </a:r>
          </a:p>
        </p:txBody>
      </p:sp>
      <p:sp>
        <p:nvSpPr>
          <p:cNvPr id="3" name="Content Placeholder 2"/>
          <p:cNvSpPr>
            <a:spLocks noGrp="1"/>
          </p:cNvSpPr>
          <p:nvPr>
            <p:ph idx="1"/>
          </p:nvPr>
        </p:nvSpPr>
        <p:spPr/>
        <p:txBody>
          <a:bodyPr/>
          <a:lstStyle/>
          <a:p>
            <a:r>
              <a:rPr lang="en-US"/>
              <a:t>One simple, but Draconian approach is to introduce a mask</a:t>
            </a:r>
          </a:p>
          <a:p>
            <a:pPr lvl="1"/>
            <a:r>
              <a:rPr lang="en-US"/>
              <a:t>When a control is disabled, set the bit to 0 </a:t>
            </a:r>
          </a:p>
          <a:p>
            <a:pPr lvl="1"/>
            <a:r>
              <a:rPr lang="en-US"/>
              <a:t>The mask is then </a:t>
            </a:r>
            <a:r>
              <a:rPr lang="en-US" err="1"/>
              <a:t>ANDed</a:t>
            </a:r>
            <a:r>
              <a:rPr lang="en-US"/>
              <a:t> with the control input before further process</a:t>
            </a:r>
          </a:p>
          <a:p>
            <a:r>
              <a:rPr lang="en-US"/>
              <a:t>Make sure the bit gets set back to 1 again otherwise you loose control forever</a:t>
            </a:r>
          </a:p>
          <a:p>
            <a:r>
              <a:rPr lang="en-US"/>
              <a:t>Sometimes you want to disable it for a particular set of actions, but other systems might want to see 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 practice</a:t>
            </a:r>
          </a:p>
        </p:txBody>
      </p:sp>
      <p:sp>
        <p:nvSpPr>
          <p:cNvPr id="3" name="Content Placeholder 2"/>
          <p:cNvSpPr>
            <a:spLocks noGrp="1"/>
          </p:cNvSpPr>
          <p:nvPr>
            <p:ph idx="1"/>
          </p:nvPr>
        </p:nvSpPr>
        <p:spPr/>
        <p:txBody>
          <a:bodyPr/>
          <a:lstStyle/>
          <a:p>
            <a:r>
              <a:rPr lang="en-US" dirty="0"/>
              <a:t>It takes a serious amount of time and effort to build an effective HID system.</a:t>
            </a:r>
          </a:p>
          <a:p>
            <a:r>
              <a:rPr lang="en-US" dirty="0"/>
              <a:t>It is super important because it radically affects game play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4B43C-CE95-45CD-AE3B-797588767023}"/>
              </a:ext>
            </a:extLst>
          </p:cNvPr>
          <p:cNvSpPr>
            <a:spLocks noGrp="1"/>
          </p:cNvSpPr>
          <p:nvPr>
            <p:ph type="title"/>
          </p:nvPr>
        </p:nvSpPr>
        <p:spPr/>
        <p:txBody>
          <a:bodyPr/>
          <a:lstStyle/>
          <a:p>
            <a:r>
              <a:rPr lang="en-CA"/>
              <a:t>Unity HID Support</a:t>
            </a:r>
          </a:p>
        </p:txBody>
      </p:sp>
      <p:sp>
        <p:nvSpPr>
          <p:cNvPr id="3" name="Content Placeholder 2">
            <a:extLst>
              <a:ext uri="{FF2B5EF4-FFF2-40B4-BE49-F238E27FC236}">
                <a16:creationId xmlns:a16="http://schemas.microsoft.com/office/drawing/2014/main" id="{F27346CC-9197-4B08-9BA6-94D4FD0EF9CD}"/>
              </a:ext>
            </a:extLst>
          </p:cNvPr>
          <p:cNvSpPr>
            <a:spLocks noGrp="1"/>
          </p:cNvSpPr>
          <p:nvPr>
            <p:ph idx="1"/>
          </p:nvPr>
        </p:nvSpPr>
        <p:spPr/>
        <p:txBody>
          <a:bodyPr>
            <a:normAutofit fontScale="92500" lnSpcReduction="20000"/>
          </a:bodyPr>
          <a:lstStyle/>
          <a:p>
            <a:r>
              <a:rPr lang="en-US" b="0" i="0" dirty="0">
                <a:effectLst/>
              </a:rPr>
              <a:t>Human Interface Device (HID) is a </a:t>
            </a:r>
            <a:r>
              <a:rPr lang="en-US" b="0" i="0" u="none" strike="noStrike" dirty="0">
                <a:effectLst/>
                <a:hlinkClick r:id="rId3">
                  <a:extLst>
                    <a:ext uri="{A12FA001-AC4F-418D-AE19-62706E023703}">
                      <ahyp:hlinkClr xmlns:ahyp="http://schemas.microsoft.com/office/drawing/2018/hyperlinkcolor" val="tx"/>
                    </a:ext>
                  </a:extLst>
                </a:hlinkClick>
              </a:rPr>
              <a:t>specification</a:t>
            </a:r>
            <a:r>
              <a:rPr lang="en-US" b="0" i="0" dirty="0">
                <a:effectLst/>
              </a:rPr>
              <a:t> to describe peripheral user input devices connected to computers via USB or Bluetooth. </a:t>
            </a:r>
          </a:p>
          <a:p>
            <a:r>
              <a:rPr lang="en-US" b="0" i="0" dirty="0">
                <a:effectLst/>
              </a:rPr>
              <a:t>HID is commonly used to implement devices such as gamepads, joysticks, or racing wheels.</a:t>
            </a:r>
          </a:p>
          <a:p>
            <a:r>
              <a:rPr lang="en-US" b="0" i="0" dirty="0">
                <a:effectLst/>
              </a:rPr>
              <a:t>The Input System directly supports HID (connected via both USB and Bluetooth) on Windows, MacOS, and the Universal Windows Platform (UWP). </a:t>
            </a:r>
          </a:p>
          <a:p>
            <a:r>
              <a:rPr lang="en-US" b="0" i="0" dirty="0">
                <a:effectLst/>
              </a:rPr>
              <a:t>The system might support HID on other platforms, but not deliver input through HID-specific APIs. </a:t>
            </a:r>
          </a:p>
          <a:p>
            <a:r>
              <a:rPr lang="en-US" b="0" i="0" dirty="0">
                <a:effectLst/>
              </a:rPr>
              <a:t>For example, on Linux, the system supports gamepad and joystick HIDs through SDL, but doesn't support other HIDs.</a:t>
            </a:r>
            <a:endParaRPr lang="en-CA" dirty="0"/>
          </a:p>
        </p:txBody>
      </p:sp>
    </p:spTree>
    <p:extLst>
      <p:ext uri="{BB962C8B-B14F-4D97-AF65-F5344CB8AC3E}">
        <p14:creationId xmlns:p14="http://schemas.microsoft.com/office/powerpoint/2010/main" val="3373599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9D02-462B-9F47-322C-311B218D13B4}"/>
              </a:ext>
            </a:extLst>
          </p:cNvPr>
          <p:cNvSpPr>
            <a:spLocks noGrp="1"/>
          </p:cNvSpPr>
          <p:nvPr>
            <p:ph type="title"/>
          </p:nvPr>
        </p:nvSpPr>
        <p:spPr/>
        <p:txBody>
          <a:bodyPr/>
          <a:lstStyle/>
          <a:p>
            <a:r>
              <a:rPr lang="en-US" dirty="0"/>
              <a:t>Input Debugger</a:t>
            </a:r>
            <a:endParaRPr lang="en-CA" dirty="0"/>
          </a:p>
        </p:txBody>
      </p:sp>
      <p:sp>
        <p:nvSpPr>
          <p:cNvPr id="3" name="Content Placeholder 2">
            <a:extLst>
              <a:ext uri="{FF2B5EF4-FFF2-40B4-BE49-F238E27FC236}">
                <a16:creationId xmlns:a16="http://schemas.microsoft.com/office/drawing/2014/main" id="{8CE2C18F-940C-CC24-3FDB-04860F43CF41}"/>
              </a:ext>
            </a:extLst>
          </p:cNvPr>
          <p:cNvSpPr>
            <a:spLocks noGrp="1"/>
          </p:cNvSpPr>
          <p:nvPr>
            <p:ph sz="half" idx="2"/>
          </p:nvPr>
        </p:nvSpPr>
        <p:spPr/>
        <p:txBody>
          <a:bodyPr>
            <a:normAutofit lnSpcReduction="10000"/>
          </a:bodyPr>
          <a:lstStyle/>
          <a:p>
            <a:r>
              <a:rPr lang="en-US" dirty="0"/>
              <a:t>When something isn't working as expected, the quickest way to troubleshoot what's wrong is the Input Debugger in the Unity Editor. </a:t>
            </a:r>
          </a:p>
          <a:p>
            <a:r>
              <a:rPr lang="en-US" dirty="0"/>
              <a:t>The Input Debugger provides access to the activity of the Input System in both the Editor and the connected Players.</a:t>
            </a:r>
          </a:p>
          <a:p>
            <a:endParaRPr lang="en-US" dirty="0"/>
          </a:p>
          <a:p>
            <a:r>
              <a:rPr lang="en-US" dirty="0"/>
              <a:t>To open the Input Debugger, go to Window &gt; Analysis &gt; Input Debugger from Unity's main menu.</a:t>
            </a:r>
          </a:p>
          <a:p>
            <a:endParaRPr lang="en-US" dirty="0"/>
          </a:p>
          <a:p>
            <a:endParaRPr lang="en-CA" dirty="0"/>
          </a:p>
        </p:txBody>
      </p:sp>
      <p:pic>
        <p:nvPicPr>
          <p:cNvPr id="6" name="Content Placeholder 5">
            <a:extLst>
              <a:ext uri="{FF2B5EF4-FFF2-40B4-BE49-F238E27FC236}">
                <a16:creationId xmlns:a16="http://schemas.microsoft.com/office/drawing/2014/main" id="{BF33449D-F9F5-0A73-119E-EB0D3EA5C630}"/>
              </a:ext>
            </a:extLst>
          </p:cNvPr>
          <p:cNvPicPr>
            <a:picLocks noGrp="1" noChangeAspect="1"/>
          </p:cNvPicPr>
          <p:nvPr>
            <p:ph sz="quarter" idx="13"/>
          </p:nvPr>
        </p:nvPicPr>
        <p:blipFill>
          <a:blip r:embed="rId2"/>
          <a:stretch>
            <a:fillRect/>
          </a:stretch>
        </p:blipFill>
        <p:spPr>
          <a:xfrm>
            <a:off x="2686678" y="1600201"/>
            <a:ext cx="2446671" cy="4525963"/>
          </a:xfrm>
        </p:spPr>
      </p:pic>
    </p:spTree>
    <p:extLst>
      <p:ext uri="{BB962C8B-B14F-4D97-AF65-F5344CB8AC3E}">
        <p14:creationId xmlns:p14="http://schemas.microsoft.com/office/powerpoint/2010/main" val="28856121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C0DF5-FBD3-4EDC-A420-5DCE3964F450}"/>
              </a:ext>
            </a:extLst>
          </p:cNvPr>
          <p:cNvSpPr>
            <a:spLocks noGrp="1"/>
          </p:cNvSpPr>
          <p:nvPr>
            <p:ph type="title"/>
          </p:nvPr>
        </p:nvSpPr>
        <p:spPr/>
        <p:txBody>
          <a:bodyPr/>
          <a:lstStyle/>
          <a:p>
            <a:r>
              <a:rPr lang="en-CA" dirty="0"/>
              <a:t>HID Descriptor</a:t>
            </a:r>
          </a:p>
        </p:txBody>
      </p:sp>
      <p:sp>
        <p:nvSpPr>
          <p:cNvPr id="3" name="Content Placeholder 2">
            <a:extLst>
              <a:ext uri="{FF2B5EF4-FFF2-40B4-BE49-F238E27FC236}">
                <a16:creationId xmlns:a16="http://schemas.microsoft.com/office/drawing/2014/main" id="{4BCE1557-80D2-4EB2-B410-701DDF145F52}"/>
              </a:ext>
            </a:extLst>
          </p:cNvPr>
          <p:cNvSpPr>
            <a:spLocks noGrp="1"/>
          </p:cNvSpPr>
          <p:nvPr>
            <p:ph idx="1"/>
          </p:nvPr>
        </p:nvSpPr>
        <p:spPr/>
        <p:txBody>
          <a:bodyPr>
            <a:normAutofit fontScale="77500" lnSpcReduction="20000"/>
          </a:bodyPr>
          <a:lstStyle/>
          <a:p>
            <a:r>
              <a:rPr lang="en-US" b="0" i="0" dirty="0">
                <a:solidFill>
                  <a:schemeClr val="tx1">
                    <a:lumMod val="65000"/>
                    <a:lumOff val="35000"/>
                  </a:schemeClr>
                </a:solidFill>
                <a:effectLst/>
              </a:rPr>
              <a:t>Every HID comes with a device descriptor. </a:t>
            </a:r>
          </a:p>
          <a:p>
            <a:r>
              <a:rPr lang="en-US" dirty="0">
                <a:solidFill>
                  <a:schemeClr val="tx1">
                    <a:lumMod val="65000"/>
                    <a:lumOff val="35000"/>
                  </a:schemeClr>
                </a:solidFill>
              </a:rPr>
              <a:t>Install the Input System</a:t>
            </a:r>
          </a:p>
          <a:p>
            <a:r>
              <a:rPr lang="en-US" b="0" i="0" dirty="0">
                <a:solidFill>
                  <a:schemeClr val="tx1">
                    <a:lumMod val="65000"/>
                    <a:lumOff val="35000"/>
                  </a:schemeClr>
                </a:solidFill>
                <a:effectLst/>
              </a:rPr>
              <a:t>Window</a:t>
            </a:r>
            <a:r>
              <a:rPr lang="en-US" b="0" i="0" dirty="0">
                <a:solidFill>
                  <a:schemeClr val="tx1">
                    <a:lumMod val="65000"/>
                    <a:lumOff val="35000"/>
                  </a:schemeClr>
                </a:solidFill>
                <a:effectLst/>
                <a:sym typeface="Wingdings" panose="05000000000000000000" pitchFamily="2" charset="2"/>
              </a:rPr>
              <a:t> Analysis  Input Debugger</a:t>
            </a:r>
          </a:p>
          <a:p>
            <a:r>
              <a:rPr lang="en-US" dirty="0">
                <a:solidFill>
                  <a:schemeClr val="tx1">
                    <a:lumMod val="65000"/>
                    <a:lumOff val="35000"/>
                  </a:schemeClr>
                </a:solidFill>
                <a:sym typeface="Wingdings" panose="05000000000000000000" pitchFamily="2" charset="2"/>
              </a:rPr>
              <a:t>Double click on Mouse or Keyboard</a:t>
            </a:r>
          </a:p>
          <a:p>
            <a:r>
              <a:rPr lang="en-US" b="0" i="0" dirty="0">
                <a:solidFill>
                  <a:schemeClr val="tx1">
                    <a:lumMod val="65000"/>
                    <a:lumOff val="35000"/>
                  </a:schemeClr>
                </a:solidFill>
                <a:effectLst/>
                <a:sym typeface="Wingdings" panose="05000000000000000000" pitchFamily="2" charset="2"/>
              </a:rPr>
              <a:t>Keyboard and Mouse have “Raw Input” interfaces</a:t>
            </a:r>
          </a:p>
          <a:p>
            <a:r>
              <a:rPr lang="en-US" b="0" i="0" dirty="0">
                <a:solidFill>
                  <a:schemeClr val="tx1">
                    <a:lumMod val="65000"/>
                    <a:lumOff val="35000"/>
                  </a:schemeClr>
                </a:solidFill>
                <a:effectLst/>
                <a:sym typeface="Wingdings" panose="05000000000000000000" pitchFamily="2" charset="2"/>
              </a:rPr>
              <a:t>Regular game control has “</a:t>
            </a:r>
            <a:r>
              <a:rPr lang="en-US" b="0" i="0" dirty="0" err="1">
                <a:solidFill>
                  <a:schemeClr val="tx1">
                    <a:lumMod val="65000"/>
                    <a:lumOff val="35000"/>
                  </a:schemeClr>
                </a:solidFill>
                <a:effectLst/>
                <a:sym typeface="Wingdings" panose="05000000000000000000" pitchFamily="2" charset="2"/>
              </a:rPr>
              <a:t>XInput</a:t>
            </a:r>
            <a:r>
              <a:rPr lang="en-US" b="0" i="0" dirty="0">
                <a:solidFill>
                  <a:schemeClr val="tx1">
                    <a:lumMod val="65000"/>
                    <a:lumOff val="35000"/>
                  </a:schemeClr>
                </a:solidFill>
                <a:effectLst/>
                <a:sym typeface="Wingdings" panose="05000000000000000000" pitchFamily="2" charset="2"/>
              </a:rPr>
              <a:t>” interface</a:t>
            </a:r>
          </a:p>
          <a:p>
            <a:r>
              <a:rPr lang="en-US" dirty="0">
                <a:solidFill>
                  <a:schemeClr val="tx1">
                    <a:lumMod val="65000"/>
                    <a:lumOff val="35000"/>
                  </a:schemeClr>
                </a:solidFill>
                <a:sym typeface="Wingdings" panose="05000000000000000000" pitchFamily="2" charset="2"/>
              </a:rPr>
              <a:t>If you have an HID, you’ll see HID as an interface</a:t>
            </a:r>
            <a:endParaRPr lang="en-US" b="0" i="0" dirty="0">
              <a:solidFill>
                <a:schemeClr val="tx1">
                  <a:lumMod val="65000"/>
                  <a:lumOff val="35000"/>
                </a:schemeClr>
              </a:solidFill>
              <a:effectLst/>
            </a:endParaRPr>
          </a:p>
          <a:p>
            <a:r>
              <a:rPr lang="en-US" b="0" i="0" dirty="0">
                <a:solidFill>
                  <a:schemeClr val="tx1">
                    <a:lumMod val="65000"/>
                    <a:lumOff val="35000"/>
                  </a:schemeClr>
                </a:solidFill>
                <a:effectLst/>
              </a:rPr>
              <a:t>To browse through the descriptor of an HID from the Input Debugger, click the </a:t>
            </a:r>
            <a:r>
              <a:rPr lang="en-US" b="1" i="0" dirty="0">
                <a:solidFill>
                  <a:schemeClr val="tx1">
                    <a:lumMod val="65000"/>
                    <a:lumOff val="35000"/>
                  </a:schemeClr>
                </a:solidFill>
                <a:effectLst/>
              </a:rPr>
              <a:t>HID Descriptor</a:t>
            </a:r>
            <a:r>
              <a:rPr lang="en-US" b="0" i="0" dirty="0">
                <a:solidFill>
                  <a:schemeClr val="tx1">
                    <a:lumMod val="65000"/>
                    <a:lumOff val="35000"/>
                  </a:schemeClr>
                </a:solidFill>
                <a:effectLst/>
              </a:rPr>
              <a:t> button in the device debugger window(HID Descriptor appears if you have an HID interface device!) </a:t>
            </a:r>
          </a:p>
          <a:p>
            <a:r>
              <a:rPr lang="en-US" b="0" i="0" dirty="0">
                <a:solidFill>
                  <a:schemeClr val="tx1">
                    <a:lumMod val="65000"/>
                    <a:lumOff val="35000"/>
                  </a:schemeClr>
                </a:solidFill>
                <a:effectLst/>
              </a:rPr>
              <a:t>To specify the type of the device, the HID descriptor reports entry numbers in the </a:t>
            </a:r>
            <a:r>
              <a:rPr lang="en-US" b="0" i="0" u="none" strike="noStrike" dirty="0">
                <a:solidFill>
                  <a:schemeClr val="tx1">
                    <a:lumMod val="65000"/>
                    <a:lumOff val="35000"/>
                  </a:schemeClr>
                </a:solidFill>
                <a:effectLst/>
                <a:hlinkClick r:id="rId3">
                  <a:extLst>
                    <a:ext uri="{A12FA001-AC4F-418D-AE19-62706E023703}">
                      <ahyp:hlinkClr xmlns:ahyp="http://schemas.microsoft.com/office/drawing/2018/hyperlinkcolor" val="tx"/>
                    </a:ext>
                  </a:extLst>
                </a:hlinkClick>
              </a:rPr>
              <a:t>HID usage tables</a:t>
            </a:r>
            <a:r>
              <a:rPr lang="en-US" b="0" i="0" dirty="0">
                <a:solidFill>
                  <a:schemeClr val="tx1">
                    <a:lumMod val="65000"/>
                    <a:lumOff val="35000"/>
                  </a:schemeClr>
                </a:solidFill>
                <a:effectLst/>
              </a:rPr>
              <a:t>, and a list of all controls on the device, along with their data ranges and usages.</a:t>
            </a:r>
            <a:endParaRPr lang="en-CA" dirty="0">
              <a:solidFill>
                <a:schemeClr val="tx1">
                  <a:lumMod val="65000"/>
                  <a:lumOff val="35000"/>
                </a:schemeClr>
              </a:solidFill>
            </a:endParaRPr>
          </a:p>
        </p:txBody>
      </p:sp>
    </p:spTree>
    <p:extLst>
      <p:ext uri="{BB962C8B-B14F-4D97-AF65-F5344CB8AC3E}">
        <p14:creationId xmlns:p14="http://schemas.microsoft.com/office/powerpoint/2010/main" val="1360084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0CE7D-5F58-2595-5570-2A19B133E5C5}"/>
              </a:ext>
            </a:extLst>
          </p:cNvPr>
          <p:cNvSpPr>
            <a:spLocks noGrp="1"/>
          </p:cNvSpPr>
          <p:nvPr>
            <p:ph type="title"/>
          </p:nvPr>
        </p:nvSpPr>
        <p:spPr/>
        <p:txBody>
          <a:bodyPr/>
          <a:lstStyle/>
          <a:p>
            <a:r>
              <a:rPr lang="en-US" dirty="0"/>
              <a:t>Mouse</a:t>
            </a:r>
            <a:endParaRPr lang="en-CA" dirty="0"/>
          </a:p>
        </p:txBody>
      </p:sp>
      <p:pic>
        <p:nvPicPr>
          <p:cNvPr id="5" name="Content Placeholder 4">
            <a:extLst>
              <a:ext uri="{FF2B5EF4-FFF2-40B4-BE49-F238E27FC236}">
                <a16:creationId xmlns:a16="http://schemas.microsoft.com/office/drawing/2014/main" id="{65BE0599-7695-3FA5-63D9-FDFD7B9A7116}"/>
              </a:ext>
            </a:extLst>
          </p:cNvPr>
          <p:cNvPicPr>
            <a:picLocks noGrp="1" noChangeAspect="1"/>
          </p:cNvPicPr>
          <p:nvPr>
            <p:ph idx="1"/>
          </p:nvPr>
        </p:nvPicPr>
        <p:blipFill>
          <a:blip r:embed="rId2"/>
          <a:stretch>
            <a:fillRect/>
          </a:stretch>
        </p:blipFill>
        <p:spPr>
          <a:xfrm>
            <a:off x="1981200" y="1693267"/>
            <a:ext cx="8229600" cy="4339828"/>
          </a:xfrm>
        </p:spPr>
      </p:pic>
    </p:spTree>
    <p:extLst>
      <p:ext uri="{BB962C8B-B14F-4D97-AF65-F5344CB8AC3E}">
        <p14:creationId xmlns:p14="http://schemas.microsoft.com/office/powerpoint/2010/main" val="1748217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7A31C-1B5B-6A91-65FB-B5938BF3A5AE}"/>
              </a:ext>
            </a:extLst>
          </p:cNvPr>
          <p:cNvSpPr>
            <a:spLocks noGrp="1"/>
          </p:cNvSpPr>
          <p:nvPr>
            <p:ph type="title"/>
          </p:nvPr>
        </p:nvSpPr>
        <p:spPr/>
        <p:txBody>
          <a:bodyPr/>
          <a:lstStyle/>
          <a:p>
            <a:r>
              <a:rPr lang="en-US" dirty="0"/>
              <a:t>Input Debugger</a:t>
            </a:r>
            <a:endParaRPr lang="en-CA" dirty="0"/>
          </a:p>
        </p:txBody>
      </p:sp>
      <p:graphicFrame>
        <p:nvGraphicFramePr>
          <p:cNvPr id="4" name="Content Placeholder 3">
            <a:extLst>
              <a:ext uri="{FF2B5EF4-FFF2-40B4-BE49-F238E27FC236}">
                <a16:creationId xmlns:a16="http://schemas.microsoft.com/office/drawing/2014/main" id="{D797A82C-3994-385D-94AB-4CEFDADFBF93}"/>
              </a:ext>
            </a:extLst>
          </p:cNvPr>
          <p:cNvGraphicFramePr>
            <a:graphicFrameLocks noGrp="1"/>
          </p:cNvGraphicFramePr>
          <p:nvPr>
            <p:ph idx="1"/>
          </p:nvPr>
        </p:nvGraphicFramePr>
        <p:xfrm>
          <a:off x="1981199" y="1765496"/>
          <a:ext cx="8229600" cy="4280363"/>
        </p:xfrm>
        <a:graphic>
          <a:graphicData uri="http://schemas.openxmlformats.org/drawingml/2006/table">
            <a:tbl>
              <a:tblPr/>
              <a:tblGrid>
                <a:gridCol w="1195432">
                  <a:extLst>
                    <a:ext uri="{9D8B030D-6E8A-4147-A177-3AD203B41FA5}">
                      <a16:colId xmlns:a16="http://schemas.microsoft.com/office/drawing/2014/main" val="90364342"/>
                    </a:ext>
                  </a:extLst>
                </a:gridCol>
                <a:gridCol w="7034168">
                  <a:extLst>
                    <a:ext uri="{9D8B030D-6E8A-4147-A177-3AD203B41FA5}">
                      <a16:colId xmlns:a16="http://schemas.microsoft.com/office/drawing/2014/main" val="2697973846"/>
                    </a:ext>
                  </a:extLst>
                </a:gridCol>
              </a:tblGrid>
              <a:tr h="179061">
                <a:tc>
                  <a:txBody>
                    <a:bodyPr/>
                    <a:lstStyle/>
                    <a:p>
                      <a:pPr algn="l" fontAlgn="b"/>
                      <a:r>
                        <a:rPr lang="en-CA" sz="1100">
                          <a:effectLst/>
                        </a:rPr>
                        <a:t>Item</a:t>
                      </a:r>
                    </a:p>
                  </a:txBody>
                  <a:tcPr marL="4721" marR="4721" marT="4721" marB="4721" anchor="b">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302964"/>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100">
                          <a:effectLst/>
                        </a:rPr>
                        <a:t>Description</a:t>
                      </a:r>
                    </a:p>
                  </a:txBody>
                  <a:tcPr marL="4721" marR="4721" marT="4721" marB="4721" anchor="b">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702864"/>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52387807"/>
                  </a:ext>
                </a:extLst>
              </a:tr>
              <a:tr h="348575">
                <a:tc>
                  <a:txBody>
                    <a:bodyPr/>
                    <a:lstStyle/>
                    <a:p>
                      <a:pPr fontAlgn="t"/>
                      <a:r>
                        <a:rPr lang="en-CA" sz="1100">
                          <a:effectLst/>
                        </a:rPr>
                        <a:t>Devices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fontAlgn="t"/>
                      <a:r>
                        <a:rPr lang="en-US" sz="1100">
                          <a:effectLst/>
                        </a:rPr>
                        <a:t>A list of all </a:t>
                      </a:r>
                      <a:r>
                        <a:rPr lang="en-US" sz="1100" u="none" strike="noStrike">
                          <a:solidFill>
                            <a:srgbClr val="337AB7"/>
                          </a:solidFill>
                          <a:effectLst/>
                          <a:hlinkClick r:id="rId2"/>
                        </a:rPr>
                        <a:t>Input Devices</a:t>
                      </a:r>
                      <a:r>
                        <a:rPr lang="en-US" sz="1100">
                          <a:effectLst/>
                        </a:rPr>
                        <a:t> that are currently in the system, and a list of unsupported/unrecognized Devices.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35555856"/>
                  </a:ext>
                </a:extLst>
              </a:tr>
              <a:tr h="518087">
                <a:tc>
                  <a:txBody>
                    <a:bodyPr/>
                    <a:lstStyle/>
                    <a:p>
                      <a:pPr fontAlgn="t"/>
                      <a:r>
                        <a:rPr lang="en-CA" sz="1100">
                          <a:effectLst/>
                        </a:rPr>
                        <a:t>Layouts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tc>
                  <a:txBody>
                    <a:bodyPr/>
                    <a:lstStyle/>
                    <a:p>
                      <a:pPr fontAlgn="t"/>
                      <a:r>
                        <a:rPr lang="en-US" sz="1100">
                          <a:effectLst/>
                        </a:rPr>
                        <a:t>A list of all registered Control and Device layouts. This is the database of supported hardware, and information on how to represent a given piece of input hardware.</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010035355"/>
                  </a:ext>
                </a:extLst>
              </a:tr>
              <a:tr h="1196141">
                <a:tc>
                  <a:txBody>
                    <a:bodyPr/>
                    <a:lstStyle/>
                    <a:p>
                      <a:pPr fontAlgn="t"/>
                      <a:r>
                        <a:rPr lang="en-CA" sz="1100">
                          <a:effectLst/>
                        </a:rPr>
                        <a:t>Actions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fontAlgn="t"/>
                      <a:r>
                        <a:rPr lang="en-US" sz="1100">
                          <a:effectLst/>
                        </a:rPr>
                        <a:t>Only visible in Play mode, and only if at least one </a:t>
                      </a:r>
                      <a:r>
                        <a:rPr lang="en-US" sz="1100" u="none" strike="noStrike">
                          <a:solidFill>
                            <a:srgbClr val="337AB7"/>
                          </a:solidFill>
                          <a:effectLst/>
                          <a:hlinkClick r:id="rId3"/>
                        </a:rPr>
                        <a:t>Action</a:t>
                      </a:r>
                      <a:r>
                        <a:rPr lang="en-US" sz="1100">
                          <a:effectLst/>
                        </a:rPr>
                        <a:t> is enabled.</a:t>
                      </a:r>
                      <a:br>
                        <a:rPr lang="en-US" sz="1100">
                          <a:effectLst/>
                        </a:rPr>
                      </a:br>
                      <a:br>
                        <a:rPr lang="en-US" sz="1100">
                          <a:effectLst/>
                        </a:rPr>
                      </a:br>
                      <a:r>
                        <a:rPr lang="en-US" sz="1100">
                          <a:effectLst/>
                        </a:rPr>
                        <a:t>A list of all currently enabled Actions, and the Controls they are bound to.</a:t>
                      </a:r>
                      <a:br>
                        <a:rPr lang="en-US" sz="1100">
                          <a:effectLst/>
                        </a:rPr>
                      </a:br>
                      <a:br>
                        <a:rPr lang="en-US" sz="1100">
                          <a:effectLst/>
                        </a:rPr>
                      </a:br>
                      <a:r>
                        <a:rPr lang="en-US" sz="1100">
                          <a:effectLst/>
                        </a:rPr>
                        <a:t>See </a:t>
                      </a:r>
                      <a:r>
                        <a:rPr lang="en-US" sz="1100" u="none" strike="noStrike">
                          <a:solidFill>
                            <a:srgbClr val="337AB7"/>
                          </a:solidFill>
                          <a:effectLst/>
                          <a:hlinkClick r:id="rId4"/>
                        </a:rPr>
                        <a:t>Debugging Actions</a:t>
                      </a:r>
                      <a:r>
                        <a:rPr lang="en-US" sz="1100">
                          <a:effectLst/>
                        </a:rPr>
                        <a:t>.</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921814710"/>
                  </a:ext>
                </a:extLst>
              </a:tr>
              <a:tr h="1680377">
                <a:tc>
                  <a:txBody>
                    <a:bodyPr/>
                    <a:lstStyle/>
                    <a:p>
                      <a:pPr fontAlgn="t"/>
                      <a:r>
                        <a:rPr lang="en-CA" sz="1100">
                          <a:effectLst/>
                        </a:rPr>
                        <a:t>Users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tc>
                  <a:txBody>
                    <a:bodyPr/>
                    <a:lstStyle/>
                    <a:p>
                      <a:pPr fontAlgn="t"/>
                      <a:r>
                        <a:rPr lang="en-US" sz="1100">
                          <a:effectLst/>
                        </a:rPr>
                        <a:t>Only visible when one or more InputUser instances exist. See documentation on </a:t>
                      </a:r>
                      <a:r>
                        <a:rPr lang="en-US" sz="1100" u="none" strike="noStrike">
                          <a:solidFill>
                            <a:srgbClr val="337AB7"/>
                          </a:solidFill>
                          <a:effectLst/>
                          <a:hlinkClick r:id="rId5"/>
                        </a:rPr>
                        <a:t>user management</a:t>
                      </a:r>
                      <a:r>
                        <a:rPr lang="en-US" sz="1100">
                          <a:effectLst/>
                        </a:rPr>
                        <a:t>.</a:t>
                      </a:r>
                      <a:br>
                        <a:rPr lang="en-US" sz="1100">
                          <a:effectLst/>
                        </a:rPr>
                      </a:br>
                      <a:br>
                        <a:rPr lang="en-US" sz="1100">
                          <a:effectLst/>
                        </a:rPr>
                      </a:br>
                      <a:r>
                        <a:rPr lang="en-US" sz="1100">
                          <a:effectLst/>
                        </a:rPr>
                        <a:t>A list of all currently active users, along with their active Control Schemes and Devices, all their associated Actions, and the Controls these Actions are bound to.</a:t>
                      </a:r>
                      <a:br>
                        <a:rPr lang="en-US" sz="1100">
                          <a:effectLst/>
                        </a:rPr>
                      </a:br>
                      <a:br>
                        <a:rPr lang="en-US" sz="1100">
                          <a:effectLst/>
                        </a:rPr>
                      </a:br>
                      <a:r>
                        <a:rPr lang="en-US" sz="1100">
                          <a:effectLst/>
                        </a:rPr>
                        <a:t>Note that PlayerInput uses InputUser to run. When using PlayerInput components, each player has an entry in this list.</a:t>
                      </a:r>
                      <a:br>
                        <a:rPr lang="en-US" sz="1100">
                          <a:effectLst/>
                        </a:rPr>
                      </a:br>
                      <a:br>
                        <a:rPr lang="en-US" sz="1100">
                          <a:effectLst/>
                        </a:rPr>
                      </a:br>
                      <a:r>
                        <a:rPr lang="en-US" sz="1100">
                          <a:effectLst/>
                        </a:rPr>
                        <a:t>See </a:t>
                      </a:r>
                      <a:r>
                        <a:rPr lang="en-US" sz="1100" u="none" strike="noStrike">
                          <a:solidFill>
                            <a:srgbClr val="337AB7"/>
                          </a:solidFill>
                          <a:effectLst/>
                          <a:hlinkClick r:id="rId6"/>
                        </a:rPr>
                        <a:t>Debugging users and PlayerInput</a:t>
                      </a:r>
                      <a:r>
                        <a:rPr lang="en-US" sz="1100">
                          <a:effectLst/>
                        </a:rPr>
                        <a:t>.</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92010241"/>
                  </a:ext>
                </a:extLst>
              </a:tr>
              <a:tr h="179061">
                <a:tc>
                  <a:txBody>
                    <a:bodyPr/>
                    <a:lstStyle/>
                    <a:p>
                      <a:pPr fontAlgn="t"/>
                      <a:r>
                        <a:rPr lang="en-CA" sz="1100">
                          <a:effectLst/>
                        </a:rPr>
                        <a:t>Settings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tc>
                  <a:txBody>
                    <a:bodyPr/>
                    <a:lstStyle/>
                    <a:p>
                      <a:pPr fontAlgn="t"/>
                      <a:r>
                        <a:rPr lang="en-US" sz="1100">
                          <a:effectLst/>
                        </a:rPr>
                        <a:t>The currently active Input System </a:t>
                      </a:r>
                      <a:r>
                        <a:rPr lang="en-US" sz="1100" u="none" strike="noStrike">
                          <a:solidFill>
                            <a:srgbClr val="337AB7"/>
                          </a:solidFill>
                          <a:effectLst/>
                          <a:hlinkClick r:id="rId7"/>
                        </a:rPr>
                        <a:t>settings</a:t>
                      </a:r>
                      <a:r>
                        <a:rPr lang="en-US" sz="1100">
                          <a:effectLst/>
                        </a:rPr>
                        <a:t>.</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51665776"/>
                  </a:ext>
                </a:extLst>
              </a:tr>
              <a:tr h="179061">
                <a:tc>
                  <a:txBody>
                    <a:bodyPr/>
                    <a:lstStyle/>
                    <a:p>
                      <a:pPr fontAlgn="t"/>
                      <a:r>
                        <a:rPr lang="en-CA" sz="1100" dirty="0">
                          <a:effectLst/>
                        </a:rPr>
                        <a:t>Metrics</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tc>
                  <a:txBody>
                    <a:bodyPr/>
                    <a:lstStyle/>
                    <a:p>
                      <a:pPr fontAlgn="t"/>
                      <a:r>
                        <a:rPr lang="en-US" sz="1100" dirty="0">
                          <a:effectLst/>
                        </a:rPr>
                        <a:t>Statistics about Input System resource usage.</a:t>
                      </a:r>
                    </a:p>
                  </a:txBody>
                  <a:tcPr marL="4721" marR="4721" marT="4721" marB="4721">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709670156"/>
                  </a:ext>
                </a:extLst>
              </a:tr>
            </a:tbl>
          </a:graphicData>
        </a:graphic>
      </p:graphicFrame>
    </p:spTree>
    <p:extLst>
      <p:ext uri="{BB962C8B-B14F-4D97-AF65-F5344CB8AC3E}">
        <p14:creationId xmlns:p14="http://schemas.microsoft.com/office/powerpoint/2010/main" val="1293240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9050C1-5CB1-40DE-B92B-547676C90105}"/>
              </a:ext>
            </a:extLst>
          </p:cNvPr>
          <p:cNvSpPr>
            <a:spLocks noGrp="1"/>
          </p:cNvSpPr>
          <p:nvPr>
            <p:ph type="title"/>
          </p:nvPr>
        </p:nvSpPr>
        <p:spPr/>
        <p:txBody>
          <a:bodyPr/>
          <a:lstStyle/>
          <a:p>
            <a:r>
              <a:rPr lang="en-CA" dirty="0"/>
              <a:t>HID Layout</a:t>
            </a:r>
          </a:p>
        </p:txBody>
      </p:sp>
      <p:sp>
        <p:nvSpPr>
          <p:cNvPr id="6" name="Content Placeholder 5">
            <a:extLst>
              <a:ext uri="{FF2B5EF4-FFF2-40B4-BE49-F238E27FC236}">
                <a16:creationId xmlns:a16="http://schemas.microsoft.com/office/drawing/2014/main" id="{B2FA873A-E7D7-4FED-8E1F-4E2D27906EBA}"/>
              </a:ext>
            </a:extLst>
          </p:cNvPr>
          <p:cNvSpPr>
            <a:spLocks noGrp="1"/>
          </p:cNvSpPr>
          <p:nvPr>
            <p:ph sz="quarter" idx="13"/>
          </p:nvPr>
        </p:nvSpPr>
        <p:spPr>
          <a:xfrm>
            <a:off x="1889760" y="1600200"/>
            <a:ext cx="8321040" cy="4526280"/>
          </a:xfrm>
        </p:spPr>
        <p:txBody>
          <a:bodyPr/>
          <a:lstStyle/>
          <a:p>
            <a:pPr algn="l"/>
            <a:r>
              <a:rPr lang="en-US" b="0" i="0" dirty="0">
                <a:effectLst/>
                <a:latin typeface="+mn-lt"/>
              </a:rPr>
              <a:t>The Input System handles HIDs in one of two ways:</a:t>
            </a:r>
          </a:p>
          <a:p>
            <a:pPr lvl="1">
              <a:buFont typeface="+mj-lt"/>
              <a:buAutoNum type="arabicPeriod"/>
            </a:pPr>
            <a:r>
              <a:rPr lang="en-US" b="0" i="0" dirty="0">
                <a:effectLst/>
                <a:latin typeface="+mn-lt"/>
              </a:rPr>
              <a:t>The system has a known layout for the specific HID.</a:t>
            </a:r>
          </a:p>
          <a:p>
            <a:pPr lvl="1">
              <a:buFont typeface="+mj-lt"/>
              <a:buAutoNum type="arabicPeriod"/>
            </a:pPr>
            <a:r>
              <a:rPr lang="en-US" b="0" i="0" dirty="0">
                <a:effectLst/>
                <a:latin typeface="+mn-lt"/>
              </a:rPr>
              <a:t>If the system does not have a known layout, it auto-generates one for the HID.</a:t>
            </a:r>
          </a:p>
          <a:p>
            <a:br>
              <a:rPr lang="en-US" dirty="0"/>
            </a:br>
            <a:endParaRPr lang="en-CA" dirty="0"/>
          </a:p>
        </p:txBody>
      </p:sp>
      <p:pic>
        <p:nvPicPr>
          <p:cNvPr id="1026" name="Picture 2" descr="HID Descriptor">
            <a:extLst>
              <a:ext uri="{FF2B5EF4-FFF2-40B4-BE49-F238E27FC236}">
                <a16:creationId xmlns:a16="http://schemas.microsoft.com/office/drawing/2014/main" id="{E87284B0-18C0-4BA9-95F3-7E3A70AEEE92}"/>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2731195" y="2668772"/>
            <a:ext cx="6866359" cy="3667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882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0EAC-3D22-5264-1382-639B8BF533B3}"/>
              </a:ext>
            </a:extLst>
          </p:cNvPr>
          <p:cNvSpPr>
            <a:spLocks noGrp="1"/>
          </p:cNvSpPr>
          <p:nvPr>
            <p:ph type="title"/>
          </p:nvPr>
        </p:nvSpPr>
        <p:spPr/>
        <p:txBody>
          <a:bodyPr/>
          <a:lstStyle/>
          <a:p>
            <a:r>
              <a:rPr lang="en-US" dirty="0"/>
              <a:t>Monitoring Devices</a:t>
            </a:r>
            <a:endParaRPr lang="en-CA" dirty="0"/>
          </a:p>
        </p:txBody>
      </p:sp>
      <p:sp>
        <p:nvSpPr>
          <p:cNvPr id="3" name="Content Placeholder 2">
            <a:extLst>
              <a:ext uri="{FF2B5EF4-FFF2-40B4-BE49-F238E27FC236}">
                <a16:creationId xmlns:a16="http://schemas.microsoft.com/office/drawing/2014/main" id="{EDF9C551-7B2A-E4F6-19A1-D753F345F1B2}"/>
              </a:ext>
            </a:extLst>
          </p:cNvPr>
          <p:cNvSpPr>
            <a:spLocks noGrp="1"/>
          </p:cNvSpPr>
          <p:nvPr>
            <p:ph sz="half" idx="2"/>
          </p:nvPr>
        </p:nvSpPr>
        <p:spPr/>
        <p:txBody>
          <a:bodyPr>
            <a:normAutofit fontScale="92500" lnSpcReduction="10000"/>
          </a:bodyPr>
          <a:lstStyle/>
          <a:p>
            <a:pPr marL="0" indent="0">
              <a:buNone/>
            </a:pPr>
            <a:r>
              <a:rPr lang="en-CA" sz="1800" dirty="0" err="1">
                <a:solidFill>
                  <a:srgbClr val="000000"/>
                </a:solidFill>
                <a:latin typeface="Cascadia Mono" panose="020B0609020000020004" pitchFamily="49" charset="0"/>
              </a:rPr>
              <a:t>InputSystem.onDeviceChange</a:t>
            </a:r>
            <a:r>
              <a:rPr lang="en-CA" sz="1800" dirty="0">
                <a:solidFill>
                  <a:srgbClr val="000000"/>
                </a:solidFill>
                <a:latin typeface="Cascadia Mono" panose="020B0609020000020004" pitchFamily="49" charset="0"/>
              </a:rPr>
              <a:t> += (device, change) =&gt;</a:t>
            </a:r>
          </a:p>
          <a:p>
            <a:pPr marL="0" indent="0">
              <a:buNone/>
            </a:pPr>
            <a:r>
              <a:rPr lang="en-CA" sz="1800" dirty="0">
                <a:solidFill>
                  <a:srgbClr val="000000"/>
                </a:solidFill>
                <a:latin typeface="Cascadia Mono" panose="020B0609020000020004" pitchFamily="49" charset="0"/>
              </a:rPr>
              <a:t>  {</a:t>
            </a:r>
          </a:p>
          <a:p>
            <a:pPr marL="0" indent="0">
              <a:buNone/>
            </a:pPr>
            <a:r>
              <a:rPr lang="en-CA" sz="1800" dirty="0">
                <a:solidFill>
                  <a:srgbClr val="000000"/>
                </a:solidFill>
                <a:latin typeface="Cascadia Mono" panose="020B0609020000020004" pitchFamily="49" charset="0"/>
              </a:rPr>
              <a:t>      </a:t>
            </a:r>
            <a:r>
              <a:rPr lang="en-CA" sz="1800" dirty="0">
                <a:solidFill>
                  <a:srgbClr val="0000FF"/>
                </a:solidFill>
                <a:latin typeface="Cascadia Mono" panose="020B0609020000020004" pitchFamily="49" charset="0"/>
              </a:rPr>
              <a:t>switch</a:t>
            </a:r>
            <a:r>
              <a:rPr lang="en-CA" sz="1800" dirty="0">
                <a:solidFill>
                  <a:srgbClr val="000000"/>
                </a:solidFill>
                <a:latin typeface="Cascadia Mono" panose="020B0609020000020004" pitchFamily="49" charset="0"/>
              </a:rPr>
              <a:t> (change)</a:t>
            </a:r>
          </a:p>
          <a:p>
            <a:pPr marL="0" indent="0">
              <a:buNone/>
            </a:pPr>
            <a:r>
              <a:rPr lang="en-CA" sz="1800" dirty="0">
                <a:solidFill>
                  <a:srgbClr val="000000"/>
                </a:solidFill>
                <a:latin typeface="Cascadia Mono" panose="020B0609020000020004" pitchFamily="49" charset="0"/>
              </a:rPr>
              <a:t>      {</a:t>
            </a:r>
          </a:p>
          <a:p>
            <a:pPr marL="0" indent="0">
              <a:buNone/>
            </a:pPr>
            <a:r>
              <a:rPr lang="en-CA" sz="1800" dirty="0">
                <a:solidFill>
                  <a:srgbClr val="000000"/>
                </a:solidFill>
                <a:latin typeface="Cascadia Mono" panose="020B0609020000020004" pitchFamily="49" charset="0"/>
              </a:rPr>
              <a:t>          </a:t>
            </a:r>
            <a:r>
              <a:rPr lang="en-CA" sz="1800" dirty="0">
                <a:solidFill>
                  <a:srgbClr val="0000FF"/>
                </a:solidFill>
                <a:latin typeface="Cascadia Mono" panose="020B0609020000020004" pitchFamily="49" charset="0"/>
              </a:rPr>
              <a:t>case</a:t>
            </a:r>
            <a:r>
              <a:rPr lang="en-CA" sz="1800" dirty="0">
                <a:solidFill>
                  <a:srgbClr val="000000"/>
                </a:solidFill>
                <a:latin typeface="Cascadia Mono" panose="020B0609020000020004" pitchFamily="49" charset="0"/>
              </a:rPr>
              <a:t> </a:t>
            </a:r>
            <a:r>
              <a:rPr lang="en-CA" sz="1800" dirty="0" err="1">
                <a:solidFill>
                  <a:srgbClr val="000000"/>
                </a:solidFill>
                <a:latin typeface="Cascadia Mono" panose="020B0609020000020004" pitchFamily="49" charset="0"/>
              </a:rPr>
              <a:t>InputDeviceChange.Added</a:t>
            </a:r>
            <a:r>
              <a:rPr lang="en-CA" sz="1800" dirty="0">
                <a:solidFill>
                  <a:srgbClr val="000000"/>
                </a:solidFill>
                <a:latin typeface="Cascadia Mono" panose="020B0609020000020004" pitchFamily="49" charset="0"/>
              </a:rPr>
              <a:t>:</a:t>
            </a:r>
          </a:p>
          <a:p>
            <a:pPr marL="0" indent="0">
              <a:buNone/>
            </a:pPr>
            <a:r>
              <a:rPr lang="en-US" sz="1800" dirty="0" err="1">
                <a:solidFill>
                  <a:srgbClr val="000000"/>
                </a:solidFill>
                <a:latin typeface="Cascadia Mono" panose="020B0609020000020004" pitchFamily="49" charset="0"/>
              </a:rPr>
              <a:t>Debug.Log</a:t>
            </a:r>
            <a:r>
              <a:rPr lang="en-US" sz="1800" dirty="0">
                <a:solidFill>
                  <a:srgbClr val="000000"/>
                </a:solidFill>
                <a:latin typeface="Cascadia Mono" panose="020B0609020000020004" pitchFamily="49" charset="0"/>
              </a:rPr>
              <a:t>(</a:t>
            </a:r>
            <a:r>
              <a:rPr lang="en-US" sz="1800" dirty="0">
                <a:solidFill>
                  <a:srgbClr val="A31515"/>
                </a:solidFill>
                <a:latin typeface="Cascadia Mono" panose="020B0609020000020004" pitchFamily="49" charset="0"/>
              </a:rPr>
              <a:t>"New device added: "</a:t>
            </a:r>
            <a:r>
              <a:rPr lang="en-US" sz="1800" dirty="0">
                <a:solidFill>
                  <a:srgbClr val="000000"/>
                </a:solidFill>
                <a:latin typeface="Cascadia Mono" panose="020B0609020000020004" pitchFamily="49" charset="0"/>
              </a:rPr>
              <a:t> + device);</a:t>
            </a:r>
          </a:p>
          <a:p>
            <a:pPr marL="0" indent="0">
              <a:buNone/>
            </a:pPr>
            <a:r>
              <a:rPr lang="en-CA" sz="1800" dirty="0">
                <a:solidFill>
                  <a:srgbClr val="000000"/>
                </a:solidFill>
                <a:latin typeface="Cascadia Mono" panose="020B0609020000020004" pitchFamily="49" charset="0"/>
              </a:rPr>
              <a:t>              </a:t>
            </a:r>
            <a:r>
              <a:rPr lang="en-CA" sz="1800" dirty="0">
                <a:solidFill>
                  <a:srgbClr val="0000FF"/>
                </a:solidFill>
                <a:latin typeface="Cascadia Mono" panose="020B0609020000020004" pitchFamily="49" charset="0"/>
              </a:rPr>
              <a:t>break</a:t>
            </a:r>
            <a:r>
              <a:rPr lang="en-CA" sz="1800" dirty="0">
                <a:solidFill>
                  <a:srgbClr val="000000"/>
                </a:solidFill>
                <a:latin typeface="Cascadia Mono" panose="020B0609020000020004" pitchFamily="49" charset="0"/>
              </a:rPr>
              <a:t>;</a:t>
            </a:r>
          </a:p>
          <a:p>
            <a:pPr marL="0" indent="0">
              <a:buNone/>
            </a:pPr>
            <a:endParaRPr lang="en-CA" sz="1800" dirty="0">
              <a:solidFill>
                <a:srgbClr val="000000"/>
              </a:solidFill>
              <a:latin typeface="Cascadia Mono" panose="020B0609020000020004" pitchFamily="49" charset="0"/>
            </a:endParaRPr>
          </a:p>
          <a:p>
            <a:pPr marL="0" indent="0">
              <a:buNone/>
            </a:pPr>
            <a:r>
              <a:rPr lang="en-CA" sz="1800" dirty="0">
                <a:solidFill>
                  <a:srgbClr val="000000"/>
                </a:solidFill>
                <a:latin typeface="Cascadia Mono" panose="020B0609020000020004" pitchFamily="49" charset="0"/>
              </a:rPr>
              <a:t>          </a:t>
            </a:r>
            <a:r>
              <a:rPr lang="en-CA" sz="1800" dirty="0">
                <a:solidFill>
                  <a:srgbClr val="0000FF"/>
                </a:solidFill>
                <a:latin typeface="Cascadia Mono" panose="020B0609020000020004" pitchFamily="49" charset="0"/>
              </a:rPr>
              <a:t>case</a:t>
            </a:r>
            <a:r>
              <a:rPr lang="en-CA" sz="1800" dirty="0">
                <a:solidFill>
                  <a:srgbClr val="000000"/>
                </a:solidFill>
                <a:latin typeface="Cascadia Mono" panose="020B0609020000020004" pitchFamily="49" charset="0"/>
              </a:rPr>
              <a:t> </a:t>
            </a:r>
            <a:r>
              <a:rPr lang="en-CA" sz="1800" dirty="0" err="1">
                <a:solidFill>
                  <a:srgbClr val="000000"/>
                </a:solidFill>
                <a:latin typeface="Cascadia Mono" panose="020B0609020000020004" pitchFamily="49" charset="0"/>
              </a:rPr>
              <a:t>InputDeviceChange.Removed</a:t>
            </a:r>
            <a:r>
              <a:rPr lang="en-CA" sz="1800" dirty="0">
                <a:solidFill>
                  <a:srgbClr val="000000"/>
                </a:solidFill>
                <a:latin typeface="Cascadia Mono" panose="020B0609020000020004" pitchFamily="49" charset="0"/>
              </a:rPr>
              <a:t>:</a:t>
            </a:r>
          </a:p>
          <a:p>
            <a:pPr marL="0" indent="0">
              <a:buNone/>
            </a:pPr>
            <a:r>
              <a:rPr lang="en-CA" sz="1800" dirty="0" err="1">
                <a:solidFill>
                  <a:srgbClr val="000000"/>
                </a:solidFill>
                <a:latin typeface="Cascadia Mono" panose="020B0609020000020004" pitchFamily="49" charset="0"/>
              </a:rPr>
              <a:t>Debug.Log</a:t>
            </a:r>
            <a:r>
              <a:rPr lang="en-CA" sz="1800" dirty="0">
                <a:solidFill>
                  <a:srgbClr val="000000"/>
                </a:solidFill>
                <a:latin typeface="Cascadia Mono" panose="020B0609020000020004" pitchFamily="49" charset="0"/>
              </a:rPr>
              <a:t>(</a:t>
            </a:r>
            <a:r>
              <a:rPr lang="en-CA" sz="1800" dirty="0">
                <a:solidFill>
                  <a:srgbClr val="A31515"/>
                </a:solidFill>
                <a:latin typeface="Cascadia Mono" panose="020B0609020000020004" pitchFamily="49" charset="0"/>
              </a:rPr>
              <a:t>"Device removed: "</a:t>
            </a:r>
            <a:r>
              <a:rPr lang="en-CA" sz="1800" dirty="0">
                <a:solidFill>
                  <a:srgbClr val="000000"/>
                </a:solidFill>
                <a:latin typeface="Cascadia Mono" panose="020B0609020000020004" pitchFamily="49" charset="0"/>
              </a:rPr>
              <a:t> + device);</a:t>
            </a:r>
          </a:p>
          <a:p>
            <a:pPr marL="0" indent="0">
              <a:buNone/>
            </a:pPr>
            <a:r>
              <a:rPr lang="en-CA" sz="1800" dirty="0">
                <a:solidFill>
                  <a:srgbClr val="000000"/>
                </a:solidFill>
                <a:latin typeface="Cascadia Mono" panose="020B0609020000020004" pitchFamily="49" charset="0"/>
              </a:rPr>
              <a:t>              </a:t>
            </a:r>
            <a:r>
              <a:rPr lang="en-CA" sz="1800" dirty="0">
                <a:solidFill>
                  <a:srgbClr val="0000FF"/>
                </a:solidFill>
                <a:latin typeface="Cascadia Mono" panose="020B0609020000020004" pitchFamily="49" charset="0"/>
              </a:rPr>
              <a:t>break</a:t>
            </a:r>
            <a:r>
              <a:rPr lang="en-CA" sz="1800" dirty="0">
                <a:solidFill>
                  <a:srgbClr val="000000"/>
                </a:solidFill>
                <a:latin typeface="Cascadia Mono" panose="020B0609020000020004" pitchFamily="49" charset="0"/>
              </a:rPr>
              <a:t>;</a:t>
            </a:r>
          </a:p>
          <a:p>
            <a:pPr marL="0" indent="0">
              <a:buNone/>
            </a:pPr>
            <a:r>
              <a:rPr lang="en-CA" sz="1800" dirty="0">
                <a:solidFill>
                  <a:srgbClr val="000000"/>
                </a:solidFill>
                <a:latin typeface="Cascadia Mono" panose="020B0609020000020004" pitchFamily="49" charset="0"/>
              </a:rPr>
              <a:t>      }</a:t>
            </a:r>
          </a:p>
          <a:p>
            <a:pPr marL="0" indent="0">
              <a:buNone/>
            </a:pPr>
            <a:r>
              <a:rPr lang="en-CA" sz="1800" dirty="0">
                <a:solidFill>
                  <a:srgbClr val="000000"/>
                </a:solidFill>
                <a:latin typeface="Cascadia Mono" panose="020B0609020000020004" pitchFamily="49" charset="0"/>
              </a:rPr>
              <a:t>  };</a:t>
            </a:r>
            <a:endParaRPr lang="en-CA" dirty="0"/>
          </a:p>
        </p:txBody>
      </p:sp>
      <p:sp>
        <p:nvSpPr>
          <p:cNvPr id="4" name="Content Placeholder 3">
            <a:extLst>
              <a:ext uri="{FF2B5EF4-FFF2-40B4-BE49-F238E27FC236}">
                <a16:creationId xmlns:a16="http://schemas.microsoft.com/office/drawing/2014/main" id="{C31BF198-C594-432E-F004-F952221EEDFE}"/>
              </a:ext>
            </a:extLst>
          </p:cNvPr>
          <p:cNvSpPr>
            <a:spLocks noGrp="1"/>
          </p:cNvSpPr>
          <p:nvPr>
            <p:ph sz="quarter" idx="13"/>
          </p:nvPr>
        </p:nvSpPr>
        <p:spPr/>
        <p:txBody>
          <a:bodyPr/>
          <a:lstStyle/>
          <a:p>
            <a:r>
              <a:rPr lang="en-US" dirty="0"/>
              <a:t>To be notified when new Devices are added or existing Devices are removed, use </a:t>
            </a:r>
            <a:r>
              <a:rPr lang="en-US" dirty="0" err="1"/>
              <a:t>InputSystem.onDeviceChange</a:t>
            </a:r>
            <a:r>
              <a:rPr lang="en-US" dirty="0"/>
              <a:t>.</a:t>
            </a:r>
            <a:endParaRPr lang="en-CA" dirty="0"/>
          </a:p>
        </p:txBody>
      </p:sp>
    </p:spTree>
    <p:extLst>
      <p:ext uri="{BB962C8B-B14F-4D97-AF65-F5344CB8AC3E}">
        <p14:creationId xmlns:p14="http://schemas.microsoft.com/office/powerpoint/2010/main" val="118939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3B3C84-DCA8-45AA-9BAF-8E0C0D22EFD3}"/>
              </a:ext>
            </a:extLst>
          </p:cNvPr>
          <p:cNvSpPr>
            <a:spLocks noGrp="1"/>
          </p:cNvSpPr>
          <p:nvPr>
            <p:ph type="title"/>
          </p:nvPr>
        </p:nvSpPr>
        <p:spPr/>
        <p:txBody>
          <a:bodyPr/>
          <a:lstStyle/>
          <a:p>
            <a:r>
              <a:rPr lang="en-CA"/>
              <a:t>HID output</a:t>
            </a:r>
          </a:p>
        </p:txBody>
      </p:sp>
      <p:sp>
        <p:nvSpPr>
          <p:cNvPr id="8" name="Content Placeholder 7">
            <a:extLst>
              <a:ext uri="{FF2B5EF4-FFF2-40B4-BE49-F238E27FC236}">
                <a16:creationId xmlns:a16="http://schemas.microsoft.com/office/drawing/2014/main" id="{DAC10B27-64B8-4CBB-A1D3-868636489F5F}"/>
              </a:ext>
            </a:extLst>
          </p:cNvPr>
          <p:cNvSpPr>
            <a:spLocks noGrp="1"/>
          </p:cNvSpPr>
          <p:nvPr>
            <p:ph idx="1"/>
          </p:nvPr>
        </p:nvSpPr>
        <p:spPr/>
        <p:txBody>
          <a:bodyPr>
            <a:normAutofit lnSpcReduction="10000"/>
          </a:bodyPr>
          <a:lstStyle/>
          <a:p>
            <a:r>
              <a:rPr lang="en-US" dirty="0"/>
              <a:t>HIDs can support output </a:t>
            </a:r>
          </a:p>
          <a:p>
            <a:pPr lvl="1"/>
            <a:r>
              <a:rPr lang="en-US" dirty="0"/>
              <a:t>for example, to toggle lights or force feedback motors on a gamepad</a:t>
            </a:r>
          </a:p>
          <a:p>
            <a:r>
              <a:rPr lang="en-US" dirty="0"/>
              <a:t> Unity controls output by sending HID Output Report commands to a Device. </a:t>
            </a:r>
          </a:p>
          <a:p>
            <a:r>
              <a:rPr lang="en-US" dirty="0"/>
              <a:t>Output reports use Device-specific data formats. </a:t>
            </a:r>
          </a:p>
          <a:p>
            <a:r>
              <a:rPr lang="en-US" dirty="0"/>
              <a:t>To use HID Output Reports, call </a:t>
            </a:r>
            <a:r>
              <a:rPr lang="en-US" dirty="0" err="1"/>
              <a:t>InputDevice.ExecuteCommand</a:t>
            </a:r>
            <a:r>
              <a:rPr lang="en-US" dirty="0"/>
              <a:t> to send a command struct with the </a:t>
            </a:r>
            <a:r>
              <a:rPr lang="en-US" dirty="0" err="1"/>
              <a:t>typeStatic</a:t>
            </a:r>
            <a:r>
              <a:rPr lang="en-US" dirty="0"/>
              <a:t> property set as "HIDO" to a Device. </a:t>
            </a:r>
          </a:p>
          <a:p>
            <a:r>
              <a:rPr lang="en-US" dirty="0"/>
              <a:t>The command struct contains the Device-specific data sent out to the HID.</a:t>
            </a:r>
          </a:p>
          <a:p>
            <a:endParaRPr lang="en-US" dirty="0"/>
          </a:p>
          <a:p>
            <a:endParaRPr lang="en-CA" dirty="0"/>
          </a:p>
        </p:txBody>
      </p:sp>
    </p:spTree>
    <p:extLst>
      <p:ext uri="{BB962C8B-B14F-4D97-AF65-F5344CB8AC3E}">
        <p14:creationId xmlns:p14="http://schemas.microsoft.com/office/powerpoint/2010/main" val="1271733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6F50-D0B1-425C-A207-89087F20CAEF}"/>
              </a:ext>
            </a:extLst>
          </p:cNvPr>
          <p:cNvSpPr>
            <a:spLocks noGrp="1"/>
          </p:cNvSpPr>
          <p:nvPr>
            <p:ph type="title"/>
          </p:nvPr>
        </p:nvSpPr>
        <p:spPr/>
        <p:txBody>
          <a:bodyPr/>
          <a:lstStyle/>
          <a:p>
            <a:r>
              <a:rPr lang="en-CA" dirty="0"/>
              <a:t>Input Settings</a:t>
            </a:r>
          </a:p>
        </p:txBody>
      </p:sp>
      <p:sp>
        <p:nvSpPr>
          <p:cNvPr id="3" name="Content Placeholder 2">
            <a:extLst>
              <a:ext uri="{FF2B5EF4-FFF2-40B4-BE49-F238E27FC236}">
                <a16:creationId xmlns:a16="http://schemas.microsoft.com/office/drawing/2014/main" id="{7B9A90CC-E5BB-4CC0-969E-1ADF0E363BE6}"/>
              </a:ext>
            </a:extLst>
          </p:cNvPr>
          <p:cNvSpPr>
            <a:spLocks noGrp="1"/>
          </p:cNvSpPr>
          <p:nvPr>
            <p:ph sz="half" idx="2"/>
          </p:nvPr>
        </p:nvSpPr>
        <p:spPr/>
        <p:txBody>
          <a:bodyPr>
            <a:normAutofit fontScale="70000" lnSpcReduction="20000"/>
          </a:bodyPr>
          <a:lstStyle/>
          <a:p>
            <a:r>
              <a:rPr lang="en-US" b="0" i="0" dirty="0">
                <a:effectLst/>
                <a:latin typeface="+mn-lt"/>
              </a:rPr>
              <a:t>To configure the Input System individually for each project, go to </a:t>
            </a:r>
            <a:r>
              <a:rPr lang="en-US" b="1" i="0" dirty="0">
                <a:effectLst/>
                <a:latin typeface="+mn-lt"/>
              </a:rPr>
              <a:t>Edit &gt; Project Settings… &gt; Input System Package</a:t>
            </a:r>
            <a:r>
              <a:rPr lang="en-US" b="0" i="0" dirty="0">
                <a:effectLst/>
                <a:latin typeface="+mn-lt"/>
              </a:rPr>
              <a:t> from Unity's main menu.</a:t>
            </a:r>
          </a:p>
          <a:p>
            <a:endParaRPr lang="en-US" b="0" i="0" dirty="0">
              <a:effectLst/>
              <a:latin typeface="+mn-lt"/>
            </a:endParaRPr>
          </a:p>
          <a:p>
            <a:r>
              <a:rPr lang="en-US" b="0" i="0" dirty="0">
                <a:effectLst/>
                <a:latin typeface="+mn-lt"/>
              </a:rPr>
              <a:t>The Input System stores input settings in Assets. </a:t>
            </a:r>
          </a:p>
          <a:p>
            <a:endParaRPr lang="en-US" b="0" i="0" dirty="0">
              <a:effectLst/>
              <a:latin typeface="+mn-lt"/>
            </a:endParaRPr>
          </a:p>
          <a:p>
            <a:r>
              <a:rPr lang="en-US" b="0" i="0" dirty="0">
                <a:effectLst/>
                <a:latin typeface="+mn-lt"/>
              </a:rPr>
              <a:t>If your Project doesn't contain an input settings Asset, click </a:t>
            </a:r>
            <a:r>
              <a:rPr lang="en-US" b="1" i="0" dirty="0">
                <a:effectLst/>
                <a:latin typeface="+mn-lt"/>
              </a:rPr>
              <a:t>Create settings asset</a:t>
            </a:r>
            <a:r>
              <a:rPr lang="en-US" b="0" i="0" dirty="0">
                <a:effectLst/>
                <a:latin typeface="+mn-lt"/>
              </a:rPr>
              <a:t> in the Settings window to create one.</a:t>
            </a:r>
          </a:p>
          <a:p>
            <a:endParaRPr lang="en-US" b="0" i="0" dirty="0">
              <a:effectLst/>
              <a:latin typeface="+mn-lt"/>
            </a:endParaRPr>
          </a:p>
          <a:p>
            <a:r>
              <a:rPr lang="en-US" b="0" i="0" dirty="0">
                <a:effectLst/>
                <a:latin typeface="+mn-lt"/>
              </a:rPr>
              <a:t> If your Project contains multiple settings Assets, use the gear menu in the top-right corner of the window to choose which one to use. </a:t>
            </a:r>
          </a:p>
          <a:p>
            <a:pPr marL="0" indent="0">
              <a:buNone/>
            </a:pPr>
            <a:endParaRPr lang="en-US" b="0" i="0" dirty="0">
              <a:effectLst/>
              <a:latin typeface="+mn-lt"/>
            </a:endParaRPr>
          </a:p>
          <a:p>
            <a:r>
              <a:rPr lang="en-US" b="0" i="0" dirty="0">
                <a:effectLst/>
                <a:latin typeface="+mn-lt"/>
              </a:rPr>
              <a:t>You can also use this menu to create additional settings Assets.</a:t>
            </a:r>
            <a:endParaRPr lang="en-CA" dirty="0">
              <a:latin typeface="+mn-lt"/>
            </a:endParaRPr>
          </a:p>
        </p:txBody>
      </p:sp>
      <p:pic>
        <p:nvPicPr>
          <p:cNvPr id="3074" name="Picture 2" descr="Input Settings">
            <a:extLst>
              <a:ext uri="{FF2B5EF4-FFF2-40B4-BE49-F238E27FC236}">
                <a16:creationId xmlns:a16="http://schemas.microsoft.com/office/drawing/2014/main" id="{FF88707A-7AE4-4037-A944-D08C6E53E803}"/>
              </a:ext>
            </a:extLst>
          </p:cNvPr>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1889126" y="2023317"/>
            <a:ext cx="4041775" cy="3679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840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31DB-E6AD-4426-B01D-588FEE4FD870}"/>
              </a:ext>
            </a:extLst>
          </p:cNvPr>
          <p:cNvSpPr>
            <a:spLocks noGrp="1"/>
          </p:cNvSpPr>
          <p:nvPr>
            <p:ph type="title"/>
          </p:nvPr>
        </p:nvSpPr>
        <p:spPr/>
        <p:txBody>
          <a:bodyPr/>
          <a:lstStyle/>
          <a:p>
            <a:r>
              <a:rPr lang="en-CA"/>
              <a:t>Update Mode</a:t>
            </a:r>
          </a:p>
        </p:txBody>
      </p:sp>
      <p:graphicFrame>
        <p:nvGraphicFramePr>
          <p:cNvPr id="5" name="Content Placeholder 4">
            <a:extLst>
              <a:ext uri="{FF2B5EF4-FFF2-40B4-BE49-F238E27FC236}">
                <a16:creationId xmlns:a16="http://schemas.microsoft.com/office/drawing/2014/main" id="{A42BEB1B-B486-4F27-8236-2953751922EE}"/>
              </a:ext>
            </a:extLst>
          </p:cNvPr>
          <p:cNvGraphicFramePr>
            <a:graphicFrameLocks noGrp="1"/>
          </p:cNvGraphicFramePr>
          <p:nvPr>
            <p:ph sz="quarter" idx="13"/>
          </p:nvPr>
        </p:nvGraphicFramePr>
        <p:xfrm>
          <a:off x="2008340" y="1575067"/>
          <a:ext cx="4087660" cy="4846999"/>
        </p:xfrm>
        <a:graphic>
          <a:graphicData uri="http://schemas.openxmlformats.org/drawingml/2006/table">
            <a:tbl>
              <a:tblPr/>
              <a:tblGrid>
                <a:gridCol w="1333827">
                  <a:extLst>
                    <a:ext uri="{9D8B030D-6E8A-4147-A177-3AD203B41FA5}">
                      <a16:colId xmlns:a16="http://schemas.microsoft.com/office/drawing/2014/main" val="679251255"/>
                    </a:ext>
                  </a:extLst>
                </a:gridCol>
                <a:gridCol w="2753833">
                  <a:extLst>
                    <a:ext uri="{9D8B030D-6E8A-4147-A177-3AD203B41FA5}">
                      <a16:colId xmlns:a16="http://schemas.microsoft.com/office/drawing/2014/main" val="68230761"/>
                    </a:ext>
                  </a:extLst>
                </a:gridCol>
              </a:tblGrid>
              <a:tr h="270293">
                <a:tc>
                  <a:txBody>
                    <a:bodyPr/>
                    <a:lstStyle/>
                    <a:p>
                      <a:pPr algn="l" fontAlgn="b"/>
                      <a:r>
                        <a:rPr lang="en-CA" sz="1300">
                          <a:effectLst/>
                        </a:rPr>
                        <a:t>Type</a:t>
                      </a:r>
                    </a:p>
                  </a:txBody>
                  <a:tcPr marL="27199" marR="27199" marT="27199" marB="2719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30DF2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300">
                          <a:effectLst/>
                        </a:rPr>
                        <a:t>Description</a:t>
                      </a:r>
                    </a:p>
                  </a:txBody>
                  <a:tcPr marL="27199" marR="27199" marT="27199" marB="2719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50DD2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84774628"/>
                  </a:ext>
                </a:extLst>
              </a:tr>
              <a:tr h="1106328">
                <a:tc>
                  <a:txBody>
                    <a:bodyPr/>
                    <a:lstStyle/>
                    <a:p>
                      <a:pPr fontAlgn="t"/>
                      <a:r>
                        <a:rPr lang="en-US" sz="1300" u="none" strike="noStrike">
                          <a:solidFill>
                            <a:srgbClr val="337AB7"/>
                          </a:solidFill>
                          <a:effectLst/>
                          <a:hlinkClick r:id="rId2"/>
                        </a:rPr>
                        <a:t>Process Events In Dynamic Update</a:t>
                      </a:r>
                      <a:endParaRPr lang="en-US" sz="1300">
                        <a:effectLst/>
                      </a:endParaRP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300">
                          <a:effectLst/>
                        </a:rPr>
                        <a:t>The Input System processes events at irregular intervals determined by the current framerate.</a:t>
                      </a: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817653491"/>
                  </a:ext>
                </a:extLst>
              </a:tr>
              <a:tr h="1944809">
                <a:tc>
                  <a:txBody>
                    <a:bodyPr/>
                    <a:lstStyle/>
                    <a:p>
                      <a:pPr fontAlgn="t"/>
                      <a:r>
                        <a:rPr lang="en-US" sz="1300" u="none" strike="noStrike">
                          <a:solidFill>
                            <a:srgbClr val="337AB7"/>
                          </a:solidFill>
                          <a:effectLst/>
                          <a:hlinkClick r:id="rId2"/>
                        </a:rPr>
                        <a:t>Process Events In Fixed Update</a:t>
                      </a:r>
                      <a:endParaRPr lang="en-US" sz="1300">
                        <a:effectLst/>
                      </a:endParaRP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300">
                          <a:effectLst/>
                        </a:rPr>
                        <a:t>The Input System processes events at fixed-length intervals. This corresponds to how </a:t>
                      </a:r>
                      <a:r>
                        <a:rPr lang="en-US" sz="1300" u="none" strike="noStrike">
                          <a:solidFill>
                            <a:srgbClr val="337AB7"/>
                          </a:solidFill>
                          <a:effectLst/>
                          <a:hlinkClick r:id="rId3"/>
                        </a:rPr>
                        <a:t>MonoBehaviour.FixedUpdate</a:t>
                      </a:r>
                      <a:r>
                        <a:rPr lang="en-US" sz="1300">
                          <a:effectLst/>
                        </a:rPr>
                        <a:t> operates. The length of each interval is determined by </a:t>
                      </a:r>
                      <a:r>
                        <a:rPr lang="en-US" sz="1300" u="none" strike="noStrike">
                          <a:solidFill>
                            <a:srgbClr val="337AB7"/>
                          </a:solidFill>
                          <a:effectLst/>
                          <a:hlinkClick r:id="rId4"/>
                        </a:rPr>
                        <a:t>Time.fixedDeltaTime</a:t>
                      </a:r>
                      <a:r>
                        <a:rPr lang="en-US" sz="1300">
                          <a:effectLst/>
                        </a:rPr>
                        <a:t>.</a:t>
                      </a: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63682534"/>
                  </a:ext>
                </a:extLst>
              </a:tr>
              <a:tr h="1525569">
                <a:tc>
                  <a:txBody>
                    <a:bodyPr/>
                    <a:lstStyle/>
                    <a:p>
                      <a:pPr fontAlgn="t"/>
                      <a:r>
                        <a:rPr lang="en-CA" sz="1300" u="none" strike="noStrike">
                          <a:solidFill>
                            <a:srgbClr val="337AB7"/>
                          </a:solidFill>
                          <a:effectLst/>
                          <a:hlinkClick r:id="rId2"/>
                        </a:rPr>
                        <a:t>Process Events Manually</a:t>
                      </a:r>
                      <a:endParaRPr lang="en-CA" sz="1300">
                        <a:effectLst/>
                      </a:endParaRP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300">
                          <a:effectLst/>
                        </a:rPr>
                        <a:t>The Input System does not process events automatically. Instead, it processes them whenever you call </a:t>
                      </a:r>
                      <a:r>
                        <a:rPr lang="en-US" sz="1300" u="none" strike="noStrike" err="1">
                          <a:solidFill>
                            <a:srgbClr val="337AB7"/>
                          </a:solidFill>
                          <a:effectLst/>
                          <a:hlinkClick r:id="rId5"/>
                        </a:rPr>
                        <a:t>InputSystem.Update</a:t>
                      </a:r>
                      <a:r>
                        <a:rPr lang="en-US" sz="1300" u="none" strike="noStrike">
                          <a:solidFill>
                            <a:srgbClr val="337AB7"/>
                          </a:solidFill>
                          <a:effectLst/>
                          <a:hlinkClick r:id="rId5"/>
                        </a:rPr>
                        <a:t>()</a:t>
                      </a:r>
                      <a:r>
                        <a:rPr lang="en-US" sz="1300">
                          <a:effectLst/>
                        </a:rPr>
                        <a:t>.</a:t>
                      </a:r>
                    </a:p>
                  </a:txBody>
                  <a:tcPr marL="27199" marR="27199" marT="27199" marB="2719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531157825"/>
                  </a:ext>
                </a:extLst>
              </a:tr>
            </a:tbl>
          </a:graphicData>
        </a:graphic>
      </p:graphicFrame>
      <p:pic>
        <p:nvPicPr>
          <p:cNvPr id="1026" name="Picture 2" descr="Update Mode">
            <a:extLst>
              <a:ext uri="{FF2B5EF4-FFF2-40B4-BE49-F238E27FC236}">
                <a16:creationId xmlns:a16="http://schemas.microsoft.com/office/drawing/2014/main" id="{814E0255-5D7B-4AF6-B7EF-FA2920725B89}"/>
              </a:ext>
            </a:extLst>
          </p:cNvPr>
          <p:cNvPicPr>
            <a:picLocks noGrp="1" noChangeAspect="1" noChangeArrowheads="1"/>
          </p:cNvPicPr>
          <p:nvPr>
            <p:ph sz="half" idx="2"/>
          </p:nvPr>
        </p:nvPicPr>
        <p:blipFill>
          <a:blip r:embed="rId6" cstate="print">
            <a:extLst>
              <a:ext uri="{28A0092B-C50C-407E-A947-70E740481C1C}">
                <a14:useLocalDpi xmlns:a14="http://schemas.microsoft.com/office/drawing/2010/main" val="0"/>
              </a:ext>
            </a:extLst>
          </a:blip>
          <a:srcRect/>
          <a:stretch>
            <a:fillRect/>
          </a:stretch>
        </p:blipFill>
        <p:spPr bwMode="auto">
          <a:xfrm>
            <a:off x="6172200" y="3559356"/>
            <a:ext cx="4038600" cy="60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3299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B5A0B-AFB7-4FE8-B593-9EEFB6446017}"/>
              </a:ext>
            </a:extLst>
          </p:cNvPr>
          <p:cNvSpPr>
            <a:spLocks noGrp="1"/>
          </p:cNvSpPr>
          <p:nvPr>
            <p:ph type="title"/>
          </p:nvPr>
        </p:nvSpPr>
        <p:spPr/>
        <p:txBody>
          <a:bodyPr/>
          <a:lstStyle/>
          <a:p>
            <a:r>
              <a:rPr lang="en-CA" b="0" i="0">
                <a:effectLst/>
              </a:rPr>
              <a:t>Background Behavior</a:t>
            </a:r>
            <a:endParaRPr lang="en-CA"/>
          </a:p>
        </p:txBody>
      </p:sp>
      <p:sp>
        <p:nvSpPr>
          <p:cNvPr id="4" name="Content Placeholder 3">
            <a:extLst>
              <a:ext uri="{FF2B5EF4-FFF2-40B4-BE49-F238E27FC236}">
                <a16:creationId xmlns:a16="http://schemas.microsoft.com/office/drawing/2014/main" id="{1EF1D521-F078-4888-9EE0-AD0827FB6028}"/>
              </a:ext>
            </a:extLst>
          </p:cNvPr>
          <p:cNvSpPr>
            <a:spLocks noGrp="1"/>
          </p:cNvSpPr>
          <p:nvPr>
            <p:ph sz="quarter" idx="13"/>
          </p:nvPr>
        </p:nvSpPr>
        <p:spPr>
          <a:xfrm>
            <a:off x="1889760" y="1600200"/>
            <a:ext cx="7598026" cy="4526280"/>
          </a:xfrm>
        </p:spPr>
        <p:txBody>
          <a:bodyPr>
            <a:normAutofit fontScale="70000" lnSpcReduction="20000"/>
          </a:bodyPr>
          <a:lstStyle/>
          <a:p>
            <a:r>
              <a:rPr lang="en-US" b="0" i="0" dirty="0">
                <a:effectLst/>
              </a:rPr>
              <a:t>What happens when focus is lost or gained and how input behaves while the application is not in the foreground.</a:t>
            </a:r>
          </a:p>
          <a:p>
            <a:endParaRPr lang="en-US" b="0" i="0" dirty="0">
              <a:effectLst/>
            </a:endParaRPr>
          </a:p>
          <a:p>
            <a:r>
              <a:rPr lang="en-US" b="0" i="0" dirty="0">
                <a:effectLst/>
              </a:rPr>
              <a:t>This setting is only relevant when "Run In Background" is enabled in the </a:t>
            </a:r>
            <a:r>
              <a:rPr lang="en-US" b="0" i="0" u="none" strike="noStrike" dirty="0">
                <a:effectLst/>
                <a:hlinkClick r:id="rId2">
                  <a:extLst>
                    <a:ext uri="{A12FA001-AC4F-418D-AE19-62706E023703}">
                      <ahyp:hlinkClr xmlns:ahyp="http://schemas.microsoft.com/office/drawing/2018/hyperlinkcolor" val="tx"/>
                    </a:ext>
                  </a:extLst>
                </a:hlinkClick>
              </a:rPr>
              <a:t>Player Settings</a:t>
            </a:r>
            <a:r>
              <a:rPr lang="en-US" b="0" i="0" dirty="0">
                <a:effectLst/>
              </a:rPr>
              <a:t> for the project.</a:t>
            </a:r>
          </a:p>
          <a:p>
            <a:endParaRPr lang="en-US" b="0" i="0" dirty="0">
              <a:effectLst/>
            </a:endParaRPr>
          </a:p>
          <a:p>
            <a:r>
              <a:rPr lang="en-US" b="0" i="0" dirty="0">
                <a:effectLst/>
              </a:rPr>
              <a:t>Note that in the editor, "Run In Background" is considered to always be enabled as the player loop will be kept running regardless of whether a Game View is focused or not.</a:t>
            </a:r>
          </a:p>
          <a:p>
            <a:pPr marL="0" indent="0">
              <a:buNone/>
            </a:pPr>
            <a:endParaRPr lang="en-US" b="0" i="0" dirty="0">
              <a:effectLst/>
            </a:endParaRPr>
          </a:p>
          <a:p>
            <a:r>
              <a:rPr lang="en-US" b="0" i="0" dirty="0">
                <a:effectLst/>
              </a:rPr>
              <a:t>When a Device is reset, Actions bound to Controls on the device will be cancelled. This ensures, for example, that a user-controlled character in your game doesn't continue to move when focus is lost while the user is pressing one of the W, A, S or D keys.</a:t>
            </a:r>
            <a:endParaRPr lang="en-CA" dirty="0"/>
          </a:p>
        </p:txBody>
      </p:sp>
      <p:pic>
        <p:nvPicPr>
          <p:cNvPr id="2050" name="Picture 2" descr="Background Behavior">
            <a:extLst>
              <a:ext uri="{FF2B5EF4-FFF2-40B4-BE49-F238E27FC236}">
                <a16:creationId xmlns:a16="http://schemas.microsoft.com/office/drawing/2014/main" id="{E1EF2BBE-DD92-41ED-90F0-49CC367A08CD}"/>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4076700" y="5518208"/>
            <a:ext cx="4038600" cy="60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305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11D789-6C71-43BE-9270-4F0A174198A7}"/>
              </a:ext>
            </a:extLst>
          </p:cNvPr>
          <p:cNvSpPr>
            <a:spLocks noGrp="1"/>
          </p:cNvSpPr>
          <p:nvPr>
            <p:ph type="title"/>
          </p:nvPr>
        </p:nvSpPr>
        <p:spPr/>
        <p:txBody>
          <a:bodyPr/>
          <a:lstStyle/>
          <a:p>
            <a:r>
              <a:rPr lang="en-CA" b="0" i="0">
                <a:effectLst/>
              </a:rPr>
              <a:t>Background Behavior</a:t>
            </a:r>
            <a:endParaRPr lang="en-CA"/>
          </a:p>
        </p:txBody>
      </p:sp>
      <p:graphicFrame>
        <p:nvGraphicFramePr>
          <p:cNvPr id="7" name="Content Placeholder 6">
            <a:extLst>
              <a:ext uri="{FF2B5EF4-FFF2-40B4-BE49-F238E27FC236}">
                <a16:creationId xmlns:a16="http://schemas.microsoft.com/office/drawing/2014/main" id="{BF4548D1-DDD3-4597-97E4-2BB62753BA28}"/>
              </a:ext>
            </a:extLst>
          </p:cNvPr>
          <p:cNvGraphicFramePr>
            <a:graphicFrameLocks noGrp="1"/>
          </p:cNvGraphicFramePr>
          <p:nvPr>
            <p:ph idx="1"/>
          </p:nvPr>
        </p:nvGraphicFramePr>
        <p:xfrm>
          <a:off x="1981200" y="1600201"/>
          <a:ext cx="8229600" cy="4597533"/>
        </p:xfrm>
        <a:graphic>
          <a:graphicData uri="http://schemas.openxmlformats.org/drawingml/2006/table">
            <a:tbl>
              <a:tblPr/>
              <a:tblGrid>
                <a:gridCol w="4114800">
                  <a:extLst>
                    <a:ext uri="{9D8B030D-6E8A-4147-A177-3AD203B41FA5}">
                      <a16:colId xmlns:a16="http://schemas.microsoft.com/office/drawing/2014/main" val="159553585"/>
                    </a:ext>
                  </a:extLst>
                </a:gridCol>
                <a:gridCol w="4114800">
                  <a:extLst>
                    <a:ext uri="{9D8B030D-6E8A-4147-A177-3AD203B41FA5}">
                      <a16:colId xmlns:a16="http://schemas.microsoft.com/office/drawing/2014/main" val="758191214"/>
                    </a:ext>
                  </a:extLst>
                </a:gridCol>
              </a:tblGrid>
              <a:tr h="122756">
                <a:tc>
                  <a:txBody>
                    <a:bodyPr/>
                    <a:lstStyle/>
                    <a:p>
                      <a:pPr algn="l" fontAlgn="b"/>
                      <a:r>
                        <a:rPr lang="en-CA" sz="1100">
                          <a:effectLst/>
                          <a:latin typeface="+mj-lt"/>
                        </a:rPr>
                        <a:t>Setting</a:t>
                      </a:r>
                    </a:p>
                  </a:txBody>
                  <a:tcPr marL="13343" marR="13343" marT="13343" marB="13343"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7034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100">
                          <a:effectLst/>
                          <a:latin typeface="+mj-lt"/>
                        </a:rPr>
                        <a:t>Description</a:t>
                      </a:r>
                    </a:p>
                  </a:txBody>
                  <a:tcPr marL="13343" marR="13343" marT="13343" marB="13343"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F035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436347837"/>
                  </a:ext>
                </a:extLst>
              </a:tr>
              <a:tr h="2524505">
                <a:tc>
                  <a:txBody>
                    <a:bodyPr/>
                    <a:lstStyle/>
                    <a:p>
                      <a:pPr fontAlgn="t"/>
                      <a:r>
                        <a:rPr lang="en-US" sz="1100" u="none" strike="noStrike">
                          <a:solidFill>
                            <a:srgbClr val="337AB7"/>
                          </a:solidFill>
                          <a:effectLst/>
                          <a:latin typeface="+mj-lt"/>
                          <a:hlinkClick r:id="rId2"/>
                        </a:rPr>
                        <a:t>Reset And Disable Non Background Devices</a:t>
                      </a:r>
                      <a:endParaRPr lang="en-US" sz="1100">
                        <a:effectLst/>
                        <a:latin typeface="+mj-lt"/>
                      </a:endParaRP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100">
                          <a:effectLst/>
                          <a:latin typeface="+mj-lt"/>
                        </a:rPr>
                        <a:t>When focus is lost, perform a </a:t>
                      </a:r>
                      <a:r>
                        <a:rPr lang="en-US" sz="1100" u="none" strike="noStrike">
                          <a:solidFill>
                            <a:srgbClr val="337AB7"/>
                          </a:solidFill>
                          <a:effectLst/>
                          <a:latin typeface="+mj-lt"/>
                          <a:hlinkClick r:id="rId3"/>
                        </a:rPr>
                        <a:t>soft reset</a:t>
                      </a:r>
                      <a:r>
                        <a:rPr lang="en-US" sz="1100">
                          <a:effectLst/>
                          <a:latin typeface="+mj-lt"/>
                        </a:rPr>
                        <a:t> on all Devices that are not marked as </a:t>
                      </a:r>
                      <a:r>
                        <a:rPr lang="en-US" sz="1100" u="none" strike="noStrike" err="1">
                          <a:solidFill>
                            <a:srgbClr val="337AB7"/>
                          </a:solidFill>
                          <a:effectLst/>
                          <a:latin typeface="+mj-lt"/>
                          <a:hlinkClick r:id="rId4"/>
                        </a:rPr>
                        <a:t>canRunInBackground</a:t>
                      </a:r>
                      <a:r>
                        <a:rPr lang="en-US" sz="1100">
                          <a:effectLst/>
                          <a:latin typeface="+mj-lt"/>
                        </a:rPr>
                        <a:t> and also subsequently </a:t>
                      </a:r>
                      <a:r>
                        <a:rPr lang="en-US" sz="1100" u="none" strike="noStrike">
                          <a:solidFill>
                            <a:srgbClr val="337AB7"/>
                          </a:solidFill>
                          <a:effectLst/>
                          <a:latin typeface="+mj-lt"/>
                          <a:hlinkClick r:id="rId5"/>
                        </a:rPr>
                        <a:t>disable</a:t>
                      </a:r>
                      <a:r>
                        <a:rPr lang="en-US" sz="1100">
                          <a:effectLst/>
                          <a:latin typeface="+mj-lt"/>
                        </a:rPr>
                        <a:t> them. Does not affect Devices marked as being able to run in the background.</a:t>
                      </a:r>
                      <a:br>
                        <a:rPr lang="en-US" sz="1100">
                          <a:effectLst/>
                          <a:latin typeface="+mj-lt"/>
                        </a:rPr>
                      </a:br>
                      <a:br>
                        <a:rPr lang="en-US" sz="1100">
                          <a:effectLst/>
                          <a:latin typeface="+mj-lt"/>
                        </a:rPr>
                      </a:br>
                      <a:r>
                        <a:rPr lang="en-US" sz="1100">
                          <a:effectLst/>
                          <a:latin typeface="+mj-lt"/>
                        </a:rPr>
                        <a:t>When focus is regained, </a:t>
                      </a:r>
                      <a:r>
                        <a:rPr lang="en-US" sz="1100" u="none" strike="noStrike">
                          <a:solidFill>
                            <a:srgbClr val="337AB7"/>
                          </a:solidFill>
                          <a:effectLst/>
                          <a:latin typeface="+mj-lt"/>
                          <a:hlinkClick r:id="rId6"/>
                        </a:rPr>
                        <a:t>re-enable</a:t>
                      </a:r>
                      <a:r>
                        <a:rPr lang="en-US" sz="1100">
                          <a:effectLst/>
                          <a:latin typeface="+mj-lt"/>
                        </a:rPr>
                        <a:t> any Device that has been disabled and also issue a </a:t>
                      </a:r>
                      <a:r>
                        <a:rPr lang="en-US" sz="1100" u="none" strike="noStrike">
                          <a:solidFill>
                            <a:srgbClr val="337AB7"/>
                          </a:solidFill>
                          <a:effectLst/>
                          <a:latin typeface="+mj-lt"/>
                          <a:hlinkClick r:id="rId7"/>
                        </a:rPr>
                        <a:t>sync request</a:t>
                      </a:r>
                      <a:r>
                        <a:rPr lang="en-US" sz="1100">
                          <a:effectLst/>
                          <a:latin typeface="+mj-lt"/>
                        </a:rPr>
                        <a:t> on these Devices in order to update their current state. If a Device is issued a sync request and does not respond to it, </a:t>
                      </a:r>
                      <a:r>
                        <a:rPr lang="en-US" sz="1100" u="none" strike="noStrike">
                          <a:solidFill>
                            <a:srgbClr val="337AB7"/>
                          </a:solidFill>
                          <a:effectLst/>
                          <a:latin typeface="+mj-lt"/>
                          <a:hlinkClick r:id="rId8"/>
                        </a:rPr>
                        <a:t>soft-reset</a:t>
                      </a:r>
                      <a:r>
                        <a:rPr lang="en-US" sz="1100">
                          <a:effectLst/>
                          <a:latin typeface="+mj-lt"/>
                        </a:rPr>
                        <a:t> the Device.</a:t>
                      </a:r>
                      <a:br>
                        <a:rPr lang="en-US" sz="1100">
                          <a:effectLst/>
                          <a:latin typeface="+mj-lt"/>
                        </a:rPr>
                      </a:br>
                      <a:br>
                        <a:rPr lang="en-US" sz="1100">
                          <a:effectLst/>
                          <a:latin typeface="+mj-lt"/>
                        </a:rPr>
                      </a:br>
                      <a:r>
                        <a:rPr lang="en-US" sz="1100">
                          <a:effectLst/>
                          <a:latin typeface="+mj-lt"/>
                        </a:rPr>
                        <a:t>This is the default setting.</a:t>
                      </a: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685755892"/>
                  </a:ext>
                </a:extLst>
              </a:tr>
              <a:tr h="1467736">
                <a:tc>
                  <a:txBody>
                    <a:bodyPr/>
                    <a:lstStyle/>
                    <a:p>
                      <a:pPr fontAlgn="t"/>
                      <a:r>
                        <a:rPr lang="en-US" sz="1100" u="none" strike="noStrike">
                          <a:solidFill>
                            <a:srgbClr val="337AB7"/>
                          </a:solidFill>
                          <a:effectLst/>
                          <a:latin typeface="+mj-lt"/>
                          <a:hlinkClick r:id="rId9"/>
                        </a:rPr>
                        <a:t>Reset And Disable All Devices</a:t>
                      </a:r>
                      <a:endParaRPr lang="en-US" sz="1100">
                        <a:effectLst/>
                        <a:latin typeface="+mj-lt"/>
                      </a:endParaRP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100">
                          <a:effectLst/>
                          <a:latin typeface="+mj-lt"/>
                        </a:rPr>
                        <a:t>When focus is lost, perform a </a:t>
                      </a:r>
                      <a:r>
                        <a:rPr lang="en-US" sz="1100" u="none" strike="noStrike">
                          <a:solidFill>
                            <a:srgbClr val="337AB7"/>
                          </a:solidFill>
                          <a:effectLst/>
                          <a:latin typeface="+mj-lt"/>
                          <a:hlinkClick r:id="rId3"/>
                        </a:rPr>
                        <a:t>soft reset</a:t>
                      </a:r>
                      <a:r>
                        <a:rPr lang="en-US" sz="1100">
                          <a:effectLst/>
                          <a:latin typeface="+mj-lt"/>
                        </a:rPr>
                        <a:t> on all Devices and also subsequently </a:t>
                      </a:r>
                      <a:r>
                        <a:rPr lang="en-US" sz="1100" u="none" strike="noStrike">
                          <a:solidFill>
                            <a:srgbClr val="337AB7"/>
                          </a:solidFill>
                          <a:effectLst/>
                          <a:latin typeface="+mj-lt"/>
                          <a:hlinkClick r:id="rId5"/>
                        </a:rPr>
                        <a:t>disable</a:t>
                      </a:r>
                      <a:r>
                        <a:rPr lang="en-US" sz="1100">
                          <a:effectLst/>
                          <a:latin typeface="+mj-lt"/>
                        </a:rPr>
                        <a:t> them.</a:t>
                      </a:r>
                      <a:br>
                        <a:rPr lang="en-US" sz="1100">
                          <a:effectLst/>
                          <a:latin typeface="+mj-lt"/>
                        </a:rPr>
                      </a:br>
                      <a:br>
                        <a:rPr lang="en-US" sz="1100">
                          <a:effectLst/>
                          <a:latin typeface="+mj-lt"/>
                        </a:rPr>
                      </a:br>
                      <a:r>
                        <a:rPr lang="en-US" sz="1100">
                          <a:effectLst/>
                          <a:latin typeface="+mj-lt"/>
                        </a:rPr>
                        <a:t>When focus is regained, </a:t>
                      </a:r>
                      <a:r>
                        <a:rPr lang="en-US" sz="1100" u="none" strike="noStrike">
                          <a:solidFill>
                            <a:srgbClr val="337AB7"/>
                          </a:solidFill>
                          <a:effectLst/>
                          <a:latin typeface="+mj-lt"/>
                          <a:hlinkClick r:id="rId6"/>
                        </a:rPr>
                        <a:t>re-enable</a:t>
                      </a:r>
                      <a:r>
                        <a:rPr lang="en-US" sz="1100">
                          <a:effectLst/>
                          <a:latin typeface="+mj-lt"/>
                        </a:rPr>
                        <a:t> all Devices and also issue a </a:t>
                      </a:r>
                      <a:r>
                        <a:rPr lang="en-US" sz="1100" u="none" strike="noStrike">
                          <a:solidFill>
                            <a:srgbClr val="337AB7"/>
                          </a:solidFill>
                          <a:effectLst/>
                          <a:latin typeface="+mj-lt"/>
                          <a:hlinkClick r:id="rId7"/>
                        </a:rPr>
                        <a:t>sync request</a:t>
                      </a:r>
                      <a:r>
                        <a:rPr lang="en-US" sz="1100">
                          <a:effectLst/>
                          <a:latin typeface="+mj-lt"/>
                        </a:rPr>
                        <a:t> on each Device in order to update it to its current state. If a device does not respond to the sync request, </a:t>
                      </a:r>
                      <a:r>
                        <a:rPr lang="en-US" sz="1100" u="none" strike="noStrike">
                          <a:solidFill>
                            <a:srgbClr val="337AB7"/>
                          </a:solidFill>
                          <a:effectLst/>
                          <a:latin typeface="+mj-lt"/>
                          <a:hlinkClick r:id="rId8"/>
                        </a:rPr>
                        <a:t>soft-reset</a:t>
                      </a:r>
                      <a:r>
                        <a:rPr lang="en-US" sz="1100">
                          <a:effectLst/>
                          <a:latin typeface="+mj-lt"/>
                        </a:rPr>
                        <a:t> it.</a:t>
                      </a: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86920603"/>
                  </a:ext>
                </a:extLst>
              </a:tr>
              <a:tr h="410966">
                <a:tc>
                  <a:txBody>
                    <a:bodyPr/>
                    <a:lstStyle/>
                    <a:p>
                      <a:pPr fontAlgn="t"/>
                      <a:r>
                        <a:rPr lang="en-CA" sz="1100" u="none" strike="noStrike">
                          <a:solidFill>
                            <a:srgbClr val="337AB7"/>
                          </a:solidFill>
                          <a:effectLst/>
                          <a:latin typeface="+mj-lt"/>
                          <a:hlinkClick r:id="rId10"/>
                        </a:rPr>
                        <a:t>Ignore Focus</a:t>
                      </a:r>
                      <a:endParaRPr lang="en-CA" sz="1100">
                        <a:effectLst/>
                        <a:latin typeface="+mj-lt"/>
                      </a:endParaRP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100">
                          <a:effectLst/>
                          <a:latin typeface="+mj-lt"/>
                        </a:rPr>
                        <a:t>Do nothing when focus is lost. When focus is regained, issue a </a:t>
                      </a:r>
                      <a:r>
                        <a:rPr lang="en-US" sz="1100" u="none" strike="noStrike">
                          <a:solidFill>
                            <a:srgbClr val="337AB7"/>
                          </a:solidFill>
                          <a:effectLst/>
                          <a:latin typeface="+mj-lt"/>
                          <a:hlinkClick r:id="rId11"/>
                        </a:rPr>
                        <a:t>sync request</a:t>
                      </a:r>
                      <a:r>
                        <a:rPr lang="en-US" sz="1100">
                          <a:effectLst/>
                          <a:latin typeface="+mj-lt"/>
                        </a:rPr>
                        <a:t> on all Devices.</a:t>
                      </a:r>
                    </a:p>
                  </a:txBody>
                  <a:tcPr marL="13343" marR="13343" marT="13343" marB="13343">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774415200"/>
                  </a:ext>
                </a:extLst>
              </a:tr>
            </a:tbl>
          </a:graphicData>
        </a:graphic>
      </p:graphicFrame>
    </p:spTree>
    <p:extLst>
      <p:ext uri="{BB962C8B-B14F-4D97-AF65-F5344CB8AC3E}">
        <p14:creationId xmlns:p14="http://schemas.microsoft.com/office/powerpoint/2010/main" val="3290277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3A9C5-A75A-40D0-A5EA-F7DA70A83331}"/>
              </a:ext>
            </a:extLst>
          </p:cNvPr>
          <p:cNvSpPr>
            <a:spLocks noGrp="1"/>
          </p:cNvSpPr>
          <p:nvPr>
            <p:ph type="title"/>
          </p:nvPr>
        </p:nvSpPr>
        <p:spPr/>
        <p:txBody>
          <a:bodyPr/>
          <a:lstStyle/>
          <a:p>
            <a:r>
              <a:rPr lang="en-CA" b="0" i="0">
                <a:effectLst/>
              </a:rPr>
              <a:t>Filter Noise On Current</a:t>
            </a:r>
            <a:endParaRPr lang="en-CA"/>
          </a:p>
        </p:txBody>
      </p:sp>
      <p:sp>
        <p:nvSpPr>
          <p:cNvPr id="3" name="Content Placeholder 2">
            <a:extLst>
              <a:ext uri="{FF2B5EF4-FFF2-40B4-BE49-F238E27FC236}">
                <a16:creationId xmlns:a16="http://schemas.microsoft.com/office/drawing/2014/main" id="{959768E6-EEF8-4400-A221-C1E323A32E71}"/>
              </a:ext>
            </a:extLst>
          </p:cNvPr>
          <p:cNvSpPr>
            <a:spLocks noGrp="1"/>
          </p:cNvSpPr>
          <p:nvPr>
            <p:ph idx="1"/>
          </p:nvPr>
        </p:nvSpPr>
        <p:spPr/>
        <p:txBody>
          <a:bodyPr>
            <a:normAutofit fontScale="92500" lnSpcReduction="10000"/>
          </a:bodyPr>
          <a:lstStyle/>
          <a:p>
            <a:r>
              <a:rPr lang="en-US" dirty="0"/>
              <a:t>Whenever there is input on a Device, the system makes the respective Device .current. </a:t>
            </a:r>
          </a:p>
          <a:p>
            <a:r>
              <a:rPr lang="en-US" dirty="0"/>
              <a:t>For example, if a Gamepad receives new input, </a:t>
            </a:r>
            <a:r>
              <a:rPr lang="en-US" dirty="0" err="1"/>
              <a:t>Gamepad.current</a:t>
            </a:r>
            <a:r>
              <a:rPr lang="en-US" dirty="0"/>
              <a:t> is assigned to that gamepad.</a:t>
            </a:r>
          </a:p>
          <a:p>
            <a:r>
              <a:rPr lang="en-US" dirty="0"/>
              <a:t>Some Devices have noise in their input, and receive input even if nothing is interacting with them.</a:t>
            </a:r>
          </a:p>
          <a:p>
            <a:r>
              <a:rPr lang="en-US" dirty="0"/>
              <a:t>If the user is “not” using the Xbox controller/the PS4 controller, they still push themselves to the front continuously and makes themselves current.</a:t>
            </a:r>
          </a:p>
          <a:p>
            <a:r>
              <a:rPr lang="en-US" dirty="0"/>
              <a:t>This setting is disabled by default, and it's only relevant for apps that use the .current properties (such as </a:t>
            </a:r>
            <a:r>
              <a:rPr lang="en-US" dirty="0" err="1"/>
              <a:t>Gamepad.current</a:t>
            </a:r>
            <a:r>
              <a:rPr lang="en-US" dirty="0"/>
              <a:t>) in the API. </a:t>
            </a:r>
            <a:endParaRPr lang="en-CA" dirty="0"/>
          </a:p>
        </p:txBody>
      </p:sp>
    </p:spTree>
    <p:extLst>
      <p:ext uri="{BB962C8B-B14F-4D97-AF65-F5344CB8AC3E}">
        <p14:creationId xmlns:p14="http://schemas.microsoft.com/office/powerpoint/2010/main" val="2330368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18504-E508-4FCB-9F9C-B8001C4ACA52}"/>
              </a:ext>
            </a:extLst>
          </p:cNvPr>
          <p:cNvSpPr>
            <a:spLocks noGrp="1"/>
          </p:cNvSpPr>
          <p:nvPr>
            <p:ph type="title"/>
          </p:nvPr>
        </p:nvSpPr>
        <p:spPr/>
        <p:txBody>
          <a:bodyPr/>
          <a:lstStyle/>
          <a:p>
            <a:r>
              <a:rPr lang="en-CA"/>
              <a:t>Compensate Orientation</a:t>
            </a:r>
          </a:p>
        </p:txBody>
      </p:sp>
      <p:sp>
        <p:nvSpPr>
          <p:cNvPr id="3" name="Content Placeholder 2">
            <a:extLst>
              <a:ext uri="{FF2B5EF4-FFF2-40B4-BE49-F238E27FC236}">
                <a16:creationId xmlns:a16="http://schemas.microsoft.com/office/drawing/2014/main" id="{BBFC8711-35C8-473E-82B2-DFE037A59BCE}"/>
              </a:ext>
            </a:extLst>
          </p:cNvPr>
          <p:cNvSpPr>
            <a:spLocks noGrp="1"/>
          </p:cNvSpPr>
          <p:nvPr>
            <p:ph idx="1"/>
          </p:nvPr>
        </p:nvSpPr>
        <p:spPr/>
        <p:txBody>
          <a:bodyPr>
            <a:normAutofit fontScale="62500" lnSpcReduction="20000"/>
          </a:bodyPr>
          <a:lstStyle/>
          <a:p>
            <a:r>
              <a:rPr lang="en-US" dirty="0"/>
              <a:t>If this setting is enabled, rotation values reported by sensors are rotated around the Z axis as follows:</a:t>
            </a:r>
          </a:p>
          <a:p>
            <a:pPr lvl="1"/>
            <a:r>
              <a:rPr lang="en-US" dirty="0"/>
              <a:t>Screen orientation			Effect on rotation values</a:t>
            </a:r>
          </a:p>
          <a:p>
            <a:pPr lvl="1"/>
            <a:r>
              <a:rPr lang="en-US" dirty="0" err="1"/>
              <a:t>ScreenOrientation.Portrait</a:t>
            </a:r>
            <a:r>
              <a:rPr lang="en-US" dirty="0"/>
              <a:t>		Values remain unchanged</a:t>
            </a:r>
          </a:p>
          <a:p>
            <a:pPr lvl="1"/>
            <a:r>
              <a:rPr lang="en-US" dirty="0" err="1"/>
              <a:t>ScreenOrientation.PortraitUpsideDown</a:t>
            </a:r>
            <a:r>
              <a:rPr lang="en-US" dirty="0"/>
              <a:t>	Values rotate by 180 degrees.</a:t>
            </a:r>
          </a:p>
          <a:p>
            <a:pPr lvl="1"/>
            <a:r>
              <a:rPr lang="en-US" dirty="0" err="1"/>
              <a:t>ScreenOrientation.LandscapeLeft</a:t>
            </a:r>
            <a:r>
              <a:rPr lang="en-US" dirty="0"/>
              <a:t>	Values rotate by 90 degrees.</a:t>
            </a:r>
          </a:p>
          <a:p>
            <a:pPr lvl="1"/>
            <a:r>
              <a:rPr lang="en-US" dirty="0" err="1"/>
              <a:t>ScreenOrientation.LandscapeRight</a:t>
            </a:r>
            <a:r>
              <a:rPr lang="en-US" dirty="0"/>
              <a:t>	Values rotate by 270 degrees.</a:t>
            </a:r>
          </a:p>
          <a:p>
            <a:pPr lvl="1"/>
            <a:endParaRPr lang="en-US" dirty="0"/>
          </a:p>
          <a:p>
            <a:endParaRPr lang="en-US" dirty="0"/>
          </a:p>
          <a:p>
            <a:r>
              <a:rPr lang="en-US" dirty="0"/>
              <a:t>This setting affects the following sensors:</a:t>
            </a:r>
          </a:p>
          <a:p>
            <a:endParaRPr lang="en-US" dirty="0"/>
          </a:p>
          <a:p>
            <a:pPr lvl="1"/>
            <a:r>
              <a:rPr lang="en-US" dirty="0"/>
              <a:t>Gyroscope</a:t>
            </a:r>
          </a:p>
          <a:p>
            <a:pPr lvl="1"/>
            <a:r>
              <a:rPr lang="en-US" dirty="0" err="1"/>
              <a:t>GravitySensor</a:t>
            </a:r>
            <a:endParaRPr lang="en-US" dirty="0"/>
          </a:p>
          <a:p>
            <a:pPr lvl="1"/>
            <a:r>
              <a:rPr lang="en-US" dirty="0" err="1"/>
              <a:t>AttitudeSensor</a:t>
            </a:r>
            <a:endParaRPr lang="en-US" dirty="0"/>
          </a:p>
          <a:p>
            <a:pPr lvl="1"/>
            <a:r>
              <a:rPr lang="en-US" dirty="0"/>
              <a:t>Accelerometer</a:t>
            </a:r>
          </a:p>
          <a:p>
            <a:pPr lvl="1"/>
            <a:r>
              <a:rPr lang="en-US" dirty="0" err="1"/>
              <a:t>LinearAccelerationSensor</a:t>
            </a:r>
            <a:endParaRPr lang="en-US" dirty="0"/>
          </a:p>
          <a:p>
            <a:endParaRPr lang="en-CA" dirty="0"/>
          </a:p>
        </p:txBody>
      </p:sp>
    </p:spTree>
    <p:extLst>
      <p:ext uri="{BB962C8B-B14F-4D97-AF65-F5344CB8AC3E}">
        <p14:creationId xmlns:p14="http://schemas.microsoft.com/office/powerpoint/2010/main" val="582373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9197F-8B1D-40B3-B9E8-B0857D1FFD9A}"/>
              </a:ext>
            </a:extLst>
          </p:cNvPr>
          <p:cNvSpPr>
            <a:spLocks noGrp="1"/>
          </p:cNvSpPr>
          <p:nvPr>
            <p:ph type="title"/>
          </p:nvPr>
        </p:nvSpPr>
        <p:spPr/>
        <p:txBody>
          <a:bodyPr/>
          <a:lstStyle/>
          <a:p>
            <a:r>
              <a:rPr lang="en-CA"/>
              <a:t>Default value properties</a:t>
            </a:r>
          </a:p>
        </p:txBody>
      </p:sp>
      <p:sp>
        <p:nvSpPr>
          <p:cNvPr id="3" name="Content Placeholder 2">
            <a:extLst>
              <a:ext uri="{FF2B5EF4-FFF2-40B4-BE49-F238E27FC236}">
                <a16:creationId xmlns:a16="http://schemas.microsoft.com/office/drawing/2014/main" id="{004B5A1E-0C62-45DD-A4E7-63701C681300}"/>
              </a:ext>
            </a:extLst>
          </p:cNvPr>
          <p:cNvSpPr>
            <a:spLocks noGrp="1"/>
          </p:cNvSpPr>
          <p:nvPr>
            <p:ph idx="1"/>
          </p:nvPr>
        </p:nvSpPr>
        <p:spPr/>
        <p:txBody>
          <a:bodyPr>
            <a:normAutofit fontScale="47500" lnSpcReduction="20000"/>
          </a:bodyPr>
          <a:lstStyle/>
          <a:p>
            <a:r>
              <a:rPr lang="en-US"/>
              <a:t>Default </a:t>
            </a:r>
            <a:r>
              <a:rPr lang="en-US" err="1"/>
              <a:t>Deadzone</a:t>
            </a:r>
            <a:r>
              <a:rPr lang="en-US"/>
              <a:t> Min	</a:t>
            </a:r>
          </a:p>
          <a:p>
            <a:pPr lvl="1"/>
            <a:r>
              <a:rPr lang="en-US"/>
              <a:t>The default minimum value for Stick </a:t>
            </a:r>
            <a:r>
              <a:rPr lang="en-US" err="1"/>
              <a:t>Deadzone</a:t>
            </a:r>
            <a:r>
              <a:rPr lang="en-US"/>
              <a:t> or Axis </a:t>
            </a:r>
            <a:r>
              <a:rPr lang="en-US" err="1"/>
              <a:t>Deadzone</a:t>
            </a:r>
            <a:r>
              <a:rPr lang="en-US"/>
              <a:t> processors when no min value is explicitly set on the processor.</a:t>
            </a:r>
          </a:p>
          <a:p>
            <a:r>
              <a:rPr lang="en-US"/>
              <a:t>Default </a:t>
            </a:r>
            <a:r>
              <a:rPr lang="en-US" err="1"/>
              <a:t>Deadzone</a:t>
            </a:r>
            <a:r>
              <a:rPr lang="en-US"/>
              <a:t> Max	</a:t>
            </a:r>
          </a:p>
          <a:p>
            <a:pPr lvl="1"/>
            <a:r>
              <a:rPr lang="en-US"/>
              <a:t>The default maximum value for Stick </a:t>
            </a:r>
            <a:r>
              <a:rPr lang="en-US" err="1"/>
              <a:t>Deadzone</a:t>
            </a:r>
            <a:r>
              <a:rPr lang="en-US"/>
              <a:t> or Axis </a:t>
            </a:r>
            <a:r>
              <a:rPr lang="en-US" err="1"/>
              <a:t>Deadzone</a:t>
            </a:r>
            <a:r>
              <a:rPr lang="en-US"/>
              <a:t> processors when no max value is explicitly set on the processor.</a:t>
            </a:r>
          </a:p>
          <a:p>
            <a:r>
              <a:rPr lang="en-US"/>
              <a:t>Default Button Press Point	</a:t>
            </a:r>
          </a:p>
          <a:p>
            <a:pPr lvl="1"/>
            <a:r>
              <a:rPr lang="en-US"/>
              <a:t>The default press point for Button Controls, and for various Interactions. For button Controls which have analog physics inputs (such as triggers on a gamepad), this configures how far they need to be held down for the system to consider them pressed.</a:t>
            </a:r>
          </a:p>
          <a:p>
            <a:r>
              <a:rPr lang="en-US"/>
              <a:t>Default Tap Time	</a:t>
            </a:r>
          </a:p>
          <a:p>
            <a:pPr lvl="1"/>
            <a:r>
              <a:rPr lang="en-US"/>
              <a:t>Default duration for Tap and </a:t>
            </a:r>
            <a:r>
              <a:rPr lang="en-US" err="1"/>
              <a:t>MultiTap</a:t>
            </a:r>
            <a:r>
              <a:rPr lang="en-US"/>
              <a:t> Interactions. Also used by </a:t>
            </a:r>
            <a:r>
              <a:rPr lang="en-US" err="1"/>
              <a:t>by</a:t>
            </a:r>
            <a:r>
              <a:rPr lang="en-US"/>
              <a:t> touchscreen Devices to distinguish taps from to new touches.</a:t>
            </a:r>
          </a:p>
          <a:p>
            <a:r>
              <a:rPr lang="en-US"/>
              <a:t>Default Slow Tap Time	</a:t>
            </a:r>
          </a:p>
          <a:p>
            <a:pPr lvl="1"/>
            <a:r>
              <a:rPr lang="en-US"/>
              <a:t>Default duration for </a:t>
            </a:r>
            <a:r>
              <a:rPr lang="en-US" err="1"/>
              <a:t>SlowTap</a:t>
            </a:r>
            <a:r>
              <a:rPr lang="en-US"/>
              <a:t> Interactions.</a:t>
            </a:r>
          </a:p>
          <a:p>
            <a:r>
              <a:rPr lang="en-US"/>
              <a:t>Default Hold Time	</a:t>
            </a:r>
          </a:p>
          <a:p>
            <a:pPr lvl="1"/>
            <a:r>
              <a:rPr lang="en-US"/>
              <a:t>Default duration for Hold Interactions.</a:t>
            </a:r>
          </a:p>
          <a:p>
            <a:r>
              <a:rPr lang="en-US"/>
              <a:t>Tap Radius	</a:t>
            </a:r>
          </a:p>
          <a:p>
            <a:pPr lvl="1"/>
            <a:r>
              <a:rPr lang="en-US"/>
              <a:t>Maximum distance between two finger taps on a touchscreen Device for the system to consider this a tap of the same touch (as opposed to a new touch).</a:t>
            </a:r>
          </a:p>
          <a:p>
            <a:r>
              <a:rPr lang="en-US"/>
              <a:t>Multi Tap Delay Time	</a:t>
            </a:r>
          </a:p>
          <a:p>
            <a:pPr lvl="1"/>
            <a:r>
              <a:rPr lang="en-US"/>
              <a:t>Default delay between taps for </a:t>
            </a:r>
            <a:r>
              <a:rPr lang="en-US" err="1"/>
              <a:t>MultiTap</a:t>
            </a:r>
            <a:r>
              <a:rPr lang="en-US"/>
              <a:t> Interactions. Also used by touchscreen Devices to count multi-taps (See </a:t>
            </a:r>
            <a:r>
              <a:rPr lang="en-US" err="1"/>
              <a:t>TouchControl.tapCount</a:t>
            </a:r>
            <a:r>
              <a:rPr lang="en-US"/>
              <a:t>).</a:t>
            </a:r>
          </a:p>
          <a:p>
            <a:endParaRPr lang="en-CA"/>
          </a:p>
        </p:txBody>
      </p:sp>
    </p:spTree>
    <p:extLst>
      <p:ext uri="{BB962C8B-B14F-4D97-AF65-F5344CB8AC3E}">
        <p14:creationId xmlns:p14="http://schemas.microsoft.com/office/powerpoint/2010/main" val="27977751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443B-9A54-47E9-91FE-DA5DF55AC220}"/>
              </a:ext>
            </a:extLst>
          </p:cNvPr>
          <p:cNvSpPr>
            <a:spLocks noGrp="1"/>
          </p:cNvSpPr>
          <p:nvPr>
            <p:ph type="title"/>
          </p:nvPr>
        </p:nvSpPr>
        <p:spPr/>
        <p:txBody>
          <a:bodyPr/>
          <a:lstStyle/>
          <a:p>
            <a:r>
              <a:rPr lang="en-CA"/>
              <a:t>Supported Devices</a:t>
            </a:r>
          </a:p>
        </p:txBody>
      </p:sp>
      <p:sp>
        <p:nvSpPr>
          <p:cNvPr id="3" name="Content Placeholder 2">
            <a:extLst>
              <a:ext uri="{FF2B5EF4-FFF2-40B4-BE49-F238E27FC236}">
                <a16:creationId xmlns:a16="http://schemas.microsoft.com/office/drawing/2014/main" id="{7F70FB7C-DB1A-4356-9A3E-1A4C9761AD91}"/>
              </a:ext>
            </a:extLst>
          </p:cNvPr>
          <p:cNvSpPr>
            <a:spLocks noGrp="1"/>
          </p:cNvSpPr>
          <p:nvPr>
            <p:ph idx="1"/>
          </p:nvPr>
        </p:nvSpPr>
        <p:spPr/>
        <p:txBody>
          <a:bodyPr>
            <a:normAutofit fontScale="77500" lnSpcReduction="20000"/>
          </a:bodyPr>
          <a:lstStyle/>
          <a:p>
            <a:r>
              <a:rPr lang="en-US" dirty="0"/>
              <a:t>A Project usually supports a known set of input methods. For example, a mobile app might support only touch, and a console application might support only gamepads. A cross-platform application might support gamepads, mouse, and keyboard, but might not require XR Device support.</a:t>
            </a:r>
          </a:p>
          <a:p>
            <a:endParaRPr lang="en-US" dirty="0"/>
          </a:p>
          <a:p>
            <a:r>
              <a:rPr lang="en-US" dirty="0"/>
              <a:t>To narrow the options that the Editor UI presents to you, and to avoid creating input Devices and consuming input that your application won't use, you can restrict the set of supported Devices on a per-project basis.</a:t>
            </a:r>
          </a:p>
          <a:p>
            <a:endParaRPr lang="en-US" dirty="0"/>
          </a:p>
          <a:p>
            <a:r>
              <a:rPr lang="en-US" dirty="0"/>
              <a:t>If Supported Devices is empty, no restrictions apply, which means that the Input System adds any Device that Unity recognizes and processes input for it. </a:t>
            </a:r>
          </a:p>
          <a:p>
            <a:endParaRPr lang="en-US" dirty="0"/>
          </a:p>
          <a:p>
            <a:r>
              <a:rPr lang="en-US" dirty="0"/>
              <a:t>However, if Support Devices contains one or more entries, the Input System only adds Devices that are of one of the listed types.</a:t>
            </a:r>
            <a:endParaRPr lang="en-CA" dirty="0"/>
          </a:p>
        </p:txBody>
      </p:sp>
    </p:spTree>
    <p:extLst>
      <p:ext uri="{BB962C8B-B14F-4D97-AF65-F5344CB8AC3E}">
        <p14:creationId xmlns:p14="http://schemas.microsoft.com/office/powerpoint/2010/main" val="25371095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92DF-DCBD-4637-940E-0EA3A086ABFB}"/>
              </a:ext>
            </a:extLst>
          </p:cNvPr>
          <p:cNvSpPr>
            <a:spLocks noGrp="1"/>
          </p:cNvSpPr>
          <p:nvPr>
            <p:ph type="title"/>
          </p:nvPr>
        </p:nvSpPr>
        <p:spPr/>
        <p:txBody>
          <a:bodyPr/>
          <a:lstStyle/>
          <a:p>
            <a:r>
              <a:rPr lang="en-CA"/>
              <a:t>Override in Editor</a:t>
            </a:r>
          </a:p>
        </p:txBody>
      </p:sp>
      <p:sp>
        <p:nvSpPr>
          <p:cNvPr id="3" name="Content Placeholder 2">
            <a:extLst>
              <a:ext uri="{FF2B5EF4-FFF2-40B4-BE49-F238E27FC236}">
                <a16:creationId xmlns:a16="http://schemas.microsoft.com/office/drawing/2014/main" id="{D5749F62-A66F-4810-A018-3FC1DD0C4B45}"/>
              </a:ext>
            </a:extLst>
          </p:cNvPr>
          <p:cNvSpPr>
            <a:spLocks noGrp="1"/>
          </p:cNvSpPr>
          <p:nvPr>
            <p:ph idx="1"/>
          </p:nvPr>
        </p:nvSpPr>
        <p:spPr>
          <a:xfrm>
            <a:off x="2076893" y="1834116"/>
            <a:ext cx="8229600" cy="2565546"/>
          </a:xfrm>
        </p:spPr>
        <p:txBody>
          <a:bodyPr>
            <a:normAutofit fontScale="70000" lnSpcReduction="20000"/>
          </a:bodyPr>
          <a:lstStyle/>
          <a:p>
            <a:r>
              <a:rPr lang="en-US"/>
              <a:t>In the Editor, you might want to use input Devices that the application doesn't support. </a:t>
            </a:r>
          </a:p>
          <a:p>
            <a:pPr lvl="1"/>
            <a:r>
              <a:rPr lang="en-US"/>
              <a:t>For example, you might want to use a tablet in the Editor even if your application only supports gamepads.</a:t>
            </a:r>
          </a:p>
          <a:p>
            <a:endParaRPr lang="en-US"/>
          </a:p>
          <a:p>
            <a:r>
              <a:rPr lang="en-US"/>
              <a:t>To force the Editor to add all locally available Devices, even if they're not in the list of Supported Devices, </a:t>
            </a:r>
          </a:p>
          <a:p>
            <a:pPr lvl="1"/>
            <a:r>
              <a:rPr lang="en-US"/>
              <a:t>open the Input Debugger (menu: Window &gt; Analysis &gt; Input Debugger), and select Options &gt; Add Devices Not Listed in 'Supported Devices'.</a:t>
            </a:r>
            <a:endParaRPr lang="en-CA"/>
          </a:p>
        </p:txBody>
      </p:sp>
      <p:pic>
        <p:nvPicPr>
          <p:cNvPr id="6146" name="Picture 2" descr="Add Devices Not Listed In Supported Devices">
            <a:extLst>
              <a:ext uri="{FF2B5EF4-FFF2-40B4-BE49-F238E27FC236}">
                <a16:creationId xmlns:a16="http://schemas.microsoft.com/office/drawing/2014/main" id="{8F4B03DA-0046-473F-AE3B-0B8192786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1716" y="4399662"/>
            <a:ext cx="4558473" cy="2162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079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EACE-62BA-4044-B01D-2BB0836E0C6B}"/>
              </a:ext>
            </a:extLst>
          </p:cNvPr>
          <p:cNvSpPr>
            <a:spLocks noGrp="1"/>
          </p:cNvSpPr>
          <p:nvPr>
            <p:ph type="title"/>
          </p:nvPr>
        </p:nvSpPr>
        <p:spPr/>
        <p:txBody>
          <a:bodyPr/>
          <a:lstStyle/>
          <a:p>
            <a:r>
              <a:rPr lang="en-CA"/>
              <a:t>Platform-specific settings</a:t>
            </a:r>
          </a:p>
        </p:txBody>
      </p:sp>
      <p:sp>
        <p:nvSpPr>
          <p:cNvPr id="3" name="Content Placeholder 2">
            <a:extLst>
              <a:ext uri="{FF2B5EF4-FFF2-40B4-BE49-F238E27FC236}">
                <a16:creationId xmlns:a16="http://schemas.microsoft.com/office/drawing/2014/main" id="{0257B2F0-BB0D-4371-BA39-84E532151E76}"/>
              </a:ext>
            </a:extLst>
          </p:cNvPr>
          <p:cNvSpPr>
            <a:spLocks noGrp="1"/>
          </p:cNvSpPr>
          <p:nvPr>
            <p:ph idx="1"/>
          </p:nvPr>
        </p:nvSpPr>
        <p:spPr>
          <a:xfrm>
            <a:off x="1981199" y="1727792"/>
            <a:ext cx="8229600" cy="4525963"/>
          </a:xfrm>
        </p:spPr>
        <p:txBody>
          <a:bodyPr/>
          <a:lstStyle/>
          <a:p>
            <a:r>
              <a:rPr lang="en-CA" b="0" i="0">
                <a:solidFill>
                  <a:srgbClr val="333333"/>
                </a:solidFill>
                <a:effectLst/>
                <a:latin typeface="Roboto" panose="02000000000000000000" pitchFamily="2" charset="0"/>
              </a:rPr>
              <a:t>iOS/</a:t>
            </a:r>
            <a:r>
              <a:rPr lang="en-CA" b="0" i="0" err="1">
                <a:solidFill>
                  <a:srgbClr val="333333"/>
                </a:solidFill>
                <a:effectLst/>
                <a:latin typeface="Roboto" panose="02000000000000000000" pitchFamily="2" charset="0"/>
              </a:rPr>
              <a:t>tvOS</a:t>
            </a:r>
            <a:endParaRPr lang="en-CA" b="0" i="0">
              <a:solidFill>
                <a:srgbClr val="333333"/>
              </a:solidFill>
              <a:effectLst/>
              <a:latin typeface="Roboto" panose="02000000000000000000" pitchFamily="2" charset="0"/>
            </a:endParaRPr>
          </a:p>
          <a:p>
            <a:r>
              <a:rPr lang="en-US"/>
              <a:t>Motion Usage</a:t>
            </a:r>
          </a:p>
          <a:p>
            <a:pPr lvl="1"/>
            <a:r>
              <a:rPr lang="en-US"/>
              <a:t>Governs access to the pedometer (</a:t>
            </a:r>
            <a:r>
              <a:rPr lang="en-CA" b="0" i="0">
                <a:solidFill>
                  <a:srgbClr val="4D5156"/>
                </a:solidFill>
                <a:effectLst/>
              </a:rPr>
              <a:t> or step-counter)</a:t>
            </a:r>
            <a:r>
              <a:rPr lang="en-US"/>
              <a:t> on the device. If enabled, the Description string supplied in the settings will be added to the application's </a:t>
            </a:r>
            <a:r>
              <a:rPr lang="en-US" err="1"/>
              <a:t>Info.plist</a:t>
            </a:r>
            <a:endParaRPr lang="en-CA"/>
          </a:p>
        </p:txBody>
      </p:sp>
      <p:pic>
        <p:nvPicPr>
          <p:cNvPr id="7170" name="Picture 2" descr="iOSSettings">
            <a:extLst>
              <a:ext uri="{FF2B5EF4-FFF2-40B4-BE49-F238E27FC236}">
                <a16:creationId xmlns:a16="http://schemas.microsoft.com/office/drawing/2014/main" id="{524BF8F6-7783-41DA-99E8-A67DDDF83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38" y="3869920"/>
            <a:ext cx="7248525" cy="145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957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1332-A7C5-459A-A210-2EB44DEDBDDE}"/>
              </a:ext>
            </a:extLst>
          </p:cNvPr>
          <p:cNvSpPr>
            <a:spLocks noGrp="1"/>
          </p:cNvSpPr>
          <p:nvPr>
            <p:ph type="title"/>
          </p:nvPr>
        </p:nvSpPr>
        <p:spPr/>
        <p:txBody>
          <a:bodyPr/>
          <a:lstStyle/>
          <a:p>
            <a:r>
              <a:rPr lang="en-CA"/>
              <a:t>Play Mode Input Behavior</a:t>
            </a:r>
          </a:p>
        </p:txBody>
      </p:sp>
      <p:sp>
        <p:nvSpPr>
          <p:cNvPr id="3" name="Content Placeholder 2">
            <a:extLst>
              <a:ext uri="{FF2B5EF4-FFF2-40B4-BE49-F238E27FC236}">
                <a16:creationId xmlns:a16="http://schemas.microsoft.com/office/drawing/2014/main" id="{A53F5C66-7F9E-41F2-9E0B-9D90118303B4}"/>
              </a:ext>
            </a:extLst>
          </p:cNvPr>
          <p:cNvSpPr>
            <a:spLocks noGrp="1"/>
          </p:cNvSpPr>
          <p:nvPr>
            <p:ph idx="1"/>
          </p:nvPr>
        </p:nvSpPr>
        <p:spPr/>
        <p:txBody>
          <a:bodyPr>
            <a:normAutofit fontScale="92500" lnSpcReduction="10000"/>
          </a:bodyPr>
          <a:lstStyle/>
          <a:p>
            <a:r>
              <a:rPr lang="en-US" dirty="0"/>
              <a:t>Determines how input is handled in the Editor when in play mode. </a:t>
            </a:r>
          </a:p>
          <a:p>
            <a:endParaRPr lang="en-US" dirty="0"/>
          </a:p>
          <a:p>
            <a:r>
              <a:rPr lang="en-US" dirty="0"/>
              <a:t>Unlike in players, in the Editor Unity (and its input backends) will keep running for as long as the Editor is active regardless of whether a Game View is focused or not. </a:t>
            </a:r>
          </a:p>
          <a:p>
            <a:endParaRPr lang="en-US" dirty="0"/>
          </a:p>
          <a:p>
            <a:r>
              <a:rPr lang="en-US" dirty="0"/>
              <a:t>Pointers And Keyboards Respect Game View Focus: This setting is the default.</a:t>
            </a:r>
          </a:p>
          <a:p>
            <a:pPr lvl="1"/>
            <a:r>
              <a:rPr lang="en-US" dirty="0"/>
              <a:t>Only Pointer and Keyboard Devices require the Game View to be focused. Other Devices will route their input into the application regardless of Game View focus.</a:t>
            </a:r>
            <a:endParaRPr lang="en-CA" dirty="0"/>
          </a:p>
        </p:txBody>
      </p:sp>
    </p:spTree>
    <p:extLst>
      <p:ext uri="{BB962C8B-B14F-4D97-AF65-F5344CB8AC3E}">
        <p14:creationId xmlns:p14="http://schemas.microsoft.com/office/powerpoint/2010/main" val="25222238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0DE6-8D46-46C7-94BB-8DA7EDFA37DB}"/>
              </a:ext>
            </a:extLst>
          </p:cNvPr>
          <p:cNvSpPr>
            <a:spLocks noGrp="1"/>
          </p:cNvSpPr>
          <p:nvPr>
            <p:ph type="title"/>
          </p:nvPr>
        </p:nvSpPr>
        <p:spPr/>
        <p:txBody>
          <a:bodyPr/>
          <a:lstStyle/>
          <a:p>
            <a:r>
              <a:rPr lang="en-CA"/>
              <a:t>Supported Input Devices</a:t>
            </a:r>
          </a:p>
        </p:txBody>
      </p:sp>
      <p:graphicFrame>
        <p:nvGraphicFramePr>
          <p:cNvPr id="4" name="Content Placeholder 3">
            <a:extLst>
              <a:ext uri="{FF2B5EF4-FFF2-40B4-BE49-F238E27FC236}">
                <a16:creationId xmlns:a16="http://schemas.microsoft.com/office/drawing/2014/main" id="{74233BD9-C90A-49C3-9163-F603912A8CF1}"/>
              </a:ext>
            </a:extLst>
          </p:cNvPr>
          <p:cNvGraphicFramePr>
            <a:graphicFrameLocks noGrp="1"/>
          </p:cNvGraphicFramePr>
          <p:nvPr>
            <p:ph idx="1"/>
          </p:nvPr>
        </p:nvGraphicFramePr>
        <p:xfrm>
          <a:off x="1981199" y="1600201"/>
          <a:ext cx="8229600" cy="4525963"/>
        </p:xfrm>
        <a:graphic>
          <a:graphicData uri="http://schemas.openxmlformats.org/drawingml/2006/table">
            <a:tbl>
              <a:tblPr/>
              <a:tblGrid>
                <a:gridCol w="935666">
                  <a:extLst>
                    <a:ext uri="{9D8B030D-6E8A-4147-A177-3AD203B41FA5}">
                      <a16:colId xmlns:a16="http://schemas.microsoft.com/office/drawing/2014/main" val="608491190"/>
                    </a:ext>
                  </a:extLst>
                </a:gridCol>
                <a:gridCol w="680484">
                  <a:extLst>
                    <a:ext uri="{9D8B030D-6E8A-4147-A177-3AD203B41FA5}">
                      <a16:colId xmlns:a16="http://schemas.microsoft.com/office/drawing/2014/main" val="1462139488"/>
                    </a:ext>
                  </a:extLst>
                </a:gridCol>
                <a:gridCol w="441250">
                  <a:extLst>
                    <a:ext uri="{9D8B030D-6E8A-4147-A177-3AD203B41FA5}">
                      <a16:colId xmlns:a16="http://schemas.microsoft.com/office/drawing/2014/main" val="248690345"/>
                    </a:ext>
                  </a:extLst>
                </a:gridCol>
                <a:gridCol w="685800">
                  <a:extLst>
                    <a:ext uri="{9D8B030D-6E8A-4147-A177-3AD203B41FA5}">
                      <a16:colId xmlns:a16="http://schemas.microsoft.com/office/drawing/2014/main" val="2332716088"/>
                    </a:ext>
                  </a:extLst>
                </a:gridCol>
                <a:gridCol w="685800">
                  <a:extLst>
                    <a:ext uri="{9D8B030D-6E8A-4147-A177-3AD203B41FA5}">
                      <a16:colId xmlns:a16="http://schemas.microsoft.com/office/drawing/2014/main" val="2145636613"/>
                    </a:ext>
                  </a:extLst>
                </a:gridCol>
                <a:gridCol w="685800">
                  <a:extLst>
                    <a:ext uri="{9D8B030D-6E8A-4147-A177-3AD203B41FA5}">
                      <a16:colId xmlns:a16="http://schemas.microsoft.com/office/drawing/2014/main" val="693176473"/>
                    </a:ext>
                  </a:extLst>
                </a:gridCol>
                <a:gridCol w="685800">
                  <a:extLst>
                    <a:ext uri="{9D8B030D-6E8A-4147-A177-3AD203B41FA5}">
                      <a16:colId xmlns:a16="http://schemas.microsoft.com/office/drawing/2014/main" val="4077931233"/>
                    </a:ext>
                  </a:extLst>
                </a:gridCol>
                <a:gridCol w="685800">
                  <a:extLst>
                    <a:ext uri="{9D8B030D-6E8A-4147-A177-3AD203B41FA5}">
                      <a16:colId xmlns:a16="http://schemas.microsoft.com/office/drawing/2014/main" val="594370553"/>
                    </a:ext>
                  </a:extLst>
                </a:gridCol>
                <a:gridCol w="685800">
                  <a:extLst>
                    <a:ext uri="{9D8B030D-6E8A-4147-A177-3AD203B41FA5}">
                      <a16:colId xmlns:a16="http://schemas.microsoft.com/office/drawing/2014/main" val="913548702"/>
                    </a:ext>
                  </a:extLst>
                </a:gridCol>
                <a:gridCol w="685800">
                  <a:extLst>
                    <a:ext uri="{9D8B030D-6E8A-4147-A177-3AD203B41FA5}">
                      <a16:colId xmlns:a16="http://schemas.microsoft.com/office/drawing/2014/main" val="1428879826"/>
                    </a:ext>
                  </a:extLst>
                </a:gridCol>
                <a:gridCol w="685800">
                  <a:extLst>
                    <a:ext uri="{9D8B030D-6E8A-4147-A177-3AD203B41FA5}">
                      <a16:colId xmlns:a16="http://schemas.microsoft.com/office/drawing/2014/main" val="3304716324"/>
                    </a:ext>
                  </a:extLst>
                </a:gridCol>
                <a:gridCol w="685800">
                  <a:extLst>
                    <a:ext uri="{9D8B030D-6E8A-4147-A177-3AD203B41FA5}">
                      <a16:colId xmlns:a16="http://schemas.microsoft.com/office/drawing/2014/main" val="3780880924"/>
                    </a:ext>
                  </a:extLst>
                </a:gridCol>
              </a:tblGrid>
              <a:tr h="746251">
                <a:tc>
                  <a:txBody>
                    <a:bodyPr/>
                    <a:lstStyle/>
                    <a:p>
                      <a:pPr algn="l" fontAlgn="b"/>
                      <a:r>
                        <a:rPr lang="en-CA" sz="1000">
                          <a:effectLst/>
                          <a:latin typeface="+mj-lt"/>
                        </a:rPr>
                        <a:t>Device</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A045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Windows</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605A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Mac</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605A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Linux</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2044CF"/>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UWP</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10728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Android</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0748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iOS</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30808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tvOS</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50E18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Xbox(3)</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05C89"/>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PS4(3)</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90C41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Switch(3)</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60614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000">
                          <a:effectLst/>
                          <a:latin typeface="+mj-lt"/>
                        </a:rPr>
                        <a:t>WebGL</a:t>
                      </a:r>
                    </a:p>
                  </a:txBody>
                  <a:tcPr marL="24229" marR="24229" marT="24229" marB="24229"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C06348"/>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06467654"/>
                  </a:ext>
                </a:extLst>
              </a:tr>
              <a:tr h="397354">
                <a:tc>
                  <a:txBody>
                    <a:bodyPr/>
                    <a:lstStyle/>
                    <a:p>
                      <a:pPr fontAlgn="t"/>
                      <a:r>
                        <a:rPr lang="en-CA" sz="1000" u="none" strike="noStrike">
                          <a:solidFill>
                            <a:srgbClr val="337AB7"/>
                          </a:solidFill>
                          <a:effectLst/>
                          <a:latin typeface="+mj-lt"/>
                          <a:hlinkClick r:id="rId2"/>
                        </a:rPr>
                        <a:t>Mouse</a:t>
                      </a:r>
                      <a:endParaRPr lang="en-CA" sz="1000">
                        <a:effectLst/>
                        <a:latin typeface="+mj-lt"/>
                      </a:endParaRP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863113824"/>
                  </a:ext>
                </a:extLst>
              </a:tr>
              <a:tr h="746251">
                <a:tc>
                  <a:txBody>
                    <a:bodyPr/>
                    <a:lstStyle/>
                    <a:p>
                      <a:pPr fontAlgn="t"/>
                      <a:r>
                        <a:rPr lang="en-CA" sz="1000" u="none" strike="noStrike">
                          <a:solidFill>
                            <a:srgbClr val="337AB7"/>
                          </a:solidFill>
                          <a:effectLst/>
                          <a:latin typeface="+mj-lt"/>
                          <a:hlinkClick r:id="rId3"/>
                        </a:rPr>
                        <a:t>Keyboard</a:t>
                      </a:r>
                      <a:endParaRPr lang="en-CA" sz="1000">
                        <a:effectLst/>
                        <a:latin typeface="+mj-lt"/>
                      </a:endParaRP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68381820"/>
                  </a:ext>
                </a:extLst>
              </a:tr>
              <a:tr h="397354">
                <a:tc>
                  <a:txBody>
                    <a:bodyPr/>
                    <a:lstStyle/>
                    <a:p>
                      <a:pPr fontAlgn="t"/>
                      <a:r>
                        <a:rPr lang="en-CA" sz="1000" u="none" strike="noStrike">
                          <a:solidFill>
                            <a:srgbClr val="337AB7"/>
                          </a:solidFill>
                          <a:effectLst/>
                          <a:latin typeface="+mj-lt"/>
                          <a:hlinkClick r:id="rId4"/>
                        </a:rPr>
                        <a:t>Pen</a:t>
                      </a:r>
                      <a:endParaRPr lang="en-CA" sz="1000">
                        <a:effectLst/>
                        <a:latin typeface="+mj-lt"/>
                      </a:endParaRP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 (1)</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923900209"/>
                  </a:ext>
                </a:extLst>
              </a:tr>
              <a:tr h="920699">
                <a:tc>
                  <a:txBody>
                    <a:bodyPr/>
                    <a:lstStyle/>
                    <a:p>
                      <a:pPr fontAlgn="t"/>
                      <a:r>
                        <a:rPr lang="en-CA" sz="1000" u="none" strike="noStrike">
                          <a:solidFill>
                            <a:srgbClr val="337AB7"/>
                          </a:solidFill>
                          <a:effectLst/>
                          <a:latin typeface="+mj-lt"/>
                          <a:hlinkClick r:id="rId5"/>
                        </a:rPr>
                        <a:t>Touchscreen</a:t>
                      </a:r>
                      <a:endParaRPr lang="en-CA" sz="1000">
                        <a:effectLst/>
                        <a:latin typeface="+mj-lt"/>
                      </a:endParaRP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Yes(4)</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2340152"/>
                  </a:ext>
                </a:extLst>
              </a:tr>
              <a:tr h="571803">
                <a:tc>
                  <a:txBody>
                    <a:bodyPr/>
                    <a:lstStyle/>
                    <a:p>
                      <a:pPr fontAlgn="t"/>
                      <a:r>
                        <a:rPr lang="en-CA" sz="1000" u="none" strike="noStrike">
                          <a:solidFill>
                            <a:srgbClr val="337AB7"/>
                          </a:solidFill>
                          <a:effectLst/>
                          <a:latin typeface="+mj-lt"/>
                          <a:hlinkClick r:id="rId6"/>
                        </a:rPr>
                        <a:t>Sensors</a:t>
                      </a:r>
                      <a:endParaRPr lang="en-CA" sz="1000">
                        <a:effectLst/>
                        <a:latin typeface="+mj-lt"/>
                      </a:endParaRP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000">
                          <a:effectLst/>
                          <a:latin typeface="+mj-lt"/>
                        </a:rPr>
                        <a:t>Yes(5)</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447369325"/>
                  </a:ext>
                </a:extLst>
              </a:tr>
              <a:tr h="746251">
                <a:tc>
                  <a:txBody>
                    <a:bodyPr/>
                    <a:lstStyle/>
                    <a:p>
                      <a:pPr fontAlgn="t"/>
                      <a:r>
                        <a:rPr lang="en-CA" sz="1000" u="none" strike="noStrike" dirty="0">
                          <a:solidFill>
                            <a:srgbClr val="337AB7"/>
                          </a:solidFill>
                          <a:effectLst/>
                          <a:latin typeface="+mj-lt"/>
                          <a:hlinkClick r:id="rId7"/>
                        </a:rPr>
                        <a:t>Joystick</a:t>
                      </a:r>
                      <a:r>
                        <a:rPr lang="en-CA" sz="1000" dirty="0">
                          <a:effectLst/>
                          <a:latin typeface="+mj-lt"/>
                        </a:rPr>
                        <a:t> </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a:effectLst/>
                          <a:latin typeface="+mj-lt"/>
                        </a:rPr>
                        <a:t>No</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000" dirty="0">
                          <a:effectLst/>
                          <a:latin typeface="+mj-lt"/>
                        </a:rPr>
                        <a:t>Yes</a:t>
                      </a:r>
                    </a:p>
                  </a:txBody>
                  <a:tcPr marL="24229" marR="24229" marT="24229" marB="24229">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12497157"/>
                  </a:ext>
                </a:extLst>
              </a:tr>
            </a:tbl>
          </a:graphicData>
        </a:graphic>
      </p:graphicFrame>
      <p:sp>
        <p:nvSpPr>
          <p:cNvPr id="5" name="Rectangle 1">
            <a:extLst>
              <a:ext uri="{FF2B5EF4-FFF2-40B4-BE49-F238E27FC236}">
                <a16:creationId xmlns:a16="http://schemas.microsoft.com/office/drawing/2014/main" id="{853E64EF-21A6-4789-9D15-F44858D2B872}"/>
              </a:ext>
            </a:extLst>
          </p:cNvPr>
          <p:cNvSpPr>
            <a:spLocks noChangeArrowheads="1"/>
          </p:cNvSpPr>
          <p:nvPr/>
        </p:nvSpPr>
        <p:spPr bwMode="auto">
          <a:xfrm>
            <a:off x="1524001"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en-US" altLang="en-US" sz="1800">
                <a:solidFill>
                  <a:schemeClr val="tx1"/>
                </a:solidFill>
                <a:latin typeface="Arial" panose="020B0604020202020204" pitchFamily="34" charset="0"/>
              </a:rPr>
            </a:br>
            <a:endParaRPr lang="en-US" altLang="en-US" sz="1800">
              <a:solidFill>
                <a:schemeClr val="tx1"/>
              </a:solidFill>
              <a:latin typeface="Arial" panose="020B0604020202020204" pitchFamily="34" charset="0"/>
            </a:endParaRPr>
          </a:p>
        </p:txBody>
      </p:sp>
    </p:spTree>
    <p:extLst>
      <p:ext uri="{BB962C8B-B14F-4D97-AF65-F5344CB8AC3E}">
        <p14:creationId xmlns:p14="http://schemas.microsoft.com/office/powerpoint/2010/main" val="29106129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694C-7DCC-4FD6-9447-8DA2680C6CBF}"/>
              </a:ext>
            </a:extLst>
          </p:cNvPr>
          <p:cNvSpPr>
            <a:spLocks noGrp="1"/>
          </p:cNvSpPr>
          <p:nvPr>
            <p:ph type="title"/>
          </p:nvPr>
        </p:nvSpPr>
        <p:spPr/>
        <p:txBody>
          <a:bodyPr/>
          <a:lstStyle/>
          <a:p>
            <a:r>
              <a:rPr lang="en-CA"/>
              <a:t>Pointers</a:t>
            </a:r>
          </a:p>
        </p:txBody>
      </p:sp>
      <p:sp>
        <p:nvSpPr>
          <p:cNvPr id="3" name="Content Placeholder 2">
            <a:extLst>
              <a:ext uri="{FF2B5EF4-FFF2-40B4-BE49-F238E27FC236}">
                <a16:creationId xmlns:a16="http://schemas.microsoft.com/office/drawing/2014/main" id="{C717DB73-2CE6-4FE7-917F-3F772EBCDBB0}"/>
              </a:ext>
            </a:extLst>
          </p:cNvPr>
          <p:cNvSpPr>
            <a:spLocks noGrp="1"/>
          </p:cNvSpPr>
          <p:nvPr>
            <p:ph idx="1"/>
          </p:nvPr>
        </p:nvSpPr>
        <p:spPr/>
        <p:txBody>
          <a:bodyPr/>
          <a:lstStyle/>
          <a:p>
            <a:r>
              <a:rPr lang="en-US" dirty="0"/>
              <a:t>Pointer Devices are defined as </a:t>
            </a:r>
            <a:r>
              <a:rPr lang="en-US" dirty="0" err="1"/>
              <a:t>InputDevices</a:t>
            </a:r>
            <a:r>
              <a:rPr lang="en-US" dirty="0"/>
              <a:t> that track positions on a 2D surface. </a:t>
            </a:r>
          </a:p>
          <a:p>
            <a:endParaRPr lang="en-US" dirty="0"/>
          </a:p>
          <a:p>
            <a:r>
              <a:rPr lang="en-US" dirty="0"/>
              <a:t>The Input System supports three types of pointers:</a:t>
            </a:r>
          </a:p>
          <a:p>
            <a:pPr lvl="1"/>
            <a:r>
              <a:rPr lang="en-US" dirty="0"/>
              <a:t>Touch</a:t>
            </a:r>
          </a:p>
          <a:p>
            <a:pPr lvl="1"/>
            <a:r>
              <a:rPr lang="en-US" dirty="0"/>
              <a:t>Mouse</a:t>
            </a:r>
          </a:p>
          <a:p>
            <a:pPr lvl="1"/>
            <a:r>
              <a:rPr lang="en-US" dirty="0"/>
              <a:t>Pen</a:t>
            </a:r>
          </a:p>
          <a:p>
            <a:endParaRPr lang="en-CA" dirty="0"/>
          </a:p>
          <a:p>
            <a:r>
              <a:rPr lang="en-US" dirty="0"/>
              <a:t>Each of these types implements a common set of Controls.</a:t>
            </a:r>
            <a:endParaRPr lang="en-CA" dirty="0"/>
          </a:p>
        </p:txBody>
      </p:sp>
    </p:spTree>
    <p:extLst>
      <p:ext uri="{BB962C8B-B14F-4D97-AF65-F5344CB8AC3E}">
        <p14:creationId xmlns:p14="http://schemas.microsoft.com/office/powerpoint/2010/main" val="38716844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B056F-193A-483A-83AD-5D91621941EE}"/>
              </a:ext>
            </a:extLst>
          </p:cNvPr>
          <p:cNvSpPr>
            <a:spLocks noGrp="1"/>
          </p:cNvSpPr>
          <p:nvPr>
            <p:ph type="title"/>
          </p:nvPr>
        </p:nvSpPr>
        <p:spPr/>
        <p:txBody>
          <a:bodyPr/>
          <a:lstStyle/>
          <a:p>
            <a:r>
              <a:rPr lang="en-CA"/>
              <a:t>Pointer Controls</a:t>
            </a:r>
          </a:p>
        </p:txBody>
      </p:sp>
      <p:graphicFrame>
        <p:nvGraphicFramePr>
          <p:cNvPr id="8" name="Content Placeholder 7">
            <a:extLst>
              <a:ext uri="{FF2B5EF4-FFF2-40B4-BE49-F238E27FC236}">
                <a16:creationId xmlns:a16="http://schemas.microsoft.com/office/drawing/2014/main" id="{94637C57-C0DD-48B5-9357-EE0A1ABA92E1}"/>
              </a:ext>
            </a:extLst>
          </p:cNvPr>
          <p:cNvGraphicFramePr>
            <a:graphicFrameLocks noGrp="1"/>
          </p:cNvGraphicFramePr>
          <p:nvPr>
            <p:ph idx="1"/>
          </p:nvPr>
        </p:nvGraphicFramePr>
        <p:xfrm>
          <a:off x="1981201" y="1600200"/>
          <a:ext cx="8335926" cy="4680778"/>
        </p:xfrm>
        <a:graphic>
          <a:graphicData uri="http://schemas.openxmlformats.org/drawingml/2006/table">
            <a:tbl>
              <a:tblPr/>
              <a:tblGrid>
                <a:gridCol w="2778642">
                  <a:extLst>
                    <a:ext uri="{9D8B030D-6E8A-4147-A177-3AD203B41FA5}">
                      <a16:colId xmlns:a16="http://schemas.microsoft.com/office/drawing/2014/main" val="1794085770"/>
                    </a:ext>
                  </a:extLst>
                </a:gridCol>
                <a:gridCol w="2778642">
                  <a:extLst>
                    <a:ext uri="{9D8B030D-6E8A-4147-A177-3AD203B41FA5}">
                      <a16:colId xmlns:a16="http://schemas.microsoft.com/office/drawing/2014/main" val="3414351159"/>
                    </a:ext>
                  </a:extLst>
                </a:gridCol>
                <a:gridCol w="2778642">
                  <a:extLst>
                    <a:ext uri="{9D8B030D-6E8A-4147-A177-3AD203B41FA5}">
                      <a16:colId xmlns:a16="http://schemas.microsoft.com/office/drawing/2014/main" val="497578377"/>
                    </a:ext>
                  </a:extLst>
                </a:gridCol>
              </a:tblGrid>
              <a:tr h="118832">
                <a:tc>
                  <a:txBody>
                    <a:bodyPr/>
                    <a:lstStyle/>
                    <a:p>
                      <a:pPr algn="l" fontAlgn="b"/>
                      <a:r>
                        <a:rPr lang="en-CA" sz="1200">
                          <a:effectLst/>
                          <a:latin typeface="+mj-lt"/>
                        </a:rPr>
                        <a:t>Control</a:t>
                      </a:r>
                    </a:p>
                  </a:txBody>
                  <a:tcPr marL="12917" marR="12917" marT="12917" marB="12917"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C0B801"/>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200">
                          <a:effectLst/>
                          <a:latin typeface="+mj-lt"/>
                        </a:rPr>
                        <a:t>Type</a:t>
                      </a:r>
                    </a:p>
                  </a:txBody>
                  <a:tcPr marL="12917" marR="12917" marT="12917" marB="12917"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20B201"/>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b"/>
                      <a:r>
                        <a:rPr lang="en-CA" sz="1200">
                          <a:effectLst/>
                          <a:latin typeface="+mj-lt"/>
                        </a:rPr>
                        <a:t>Description</a:t>
                      </a:r>
                    </a:p>
                  </a:txBody>
                  <a:tcPr marL="12917" marR="12917" marT="12917" marB="12917" anchor="b">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C0B901"/>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82263754"/>
                  </a:ext>
                </a:extLst>
              </a:tr>
              <a:tr h="397830">
                <a:tc>
                  <a:txBody>
                    <a:bodyPr/>
                    <a:lstStyle/>
                    <a:p>
                      <a:pPr fontAlgn="t"/>
                      <a:r>
                        <a:rPr lang="en-CA" sz="1200" u="none" strike="noStrike">
                          <a:solidFill>
                            <a:srgbClr val="337AB7"/>
                          </a:solidFill>
                          <a:effectLst/>
                          <a:latin typeface="+mj-lt"/>
                          <a:hlinkClick r:id="rId3"/>
                        </a:rPr>
                        <a:t>position</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200" u="none" strike="noStrike">
                          <a:solidFill>
                            <a:srgbClr val="337AB7"/>
                          </a:solidFill>
                          <a:effectLst/>
                          <a:latin typeface="+mj-lt"/>
                          <a:hlinkClick r:id="rId4"/>
                        </a:rPr>
                        <a:t>Vector2Control</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200">
                          <a:effectLst/>
                          <a:latin typeface="+mj-lt"/>
                        </a:rPr>
                        <a:t>The current pointer coordinates in window space.</a:t>
                      </a: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417337230"/>
                  </a:ext>
                </a:extLst>
              </a:tr>
              <a:tr h="1606820">
                <a:tc>
                  <a:txBody>
                    <a:bodyPr/>
                    <a:lstStyle/>
                    <a:p>
                      <a:pPr fontAlgn="t"/>
                      <a:r>
                        <a:rPr lang="en-CA" sz="1200" u="none" strike="noStrike">
                          <a:solidFill>
                            <a:srgbClr val="337AB7"/>
                          </a:solidFill>
                          <a:effectLst/>
                          <a:latin typeface="+mj-lt"/>
                          <a:hlinkClick r:id="rId5"/>
                        </a:rPr>
                        <a:t>delta</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200" u="none" strike="noStrike">
                          <a:solidFill>
                            <a:srgbClr val="337AB7"/>
                          </a:solidFill>
                          <a:effectLst/>
                          <a:latin typeface="+mj-lt"/>
                          <a:hlinkClick r:id="rId4"/>
                        </a:rPr>
                        <a:t>Vector2Control</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200">
                          <a:effectLst/>
                          <a:latin typeface="+mj-lt"/>
                        </a:rPr>
                        <a:t>Provides motion delta in pixels accumulated (summed) over the duration of the current frame/update. Resets to (0,0) each frame.</a:t>
                      </a:r>
                      <a:br>
                        <a:rPr lang="en-US" sz="1200">
                          <a:effectLst/>
                          <a:latin typeface="+mj-lt"/>
                        </a:rPr>
                      </a:br>
                      <a:br>
                        <a:rPr lang="en-US" sz="1200">
                          <a:effectLst/>
                          <a:latin typeface="+mj-lt"/>
                        </a:rPr>
                      </a:br>
                      <a:r>
                        <a:rPr lang="en-US" sz="1200">
                          <a:effectLst/>
                          <a:latin typeface="+mj-lt"/>
                        </a:rPr>
                        <a:t>Note that the resolution of deltas depends on the specific hardware and/or platform.</a:t>
                      </a: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575156949"/>
                  </a:ext>
                </a:extLst>
              </a:tr>
              <a:tr h="490829">
                <a:tc>
                  <a:txBody>
                    <a:bodyPr/>
                    <a:lstStyle/>
                    <a:p>
                      <a:pPr fontAlgn="t"/>
                      <a:r>
                        <a:rPr lang="en-CA" sz="1200" u="none" strike="noStrike">
                          <a:solidFill>
                            <a:srgbClr val="337AB7"/>
                          </a:solidFill>
                          <a:effectLst/>
                          <a:latin typeface="+mj-lt"/>
                          <a:hlinkClick r:id="rId6"/>
                        </a:rPr>
                        <a:t>press</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200" u="none" strike="noStrike">
                          <a:solidFill>
                            <a:srgbClr val="337AB7"/>
                          </a:solidFill>
                          <a:effectLst/>
                          <a:latin typeface="+mj-lt"/>
                          <a:hlinkClick r:id="rId7"/>
                        </a:rPr>
                        <a:t>ButtonControl</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200">
                          <a:effectLst/>
                          <a:latin typeface="+mj-lt"/>
                        </a:rPr>
                        <a:t>Whether the pointer or its primary button is pressed down.</a:t>
                      </a: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23530857"/>
                  </a:ext>
                </a:extLst>
              </a:tr>
              <a:tr h="1327822">
                <a:tc>
                  <a:txBody>
                    <a:bodyPr/>
                    <a:lstStyle/>
                    <a:p>
                      <a:pPr fontAlgn="t"/>
                      <a:r>
                        <a:rPr lang="en-CA" sz="1200" u="none" strike="noStrike">
                          <a:solidFill>
                            <a:srgbClr val="337AB7"/>
                          </a:solidFill>
                          <a:effectLst/>
                          <a:latin typeface="+mj-lt"/>
                          <a:hlinkClick r:id="rId8"/>
                        </a:rPr>
                        <a:t>pressure</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CA" sz="1200" u="none" strike="noStrike">
                          <a:solidFill>
                            <a:srgbClr val="337AB7"/>
                          </a:solidFill>
                          <a:effectLst/>
                          <a:latin typeface="+mj-lt"/>
                          <a:hlinkClick r:id="rId9"/>
                        </a:rPr>
                        <a:t>AxisControl</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fontAlgn="t"/>
                      <a:r>
                        <a:rPr lang="en-US" sz="1200">
                          <a:effectLst/>
                          <a:latin typeface="+mj-lt"/>
                        </a:rPr>
                        <a:t>The pressure applied with the pointer while in contact with the pointer surface. This value is normalized. This is only relevant for pressure-sensitive devices, such as tablets and some touch screens.</a:t>
                      </a: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14621188"/>
                  </a:ext>
                </a:extLst>
              </a:tr>
              <a:tr h="583829">
                <a:tc>
                  <a:txBody>
                    <a:bodyPr/>
                    <a:lstStyle/>
                    <a:p>
                      <a:pPr fontAlgn="t"/>
                      <a:r>
                        <a:rPr lang="en-CA" sz="1200" u="none" strike="noStrike">
                          <a:solidFill>
                            <a:srgbClr val="337AB7"/>
                          </a:solidFill>
                          <a:effectLst/>
                          <a:latin typeface="+mj-lt"/>
                          <a:hlinkClick r:id="rId10"/>
                        </a:rPr>
                        <a:t>radius</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CA" sz="1200" u="none" strike="noStrike">
                          <a:solidFill>
                            <a:srgbClr val="337AB7"/>
                          </a:solidFill>
                          <a:effectLst/>
                          <a:latin typeface="+mj-lt"/>
                          <a:hlinkClick r:id="rId4"/>
                        </a:rPr>
                        <a:t>Vector2Control</a:t>
                      </a:r>
                      <a:endParaRPr lang="en-CA" sz="1200">
                        <a:effectLst/>
                        <a:latin typeface="+mj-lt"/>
                      </a:endParaRP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fontAlgn="t"/>
                      <a:r>
                        <a:rPr lang="en-US" sz="1200">
                          <a:effectLst/>
                          <a:latin typeface="+mj-lt"/>
                        </a:rPr>
                        <a:t>The size of the area where the finger touches the surface. This is only relevant for touch input.</a:t>
                      </a:r>
                    </a:p>
                  </a:txBody>
                  <a:tcPr marL="12917" marR="12917" marT="12917" marB="1291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970113586"/>
                  </a:ext>
                </a:extLst>
              </a:tr>
            </a:tbl>
          </a:graphicData>
        </a:graphic>
      </p:graphicFrame>
      <p:sp>
        <p:nvSpPr>
          <p:cNvPr id="9" name="Rectangle 3">
            <a:extLst>
              <a:ext uri="{FF2B5EF4-FFF2-40B4-BE49-F238E27FC236}">
                <a16:creationId xmlns:a16="http://schemas.microsoft.com/office/drawing/2014/main" id="{F300C48B-6584-4ED3-89D2-366348477189}"/>
              </a:ext>
            </a:extLst>
          </p:cNvPr>
          <p:cNvSpPr>
            <a:spLocks noChangeArrowheads="1"/>
          </p:cNvSpPr>
          <p:nvPr/>
        </p:nvSpPr>
        <p:spPr bwMode="auto">
          <a:xfrm>
            <a:off x="1524001"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en-US" altLang="en-US" sz="1800">
                <a:solidFill>
                  <a:schemeClr val="tx1"/>
                </a:solidFill>
                <a:latin typeface="Arial" panose="020B0604020202020204" pitchFamily="34" charset="0"/>
              </a:rPr>
            </a:br>
            <a:endParaRPr lang="en-US" altLang="en-US" sz="1800">
              <a:solidFill>
                <a:schemeClr val="tx1"/>
              </a:solidFill>
              <a:latin typeface="Arial" panose="020B0604020202020204" pitchFamily="34" charset="0"/>
            </a:endParaRPr>
          </a:p>
        </p:txBody>
      </p:sp>
    </p:spTree>
    <p:extLst>
      <p:ext uri="{BB962C8B-B14F-4D97-AF65-F5344CB8AC3E}">
        <p14:creationId xmlns:p14="http://schemas.microsoft.com/office/powerpoint/2010/main" val="21723880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1C8A-9AD6-492B-A8C3-A9B33FAF9EA3}"/>
              </a:ext>
            </a:extLst>
          </p:cNvPr>
          <p:cNvSpPr>
            <a:spLocks noGrp="1"/>
          </p:cNvSpPr>
          <p:nvPr>
            <p:ph type="title"/>
          </p:nvPr>
        </p:nvSpPr>
        <p:spPr/>
        <p:txBody>
          <a:bodyPr/>
          <a:lstStyle/>
          <a:p>
            <a:r>
              <a:rPr lang="en-CA"/>
              <a:t>Keyboard support</a:t>
            </a:r>
          </a:p>
        </p:txBody>
      </p:sp>
      <p:sp>
        <p:nvSpPr>
          <p:cNvPr id="3" name="Content Placeholder 2">
            <a:extLst>
              <a:ext uri="{FF2B5EF4-FFF2-40B4-BE49-F238E27FC236}">
                <a16:creationId xmlns:a16="http://schemas.microsoft.com/office/drawing/2014/main" id="{0A8149C9-EA3C-4642-A3F5-82AC1382931F}"/>
              </a:ext>
            </a:extLst>
          </p:cNvPr>
          <p:cNvSpPr>
            <a:spLocks noGrp="1"/>
          </p:cNvSpPr>
          <p:nvPr>
            <p:ph idx="1"/>
          </p:nvPr>
        </p:nvSpPr>
        <p:spPr/>
        <p:txBody>
          <a:bodyPr/>
          <a:lstStyle/>
          <a:p>
            <a:r>
              <a:rPr lang="en-US" dirty="0"/>
              <a:t>The Keyboard class defines a Device with a set of key Controls defined by the Key enumeration.</a:t>
            </a:r>
          </a:p>
          <a:p>
            <a:endParaRPr lang="en-US" dirty="0"/>
          </a:p>
          <a:p>
            <a:r>
              <a:rPr lang="en-US" dirty="0"/>
              <a:t>The location of individual keys is agnostic to keyboard layout. This means that, for example, the A key is always the key to the right of the Caps Lock key.</a:t>
            </a:r>
          </a:p>
          <a:p>
            <a:endParaRPr lang="en-US" dirty="0"/>
          </a:p>
          <a:p>
            <a:r>
              <a:rPr lang="en-US" dirty="0"/>
              <a:t>To query which (if any) character is generated by a given key, use the key Control's </a:t>
            </a:r>
            <a:r>
              <a:rPr lang="en-US" dirty="0" err="1"/>
              <a:t>displayName</a:t>
            </a:r>
            <a:r>
              <a:rPr lang="en-US" dirty="0"/>
              <a:t> property.</a:t>
            </a:r>
            <a:endParaRPr lang="en-CA" dirty="0"/>
          </a:p>
        </p:txBody>
      </p:sp>
    </p:spTree>
    <p:extLst>
      <p:ext uri="{BB962C8B-B14F-4D97-AF65-F5344CB8AC3E}">
        <p14:creationId xmlns:p14="http://schemas.microsoft.com/office/powerpoint/2010/main" val="22349677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8D2C-AEF1-46B6-B385-58BBF6303693}"/>
              </a:ext>
            </a:extLst>
          </p:cNvPr>
          <p:cNvSpPr>
            <a:spLocks noGrp="1"/>
          </p:cNvSpPr>
          <p:nvPr>
            <p:ph type="title"/>
          </p:nvPr>
        </p:nvSpPr>
        <p:spPr/>
        <p:txBody>
          <a:bodyPr/>
          <a:lstStyle/>
          <a:p>
            <a:r>
              <a:rPr lang="en-CA" dirty="0"/>
              <a:t>Lab1: The old input manager</a:t>
            </a:r>
          </a:p>
        </p:txBody>
      </p:sp>
      <p:sp>
        <p:nvSpPr>
          <p:cNvPr id="3" name="Content Placeholder 2">
            <a:extLst>
              <a:ext uri="{FF2B5EF4-FFF2-40B4-BE49-F238E27FC236}">
                <a16:creationId xmlns:a16="http://schemas.microsoft.com/office/drawing/2014/main" id="{C93DCECF-8C1D-48BE-A49A-0CBD53758ADF}"/>
              </a:ext>
            </a:extLst>
          </p:cNvPr>
          <p:cNvSpPr>
            <a:spLocks noGrp="1"/>
          </p:cNvSpPr>
          <p:nvPr>
            <p:ph sz="half" idx="2"/>
          </p:nvPr>
        </p:nvSpPr>
        <p:spPr/>
        <p:txBody>
          <a:bodyPr>
            <a:normAutofit fontScale="25000" lnSpcReduction="20000"/>
          </a:bodyPr>
          <a:lstStyle/>
          <a:p>
            <a:pPr marL="0" indent="0">
              <a:buNone/>
            </a:pPr>
            <a:r>
              <a:rPr lang="en-CA" sz="3200" dirty="0">
                <a:solidFill>
                  <a:srgbClr val="0000FF"/>
                </a:solidFill>
                <a:latin typeface="Cascadia Mono" panose="020B0609020000020004" pitchFamily="49" charset="0"/>
              </a:rPr>
              <a:t>using</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System.Collections</a:t>
            </a:r>
            <a:r>
              <a:rPr lang="en-CA" sz="3200" dirty="0">
                <a:solidFill>
                  <a:srgbClr val="000000"/>
                </a:solidFill>
                <a:latin typeface="Cascadia Mono" panose="020B0609020000020004" pitchFamily="49" charset="0"/>
              </a:rPr>
              <a:t>;</a:t>
            </a:r>
          </a:p>
          <a:p>
            <a:pPr marL="0" indent="0">
              <a:buNone/>
            </a:pPr>
            <a:r>
              <a:rPr lang="en-CA" sz="3200" dirty="0">
                <a:solidFill>
                  <a:srgbClr val="0000FF"/>
                </a:solidFill>
                <a:latin typeface="Cascadia Mono" panose="020B0609020000020004" pitchFamily="49" charset="0"/>
              </a:rPr>
              <a:t>using</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System.Collections.Generic</a:t>
            </a:r>
            <a:r>
              <a:rPr lang="en-CA" sz="3200" dirty="0">
                <a:solidFill>
                  <a:srgbClr val="000000"/>
                </a:solidFill>
                <a:latin typeface="Cascadia Mono" panose="020B0609020000020004" pitchFamily="49" charset="0"/>
              </a:rPr>
              <a:t>;</a:t>
            </a:r>
          </a:p>
          <a:p>
            <a:pPr marL="0" indent="0">
              <a:buNone/>
            </a:pPr>
            <a:r>
              <a:rPr lang="en-CA" sz="3200" dirty="0">
                <a:solidFill>
                  <a:srgbClr val="0000FF"/>
                </a:solidFill>
                <a:latin typeface="Cascadia Mono" panose="020B0609020000020004" pitchFamily="49" charset="0"/>
              </a:rPr>
              <a:t>using</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UnityEngine</a:t>
            </a:r>
            <a:r>
              <a:rPr lang="en-CA" sz="3200" dirty="0">
                <a:solidFill>
                  <a:srgbClr val="000000"/>
                </a:solidFill>
                <a:latin typeface="Cascadia Mono" panose="020B0609020000020004" pitchFamily="49" charset="0"/>
              </a:rPr>
              <a:t>;</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FF"/>
                </a:solidFill>
                <a:latin typeface="Cascadia Mono" panose="020B0609020000020004" pitchFamily="49" charset="0"/>
              </a:rPr>
              <a:t>public</a:t>
            </a: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class</a:t>
            </a:r>
            <a:r>
              <a:rPr lang="en-CA" sz="3200" dirty="0">
                <a:solidFill>
                  <a:srgbClr val="000000"/>
                </a:solidFill>
                <a:latin typeface="Cascadia Mono" panose="020B0609020000020004" pitchFamily="49" charset="0"/>
              </a:rPr>
              <a:t> </a:t>
            </a:r>
            <a:r>
              <a:rPr lang="en-CA" sz="3200" dirty="0" err="1">
                <a:solidFill>
                  <a:srgbClr val="2B91AF"/>
                </a:solidFill>
                <a:latin typeface="Cascadia Mono" panose="020B0609020000020004" pitchFamily="49" charset="0"/>
              </a:rPr>
              <a:t>PlayerController</a:t>
            </a:r>
            <a:r>
              <a:rPr lang="en-CA" sz="3200" dirty="0">
                <a:solidFill>
                  <a:srgbClr val="000000"/>
                </a:solidFill>
                <a:latin typeface="Cascadia Mono" panose="020B0609020000020004" pitchFamily="49" charset="0"/>
              </a:rPr>
              <a:t> : </a:t>
            </a:r>
            <a:r>
              <a:rPr lang="en-CA" sz="3200" dirty="0" err="1">
                <a:solidFill>
                  <a:srgbClr val="000000"/>
                </a:solidFill>
                <a:latin typeface="Cascadia Mono" panose="020B0609020000020004" pitchFamily="49" charset="0"/>
              </a:rPr>
              <a:t>MonoBehaviour</a:t>
            </a:r>
            <a:endParaRPr lang="en-CA" sz="3200" dirty="0">
              <a:solidFill>
                <a:srgbClr val="000000"/>
              </a:solidFill>
              <a:latin typeface="Cascadia Mono" panose="020B0609020000020004" pitchFamily="49" charset="0"/>
            </a:endParaRPr>
          </a:p>
          <a:p>
            <a:pPr marL="0" indent="0">
              <a:buNone/>
            </a:pPr>
            <a:r>
              <a:rPr lang="en-CA" sz="3200" dirty="0">
                <a:solidFill>
                  <a:srgbClr val="000000"/>
                </a:solidFill>
                <a:latin typeface="Cascadia Mono" panose="020B0609020000020004" pitchFamily="49" charset="0"/>
              </a:rPr>
              <a:t>{</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FF"/>
                </a:solidFill>
                <a:latin typeface="Cascadia Mono" panose="020B0609020000020004" pitchFamily="49" charset="0"/>
              </a:rPr>
              <a:t>    public</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Rigidbody</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rb</a:t>
            </a:r>
            <a:r>
              <a:rPr lang="en-CA"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public</a:t>
            </a: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float</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moveSpeed</a:t>
            </a:r>
            <a:r>
              <a:rPr lang="en-CA" sz="3200" dirty="0">
                <a:solidFill>
                  <a:srgbClr val="000000"/>
                </a:solidFill>
                <a:latin typeface="Cascadia Mono" panose="020B0609020000020004" pitchFamily="49" charset="0"/>
              </a:rPr>
              <a:t> = 5f;</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00"/>
                </a:solidFill>
                <a:latin typeface="Cascadia Mono" panose="020B0609020000020004" pitchFamily="49" charset="0"/>
              </a:rPr>
              <a:t>    Vector3 </a:t>
            </a:r>
            <a:r>
              <a:rPr lang="en-CA" sz="3200" dirty="0" err="1">
                <a:solidFill>
                  <a:srgbClr val="000000"/>
                </a:solidFill>
                <a:latin typeface="Cascadia Mono" panose="020B0609020000020004" pitchFamily="49" charset="0"/>
              </a:rPr>
              <a:t>moveDirection</a:t>
            </a:r>
            <a:r>
              <a:rPr lang="en-CA" sz="3200" dirty="0">
                <a:solidFill>
                  <a:srgbClr val="000000"/>
                </a:solidFill>
                <a:latin typeface="Cascadia Mono" panose="020B0609020000020004" pitchFamily="49" charset="0"/>
              </a:rPr>
              <a:t> = Vector3.zero;</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FF"/>
                </a:solidFill>
                <a:latin typeface="Cascadia Mono" panose="020B0609020000020004" pitchFamily="49" charset="0"/>
              </a:rPr>
              <a:t>    void</a:t>
            </a: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Start</a:t>
            </a:r>
            <a:r>
              <a:rPr lang="en-CA"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p>
          <a:p>
            <a:pPr marL="0" indent="0">
              <a:buNone/>
            </a:pP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Debug.Log</a:t>
            </a:r>
            <a:r>
              <a:rPr lang="en-CA" sz="3200" dirty="0">
                <a:solidFill>
                  <a:srgbClr val="000000"/>
                </a:solidFill>
                <a:latin typeface="Cascadia Mono" panose="020B0609020000020004" pitchFamily="49" charset="0"/>
              </a:rPr>
              <a:t>(</a:t>
            </a:r>
            <a:r>
              <a:rPr lang="en-CA" sz="3200" dirty="0" err="1">
                <a:solidFill>
                  <a:srgbClr val="000000"/>
                </a:solidFill>
                <a:latin typeface="Cascadia Mono" panose="020B0609020000020004" pitchFamily="49" charset="0"/>
              </a:rPr>
              <a:t>Time.fixedDeltaTime</a:t>
            </a:r>
            <a:r>
              <a:rPr lang="en-CA"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FF"/>
                </a:solidFill>
                <a:latin typeface="Cascadia Mono" panose="020B0609020000020004" pitchFamily="49" charset="0"/>
              </a:rPr>
              <a:t>    void</a:t>
            </a: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Update</a:t>
            </a:r>
            <a:r>
              <a:rPr lang="en-CA"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p>
          <a:p>
            <a:pPr marL="0" indent="0">
              <a:buNone/>
            </a:pP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float</a:t>
            </a:r>
            <a:r>
              <a:rPr lang="en-CA" sz="3200" dirty="0">
                <a:solidFill>
                  <a:srgbClr val="000000"/>
                </a:solidFill>
                <a:latin typeface="Cascadia Mono" panose="020B0609020000020004" pitchFamily="49" charset="0"/>
              </a:rPr>
              <a:t> </a:t>
            </a:r>
            <a:r>
              <a:rPr lang="en-CA" sz="3200" dirty="0" err="1">
                <a:solidFill>
                  <a:srgbClr val="000000"/>
                </a:solidFill>
                <a:latin typeface="Cascadia Mono" panose="020B0609020000020004" pitchFamily="49" charset="0"/>
              </a:rPr>
              <a:t>moveX</a:t>
            </a:r>
            <a:r>
              <a:rPr lang="en-CA" sz="3200" dirty="0">
                <a:solidFill>
                  <a:srgbClr val="000000"/>
                </a:solidFill>
                <a:latin typeface="Cascadia Mono" panose="020B0609020000020004" pitchFamily="49" charset="0"/>
              </a:rPr>
              <a:t> = </a:t>
            </a:r>
            <a:r>
              <a:rPr lang="en-CA" sz="3200" dirty="0" err="1">
                <a:solidFill>
                  <a:srgbClr val="000000"/>
                </a:solidFill>
                <a:latin typeface="Cascadia Mono" panose="020B0609020000020004" pitchFamily="49" charset="0"/>
              </a:rPr>
              <a:t>Input.GetAxis</a:t>
            </a:r>
            <a:r>
              <a:rPr lang="en-CA" sz="3200" dirty="0">
                <a:solidFill>
                  <a:srgbClr val="000000"/>
                </a:solidFill>
                <a:latin typeface="Cascadia Mono" panose="020B0609020000020004" pitchFamily="49" charset="0"/>
              </a:rPr>
              <a:t>(</a:t>
            </a:r>
            <a:r>
              <a:rPr lang="en-CA" sz="3200" dirty="0">
                <a:solidFill>
                  <a:srgbClr val="A31515"/>
                </a:solidFill>
                <a:latin typeface="Cascadia Mono" panose="020B0609020000020004" pitchFamily="49" charset="0"/>
              </a:rPr>
              <a:t>"Horizontal"</a:t>
            </a:r>
            <a:r>
              <a:rPr lang="en-CA" sz="3200" dirty="0">
                <a:solidFill>
                  <a:srgbClr val="000000"/>
                </a:solidFill>
                <a:latin typeface="Cascadia Mono" panose="020B0609020000020004" pitchFamily="49" charset="0"/>
              </a:rPr>
              <a:t>);</a:t>
            </a:r>
          </a:p>
          <a:p>
            <a:pPr marL="0" indent="0">
              <a:buNone/>
            </a:pPr>
            <a:r>
              <a:rPr lang="en-US" sz="3200" dirty="0">
                <a:solidFill>
                  <a:srgbClr val="000000"/>
                </a:solidFill>
                <a:latin typeface="Cascadia Mono" panose="020B0609020000020004" pitchFamily="49" charset="0"/>
              </a:rPr>
              <a:t>        </a:t>
            </a:r>
            <a:r>
              <a:rPr lang="en-US" sz="3200" dirty="0">
                <a:solidFill>
                  <a:srgbClr val="0000FF"/>
                </a:solidFill>
                <a:latin typeface="Cascadia Mono" panose="020B0609020000020004" pitchFamily="49" charset="0"/>
              </a:rPr>
              <a:t>float</a:t>
            </a: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moveY</a:t>
            </a:r>
            <a:r>
              <a:rPr lang="en-US" sz="3200" dirty="0">
                <a:solidFill>
                  <a:srgbClr val="000000"/>
                </a:solidFill>
                <a:latin typeface="Cascadia Mono" panose="020B0609020000020004" pitchFamily="49" charset="0"/>
              </a:rPr>
              <a:t> = </a:t>
            </a:r>
            <a:r>
              <a:rPr lang="en-US" sz="3200" dirty="0" err="1">
                <a:solidFill>
                  <a:srgbClr val="000000"/>
                </a:solidFill>
                <a:latin typeface="Cascadia Mono" panose="020B0609020000020004" pitchFamily="49" charset="0"/>
              </a:rPr>
              <a:t>Input.GetAxis</a:t>
            </a:r>
            <a:r>
              <a:rPr lang="en-US" sz="3200" dirty="0">
                <a:solidFill>
                  <a:srgbClr val="000000"/>
                </a:solidFill>
                <a:latin typeface="Cascadia Mono" panose="020B0609020000020004" pitchFamily="49" charset="0"/>
              </a:rPr>
              <a:t>(</a:t>
            </a:r>
            <a:r>
              <a:rPr lang="en-US" sz="3200" dirty="0">
                <a:solidFill>
                  <a:srgbClr val="A31515"/>
                </a:solidFill>
                <a:latin typeface="Cascadia Mono" panose="020B0609020000020004" pitchFamily="49" charset="0"/>
              </a:rPr>
              <a:t>"Vertical"</a:t>
            </a:r>
            <a:r>
              <a:rPr lang="en-US" sz="3200" dirty="0">
                <a:solidFill>
                  <a:srgbClr val="000000"/>
                </a:solidFill>
                <a:latin typeface="Cascadia Mono" panose="020B0609020000020004" pitchFamily="49" charset="0"/>
              </a:rPr>
              <a:t>);</a:t>
            </a:r>
          </a:p>
          <a:p>
            <a:pPr marL="0" indent="0">
              <a:buNone/>
            </a:pPr>
            <a:endParaRPr lang="en-CA" sz="3200" dirty="0">
              <a:solidFill>
                <a:srgbClr val="000000"/>
              </a:solidFill>
              <a:latin typeface="Cascadia Mono" panose="020B0609020000020004" pitchFamily="49" charset="0"/>
            </a:endParaRPr>
          </a:p>
          <a:p>
            <a:pPr marL="0" indent="0">
              <a:buNone/>
            </a:pP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moveDirection</a:t>
            </a:r>
            <a:r>
              <a:rPr lang="en-US" sz="3200" dirty="0">
                <a:solidFill>
                  <a:srgbClr val="000000"/>
                </a:solidFill>
                <a:latin typeface="Cascadia Mono" panose="020B0609020000020004" pitchFamily="49" charset="0"/>
              </a:rPr>
              <a:t> = </a:t>
            </a:r>
            <a:r>
              <a:rPr lang="en-US" sz="3200" dirty="0">
                <a:solidFill>
                  <a:srgbClr val="0000FF"/>
                </a:solidFill>
                <a:latin typeface="Cascadia Mono" panose="020B0609020000020004" pitchFamily="49" charset="0"/>
              </a:rPr>
              <a:t>new</a:t>
            </a:r>
            <a:r>
              <a:rPr lang="en-US" sz="3200" dirty="0">
                <a:solidFill>
                  <a:srgbClr val="000000"/>
                </a:solidFill>
                <a:latin typeface="Cascadia Mono" panose="020B0609020000020004" pitchFamily="49" charset="0"/>
              </a:rPr>
              <a:t> Vector2(</a:t>
            </a:r>
            <a:r>
              <a:rPr lang="en-US" sz="3200" dirty="0" err="1">
                <a:solidFill>
                  <a:srgbClr val="000000"/>
                </a:solidFill>
                <a:latin typeface="Cascadia Mono" panose="020B0609020000020004" pitchFamily="49" charset="0"/>
              </a:rPr>
              <a:t>moveX</a:t>
            </a: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moveY</a:t>
            </a:r>
            <a:r>
              <a:rPr lang="en-US" sz="3200" dirty="0">
                <a:solidFill>
                  <a:srgbClr val="000000"/>
                </a:solidFill>
                <a:latin typeface="Cascadia Mono" panose="020B0609020000020004" pitchFamily="49" charset="0"/>
              </a:rPr>
              <a:t>).normalized;</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00"/>
                </a:solidFill>
                <a:latin typeface="Cascadia Mono" panose="020B0609020000020004" pitchFamily="49" charset="0"/>
              </a:rPr>
              <a:t>    }</a:t>
            </a:r>
          </a:p>
          <a:p>
            <a:pPr marL="0" indent="0">
              <a:buNone/>
            </a:pPr>
            <a:endParaRPr lang="en-CA" sz="3200" dirty="0">
              <a:solidFill>
                <a:srgbClr val="000000"/>
              </a:solidFill>
              <a:latin typeface="Cascadia Mono" panose="020B0609020000020004" pitchFamily="49" charset="0"/>
            </a:endParaRPr>
          </a:p>
          <a:p>
            <a:pPr marL="0" indent="0">
              <a:buNone/>
            </a:pPr>
            <a:r>
              <a:rPr lang="en-CA" sz="3200" dirty="0">
                <a:solidFill>
                  <a:srgbClr val="0000FF"/>
                </a:solidFill>
                <a:latin typeface="Cascadia Mono" panose="020B0609020000020004" pitchFamily="49" charset="0"/>
              </a:rPr>
              <a:t>private</a:t>
            </a:r>
            <a:r>
              <a:rPr lang="en-CA" sz="3200" dirty="0">
                <a:solidFill>
                  <a:srgbClr val="000000"/>
                </a:solidFill>
                <a:latin typeface="Cascadia Mono" panose="020B0609020000020004" pitchFamily="49" charset="0"/>
              </a:rPr>
              <a:t> </a:t>
            </a:r>
            <a:r>
              <a:rPr lang="en-CA" sz="3200" dirty="0">
                <a:solidFill>
                  <a:srgbClr val="0000FF"/>
                </a:solidFill>
                <a:latin typeface="Cascadia Mono" panose="020B0609020000020004" pitchFamily="49" charset="0"/>
              </a:rPr>
              <a:t>void</a:t>
            </a:r>
            <a:r>
              <a:rPr lang="en-CA" sz="3200" dirty="0">
                <a:solidFill>
                  <a:srgbClr val="000000"/>
                </a:solidFill>
                <a:latin typeface="Cascadia Mono" panose="020B0609020000020004" pitchFamily="49" charset="0"/>
              </a:rPr>
              <a:t> </a:t>
            </a:r>
            <a:r>
              <a:rPr lang="en-CA" sz="3200" dirty="0" err="1">
                <a:solidFill>
                  <a:srgbClr val="0000FF"/>
                </a:solidFill>
                <a:latin typeface="Cascadia Mono" panose="020B0609020000020004" pitchFamily="49" charset="0"/>
              </a:rPr>
              <a:t>FixedUpdate</a:t>
            </a:r>
            <a:r>
              <a:rPr lang="en-CA"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p>
          <a:p>
            <a:pPr marL="0" indent="0">
              <a:buNone/>
            </a:pPr>
            <a:endParaRPr lang="en-CA" sz="3200" dirty="0">
              <a:solidFill>
                <a:srgbClr val="000000"/>
              </a:solidFill>
              <a:latin typeface="Cascadia Mono" panose="020B0609020000020004" pitchFamily="49" charset="0"/>
            </a:endParaRPr>
          </a:p>
          <a:p>
            <a:pPr marL="0" indent="0">
              <a:buNone/>
            </a:pP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rb.velocity</a:t>
            </a:r>
            <a:r>
              <a:rPr lang="en-US" sz="3200" dirty="0">
                <a:solidFill>
                  <a:srgbClr val="000000"/>
                </a:solidFill>
                <a:latin typeface="Cascadia Mono" panose="020B0609020000020004" pitchFamily="49" charset="0"/>
              </a:rPr>
              <a:t> = </a:t>
            </a:r>
            <a:r>
              <a:rPr lang="en-US" sz="3200" dirty="0">
                <a:solidFill>
                  <a:srgbClr val="0000FF"/>
                </a:solidFill>
                <a:latin typeface="Cascadia Mono" panose="020B0609020000020004" pitchFamily="49" charset="0"/>
              </a:rPr>
              <a:t>new</a:t>
            </a:r>
            <a:r>
              <a:rPr lang="en-US" sz="3200" dirty="0">
                <a:solidFill>
                  <a:srgbClr val="000000"/>
                </a:solidFill>
                <a:latin typeface="Cascadia Mono" panose="020B0609020000020004" pitchFamily="49" charset="0"/>
              </a:rPr>
              <a:t> Vector3(</a:t>
            </a:r>
            <a:r>
              <a:rPr lang="en-US" sz="3200" dirty="0" err="1">
                <a:solidFill>
                  <a:srgbClr val="000000"/>
                </a:solidFill>
                <a:latin typeface="Cascadia Mono" panose="020B0609020000020004" pitchFamily="49" charset="0"/>
              </a:rPr>
              <a:t>moveDirection.x</a:t>
            </a:r>
            <a:r>
              <a:rPr lang="en-US" sz="3200" dirty="0">
                <a:solidFill>
                  <a:srgbClr val="000000"/>
                </a:solidFill>
                <a:latin typeface="Cascadia Mono" panose="020B0609020000020004" pitchFamily="49" charset="0"/>
              </a:rPr>
              <a:t> * </a:t>
            </a:r>
            <a:r>
              <a:rPr lang="en-US" sz="3200" dirty="0" err="1">
                <a:solidFill>
                  <a:srgbClr val="000000"/>
                </a:solidFill>
                <a:latin typeface="Cascadia Mono" panose="020B0609020000020004" pitchFamily="49" charset="0"/>
              </a:rPr>
              <a:t>moveSpeed</a:t>
            </a: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moveDirection.y</a:t>
            </a:r>
            <a:r>
              <a:rPr lang="en-US" sz="3200" dirty="0">
                <a:solidFill>
                  <a:srgbClr val="000000"/>
                </a:solidFill>
                <a:latin typeface="Cascadia Mono" panose="020B0609020000020004" pitchFamily="49" charset="0"/>
              </a:rPr>
              <a:t> * </a:t>
            </a:r>
            <a:r>
              <a:rPr lang="en-US" sz="3200" dirty="0" err="1">
                <a:solidFill>
                  <a:srgbClr val="000000"/>
                </a:solidFill>
                <a:latin typeface="Cascadia Mono" panose="020B0609020000020004" pitchFamily="49" charset="0"/>
              </a:rPr>
              <a:t>moveSpeed</a:t>
            </a:r>
            <a:r>
              <a:rPr lang="en-US" sz="3200" dirty="0">
                <a:solidFill>
                  <a:srgbClr val="000000"/>
                </a:solidFill>
                <a:latin typeface="Cascadia Mono" panose="020B0609020000020004" pitchFamily="49" charset="0"/>
              </a:rPr>
              <a:t>, </a:t>
            </a:r>
            <a:r>
              <a:rPr lang="en-US" sz="3200" dirty="0" err="1">
                <a:solidFill>
                  <a:srgbClr val="000000"/>
                </a:solidFill>
                <a:latin typeface="Cascadia Mono" panose="020B0609020000020004" pitchFamily="49" charset="0"/>
              </a:rPr>
              <a:t>moveDirection.z</a:t>
            </a:r>
            <a:r>
              <a:rPr lang="en-US" sz="3200" dirty="0">
                <a:solidFill>
                  <a:srgbClr val="000000"/>
                </a:solidFill>
                <a:latin typeface="Cascadia Mono" panose="020B0609020000020004" pitchFamily="49" charset="0"/>
              </a:rPr>
              <a:t> * </a:t>
            </a:r>
            <a:r>
              <a:rPr lang="en-US" sz="3200" dirty="0" err="1">
                <a:solidFill>
                  <a:srgbClr val="000000"/>
                </a:solidFill>
                <a:latin typeface="Cascadia Mono" panose="020B0609020000020004" pitchFamily="49" charset="0"/>
              </a:rPr>
              <a:t>moveSpeed</a:t>
            </a:r>
            <a:r>
              <a:rPr lang="en-US" sz="3200" dirty="0">
                <a:solidFill>
                  <a:srgbClr val="000000"/>
                </a:solidFill>
                <a:latin typeface="Cascadia Mono" panose="020B0609020000020004" pitchFamily="49" charset="0"/>
              </a:rPr>
              <a:t>);</a:t>
            </a:r>
          </a:p>
          <a:p>
            <a:pPr marL="0" indent="0">
              <a:buNone/>
            </a:pPr>
            <a:r>
              <a:rPr lang="en-CA" sz="3200" dirty="0">
                <a:solidFill>
                  <a:srgbClr val="000000"/>
                </a:solidFill>
                <a:latin typeface="Cascadia Mono" panose="020B0609020000020004" pitchFamily="49" charset="0"/>
              </a:rPr>
              <a:t>    }</a:t>
            </a:r>
          </a:p>
          <a:p>
            <a:pPr marL="0" indent="0">
              <a:buNone/>
            </a:pPr>
            <a:endParaRPr lang="en-CA" dirty="0">
              <a:solidFill>
                <a:srgbClr val="000000"/>
              </a:solidFill>
              <a:latin typeface="Cascadia Mono" panose="020B0609020000020004" pitchFamily="49" charset="0"/>
            </a:endParaRPr>
          </a:p>
          <a:p>
            <a:pPr marL="0" indent="0">
              <a:buNone/>
            </a:pPr>
            <a:r>
              <a:rPr lang="en-CA" dirty="0">
                <a:solidFill>
                  <a:srgbClr val="000000"/>
                </a:solidFill>
                <a:latin typeface="Cascadia Mono" panose="020B0609020000020004" pitchFamily="49" charset="0"/>
              </a:rPr>
              <a:t>}</a:t>
            </a:r>
            <a:endParaRPr lang="en-CA" dirty="0"/>
          </a:p>
        </p:txBody>
      </p:sp>
      <p:sp>
        <p:nvSpPr>
          <p:cNvPr id="4" name="Content Placeholder 3">
            <a:extLst>
              <a:ext uri="{FF2B5EF4-FFF2-40B4-BE49-F238E27FC236}">
                <a16:creationId xmlns:a16="http://schemas.microsoft.com/office/drawing/2014/main" id="{28452958-3240-92C6-50B1-67167BFED179}"/>
              </a:ext>
            </a:extLst>
          </p:cNvPr>
          <p:cNvSpPr>
            <a:spLocks noGrp="1"/>
          </p:cNvSpPr>
          <p:nvPr>
            <p:ph sz="quarter" idx="13"/>
          </p:nvPr>
        </p:nvSpPr>
        <p:spPr/>
        <p:txBody>
          <a:bodyPr/>
          <a:lstStyle/>
          <a:p>
            <a:r>
              <a:rPr lang="en-CA" dirty="0"/>
              <a:t>Add a cube (name it player), </a:t>
            </a:r>
          </a:p>
          <a:p>
            <a:r>
              <a:rPr lang="en-CA" dirty="0"/>
              <a:t>Add a Rigid body component (with no gravity) to the player,</a:t>
            </a:r>
          </a:p>
          <a:p>
            <a:r>
              <a:rPr lang="en-CA" dirty="0"/>
              <a:t>Create a script called </a:t>
            </a:r>
            <a:r>
              <a:rPr lang="en-CA" dirty="0" err="1"/>
              <a:t>PlayerController</a:t>
            </a:r>
            <a:r>
              <a:rPr lang="en-CA" dirty="0"/>
              <a:t> and attach the script to the Player </a:t>
            </a:r>
            <a:r>
              <a:rPr lang="en-CA" dirty="0" err="1"/>
              <a:t>GameObject</a:t>
            </a:r>
            <a:endParaRPr lang="en-CA" dirty="0"/>
          </a:p>
          <a:p>
            <a:r>
              <a:rPr lang="en-CA" dirty="0"/>
              <a:t>Attach the cube to the rigid body: </a:t>
            </a:r>
            <a:r>
              <a:rPr lang="en-CA" dirty="0" err="1"/>
              <a:t>rb</a:t>
            </a:r>
            <a:endParaRPr lang="en-CA" dirty="0"/>
          </a:p>
          <a:p>
            <a:endParaRPr lang="en-CA" dirty="0"/>
          </a:p>
        </p:txBody>
      </p:sp>
    </p:spTree>
    <p:extLst>
      <p:ext uri="{BB962C8B-B14F-4D97-AF65-F5344CB8AC3E}">
        <p14:creationId xmlns:p14="http://schemas.microsoft.com/office/powerpoint/2010/main" val="22353253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0E588-FEE1-401C-B109-679BE1B01463}"/>
              </a:ext>
            </a:extLst>
          </p:cNvPr>
          <p:cNvSpPr>
            <a:spLocks noGrp="1"/>
          </p:cNvSpPr>
          <p:nvPr>
            <p:ph type="title"/>
          </p:nvPr>
        </p:nvSpPr>
        <p:spPr/>
        <p:txBody>
          <a:bodyPr/>
          <a:lstStyle/>
          <a:p>
            <a:r>
              <a:rPr lang="en-CA"/>
              <a:t>The old input manager</a:t>
            </a:r>
          </a:p>
        </p:txBody>
      </p:sp>
      <p:sp>
        <p:nvSpPr>
          <p:cNvPr id="3" name="Content Placeholder 2">
            <a:extLst>
              <a:ext uri="{FF2B5EF4-FFF2-40B4-BE49-F238E27FC236}">
                <a16:creationId xmlns:a16="http://schemas.microsoft.com/office/drawing/2014/main" id="{621595C9-A482-4D19-A546-C0D36822283D}"/>
              </a:ext>
            </a:extLst>
          </p:cNvPr>
          <p:cNvSpPr>
            <a:spLocks noGrp="1"/>
          </p:cNvSpPr>
          <p:nvPr>
            <p:ph idx="1"/>
          </p:nvPr>
        </p:nvSpPr>
        <p:spPr/>
        <p:txBody>
          <a:bodyPr/>
          <a:lstStyle/>
          <a:p>
            <a:r>
              <a:rPr lang="en-CA"/>
              <a:t>Go to Project Setting </a:t>
            </a:r>
            <a:r>
              <a:rPr lang="en-CA">
                <a:sym typeface="Wingdings" panose="05000000000000000000" pitchFamily="2" charset="2"/>
              </a:rPr>
              <a:t> Input Manager</a:t>
            </a:r>
          </a:p>
          <a:p>
            <a:r>
              <a:rPr lang="en-CA">
                <a:sym typeface="Wingdings" panose="05000000000000000000" pitchFamily="2" charset="2"/>
              </a:rPr>
              <a:t>Expand the Axes and check out Horizontal/Vertical inputs</a:t>
            </a:r>
          </a:p>
          <a:p>
            <a:r>
              <a:rPr lang="en-CA">
                <a:sym typeface="Wingdings" panose="05000000000000000000" pitchFamily="2" charset="2"/>
              </a:rPr>
              <a:t>You had to use verbatims</a:t>
            </a:r>
          </a:p>
          <a:p>
            <a:pPr marL="0" indent="0">
              <a:lnSpc>
                <a:spcPct val="100000"/>
              </a:lnSpc>
              <a:spcBef>
                <a:spcPct val="20000"/>
              </a:spcBef>
              <a:buClrTx/>
              <a:buSzTx/>
              <a:buNone/>
              <a:defRPr/>
            </a:pPr>
            <a:r>
              <a:rPr lang="en-CA" sz="1400">
                <a:solidFill>
                  <a:srgbClr val="000000"/>
                </a:solidFill>
                <a:latin typeface="Cascadia Mono" panose="020B0609020000020004" pitchFamily="49" charset="0"/>
              </a:rPr>
              <a:t>        </a:t>
            </a:r>
            <a:r>
              <a:rPr lang="en-CA" sz="1400" kern="1200">
                <a:solidFill>
                  <a:srgbClr val="0000FF"/>
                </a:solidFill>
                <a:latin typeface="Cascadia Mono" panose="020B0609020000020004" pitchFamily="49" charset="0"/>
                <a:ea typeface="+mn-ea"/>
                <a:cs typeface="+mn-cs"/>
              </a:rPr>
              <a:t>float</a:t>
            </a:r>
            <a:r>
              <a:rPr lang="en-CA" sz="1400" kern="1200">
                <a:solidFill>
                  <a:srgbClr val="000000"/>
                </a:solidFill>
                <a:latin typeface="Cascadia Mono" panose="020B0609020000020004" pitchFamily="49" charset="0"/>
                <a:ea typeface="+mn-ea"/>
                <a:cs typeface="+mn-cs"/>
              </a:rPr>
              <a:t> </a:t>
            </a:r>
            <a:r>
              <a:rPr lang="en-CA" sz="1400" kern="1200" err="1">
                <a:solidFill>
                  <a:srgbClr val="000000"/>
                </a:solidFill>
                <a:latin typeface="Cascadia Mono" panose="020B0609020000020004" pitchFamily="49" charset="0"/>
                <a:ea typeface="+mn-ea"/>
                <a:cs typeface="+mn-cs"/>
              </a:rPr>
              <a:t>moveX</a:t>
            </a:r>
            <a:r>
              <a:rPr lang="en-CA" sz="1400" kern="1200">
                <a:solidFill>
                  <a:srgbClr val="000000"/>
                </a:solidFill>
                <a:latin typeface="Cascadia Mono" panose="020B0609020000020004" pitchFamily="49" charset="0"/>
                <a:ea typeface="+mn-ea"/>
                <a:cs typeface="+mn-cs"/>
              </a:rPr>
              <a:t> = </a:t>
            </a:r>
            <a:r>
              <a:rPr lang="en-CA" sz="1400" kern="1200" err="1">
                <a:solidFill>
                  <a:srgbClr val="000000"/>
                </a:solidFill>
                <a:latin typeface="Cascadia Mono" panose="020B0609020000020004" pitchFamily="49" charset="0"/>
                <a:ea typeface="+mn-ea"/>
                <a:cs typeface="+mn-cs"/>
              </a:rPr>
              <a:t>Input.GetAxis</a:t>
            </a:r>
            <a:r>
              <a:rPr lang="en-CA" sz="1400" kern="1200">
                <a:solidFill>
                  <a:srgbClr val="000000"/>
                </a:solidFill>
                <a:latin typeface="Cascadia Mono" panose="020B0609020000020004" pitchFamily="49" charset="0"/>
                <a:ea typeface="+mn-ea"/>
                <a:cs typeface="+mn-cs"/>
              </a:rPr>
              <a:t>(</a:t>
            </a:r>
            <a:r>
              <a:rPr lang="en-CA" sz="1400" kern="1200">
                <a:solidFill>
                  <a:srgbClr val="A31515"/>
                </a:solidFill>
                <a:latin typeface="Cascadia Mono" panose="020B0609020000020004" pitchFamily="49" charset="0"/>
                <a:ea typeface="+mn-ea"/>
                <a:cs typeface="+mn-cs"/>
              </a:rPr>
              <a:t>"</a:t>
            </a:r>
            <a:r>
              <a:rPr lang="en-CA" sz="1400" kern="1200">
                <a:solidFill>
                  <a:srgbClr val="A31515"/>
                </a:solidFill>
                <a:highlight>
                  <a:srgbClr val="FFFF00"/>
                </a:highlight>
                <a:latin typeface="Cascadia Mono" panose="020B0609020000020004" pitchFamily="49" charset="0"/>
                <a:ea typeface="+mn-ea"/>
                <a:cs typeface="+mn-cs"/>
              </a:rPr>
              <a:t>Horizontal</a:t>
            </a:r>
            <a:r>
              <a:rPr lang="en-CA" sz="1400" kern="1200">
                <a:solidFill>
                  <a:srgbClr val="A31515"/>
                </a:solidFill>
                <a:latin typeface="Cascadia Mono" panose="020B0609020000020004" pitchFamily="49" charset="0"/>
                <a:ea typeface="+mn-ea"/>
                <a:cs typeface="+mn-cs"/>
              </a:rPr>
              <a:t>"</a:t>
            </a:r>
            <a:r>
              <a:rPr lang="en-CA" sz="1400" kern="1200">
                <a:solidFill>
                  <a:srgbClr val="000000"/>
                </a:solidFill>
                <a:latin typeface="Cascadia Mono" panose="020B0609020000020004" pitchFamily="49" charset="0"/>
                <a:ea typeface="+mn-ea"/>
                <a:cs typeface="+mn-cs"/>
              </a:rPr>
              <a:t>);</a:t>
            </a:r>
          </a:p>
          <a:p>
            <a:pPr marL="0" indent="0">
              <a:lnSpc>
                <a:spcPct val="100000"/>
              </a:lnSpc>
              <a:spcBef>
                <a:spcPct val="20000"/>
              </a:spcBef>
              <a:buClrTx/>
              <a:buSzTx/>
              <a:buNone/>
              <a:defRPr/>
            </a:pPr>
            <a:r>
              <a:rPr lang="en-US" sz="1400" kern="1200">
                <a:solidFill>
                  <a:srgbClr val="000000"/>
                </a:solidFill>
                <a:latin typeface="Cascadia Mono" panose="020B0609020000020004" pitchFamily="49" charset="0"/>
                <a:ea typeface="+mn-ea"/>
                <a:cs typeface="+mn-cs"/>
              </a:rPr>
              <a:t>        </a:t>
            </a:r>
            <a:r>
              <a:rPr lang="en-US" sz="1400" kern="1200">
                <a:solidFill>
                  <a:srgbClr val="0000FF"/>
                </a:solidFill>
                <a:latin typeface="Cascadia Mono" panose="020B0609020000020004" pitchFamily="49" charset="0"/>
                <a:ea typeface="+mn-ea"/>
                <a:cs typeface="+mn-cs"/>
              </a:rPr>
              <a:t>float</a:t>
            </a:r>
            <a:r>
              <a:rPr lang="en-US" sz="1400" kern="1200">
                <a:solidFill>
                  <a:srgbClr val="000000"/>
                </a:solidFill>
                <a:latin typeface="Cascadia Mono" panose="020B0609020000020004" pitchFamily="49" charset="0"/>
                <a:ea typeface="+mn-ea"/>
                <a:cs typeface="+mn-cs"/>
              </a:rPr>
              <a:t> </a:t>
            </a:r>
            <a:r>
              <a:rPr lang="en-US" sz="1400" kern="1200" err="1">
                <a:solidFill>
                  <a:srgbClr val="000000"/>
                </a:solidFill>
                <a:latin typeface="Cascadia Mono" panose="020B0609020000020004" pitchFamily="49" charset="0"/>
                <a:ea typeface="+mn-ea"/>
                <a:cs typeface="+mn-cs"/>
              </a:rPr>
              <a:t>moveY</a:t>
            </a:r>
            <a:r>
              <a:rPr lang="en-US" sz="1400" kern="1200">
                <a:solidFill>
                  <a:srgbClr val="000000"/>
                </a:solidFill>
                <a:latin typeface="Cascadia Mono" panose="020B0609020000020004" pitchFamily="49" charset="0"/>
                <a:ea typeface="+mn-ea"/>
                <a:cs typeface="+mn-cs"/>
              </a:rPr>
              <a:t> = </a:t>
            </a:r>
            <a:r>
              <a:rPr lang="en-US" sz="1400" kern="1200" err="1">
                <a:solidFill>
                  <a:srgbClr val="000000"/>
                </a:solidFill>
                <a:latin typeface="Cascadia Mono" panose="020B0609020000020004" pitchFamily="49" charset="0"/>
                <a:ea typeface="+mn-ea"/>
                <a:cs typeface="+mn-cs"/>
              </a:rPr>
              <a:t>Input.GetAxis</a:t>
            </a:r>
            <a:r>
              <a:rPr lang="en-US" sz="1400" kern="1200">
                <a:solidFill>
                  <a:srgbClr val="000000"/>
                </a:solidFill>
                <a:latin typeface="Cascadia Mono" panose="020B0609020000020004" pitchFamily="49" charset="0"/>
                <a:ea typeface="+mn-ea"/>
                <a:cs typeface="+mn-cs"/>
              </a:rPr>
              <a:t>(</a:t>
            </a:r>
            <a:r>
              <a:rPr lang="en-US" sz="1400" kern="1200">
                <a:solidFill>
                  <a:srgbClr val="A31515"/>
                </a:solidFill>
                <a:latin typeface="Cascadia Mono" panose="020B0609020000020004" pitchFamily="49" charset="0"/>
                <a:ea typeface="+mn-ea"/>
                <a:cs typeface="+mn-cs"/>
              </a:rPr>
              <a:t>"</a:t>
            </a:r>
            <a:r>
              <a:rPr lang="en-US" sz="1400" kern="1200">
                <a:solidFill>
                  <a:srgbClr val="A31515"/>
                </a:solidFill>
                <a:highlight>
                  <a:srgbClr val="FFFF00"/>
                </a:highlight>
                <a:latin typeface="Cascadia Mono" panose="020B0609020000020004" pitchFamily="49" charset="0"/>
                <a:ea typeface="+mn-ea"/>
                <a:cs typeface="+mn-cs"/>
              </a:rPr>
              <a:t>Vertical</a:t>
            </a:r>
            <a:r>
              <a:rPr lang="en-US" sz="1400" kern="1200">
                <a:solidFill>
                  <a:srgbClr val="A31515"/>
                </a:solidFill>
                <a:latin typeface="Cascadia Mono" panose="020B0609020000020004" pitchFamily="49" charset="0"/>
                <a:ea typeface="+mn-ea"/>
                <a:cs typeface="+mn-cs"/>
              </a:rPr>
              <a:t>"</a:t>
            </a:r>
            <a:r>
              <a:rPr lang="en-US" sz="1400" kern="1200">
                <a:solidFill>
                  <a:srgbClr val="000000"/>
                </a:solidFill>
                <a:latin typeface="Cascadia Mono" panose="020B0609020000020004" pitchFamily="49" charset="0"/>
                <a:ea typeface="+mn-ea"/>
                <a:cs typeface="+mn-cs"/>
              </a:rPr>
              <a:t>);</a:t>
            </a:r>
            <a:endParaRPr lang="en-CA" sz="1400"/>
          </a:p>
        </p:txBody>
      </p:sp>
    </p:spTree>
    <p:extLst>
      <p:ext uri="{BB962C8B-B14F-4D97-AF65-F5344CB8AC3E}">
        <p14:creationId xmlns:p14="http://schemas.microsoft.com/office/powerpoint/2010/main" val="5199320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363B1-B532-A576-7E1E-BE0B46DB761F}"/>
              </a:ext>
            </a:extLst>
          </p:cNvPr>
          <p:cNvSpPr>
            <a:spLocks noGrp="1"/>
          </p:cNvSpPr>
          <p:nvPr>
            <p:ph type="title"/>
          </p:nvPr>
        </p:nvSpPr>
        <p:spPr/>
        <p:txBody>
          <a:bodyPr>
            <a:normAutofit fontScale="90000"/>
          </a:bodyPr>
          <a:lstStyle/>
          <a:p>
            <a:r>
              <a:rPr lang="en-US" dirty="0"/>
              <a:t>Lab2: Getting input directly from an Input Device Using New Input System Manager</a:t>
            </a:r>
            <a:endParaRPr lang="en-CA" dirty="0"/>
          </a:p>
        </p:txBody>
      </p:sp>
      <p:sp>
        <p:nvSpPr>
          <p:cNvPr id="3" name="Content Placeholder 2">
            <a:extLst>
              <a:ext uri="{FF2B5EF4-FFF2-40B4-BE49-F238E27FC236}">
                <a16:creationId xmlns:a16="http://schemas.microsoft.com/office/drawing/2014/main" id="{3B8C4975-81AB-2FDB-930C-6DB4CEA63179}"/>
              </a:ext>
            </a:extLst>
          </p:cNvPr>
          <p:cNvSpPr>
            <a:spLocks noGrp="1"/>
          </p:cNvSpPr>
          <p:nvPr>
            <p:ph idx="1"/>
          </p:nvPr>
        </p:nvSpPr>
        <p:spPr/>
        <p:txBody>
          <a:bodyPr>
            <a:normAutofit lnSpcReduction="10000"/>
          </a:bodyPr>
          <a:lstStyle/>
          <a:p>
            <a:r>
              <a:rPr lang="en-US" dirty="0"/>
              <a:t>The quickest way to get started in script is to read the current state directly from Input Devices.</a:t>
            </a:r>
          </a:p>
          <a:p>
            <a:r>
              <a:rPr lang="en-US" dirty="0"/>
              <a:t>For example, the following code gets the gamepad/keyboard/mouse that a player last used, and reads its current state:</a:t>
            </a:r>
          </a:p>
          <a:p>
            <a:pPr marL="400050" lvl="1" indent="0">
              <a:buNone/>
            </a:pPr>
            <a:r>
              <a:rPr lang="en-CA" sz="1000" dirty="0">
                <a:solidFill>
                  <a:srgbClr val="0000FF"/>
                </a:solidFill>
                <a:latin typeface="Cascadia Mono" panose="020B0609020000020004" pitchFamily="49" charset="0"/>
              </a:rPr>
              <a:t>var</a:t>
            </a:r>
            <a:r>
              <a:rPr lang="en-CA" sz="1000" dirty="0">
                <a:solidFill>
                  <a:srgbClr val="000000"/>
                </a:solidFill>
                <a:latin typeface="Cascadia Mono" panose="020B0609020000020004" pitchFamily="49" charset="0"/>
              </a:rPr>
              <a:t> </a:t>
            </a:r>
            <a:r>
              <a:rPr lang="en-CA" sz="1000" dirty="0" err="1">
                <a:solidFill>
                  <a:srgbClr val="000000"/>
                </a:solidFill>
                <a:latin typeface="Cascadia Mono" panose="020B0609020000020004" pitchFamily="49" charset="0"/>
              </a:rPr>
              <a:t>keboard</a:t>
            </a:r>
            <a:r>
              <a:rPr lang="en-CA" sz="1000" dirty="0">
                <a:solidFill>
                  <a:srgbClr val="000000"/>
                </a:solidFill>
                <a:latin typeface="Cascadia Mono" panose="020B0609020000020004" pitchFamily="49" charset="0"/>
              </a:rPr>
              <a:t> = </a:t>
            </a:r>
            <a:r>
              <a:rPr lang="en-CA" sz="1000" dirty="0" err="1">
                <a:solidFill>
                  <a:srgbClr val="000000"/>
                </a:solidFill>
                <a:latin typeface="Cascadia Mono" panose="020B0609020000020004" pitchFamily="49" charset="0"/>
              </a:rPr>
              <a:t>Keyboard.current</a:t>
            </a:r>
            <a:r>
              <a:rPr lang="en-CA" sz="1000" dirty="0">
                <a:solidFill>
                  <a:srgbClr val="000000"/>
                </a:solidFill>
                <a:latin typeface="Cascadia Mono" panose="020B0609020000020004" pitchFamily="49" charset="0"/>
              </a:rPr>
              <a:t>;</a:t>
            </a:r>
          </a:p>
          <a:p>
            <a:pPr marL="400050" lvl="1" indent="0">
              <a:buNone/>
            </a:pPr>
            <a:r>
              <a:rPr lang="en-CA" sz="1000" dirty="0">
                <a:solidFill>
                  <a:srgbClr val="000000"/>
                </a:solidFill>
                <a:latin typeface="Cascadia Mono" panose="020B0609020000020004" pitchFamily="49" charset="0"/>
              </a:rPr>
              <a:t>        </a:t>
            </a:r>
            <a:r>
              <a:rPr lang="en-CA" sz="1000" dirty="0">
                <a:solidFill>
                  <a:srgbClr val="0000FF"/>
                </a:solidFill>
                <a:latin typeface="Cascadia Mono" panose="020B0609020000020004" pitchFamily="49" charset="0"/>
              </a:rPr>
              <a:t>if</a:t>
            </a:r>
            <a:r>
              <a:rPr lang="en-CA" sz="1000" dirty="0">
                <a:solidFill>
                  <a:srgbClr val="000000"/>
                </a:solidFill>
                <a:latin typeface="Cascadia Mono" panose="020B0609020000020004" pitchFamily="49" charset="0"/>
              </a:rPr>
              <a:t> (</a:t>
            </a:r>
            <a:r>
              <a:rPr lang="en-CA" sz="1000" dirty="0" err="1">
                <a:solidFill>
                  <a:srgbClr val="000000"/>
                </a:solidFill>
                <a:latin typeface="Cascadia Mono" panose="020B0609020000020004" pitchFamily="49" charset="0"/>
              </a:rPr>
              <a:t>keboard</a:t>
            </a:r>
            <a:r>
              <a:rPr lang="en-CA" sz="1000" dirty="0">
                <a:solidFill>
                  <a:srgbClr val="000000"/>
                </a:solidFill>
                <a:latin typeface="Cascadia Mono" panose="020B0609020000020004" pitchFamily="49" charset="0"/>
              </a:rPr>
              <a:t> == </a:t>
            </a:r>
            <a:r>
              <a:rPr lang="en-CA" sz="1000" dirty="0">
                <a:solidFill>
                  <a:srgbClr val="0000FF"/>
                </a:solidFill>
                <a:latin typeface="Cascadia Mono" panose="020B0609020000020004" pitchFamily="49" charset="0"/>
              </a:rPr>
              <a:t>null</a:t>
            </a:r>
            <a:r>
              <a:rPr lang="en-CA" sz="1000" dirty="0">
                <a:solidFill>
                  <a:srgbClr val="000000"/>
                </a:solidFill>
                <a:latin typeface="Cascadia Mono" panose="020B0609020000020004" pitchFamily="49" charset="0"/>
              </a:rPr>
              <a:t>)</a:t>
            </a:r>
          </a:p>
          <a:p>
            <a:pPr marL="400050" lvl="1" indent="0">
              <a:buNone/>
            </a:pPr>
            <a:r>
              <a:rPr lang="en-CA" sz="1000" dirty="0">
                <a:solidFill>
                  <a:srgbClr val="000000"/>
                </a:solidFill>
                <a:latin typeface="Cascadia Mono" panose="020B0609020000020004" pitchFamily="49" charset="0"/>
              </a:rPr>
              <a:t>            </a:t>
            </a:r>
            <a:r>
              <a:rPr lang="en-CA" sz="1000" dirty="0">
                <a:solidFill>
                  <a:srgbClr val="0000FF"/>
                </a:solidFill>
                <a:latin typeface="Cascadia Mono" panose="020B0609020000020004" pitchFamily="49" charset="0"/>
              </a:rPr>
              <a:t>return</a:t>
            </a:r>
            <a:r>
              <a:rPr lang="en-CA" sz="1000" dirty="0">
                <a:solidFill>
                  <a:srgbClr val="000000"/>
                </a:solidFill>
                <a:latin typeface="Cascadia Mono" panose="020B0609020000020004" pitchFamily="49" charset="0"/>
              </a:rPr>
              <a:t>; </a:t>
            </a:r>
            <a:r>
              <a:rPr lang="en-CA" sz="1000" dirty="0">
                <a:solidFill>
                  <a:srgbClr val="008000"/>
                </a:solidFill>
                <a:latin typeface="Cascadia Mono" panose="020B0609020000020004" pitchFamily="49" charset="0"/>
              </a:rPr>
              <a:t>// No keyboard connected.</a:t>
            </a:r>
            <a:endParaRPr lang="en-CA" sz="1000" dirty="0">
              <a:solidFill>
                <a:srgbClr val="000000"/>
              </a:solidFill>
              <a:latin typeface="Cascadia Mono" panose="020B0609020000020004" pitchFamily="49" charset="0"/>
            </a:endParaRPr>
          </a:p>
          <a:p>
            <a:pPr marL="400050" lvl="1" indent="0">
              <a:buNone/>
            </a:pPr>
            <a:endParaRPr lang="en-CA" sz="1000" dirty="0">
              <a:solidFill>
                <a:srgbClr val="000000"/>
              </a:solidFill>
              <a:latin typeface="Cascadia Mono" panose="020B0609020000020004" pitchFamily="49" charset="0"/>
            </a:endParaRPr>
          </a:p>
          <a:p>
            <a:pPr marL="400050" lvl="1" indent="0">
              <a:buNone/>
            </a:pPr>
            <a:r>
              <a:rPr lang="en-CA" sz="1000" dirty="0">
                <a:solidFill>
                  <a:srgbClr val="000000"/>
                </a:solidFill>
                <a:latin typeface="Cascadia Mono" panose="020B0609020000020004" pitchFamily="49" charset="0"/>
              </a:rPr>
              <a:t>        </a:t>
            </a:r>
          </a:p>
          <a:p>
            <a:pPr marL="400050" lvl="1" indent="0">
              <a:buNone/>
            </a:pP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if</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Keyboard.current</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Key.A</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wasPressedThisFrame</a:t>
            </a:r>
            <a:r>
              <a:rPr lang="en-US" sz="1000" dirty="0">
                <a:solidFill>
                  <a:srgbClr val="000000"/>
                </a:solidFill>
                <a:latin typeface="Cascadia Mono" panose="020B0609020000020004" pitchFamily="49" charset="0"/>
              </a:rPr>
              <a:t>)</a:t>
            </a:r>
          </a:p>
          <a:p>
            <a:pPr marL="400050" lvl="1" indent="0">
              <a:buNone/>
            </a:pPr>
            <a:r>
              <a:rPr lang="en-CA" sz="1000" dirty="0">
                <a:solidFill>
                  <a:srgbClr val="000000"/>
                </a:solidFill>
                <a:latin typeface="Cascadia Mono" panose="020B0609020000020004" pitchFamily="49" charset="0"/>
              </a:rPr>
              <a:t>        {</a:t>
            </a:r>
          </a:p>
          <a:p>
            <a:pPr marL="400050" lvl="1" indent="0">
              <a:buNone/>
            </a:pPr>
            <a:endParaRPr lang="en-CA" sz="1000" dirty="0">
              <a:solidFill>
                <a:srgbClr val="000000"/>
              </a:solidFill>
              <a:latin typeface="Cascadia Mono" panose="020B0609020000020004" pitchFamily="49" charset="0"/>
            </a:endParaRPr>
          </a:p>
          <a:p>
            <a:pPr marL="400050" lvl="1" indent="0">
              <a:buNone/>
            </a:pPr>
            <a:r>
              <a:rPr lang="en-CA" sz="1000" dirty="0">
                <a:solidFill>
                  <a:srgbClr val="000000"/>
                </a:solidFill>
                <a:latin typeface="Cascadia Mono" panose="020B0609020000020004" pitchFamily="49" charset="0"/>
              </a:rPr>
              <a:t>            </a:t>
            </a:r>
            <a:r>
              <a:rPr lang="en-CA" sz="1000" dirty="0" err="1">
                <a:solidFill>
                  <a:srgbClr val="000000"/>
                </a:solidFill>
                <a:latin typeface="Cascadia Mono" panose="020B0609020000020004" pitchFamily="49" charset="0"/>
              </a:rPr>
              <a:t>moveX</a:t>
            </a:r>
            <a:r>
              <a:rPr lang="en-CA" sz="1000" dirty="0">
                <a:solidFill>
                  <a:srgbClr val="000000"/>
                </a:solidFill>
                <a:latin typeface="Cascadia Mono" panose="020B0609020000020004" pitchFamily="49" charset="0"/>
              </a:rPr>
              <a:t> = -10;</a:t>
            </a:r>
          </a:p>
          <a:p>
            <a:pPr marL="400050" lvl="1" indent="0">
              <a:buNone/>
            </a:pPr>
            <a:r>
              <a:rPr lang="en-CA" sz="1000" dirty="0">
                <a:solidFill>
                  <a:srgbClr val="000000"/>
                </a:solidFill>
                <a:latin typeface="Cascadia Mono" panose="020B0609020000020004" pitchFamily="49" charset="0"/>
              </a:rPr>
              <a:t>            </a:t>
            </a:r>
            <a:r>
              <a:rPr lang="en-CA" sz="1000" dirty="0" err="1">
                <a:solidFill>
                  <a:srgbClr val="000000"/>
                </a:solidFill>
                <a:latin typeface="Cascadia Mono" panose="020B0609020000020004" pitchFamily="49" charset="0"/>
              </a:rPr>
              <a:t>Debug.Log</a:t>
            </a:r>
            <a:r>
              <a:rPr lang="en-CA" sz="1000" dirty="0">
                <a:solidFill>
                  <a:srgbClr val="000000"/>
                </a:solidFill>
                <a:latin typeface="Cascadia Mono" panose="020B0609020000020004" pitchFamily="49" charset="0"/>
              </a:rPr>
              <a:t>(</a:t>
            </a:r>
            <a:r>
              <a:rPr lang="en-CA" sz="1000" dirty="0" err="1">
                <a:solidFill>
                  <a:srgbClr val="000000"/>
                </a:solidFill>
                <a:latin typeface="Cascadia Mono" panose="020B0609020000020004" pitchFamily="49" charset="0"/>
              </a:rPr>
              <a:t>Keyboard.current</a:t>
            </a:r>
            <a:r>
              <a:rPr lang="en-CA" sz="1000" dirty="0">
                <a:solidFill>
                  <a:srgbClr val="000000"/>
                </a:solidFill>
                <a:latin typeface="Cascadia Mono" panose="020B0609020000020004" pitchFamily="49" charset="0"/>
              </a:rPr>
              <a:t>[</a:t>
            </a:r>
            <a:r>
              <a:rPr lang="en-CA" sz="1000" dirty="0" err="1">
                <a:solidFill>
                  <a:srgbClr val="000000"/>
                </a:solidFill>
                <a:latin typeface="Cascadia Mono" panose="020B0609020000020004" pitchFamily="49" charset="0"/>
              </a:rPr>
              <a:t>Key.A</a:t>
            </a:r>
            <a:r>
              <a:rPr lang="en-CA" sz="1000" dirty="0">
                <a:solidFill>
                  <a:srgbClr val="000000"/>
                </a:solidFill>
                <a:latin typeface="Cascadia Mono" panose="020B0609020000020004" pitchFamily="49" charset="0"/>
              </a:rPr>
              <a:t>].</a:t>
            </a:r>
            <a:r>
              <a:rPr lang="en-CA" sz="1000" dirty="0" err="1">
                <a:solidFill>
                  <a:srgbClr val="000000"/>
                </a:solidFill>
                <a:latin typeface="Cascadia Mono" panose="020B0609020000020004" pitchFamily="49" charset="0"/>
              </a:rPr>
              <a:t>ReadValue</a:t>
            </a:r>
            <a:r>
              <a:rPr lang="en-CA" sz="1000" dirty="0">
                <a:solidFill>
                  <a:srgbClr val="000000"/>
                </a:solidFill>
                <a:latin typeface="Cascadia Mono" panose="020B0609020000020004" pitchFamily="49" charset="0"/>
              </a:rPr>
              <a:t>()); </a:t>
            </a:r>
            <a:r>
              <a:rPr lang="en-CA" sz="1000" dirty="0">
                <a:solidFill>
                  <a:srgbClr val="008000"/>
                </a:solidFill>
                <a:latin typeface="Cascadia Mono" panose="020B0609020000020004" pitchFamily="49" charset="0"/>
              </a:rPr>
              <a:t>// +1.</a:t>
            </a:r>
            <a:endParaRPr lang="en-CA" sz="1000" dirty="0">
              <a:solidFill>
                <a:srgbClr val="000000"/>
              </a:solidFill>
              <a:latin typeface="Cascadia Mono" panose="020B0609020000020004" pitchFamily="49" charset="0"/>
            </a:endParaRPr>
          </a:p>
          <a:p>
            <a:pPr marL="400050" lvl="1" indent="0">
              <a:buNone/>
            </a:pPr>
            <a:endParaRPr lang="en-CA" sz="1000" dirty="0">
              <a:solidFill>
                <a:srgbClr val="000000"/>
              </a:solidFill>
              <a:latin typeface="Cascadia Mono" panose="020B0609020000020004" pitchFamily="49" charset="0"/>
            </a:endParaRPr>
          </a:p>
          <a:p>
            <a:pPr marL="400050" lvl="1" indent="0">
              <a:buNone/>
            </a:pPr>
            <a:r>
              <a:rPr lang="en-CA" sz="1000" dirty="0">
                <a:solidFill>
                  <a:srgbClr val="000000"/>
                </a:solidFill>
                <a:latin typeface="Cascadia Mono" panose="020B0609020000020004" pitchFamily="49" charset="0"/>
              </a:rPr>
              <a:t>        }</a:t>
            </a:r>
            <a:endParaRPr lang="en-CA" dirty="0"/>
          </a:p>
        </p:txBody>
      </p:sp>
    </p:spTree>
    <p:extLst>
      <p:ext uri="{BB962C8B-B14F-4D97-AF65-F5344CB8AC3E}">
        <p14:creationId xmlns:p14="http://schemas.microsoft.com/office/powerpoint/2010/main" val="22189461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A52D6-723A-EA8B-6EF1-BB832DC34B89}"/>
              </a:ext>
            </a:extLst>
          </p:cNvPr>
          <p:cNvSpPr>
            <a:spLocks noGrp="1"/>
          </p:cNvSpPr>
          <p:nvPr>
            <p:ph type="title"/>
          </p:nvPr>
        </p:nvSpPr>
        <p:spPr/>
        <p:txBody>
          <a:bodyPr/>
          <a:lstStyle/>
          <a:p>
            <a:r>
              <a:rPr lang="en-US" dirty="0"/>
              <a:t>PlayerController2.cs</a:t>
            </a:r>
            <a:endParaRPr lang="en-CA" dirty="0"/>
          </a:p>
        </p:txBody>
      </p:sp>
      <p:sp>
        <p:nvSpPr>
          <p:cNvPr id="5" name="Content Placeholder 4">
            <a:extLst>
              <a:ext uri="{FF2B5EF4-FFF2-40B4-BE49-F238E27FC236}">
                <a16:creationId xmlns:a16="http://schemas.microsoft.com/office/drawing/2014/main" id="{E5D5E578-C1A6-5F58-5E0C-90A22C339950}"/>
              </a:ext>
            </a:extLst>
          </p:cNvPr>
          <p:cNvSpPr>
            <a:spLocks noGrp="1"/>
          </p:cNvSpPr>
          <p:nvPr>
            <p:ph sz="half" idx="2"/>
          </p:nvPr>
        </p:nvSpPr>
        <p:spPr/>
        <p:txBody>
          <a:bodyPr>
            <a:normAutofit fontScale="32500" lnSpcReduction="20000"/>
          </a:bodyPr>
          <a:lstStyle/>
          <a:p>
            <a:pPr marL="0" indent="0">
              <a:buNone/>
            </a:pPr>
            <a:endParaRPr lang="en-CA" dirty="0"/>
          </a:p>
          <a:p>
            <a:pPr marL="0" indent="0">
              <a:buNone/>
            </a:pPr>
            <a:endParaRPr lang="en-CA" dirty="0"/>
          </a:p>
          <a:p>
            <a:pPr marL="0" indent="0">
              <a:buNone/>
            </a:pPr>
            <a:r>
              <a:rPr lang="en-CA" dirty="0"/>
              <a:t>        //for </a:t>
            </a:r>
            <a:r>
              <a:rPr lang="en-CA" dirty="0" err="1"/>
              <a:t>GamePad</a:t>
            </a:r>
            <a:endParaRPr lang="en-CA" dirty="0"/>
          </a:p>
          <a:p>
            <a:pPr marL="0" indent="0">
              <a:buNone/>
            </a:pPr>
            <a:r>
              <a:rPr lang="en-CA" dirty="0"/>
              <a:t>        //var gamepad = </a:t>
            </a:r>
            <a:r>
              <a:rPr lang="en-CA" dirty="0" err="1"/>
              <a:t>Gamepad.current</a:t>
            </a:r>
            <a:r>
              <a:rPr lang="en-CA" dirty="0"/>
              <a:t>;</a:t>
            </a:r>
          </a:p>
          <a:p>
            <a:pPr marL="0" indent="0">
              <a:buNone/>
            </a:pPr>
            <a:r>
              <a:rPr lang="en-CA" dirty="0"/>
              <a:t>        //if (gamepad == null)</a:t>
            </a:r>
          </a:p>
          <a:p>
            <a:pPr marL="0" indent="0">
              <a:buNone/>
            </a:pPr>
            <a:r>
              <a:rPr lang="en-CA" dirty="0"/>
              <a:t>        //    return; // No gamepad connected.</a:t>
            </a:r>
          </a:p>
          <a:p>
            <a:pPr marL="0" indent="0">
              <a:buNone/>
            </a:pPr>
            <a:endParaRPr lang="en-CA" dirty="0"/>
          </a:p>
          <a:p>
            <a:pPr marL="0" indent="0">
              <a:buNone/>
            </a:pPr>
            <a:r>
              <a:rPr lang="en-CA" dirty="0"/>
              <a:t>        //if (</a:t>
            </a:r>
            <a:r>
              <a:rPr lang="en-CA" dirty="0" err="1"/>
              <a:t>gamepad.rightTrigger.wasPressedThisFrame</a:t>
            </a:r>
            <a:r>
              <a:rPr lang="en-CA" dirty="0"/>
              <a:t>)</a:t>
            </a:r>
          </a:p>
          <a:p>
            <a:pPr marL="0" indent="0">
              <a:buNone/>
            </a:pPr>
            <a:r>
              <a:rPr lang="en-CA" dirty="0"/>
              <a:t>        //{</a:t>
            </a:r>
          </a:p>
          <a:p>
            <a:pPr marL="0" indent="0">
              <a:buNone/>
            </a:pPr>
            <a:r>
              <a:rPr lang="en-CA" dirty="0"/>
              <a:t>        //    // 'Use' code here</a:t>
            </a:r>
          </a:p>
          <a:p>
            <a:pPr marL="0" indent="0">
              <a:buNone/>
            </a:pPr>
            <a:r>
              <a:rPr lang="en-CA" dirty="0"/>
              <a:t>        //}</a:t>
            </a:r>
          </a:p>
          <a:p>
            <a:pPr marL="0" indent="0">
              <a:buNone/>
            </a:pPr>
            <a:endParaRPr lang="en-CA" dirty="0"/>
          </a:p>
          <a:p>
            <a:pPr marL="0" indent="0">
              <a:buNone/>
            </a:pPr>
            <a:r>
              <a:rPr lang="en-CA" dirty="0"/>
              <a:t>        //Vector2 move = </a:t>
            </a:r>
            <a:r>
              <a:rPr lang="en-CA" dirty="0" err="1"/>
              <a:t>gamepad.leftStick.ReadValue</a:t>
            </a:r>
            <a:r>
              <a:rPr lang="en-CA" dirty="0"/>
              <a:t>();</a:t>
            </a:r>
          </a:p>
          <a:p>
            <a:pPr marL="0" indent="0">
              <a:buNone/>
            </a:pPr>
            <a:r>
              <a:rPr lang="en-CA" dirty="0"/>
              <a:t>        // 'Move' code here</a:t>
            </a:r>
          </a:p>
          <a:p>
            <a:pPr marL="0" indent="0">
              <a:buNone/>
            </a:pPr>
            <a:endParaRPr lang="en-CA" dirty="0"/>
          </a:p>
          <a:p>
            <a:pPr marL="0" indent="0">
              <a:buNone/>
            </a:pPr>
            <a:endParaRPr lang="en-CA" dirty="0"/>
          </a:p>
          <a:p>
            <a:pPr marL="0" indent="0">
              <a:buNone/>
            </a:pPr>
            <a:r>
              <a:rPr lang="en-CA" dirty="0"/>
              <a:t>        //mouse example</a:t>
            </a:r>
          </a:p>
          <a:p>
            <a:pPr marL="0" indent="0">
              <a:buNone/>
            </a:pPr>
            <a:r>
              <a:rPr lang="en-CA" dirty="0"/>
              <a:t>        //var mouse = </a:t>
            </a:r>
            <a:r>
              <a:rPr lang="en-CA" dirty="0" err="1"/>
              <a:t>Mouse.current</a:t>
            </a:r>
            <a:r>
              <a:rPr lang="en-CA" dirty="0"/>
              <a:t>;</a:t>
            </a:r>
          </a:p>
          <a:p>
            <a:pPr marL="0" indent="0">
              <a:buNone/>
            </a:pPr>
            <a:r>
              <a:rPr lang="en-CA" dirty="0"/>
              <a:t>        //if (mouse != null)</a:t>
            </a:r>
          </a:p>
          <a:p>
            <a:pPr marL="0" indent="0">
              <a:buNone/>
            </a:pPr>
            <a:r>
              <a:rPr lang="en-CA" dirty="0"/>
              <a:t>        //    look = </a:t>
            </a:r>
            <a:r>
              <a:rPr lang="en-CA" dirty="0" err="1"/>
              <a:t>mouse.delta.ReadValue</a:t>
            </a:r>
            <a:r>
              <a:rPr lang="en-CA" dirty="0"/>
              <a:t>();</a:t>
            </a:r>
          </a:p>
          <a:p>
            <a:pPr marL="0" indent="0">
              <a:buNone/>
            </a:pPr>
            <a:endParaRPr lang="en-CA" dirty="0"/>
          </a:p>
        </p:txBody>
      </p:sp>
      <p:sp>
        <p:nvSpPr>
          <p:cNvPr id="6" name="Content Placeholder 5">
            <a:extLst>
              <a:ext uri="{FF2B5EF4-FFF2-40B4-BE49-F238E27FC236}">
                <a16:creationId xmlns:a16="http://schemas.microsoft.com/office/drawing/2014/main" id="{579BBE57-0339-C0FB-8E8D-862B2DC94B64}"/>
              </a:ext>
            </a:extLst>
          </p:cNvPr>
          <p:cNvSpPr>
            <a:spLocks noGrp="1"/>
          </p:cNvSpPr>
          <p:nvPr>
            <p:ph sz="quarter" idx="13"/>
          </p:nvPr>
        </p:nvSpPr>
        <p:spPr>
          <a:xfrm>
            <a:off x="1889760" y="1600200"/>
            <a:ext cx="4041648" cy="4825767"/>
          </a:xfrm>
        </p:spPr>
        <p:txBody>
          <a:bodyPr>
            <a:normAutofit fontScale="25000" lnSpcReduction="20000"/>
          </a:bodyPr>
          <a:lstStyle/>
          <a:p>
            <a:pPr marL="0" indent="0">
              <a:buNone/>
            </a:pPr>
            <a:r>
              <a:rPr lang="en-CA" dirty="0"/>
              <a:t>public class PlayerController2 : </a:t>
            </a:r>
            <a:r>
              <a:rPr lang="en-CA" dirty="0" err="1"/>
              <a:t>MonoBehaviour</a:t>
            </a:r>
            <a:endParaRPr lang="en-CA" dirty="0"/>
          </a:p>
          <a:p>
            <a:pPr marL="0" indent="0">
              <a:buNone/>
            </a:pPr>
            <a:r>
              <a:rPr lang="en-CA" dirty="0"/>
              <a:t>{</a:t>
            </a:r>
          </a:p>
          <a:p>
            <a:pPr marL="0" indent="0">
              <a:buNone/>
            </a:pPr>
            <a:r>
              <a:rPr lang="en-CA" dirty="0"/>
              <a:t>    public </a:t>
            </a:r>
            <a:r>
              <a:rPr lang="en-CA" dirty="0" err="1"/>
              <a:t>Rigidbody</a:t>
            </a:r>
            <a:r>
              <a:rPr lang="en-CA" dirty="0"/>
              <a:t> </a:t>
            </a:r>
            <a:r>
              <a:rPr lang="en-CA" dirty="0" err="1"/>
              <a:t>rb</a:t>
            </a:r>
            <a:r>
              <a:rPr lang="en-CA" dirty="0"/>
              <a:t>;</a:t>
            </a:r>
          </a:p>
          <a:p>
            <a:pPr marL="0" indent="0">
              <a:buNone/>
            </a:pPr>
            <a:r>
              <a:rPr lang="en-CA" dirty="0"/>
              <a:t>    public float </a:t>
            </a:r>
            <a:r>
              <a:rPr lang="en-CA" dirty="0" err="1"/>
              <a:t>moveSpeed</a:t>
            </a:r>
            <a:r>
              <a:rPr lang="en-CA" dirty="0"/>
              <a:t> = 5f;</a:t>
            </a:r>
          </a:p>
          <a:p>
            <a:pPr marL="0" indent="0">
              <a:buNone/>
            </a:pPr>
            <a:endParaRPr lang="en-CA" dirty="0"/>
          </a:p>
          <a:p>
            <a:pPr marL="0" indent="0">
              <a:buNone/>
            </a:pPr>
            <a:r>
              <a:rPr lang="en-CA" dirty="0"/>
              <a:t>    Vector3 </a:t>
            </a:r>
            <a:r>
              <a:rPr lang="en-CA" dirty="0" err="1"/>
              <a:t>moveDirection</a:t>
            </a:r>
            <a:r>
              <a:rPr lang="en-CA" dirty="0"/>
              <a:t> = Vector3.zero;</a:t>
            </a:r>
          </a:p>
          <a:p>
            <a:pPr marL="0" indent="0">
              <a:buNone/>
            </a:pPr>
            <a:r>
              <a:rPr lang="en-CA" dirty="0"/>
              <a:t>    float </a:t>
            </a:r>
            <a:r>
              <a:rPr lang="en-CA" dirty="0" err="1"/>
              <a:t>moveX</a:t>
            </a:r>
            <a:r>
              <a:rPr lang="en-CA" dirty="0"/>
              <a:t> = 0;</a:t>
            </a:r>
          </a:p>
          <a:p>
            <a:pPr marL="0" indent="0">
              <a:buNone/>
            </a:pPr>
            <a:r>
              <a:rPr lang="en-CA" dirty="0"/>
              <a:t>    float </a:t>
            </a:r>
            <a:r>
              <a:rPr lang="en-CA" dirty="0" err="1"/>
              <a:t>moveY</a:t>
            </a:r>
            <a:r>
              <a:rPr lang="en-CA" dirty="0"/>
              <a:t> = 0;</a:t>
            </a:r>
          </a:p>
          <a:p>
            <a:pPr marL="0" indent="0">
              <a:buNone/>
            </a:pPr>
            <a:endParaRPr lang="en-CA" dirty="0"/>
          </a:p>
          <a:p>
            <a:pPr marL="0" indent="0">
              <a:buNone/>
            </a:pPr>
            <a:r>
              <a:rPr lang="en-CA" dirty="0"/>
              <a:t>void Update()</a:t>
            </a:r>
          </a:p>
          <a:p>
            <a:pPr marL="0" indent="0">
              <a:buNone/>
            </a:pPr>
            <a:r>
              <a:rPr lang="en-CA" dirty="0"/>
              <a:t>    {</a:t>
            </a:r>
          </a:p>
          <a:p>
            <a:pPr marL="0" indent="0">
              <a:buNone/>
            </a:pPr>
            <a:endParaRPr lang="en-CA" dirty="0"/>
          </a:p>
          <a:p>
            <a:pPr marL="0" indent="0">
              <a:buNone/>
            </a:pPr>
            <a:endParaRPr lang="en-CA" dirty="0"/>
          </a:p>
          <a:p>
            <a:pPr marL="0" indent="0">
              <a:buNone/>
            </a:pPr>
            <a:r>
              <a:rPr lang="en-CA" dirty="0"/>
              <a:t>        var </a:t>
            </a:r>
            <a:r>
              <a:rPr lang="en-CA" dirty="0" err="1"/>
              <a:t>keboard</a:t>
            </a:r>
            <a:r>
              <a:rPr lang="en-CA" dirty="0"/>
              <a:t> = </a:t>
            </a:r>
            <a:r>
              <a:rPr lang="en-CA" dirty="0" err="1"/>
              <a:t>Keyboard.current</a:t>
            </a:r>
            <a:r>
              <a:rPr lang="en-CA" dirty="0"/>
              <a:t>;</a:t>
            </a:r>
          </a:p>
          <a:p>
            <a:pPr marL="0" indent="0">
              <a:buNone/>
            </a:pPr>
            <a:r>
              <a:rPr lang="en-CA" dirty="0"/>
              <a:t>        if (</a:t>
            </a:r>
            <a:r>
              <a:rPr lang="en-CA" dirty="0" err="1"/>
              <a:t>keboard</a:t>
            </a:r>
            <a:r>
              <a:rPr lang="en-CA" dirty="0"/>
              <a:t> == null)</a:t>
            </a:r>
          </a:p>
          <a:p>
            <a:pPr marL="0" indent="0">
              <a:buNone/>
            </a:pPr>
            <a:r>
              <a:rPr lang="en-CA" dirty="0"/>
              <a:t>            return; // No keyboard connected.</a:t>
            </a:r>
          </a:p>
          <a:p>
            <a:pPr marL="0" indent="0">
              <a:buNone/>
            </a:pPr>
            <a:endParaRPr lang="en-CA" dirty="0"/>
          </a:p>
          <a:p>
            <a:pPr marL="0" indent="0">
              <a:buNone/>
            </a:pPr>
            <a:endParaRPr lang="en-CA" dirty="0"/>
          </a:p>
          <a:p>
            <a:pPr marL="0" indent="0">
              <a:buNone/>
            </a:pPr>
            <a:r>
              <a:rPr lang="en-CA" dirty="0"/>
              <a:t>        if (</a:t>
            </a:r>
            <a:r>
              <a:rPr lang="en-CA" dirty="0" err="1"/>
              <a:t>Keyboard.current</a:t>
            </a:r>
            <a:r>
              <a:rPr lang="en-CA" dirty="0"/>
              <a:t>[</a:t>
            </a:r>
            <a:r>
              <a:rPr lang="en-CA" dirty="0" err="1"/>
              <a:t>Key.A</a:t>
            </a:r>
            <a:r>
              <a:rPr lang="en-CA" dirty="0"/>
              <a:t>].</a:t>
            </a:r>
            <a:r>
              <a:rPr lang="en-CA" dirty="0" err="1"/>
              <a:t>wasPressedThisFrame</a:t>
            </a:r>
            <a:r>
              <a:rPr lang="en-CA" dirty="0"/>
              <a:t>)</a:t>
            </a:r>
          </a:p>
          <a:p>
            <a:pPr marL="0" indent="0">
              <a:buNone/>
            </a:pPr>
            <a:r>
              <a:rPr lang="en-CA" dirty="0"/>
              <a:t>        {</a:t>
            </a:r>
          </a:p>
          <a:p>
            <a:pPr marL="0" indent="0">
              <a:buNone/>
            </a:pPr>
            <a:endParaRPr lang="en-CA" dirty="0"/>
          </a:p>
          <a:p>
            <a:pPr marL="0" indent="0">
              <a:buNone/>
            </a:pPr>
            <a:r>
              <a:rPr lang="en-CA" dirty="0"/>
              <a:t>            </a:t>
            </a:r>
            <a:r>
              <a:rPr lang="en-CA" dirty="0" err="1"/>
              <a:t>moveX</a:t>
            </a:r>
            <a:r>
              <a:rPr lang="en-CA" dirty="0"/>
              <a:t> = -1;</a:t>
            </a:r>
          </a:p>
          <a:p>
            <a:pPr marL="0" indent="0">
              <a:buNone/>
            </a:pPr>
            <a:r>
              <a:rPr lang="en-CA" dirty="0"/>
              <a:t>            </a:t>
            </a:r>
            <a:r>
              <a:rPr lang="en-CA" dirty="0" err="1"/>
              <a:t>Debug.Log</a:t>
            </a:r>
            <a:r>
              <a:rPr lang="en-CA" dirty="0"/>
              <a:t>(</a:t>
            </a:r>
            <a:r>
              <a:rPr lang="en-CA" dirty="0" err="1"/>
              <a:t>Keyboard.current</a:t>
            </a:r>
            <a:r>
              <a:rPr lang="en-CA" dirty="0"/>
              <a:t>[</a:t>
            </a:r>
            <a:r>
              <a:rPr lang="en-CA" dirty="0" err="1"/>
              <a:t>Key.A</a:t>
            </a:r>
            <a:r>
              <a:rPr lang="en-CA" dirty="0"/>
              <a:t>].</a:t>
            </a:r>
            <a:r>
              <a:rPr lang="en-CA" dirty="0" err="1"/>
              <a:t>ReadValue</a:t>
            </a:r>
            <a:r>
              <a:rPr lang="en-CA" dirty="0"/>
              <a:t>());</a:t>
            </a:r>
          </a:p>
          <a:p>
            <a:pPr marL="0" indent="0">
              <a:buNone/>
            </a:pPr>
            <a:r>
              <a:rPr lang="en-CA" dirty="0"/>
              <a:t>        }</a:t>
            </a:r>
          </a:p>
          <a:p>
            <a:pPr marL="0" indent="0">
              <a:buNone/>
            </a:pPr>
            <a:endParaRPr lang="en-CA" dirty="0"/>
          </a:p>
          <a:p>
            <a:pPr marL="0" indent="0">
              <a:buNone/>
            </a:pPr>
            <a:r>
              <a:rPr lang="en-CA" dirty="0"/>
              <a:t>        if (</a:t>
            </a:r>
            <a:r>
              <a:rPr lang="en-CA" dirty="0" err="1"/>
              <a:t>Keyboard.current</a:t>
            </a:r>
            <a:r>
              <a:rPr lang="en-CA" dirty="0"/>
              <a:t>[</a:t>
            </a:r>
            <a:r>
              <a:rPr lang="en-CA" dirty="0" err="1"/>
              <a:t>Key.D</a:t>
            </a:r>
            <a:r>
              <a:rPr lang="en-CA" dirty="0"/>
              <a:t>].</a:t>
            </a:r>
            <a:r>
              <a:rPr lang="en-CA" dirty="0" err="1"/>
              <a:t>wasPressedThisFrame</a:t>
            </a:r>
            <a:r>
              <a:rPr lang="en-CA" dirty="0"/>
              <a:t>)</a:t>
            </a:r>
          </a:p>
          <a:p>
            <a:pPr marL="0" indent="0">
              <a:buNone/>
            </a:pPr>
            <a:r>
              <a:rPr lang="en-CA" dirty="0"/>
              <a:t>        {</a:t>
            </a:r>
          </a:p>
          <a:p>
            <a:pPr marL="0" indent="0">
              <a:buNone/>
            </a:pPr>
            <a:r>
              <a:rPr lang="en-CA" dirty="0"/>
              <a:t>            </a:t>
            </a:r>
            <a:r>
              <a:rPr lang="en-CA" dirty="0" err="1"/>
              <a:t>moveX</a:t>
            </a:r>
            <a:r>
              <a:rPr lang="en-CA" dirty="0"/>
              <a:t> = 1;</a:t>
            </a:r>
          </a:p>
          <a:p>
            <a:pPr marL="0" indent="0">
              <a:buNone/>
            </a:pPr>
            <a:r>
              <a:rPr lang="en-CA" dirty="0"/>
              <a:t>        }</a:t>
            </a:r>
          </a:p>
          <a:p>
            <a:pPr marL="0" indent="0">
              <a:buNone/>
            </a:pPr>
            <a:r>
              <a:rPr lang="en-CA" dirty="0"/>
              <a:t>        if (</a:t>
            </a:r>
            <a:r>
              <a:rPr lang="en-CA" dirty="0" err="1"/>
              <a:t>Keyboard.current</a:t>
            </a:r>
            <a:r>
              <a:rPr lang="en-CA" dirty="0"/>
              <a:t>[</a:t>
            </a:r>
            <a:r>
              <a:rPr lang="en-CA" dirty="0" err="1"/>
              <a:t>Key.W</a:t>
            </a:r>
            <a:r>
              <a:rPr lang="en-CA" dirty="0"/>
              <a:t>].</a:t>
            </a:r>
            <a:r>
              <a:rPr lang="en-CA" dirty="0" err="1"/>
              <a:t>wasPressedThisFrame</a:t>
            </a:r>
            <a:r>
              <a:rPr lang="en-CA" dirty="0"/>
              <a:t>)</a:t>
            </a:r>
          </a:p>
          <a:p>
            <a:pPr marL="0" indent="0">
              <a:buNone/>
            </a:pPr>
            <a:r>
              <a:rPr lang="en-CA" dirty="0"/>
              <a:t>        {</a:t>
            </a:r>
          </a:p>
          <a:p>
            <a:pPr marL="0" indent="0">
              <a:buNone/>
            </a:pPr>
            <a:endParaRPr lang="en-CA" dirty="0"/>
          </a:p>
          <a:p>
            <a:pPr marL="0" indent="0">
              <a:buNone/>
            </a:pPr>
            <a:r>
              <a:rPr lang="en-CA" dirty="0"/>
              <a:t>            </a:t>
            </a:r>
            <a:r>
              <a:rPr lang="en-CA" dirty="0" err="1"/>
              <a:t>moveY</a:t>
            </a:r>
            <a:r>
              <a:rPr lang="en-CA" dirty="0"/>
              <a:t> = 1;</a:t>
            </a:r>
          </a:p>
          <a:p>
            <a:pPr marL="0" indent="0">
              <a:buNone/>
            </a:pPr>
            <a:r>
              <a:rPr lang="en-CA" dirty="0"/>
              <a:t>        }</a:t>
            </a:r>
          </a:p>
          <a:p>
            <a:pPr marL="0" indent="0">
              <a:buNone/>
            </a:pPr>
            <a:endParaRPr lang="en-CA" dirty="0"/>
          </a:p>
          <a:p>
            <a:pPr marL="0" indent="0">
              <a:buNone/>
            </a:pPr>
            <a:r>
              <a:rPr lang="en-CA" dirty="0"/>
              <a:t>        if (</a:t>
            </a:r>
            <a:r>
              <a:rPr lang="en-CA" dirty="0" err="1"/>
              <a:t>Keyboard.current</a:t>
            </a:r>
            <a:r>
              <a:rPr lang="en-CA" dirty="0"/>
              <a:t>[</a:t>
            </a:r>
            <a:r>
              <a:rPr lang="en-CA" dirty="0" err="1"/>
              <a:t>Key.S</a:t>
            </a:r>
            <a:r>
              <a:rPr lang="en-CA" dirty="0"/>
              <a:t>].</a:t>
            </a:r>
            <a:r>
              <a:rPr lang="en-CA" dirty="0" err="1"/>
              <a:t>wasPressedThisFrame</a:t>
            </a:r>
            <a:r>
              <a:rPr lang="en-CA" dirty="0"/>
              <a:t>)</a:t>
            </a:r>
          </a:p>
          <a:p>
            <a:pPr marL="0" indent="0">
              <a:buNone/>
            </a:pPr>
            <a:r>
              <a:rPr lang="en-CA" dirty="0"/>
              <a:t>        {</a:t>
            </a:r>
          </a:p>
          <a:p>
            <a:pPr marL="0" indent="0">
              <a:buNone/>
            </a:pPr>
            <a:r>
              <a:rPr lang="en-CA" dirty="0"/>
              <a:t>            </a:t>
            </a:r>
            <a:r>
              <a:rPr lang="en-CA" dirty="0" err="1"/>
              <a:t>moveY</a:t>
            </a:r>
            <a:r>
              <a:rPr lang="en-CA" dirty="0"/>
              <a:t> = -1;</a:t>
            </a:r>
          </a:p>
          <a:p>
            <a:pPr marL="0" indent="0">
              <a:buNone/>
            </a:pPr>
            <a:r>
              <a:rPr lang="en-CA" dirty="0"/>
              <a:t>        }</a:t>
            </a:r>
          </a:p>
          <a:p>
            <a:pPr marL="0" indent="0">
              <a:buNone/>
            </a:pPr>
            <a:r>
              <a:rPr lang="en-CA" dirty="0"/>
              <a:t>        </a:t>
            </a:r>
            <a:r>
              <a:rPr lang="en-CA" dirty="0" err="1"/>
              <a:t>moveDirection</a:t>
            </a:r>
            <a:r>
              <a:rPr lang="en-CA" dirty="0"/>
              <a:t> = new Vector2(</a:t>
            </a:r>
            <a:r>
              <a:rPr lang="en-CA" dirty="0" err="1"/>
              <a:t>moveX</a:t>
            </a:r>
            <a:r>
              <a:rPr lang="en-CA" dirty="0"/>
              <a:t>, </a:t>
            </a:r>
            <a:r>
              <a:rPr lang="en-CA" dirty="0" err="1"/>
              <a:t>moveY</a:t>
            </a:r>
            <a:r>
              <a:rPr lang="en-CA" dirty="0"/>
              <a:t>).normalized;</a:t>
            </a:r>
          </a:p>
          <a:p>
            <a:pPr marL="0" indent="0">
              <a:buNone/>
            </a:pPr>
            <a:endParaRPr lang="en-CA" dirty="0"/>
          </a:p>
          <a:p>
            <a:pPr marL="0" indent="0">
              <a:buNone/>
            </a:pPr>
            <a:r>
              <a:rPr lang="en-CA" dirty="0"/>
              <a:t>    }</a:t>
            </a:r>
          </a:p>
          <a:p>
            <a:pPr marL="0" indent="0">
              <a:buNone/>
            </a:pPr>
            <a:endParaRPr lang="en-CA" dirty="0"/>
          </a:p>
          <a:p>
            <a:pPr marL="0" indent="0">
              <a:buNone/>
            </a:pPr>
            <a:r>
              <a:rPr lang="en-CA" dirty="0"/>
              <a:t>    private void </a:t>
            </a:r>
            <a:r>
              <a:rPr lang="en-CA" dirty="0" err="1"/>
              <a:t>FixedUpdate</a:t>
            </a:r>
            <a:r>
              <a:rPr lang="en-CA" dirty="0"/>
              <a:t>()</a:t>
            </a:r>
          </a:p>
          <a:p>
            <a:pPr marL="0" indent="0">
              <a:buNone/>
            </a:pPr>
            <a:r>
              <a:rPr lang="en-CA" dirty="0"/>
              <a:t>    {</a:t>
            </a:r>
          </a:p>
          <a:p>
            <a:pPr marL="0" indent="0">
              <a:buNone/>
            </a:pPr>
            <a:endParaRPr lang="en-CA" dirty="0"/>
          </a:p>
          <a:p>
            <a:pPr marL="0" indent="0">
              <a:buNone/>
            </a:pPr>
            <a:r>
              <a:rPr lang="en-CA" dirty="0"/>
              <a:t>        </a:t>
            </a:r>
            <a:r>
              <a:rPr lang="en-CA" dirty="0" err="1"/>
              <a:t>rb.linearVelocity</a:t>
            </a:r>
            <a:r>
              <a:rPr lang="en-CA" dirty="0"/>
              <a:t> = new Vector3(</a:t>
            </a:r>
            <a:r>
              <a:rPr lang="en-CA" dirty="0" err="1"/>
              <a:t>moveDirection.x</a:t>
            </a:r>
            <a:r>
              <a:rPr lang="en-CA" dirty="0"/>
              <a:t> * </a:t>
            </a:r>
            <a:r>
              <a:rPr lang="en-CA" dirty="0" err="1"/>
              <a:t>moveSpeed</a:t>
            </a:r>
            <a:r>
              <a:rPr lang="en-CA" dirty="0"/>
              <a:t>, </a:t>
            </a:r>
            <a:r>
              <a:rPr lang="en-CA" dirty="0" err="1"/>
              <a:t>moveDirection.y</a:t>
            </a:r>
            <a:r>
              <a:rPr lang="en-CA" dirty="0"/>
              <a:t> * </a:t>
            </a:r>
            <a:r>
              <a:rPr lang="en-CA" dirty="0" err="1"/>
              <a:t>moveSpeed</a:t>
            </a:r>
            <a:r>
              <a:rPr lang="en-CA" dirty="0"/>
              <a:t>, </a:t>
            </a:r>
            <a:r>
              <a:rPr lang="en-CA" dirty="0" err="1"/>
              <a:t>moveDirection.z</a:t>
            </a:r>
            <a:r>
              <a:rPr lang="en-CA" dirty="0"/>
              <a:t> * </a:t>
            </a:r>
            <a:r>
              <a:rPr lang="en-CA" dirty="0" err="1"/>
              <a:t>moveSpeed</a:t>
            </a:r>
            <a:r>
              <a:rPr lang="en-CA" dirty="0"/>
              <a:t>);</a:t>
            </a:r>
          </a:p>
          <a:p>
            <a:pPr marL="0" indent="0">
              <a:buNone/>
            </a:pPr>
            <a:r>
              <a:rPr lang="en-CA" dirty="0"/>
              <a:t>    }</a:t>
            </a:r>
          </a:p>
          <a:p>
            <a:pPr marL="0" indent="0">
              <a:buNone/>
            </a:pPr>
            <a:r>
              <a:rPr lang="en-CA" dirty="0"/>
              <a:t>}</a:t>
            </a:r>
          </a:p>
        </p:txBody>
      </p:sp>
    </p:spTree>
    <p:extLst>
      <p:ext uri="{BB962C8B-B14F-4D97-AF65-F5344CB8AC3E}">
        <p14:creationId xmlns:p14="http://schemas.microsoft.com/office/powerpoint/2010/main" val="24007028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AE8A-0EA3-E55B-7914-9592712636BC}"/>
              </a:ext>
            </a:extLst>
          </p:cNvPr>
          <p:cNvSpPr>
            <a:spLocks noGrp="1"/>
          </p:cNvSpPr>
          <p:nvPr>
            <p:ph type="title"/>
          </p:nvPr>
        </p:nvSpPr>
        <p:spPr/>
        <p:txBody>
          <a:bodyPr/>
          <a:lstStyle/>
          <a:p>
            <a:r>
              <a:rPr lang="en-US">
                <a:ea typeface="+mn-lt"/>
                <a:cs typeface="+mn-lt"/>
              </a:rPr>
              <a:t>Input Actions</a:t>
            </a:r>
            <a:endParaRPr lang="en-US"/>
          </a:p>
        </p:txBody>
      </p:sp>
      <p:sp>
        <p:nvSpPr>
          <p:cNvPr id="3" name="Content Placeholder 2">
            <a:extLst>
              <a:ext uri="{FF2B5EF4-FFF2-40B4-BE49-F238E27FC236}">
                <a16:creationId xmlns:a16="http://schemas.microsoft.com/office/drawing/2014/main" id="{1BE02C59-937F-9FD9-1983-67A33B2FACB0}"/>
              </a:ext>
            </a:extLst>
          </p:cNvPr>
          <p:cNvSpPr>
            <a:spLocks noGrp="1"/>
          </p:cNvSpPr>
          <p:nvPr>
            <p:ph idx="1"/>
          </p:nvPr>
        </p:nvSpPr>
        <p:spPr/>
        <p:txBody>
          <a:bodyPr spcFirstLastPara="1" vert="horz" wrap="square" lIns="91440" tIns="45720" rIns="91440" bIns="45720" rtlCol="0" anchor="t" anchorCtr="0">
            <a:normAutofit/>
          </a:bodyPr>
          <a:lstStyle/>
          <a:p>
            <a:r>
              <a:rPr lang="en-US">
                <a:ea typeface="+mj-lt"/>
                <a:cs typeface="+mj-lt"/>
              </a:rPr>
              <a:t>Input Actions are designed to separate the logical meaning of an input from the physical means of input (that is, activity on an input device) that generate the input. </a:t>
            </a:r>
            <a:endParaRPr lang="en-US"/>
          </a:p>
        </p:txBody>
      </p:sp>
    </p:spTree>
    <p:extLst>
      <p:ext uri="{BB962C8B-B14F-4D97-AF65-F5344CB8AC3E}">
        <p14:creationId xmlns:p14="http://schemas.microsoft.com/office/powerpoint/2010/main" val="2224909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B88D-0D5F-6FDC-7C6D-E60E88351C3D}"/>
              </a:ext>
            </a:extLst>
          </p:cNvPr>
          <p:cNvSpPr>
            <a:spLocks noGrp="1"/>
          </p:cNvSpPr>
          <p:nvPr>
            <p:ph type="title"/>
          </p:nvPr>
        </p:nvSpPr>
        <p:spPr/>
        <p:txBody>
          <a:bodyPr/>
          <a:lstStyle/>
          <a:p>
            <a:r>
              <a:rPr lang="en-US"/>
              <a:t>Input Actions</a:t>
            </a:r>
          </a:p>
        </p:txBody>
      </p:sp>
      <p:sp>
        <p:nvSpPr>
          <p:cNvPr id="3" name="Content Placeholder 2">
            <a:extLst>
              <a:ext uri="{FF2B5EF4-FFF2-40B4-BE49-F238E27FC236}">
                <a16:creationId xmlns:a16="http://schemas.microsoft.com/office/drawing/2014/main" id="{2A8ACA68-61F3-DC1E-50E8-44C7EAE857D8}"/>
              </a:ext>
            </a:extLst>
          </p:cNvPr>
          <p:cNvSpPr>
            <a:spLocks noGrp="1"/>
          </p:cNvSpPr>
          <p:nvPr>
            <p:ph sz="half" idx="2"/>
          </p:nvPr>
        </p:nvSpPr>
        <p:spPr/>
        <p:txBody>
          <a:bodyPr spcFirstLastPara="1" vert="horz" wrap="square" lIns="91440" tIns="45720" rIns="91440" bIns="45720" rtlCol="0" anchor="t" anchorCtr="0">
            <a:normAutofit/>
          </a:bodyPr>
          <a:lstStyle/>
          <a:p>
            <a:r>
              <a:rPr lang="en-US" dirty="0">
                <a:ea typeface="+mj-lt"/>
                <a:cs typeface="+mj-lt"/>
              </a:rPr>
              <a:t>You can write code that is agnostic to where the input is coming from:</a:t>
            </a:r>
          </a:p>
          <a:p>
            <a:pPr marL="400050" lvl="1" indent="0">
              <a:buNone/>
            </a:pPr>
            <a:r>
              <a:rPr lang="en-US" dirty="0" err="1">
                <a:latin typeface="Consolas"/>
              </a:rPr>
              <a:t>myControls.gameplay.look.performed</a:t>
            </a:r>
            <a:r>
              <a:rPr lang="en-US" dirty="0">
                <a:latin typeface="Consolas"/>
              </a:rPr>
              <a:t> +=
context =&gt; look = </a:t>
            </a:r>
            <a:r>
              <a:rPr lang="en-US" dirty="0" err="1">
                <a:latin typeface="Consolas"/>
              </a:rPr>
              <a:t>context.ReadValue</a:t>
            </a:r>
            <a:r>
              <a:rPr lang="en-US" dirty="0">
                <a:latin typeface="Consolas"/>
              </a:rPr>
              <a:t>&lt;Vector2&gt;();</a:t>
            </a:r>
            <a:endParaRPr lang="en-US" dirty="0"/>
          </a:p>
          <a:p>
            <a:endParaRPr lang="en-US" dirty="0"/>
          </a:p>
        </p:txBody>
      </p:sp>
      <p:sp>
        <p:nvSpPr>
          <p:cNvPr id="4" name="Content Placeholder 3">
            <a:extLst>
              <a:ext uri="{FF2B5EF4-FFF2-40B4-BE49-F238E27FC236}">
                <a16:creationId xmlns:a16="http://schemas.microsoft.com/office/drawing/2014/main" id="{07FBC623-1670-8523-232C-27F16173F538}"/>
              </a:ext>
            </a:extLst>
          </p:cNvPr>
          <p:cNvSpPr>
            <a:spLocks noGrp="1"/>
          </p:cNvSpPr>
          <p:nvPr>
            <p:ph sz="quarter" idx="13"/>
          </p:nvPr>
        </p:nvSpPr>
        <p:spPr/>
        <p:txBody>
          <a:bodyPr spcFirstLastPara="1" vert="horz" wrap="square" lIns="91440" tIns="45720" rIns="91440" bIns="45720" rtlCol="0" anchor="t" anchorCtr="0">
            <a:normAutofit fontScale="77500" lnSpcReduction="20000"/>
          </a:bodyPr>
          <a:lstStyle/>
          <a:p>
            <a:r>
              <a:rPr lang="en-US" dirty="0">
                <a:ea typeface="+mj-lt"/>
                <a:cs typeface="+mj-lt"/>
              </a:rPr>
              <a:t>Instead of writing input code like this:</a:t>
            </a:r>
          </a:p>
          <a:p>
            <a:pPr marL="0" indent="0">
              <a:buNone/>
            </a:pPr>
            <a:r>
              <a:rPr lang="en-US" dirty="0">
                <a:latin typeface="Consolas"/>
                <a:ea typeface="+mj-lt"/>
                <a:cs typeface="+mj-lt"/>
              </a:rPr>
              <a:t>var look = new Vector2();
var gamepad = </a:t>
            </a:r>
            <a:r>
              <a:rPr lang="en-US" dirty="0" err="1">
                <a:latin typeface="Consolas"/>
                <a:ea typeface="+mj-lt"/>
                <a:cs typeface="+mj-lt"/>
              </a:rPr>
              <a:t>Gamepad.current</a:t>
            </a:r>
            <a:r>
              <a:rPr lang="en-US" dirty="0">
                <a:latin typeface="Consolas"/>
                <a:ea typeface="+mj-lt"/>
                <a:cs typeface="+mj-lt"/>
              </a:rPr>
              <a:t>;
    if (gamepad != null)
        look = </a:t>
            </a:r>
            <a:r>
              <a:rPr lang="en-US" dirty="0" err="1">
                <a:latin typeface="Consolas"/>
                <a:ea typeface="+mj-lt"/>
                <a:cs typeface="+mj-lt"/>
              </a:rPr>
              <a:t>gamepad.rightStick.ReadValue</a:t>
            </a:r>
            <a:r>
              <a:rPr lang="en-US" dirty="0">
                <a:latin typeface="Consolas"/>
                <a:ea typeface="+mj-lt"/>
                <a:cs typeface="+mj-lt"/>
              </a:rPr>
              <a:t>();
var mouse = </a:t>
            </a:r>
            <a:r>
              <a:rPr lang="en-US" dirty="0" err="1">
                <a:latin typeface="Consolas"/>
                <a:ea typeface="+mj-lt"/>
                <a:cs typeface="+mj-lt"/>
              </a:rPr>
              <a:t>Mouse.current</a:t>
            </a:r>
            <a:r>
              <a:rPr lang="en-US" dirty="0">
                <a:latin typeface="Consolas"/>
                <a:ea typeface="+mj-lt"/>
                <a:cs typeface="+mj-lt"/>
              </a:rPr>
              <a:t>;
    if (mouse != null)
        look = </a:t>
            </a:r>
            <a:r>
              <a:rPr lang="en-US" dirty="0" err="1">
                <a:latin typeface="Consolas"/>
                <a:ea typeface="+mj-lt"/>
                <a:cs typeface="+mj-lt"/>
              </a:rPr>
              <a:t>mouse.delta.ReadValue</a:t>
            </a:r>
            <a:r>
              <a:rPr lang="en-US" dirty="0">
                <a:latin typeface="Consolas"/>
                <a:ea typeface="+mj-lt"/>
                <a:cs typeface="+mj-lt"/>
              </a:rPr>
              <a:t>();</a:t>
            </a:r>
            <a:endParaRPr lang="en-US" dirty="0">
              <a:ea typeface="+mj-lt"/>
              <a:cs typeface="+mj-lt"/>
            </a:endParaRPr>
          </a:p>
        </p:txBody>
      </p:sp>
    </p:spTree>
    <p:extLst>
      <p:ext uri="{BB962C8B-B14F-4D97-AF65-F5344CB8AC3E}">
        <p14:creationId xmlns:p14="http://schemas.microsoft.com/office/powerpoint/2010/main" val="12256749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2EF1-43D0-3EEC-999C-2BC1F6A44419}"/>
              </a:ext>
            </a:extLst>
          </p:cNvPr>
          <p:cNvSpPr>
            <a:spLocks noGrp="1"/>
          </p:cNvSpPr>
          <p:nvPr>
            <p:ph type="title"/>
          </p:nvPr>
        </p:nvSpPr>
        <p:spPr/>
        <p:txBody>
          <a:bodyPr/>
          <a:lstStyle/>
          <a:p>
            <a:r>
              <a:rPr lang="en-US"/>
              <a:t>Input Action</a:t>
            </a:r>
          </a:p>
        </p:txBody>
      </p:sp>
      <p:pic>
        <p:nvPicPr>
          <p:cNvPr id="5" name="Picture 5" descr="Graphical user interface, text, application&#10;&#10;Description automatically generated">
            <a:extLst>
              <a:ext uri="{FF2B5EF4-FFF2-40B4-BE49-F238E27FC236}">
                <a16:creationId xmlns:a16="http://schemas.microsoft.com/office/drawing/2014/main" id="{82904D0A-4595-FB66-EBF7-960FB5AFFB13}"/>
              </a:ext>
            </a:extLst>
          </p:cNvPr>
          <p:cNvPicPr>
            <a:picLocks noGrp="1" noChangeAspect="1"/>
          </p:cNvPicPr>
          <p:nvPr>
            <p:ph idx="1"/>
          </p:nvPr>
        </p:nvPicPr>
        <p:blipFill>
          <a:blip r:embed="rId2"/>
          <a:stretch>
            <a:fillRect/>
          </a:stretch>
        </p:blipFill>
        <p:spPr>
          <a:xfrm>
            <a:off x="2248604" y="4988012"/>
            <a:ext cx="7912507" cy="1016052"/>
          </a:xfrm>
        </p:spPr>
      </p:pic>
      <p:sp>
        <p:nvSpPr>
          <p:cNvPr id="4" name="Content Placeholder 3">
            <a:extLst>
              <a:ext uri="{FF2B5EF4-FFF2-40B4-BE49-F238E27FC236}">
                <a16:creationId xmlns:a16="http://schemas.microsoft.com/office/drawing/2014/main" id="{75D7FAD2-7FD4-BF0F-F173-9747735263C3}"/>
              </a:ext>
            </a:extLst>
          </p:cNvPr>
          <p:cNvSpPr>
            <a:spLocks noGrp="1"/>
          </p:cNvSpPr>
          <p:nvPr>
            <p:ph sz="quarter" idx="4294967295"/>
          </p:nvPr>
        </p:nvSpPr>
        <p:spPr>
          <a:xfrm>
            <a:off x="1524000" y="1600201"/>
            <a:ext cx="8762216" cy="4525963"/>
          </a:xfrm>
        </p:spPr>
        <p:txBody>
          <a:bodyPr spcFirstLastPara="1" vert="horz" wrap="square" lIns="91440" tIns="45720" rIns="91440" bIns="45720" rtlCol="0" anchor="t" anchorCtr="0">
            <a:normAutofit/>
          </a:bodyPr>
          <a:lstStyle/>
          <a:p>
            <a:r>
              <a:rPr lang="en-US" dirty="0">
                <a:ea typeface="+mj-lt"/>
                <a:cs typeface="+mj-lt"/>
              </a:rPr>
              <a:t>You can then use the visual editor to establish the mapping:</a:t>
            </a:r>
          </a:p>
          <a:p>
            <a:r>
              <a:rPr lang="en-US" dirty="0">
                <a:ea typeface="+mj-lt"/>
                <a:cs typeface="+mj-lt"/>
              </a:rPr>
              <a:t>Actions use </a:t>
            </a:r>
            <a:r>
              <a:rPr lang="en-US" dirty="0" err="1">
                <a:latin typeface="Consolas"/>
              </a:rPr>
              <a:t>InputBinding</a:t>
            </a:r>
            <a:r>
              <a:rPr lang="en-US" dirty="0">
                <a:ea typeface="+mj-lt"/>
                <a:cs typeface="+mj-lt"/>
              </a:rPr>
              <a:t> to refer to the inputs they collect. </a:t>
            </a:r>
            <a:endParaRPr lang="en-US" dirty="0"/>
          </a:p>
          <a:p>
            <a:r>
              <a:rPr lang="en-US" dirty="0">
                <a:ea typeface="+mj-lt"/>
                <a:cs typeface="+mj-lt"/>
              </a:rPr>
              <a:t>Each Action has a name (</a:t>
            </a:r>
            <a:r>
              <a:rPr lang="en-US" dirty="0">
                <a:latin typeface="Consolas"/>
                <a:hlinkClick r:id="rId3"/>
              </a:rPr>
              <a:t>InputAction.name</a:t>
            </a:r>
            <a:r>
              <a:rPr lang="en-US" dirty="0">
                <a:ea typeface="+mj-lt"/>
                <a:cs typeface="+mj-lt"/>
              </a:rPr>
              <a:t>), which must be unique within the Action Map </a:t>
            </a:r>
            <a:endParaRPr lang="en-US" dirty="0"/>
          </a:p>
          <a:p>
            <a:r>
              <a:rPr lang="en-US" dirty="0">
                <a:ea typeface="+mj-lt"/>
                <a:cs typeface="+mj-lt"/>
              </a:rPr>
              <a:t>Each Action also has a unique ID (</a:t>
            </a:r>
            <a:r>
              <a:rPr lang="en-US" dirty="0">
                <a:latin typeface="Consolas"/>
                <a:hlinkClick r:id="rId4"/>
              </a:rPr>
              <a:t>InputAction.id</a:t>
            </a:r>
            <a:r>
              <a:rPr lang="en-US" dirty="0">
                <a:ea typeface="+mj-lt"/>
                <a:cs typeface="+mj-lt"/>
              </a:rPr>
              <a:t>), which you can use to reference the Action. </a:t>
            </a:r>
            <a:endParaRPr lang="en-US" dirty="0"/>
          </a:p>
          <a:p>
            <a:endParaRPr lang="en-US" dirty="0"/>
          </a:p>
        </p:txBody>
      </p:sp>
    </p:spTree>
    <p:extLst>
      <p:ext uri="{BB962C8B-B14F-4D97-AF65-F5344CB8AC3E}">
        <p14:creationId xmlns:p14="http://schemas.microsoft.com/office/powerpoint/2010/main" val="41649776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0F89-1B18-051D-48A1-611578B32F1E}"/>
              </a:ext>
            </a:extLst>
          </p:cNvPr>
          <p:cNvSpPr>
            <a:spLocks noGrp="1"/>
          </p:cNvSpPr>
          <p:nvPr>
            <p:ph type="title"/>
          </p:nvPr>
        </p:nvSpPr>
        <p:spPr/>
        <p:txBody>
          <a:bodyPr/>
          <a:lstStyle/>
          <a:p>
            <a:r>
              <a:rPr lang="en-US">
                <a:ea typeface="+mn-lt"/>
                <a:cs typeface="+mn-lt"/>
              </a:rPr>
              <a:t>3  classes for Actions </a:t>
            </a:r>
            <a:endParaRPr lang="en-US"/>
          </a:p>
        </p:txBody>
      </p:sp>
      <p:graphicFrame>
        <p:nvGraphicFramePr>
          <p:cNvPr id="6" name="Content Placeholder 5">
            <a:extLst>
              <a:ext uri="{FF2B5EF4-FFF2-40B4-BE49-F238E27FC236}">
                <a16:creationId xmlns:a16="http://schemas.microsoft.com/office/drawing/2014/main" id="{B5C5AE00-4241-7396-41F9-0A37A963B8A4}"/>
              </a:ext>
            </a:extLst>
          </p:cNvPr>
          <p:cNvGraphicFramePr>
            <a:graphicFrameLocks noGrp="1"/>
          </p:cNvGraphicFramePr>
          <p:nvPr>
            <p:ph idx="1"/>
          </p:nvPr>
        </p:nvGraphicFramePr>
        <p:xfrm>
          <a:off x="1981200" y="1600200"/>
          <a:ext cx="8229600" cy="23012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666313460"/>
                    </a:ext>
                  </a:extLst>
                </a:gridCol>
                <a:gridCol w="4114800">
                  <a:extLst>
                    <a:ext uri="{9D8B030D-6E8A-4147-A177-3AD203B41FA5}">
                      <a16:colId xmlns:a16="http://schemas.microsoft.com/office/drawing/2014/main" val="1595613567"/>
                    </a:ext>
                  </a:extLst>
                </a:gridCol>
              </a:tblGrid>
              <a:tr h="0">
                <a:tc>
                  <a:txBody>
                    <a:bodyPr/>
                    <a:lstStyle/>
                    <a:p>
                      <a:pPr algn="l" fontAlgn="b"/>
                      <a:r>
                        <a:rPr lang="en-US">
                          <a:effectLst/>
                        </a:rPr>
                        <a:t>Class</a:t>
                      </a:r>
                    </a:p>
                  </a:txBody>
                  <a:tcPr marL="47625" marR="47625" marT="47625" marB="47625" anchor="b"/>
                </a:tc>
                <a:tc>
                  <a:txBody>
                    <a:bodyPr/>
                    <a:lstStyle/>
                    <a:p>
                      <a:pPr algn="l" fontAlgn="b"/>
                      <a:r>
                        <a:rPr lang="en-US">
                          <a:effectLst/>
                        </a:rPr>
                        <a:t>Description</a:t>
                      </a:r>
                    </a:p>
                  </a:txBody>
                  <a:tcPr marL="47625" marR="47625" marT="47625" marB="47625" anchor="b"/>
                </a:tc>
                <a:extLst>
                  <a:ext uri="{0D108BD9-81ED-4DB2-BD59-A6C34878D82A}">
                    <a16:rowId xmlns:a16="http://schemas.microsoft.com/office/drawing/2014/main" val="51269163"/>
                  </a:ext>
                </a:extLst>
              </a:tr>
              <a:tr h="0">
                <a:tc>
                  <a:txBody>
                    <a:bodyPr/>
                    <a:lstStyle/>
                    <a:p>
                      <a:pPr fontAlgn="t"/>
                      <a:r>
                        <a:rPr lang="en-US" err="1">
                          <a:effectLst/>
                        </a:rPr>
                        <a:t>InputActionAsset</a:t>
                      </a:r>
                    </a:p>
                  </a:txBody>
                  <a:tcPr marL="47625" marR="47625" marT="47625" marB="47625"/>
                </a:tc>
                <a:tc>
                  <a:txBody>
                    <a:bodyPr/>
                    <a:lstStyle/>
                    <a:p>
                      <a:pPr fontAlgn="t"/>
                      <a:r>
                        <a:rPr lang="en-US">
                          <a:effectLst/>
                        </a:rPr>
                        <a:t>An Asset that contains one or more Action Maps and, optionally, a sequence of Control Schemes. </a:t>
                      </a:r>
                    </a:p>
                  </a:txBody>
                  <a:tcPr marL="47625" marR="47625" marT="47625" marB="47625"/>
                </a:tc>
                <a:extLst>
                  <a:ext uri="{0D108BD9-81ED-4DB2-BD59-A6C34878D82A}">
                    <a16:rowId xmlns:a16="http://schemas.microsoft.com/office/drawing/2014/main" val="4095060486"/>
                  </a:ext>
                </a:extLst>
              </a:tr>
              <a:tr h="0">
                <a:tc>
                  <a:txBody>
                    <a:bodyPr/>
                    <a:lstStyle/>
                    <a:p>
                      <a:pPr fontAlgn="t"/>
                      <a:r>
                        <a:rPr lang="en-US" err="1">
                          <a:effectLst/>
                        </a:rPr>
                        <a:t>InputActionMap</a:t>
                      </a:r>
                    </a:p>
                  </a:txBody>
                  <a:tcPr marL="47625" marR="47625" marT="47625" marB="47625"/>
                </a:tc>
                <a:tc>
                  <a:txBody>
                    <a:bodyPr/>
                    <a:lstStyle/>
                    <a:p>
                      <a:pPr fontAlgn="t"/>
                      <a:r>
                        <a:rPr lang="en-US">
                          <a:effectLst/>
                        </a:rPr>
                        <a:t>A named collection of Actions.</a:t>
                      </a:r>
                    </a:p>
                  </a:txBody>
                  <a:tcPr marL="47625" marR="47625" marT="47625" marB="47625"/>
                </a:tc>
                <a:extLst>
                  <a:ext uri="{0D108BD9-81ED-4DB2-BD59-A6C34878D82A}">
                    <a16:rowId xmlns:a16="http://schemas.microsoft.com/office/drawing/2014/main" val="670884785"/>
                  </a:ext>
                </a:extLst>
              </a:tr>
              <a:tr h="0">
                <a:tc>
                  <a:txBody>
                    <a:bodyPr/>
                    <a:lstStyle/>
                    <a:p>
                      <a:pPr fontAlgn="t"/>
                      <a:r>
                        <a:rPr lang="en-US" err="1">
                          <a:effectLst/>
                        </a:rPr>
                        <a:t>InputAction</a:t>
                      </a:r>
                    </a:p>
                  </a:txBody>
                  <a:tcPr marL="47625" marR="47625" marT="47625" marB="47625"/>
                </a:tc>
                <a:tc>
                  <a:txBody>
                    <a:bodyPr/>
                    <a:lstStyle/>
                    <a:p>
                      <a:pPr fontAlgn="t"/>
                      <a:r>
                        <a:rPr lang="en-US">
                          <a:effectLst/>
                        </a:rPr>
                        <a:t>A named Action that triggers callbacks in response to input.</a:t>
                      </a:r>
                    </a:p>
                  </a:txBody>
                  <a:tcPr marL="47625" marR="47625" marT="47625" marB="47625"/>
                </a:tc>
                <a:extLst>
                  <a:ext uri="{0D108BD9-81ED-4DB2-BD59-A6C34878D82A}">
                    <a16:rowId xmlns:a16="http://schemas.microsoft.com/office/drawing/2014/main" val="1167317763"/>
                  </a:ext>
                </a:extLst>
              </a:tr>
            </a:tbl>
          </a:graphicData>
        </a:graphic>
      </p:graphicFrame>
    </p:spTree>
    <p:extLst>
      <p:ext uri="{BB962C8B-B14F-4D97-AF65-F5344CB8AC3E}">
        <p14:creationId xmlns:p14="http://schemas.microsoft.com/office/powerpoint/2010/main" val="101667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B609-2752-2E18-7786-3B81D8B98A6F}"/>
              </a:ext>
            </a:extLst>
          </p:cNvPr>
          <p:cNvSpPr>
            <a:spLocks noGrp="1"/>
          </p:cNvSpPr>
          <p:nvPr>
            <p:ph type="title"/>
          </p:nvPr>
        </p:nvSpPr>
        <p:spPr/>
        <p:txBody>
          <a:bodyPr/>
          <a:lstStyle/>
          <a:p>
            <a:r>
              <a:rPr lang="en-US"/>
              <a:t>Creating Actions</a:t>
            </a:r>
          </a:p>
        </p:txBody>
      </p:sp>
      <p:sp>
        <p:nvSpPr>
          <p:cNvPr id="3" name="Content Placeholder 2">
            <a:extLst>
              <a:ext uri="{FF2B5EF4-FFF2-40B4-BE49-F238E27FC236}">
                <a16:creationId xmlns:a16="http://schemas.microsoft.com/office/drawing/2014/main" id="{7439F3B7-70B5-2414-DAD7-F569A725DC2E}"/>
              </a:ext>
            </a:extLst>
          </p:cNvPr>
          <p:cNvSpPr>
            <a:spLocks noGrp="1"/>
          </p:cNvSpPr>
          <p:nvPr>
            <p:ph idx="1"/>
          </p:nvPr>
        </p:nvSpPr>
        <p:spPr/>
        <p:txBody>
          <a:bodyPr spcFirstLastPara="1" vert="horz" wrap="square" lIns="91440" tIns="45720" rIns="91440" bIns="45720" rtlCol="0" anchor="t" anchorCtr="0">
            <a:normAutofit/>
          </a:bodyPr>
          <a:lstStyle/>
          <a:p>
            <a:r>
              <a:rPr lang="en-US" dirty="0">
                <a:ea typeface="+mj-lt"/>
                <a:cs typeface="+mj-lt"/>
              </a:rPr>
              <a:t>You can create Actions in one of the following ways:</a:t>
            </a:r>
            <a:endParaRPr lang="en-US" dirty="0"/>
          </a:p>
          <a:p>
            <a:pPr marL="857250" lvl="1" indent="-457200">
              <a:buFont typeface="+mj-lt"/>
              <a:buAutoNum type="arabicPeriod"/>
            </a:pPr>
            <a:r>
              <a:rPr lang="en-US" dirty="0">
                <a:ea typeface="+mj-lt"/>
                <a:cs typeface="+mj-lt"/>
              </a:rPr>
              <a:t>Use the dedicated editor for </a:t>
            </a:r>
            <a:r>
              <a:rPr lang="en-US" dirty="0">
                <a:latin typeface="Consolas"/>
              </a:rPr>
              <a:t>.</a:t>
            </a:r>
            <a:r>
              <a:rPr lang="en-US" dirty="0" err="1">
                <a:latin typeface="Consolas"/>
              </a:rPr>
              <a:t>inputactions</a:t>
            </a:r>
            <a:r>
              <a:rPr lang="en-US" dirty="0">
                <a:ea typeface="+mj-lt"/>
                <a:cs typeface="+mj-lt"/>
              </a:rPr>
              <a:t> Assets.</a:t>
            </a:r>
            <a:endParaRPr lang="en-US" dirty="0"/>
          </a:p>
          <a:p>
            <a:pPr marL="857250" lvl="1" indent="-457200">
              <a:buFont typeface="+mj-lt"/>
              <a:buAutoNum type="arabicPeriod"/>
            </a:pPr>
            <a:r>
              <a:rPr lang="en-US" dirty="0">
                <a:ea typeface="+mj-lt"/>
                <a:cs typeface="+mj-lt"/>
              </a:rPr>
              <a:t>Embed them in </a:t>
            </a:r>
            <a:r>
              <a:rPr lang="en-US" dirty="0" err="1">
                <a:ea typeface="+mj-lt"/>
                <a:cs typeface="+mj-lt"/>
              </a:rPr>
              <a:t>MonoBehaviour</a:t>
            </a:r>
            <a:r>
              <a:rPr lang="en-US" dirty="0">
                <a:ea typeface="+mj-lt"/>
                <a:cs typeface="+mj-lt"/>
              </a:rPr>
              <a:t> components.</a:t>
            </a:r>
            <a:endParaRPr lang="en-US" dirty="0"/>
          </a:p>
          <a:p>
            <a:pPr marL="857250" lvl="1" indent="-457200">
              <a:buFont typeface="+mj-lt"/>
              <a:buAutoNum type="arabicPeriod"/>
            </a:pPr>
            <a:r>
              <a:rPr lang="en-US" dirty="0">
                <a:ea typeface="+mj-lt"/>
                <a:cs typeface="+mj-lt"/>
              </a:rPr>
              <a:t>Manually load them from JSON.</a:t>
            </a:r>
            <a:endParaRPr lang="en-US" dirty="0"/>
          </a:p>
          <a:p>
            <a:pPr marL="857250" lvl="1" indent="-457200">
              <a:buFont typeface="+mj-lt"/>
              <a:buAutoNum type="arabicPeriod"/>
            </a:pPr>
            <a:r>
              <a:rPr lang="en-US" dirty="0">
                <a:ea typeface="+mj-lt"/>
                <a:cs typeface="+mj-lt"/>
              </a:rPr>
              <a:t>Create them directly in code.</a:t>
            </a:r>
            <a:endParaRPr lang="en-US" dirty="0"/>
          </a:p>
          <a:p>
            <a:pPr marL="0" indent="0">
              <a:buNone/>
            </a:pPr>
            <a:br>
              <a:rPr lang="en-US" dirty="0"/>
            </a:br>
            <a:endParaRPr lang="en-US" dirty="0"/>
          </a:p>
        </p:txBody>
      </p:sp>
    </p:spTree>
    <p:extLst>
      <p:ext uri="{BB962C8B-B14F-4D97-AF65-F5344CB8AC3E}">
        <p14:creationId xmlns:p14="http://schemas.microsoft.com/office/powerpoint/2010/main" val="16958223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F275-1C93-2FEA-B9FB-DD66652A41E8}"/>
              </a:ext>
            </a:extLst>
          </p:cNvPr>
          <p:cNvSpPr>
            <a:spLocks noGrp="1"/>
          </p:cNvSpPr>
          <p:nvPr>
            <p:ph type="title"/>
          </p:nvPr>
        </p:nvSpPr>
        <p:spPr/>
        <p:txBody>
          <a:bodyPr/>
          <a:lstStyle/>
          <a:p>
            <a:r>
              <a:rPr lang="en-US" dirty="0"/>
              <a:t>Lab3: Creating Input Action Assets</a:t>
            </a:r>
          </a:p>
        </p:txBody>
      </p:sp>
      <p:sp>
        <p:nvSpPr>
          <p:cNvPr id="3" name="Content Placeholder 2">
            <a:extLst>
              <a:ext uri="{FF2B5EF4-FFF2-40B4-BE49-F238E27FC236}">
                <a16:creationId xmlns:a16="http://schemas.microsoft.com/office/drawing/2014/main" id="{43E79F6E-89F4-1DA2-29B1-014560D66CDD}"/>
              </a:ext>
            </a:extLst>
          </p:cNvPr>
          <p:cNvSpPr>
            <a:spLocks noGrp="1"/>
          </p:cNvSpPr>
          <p:nvPr>
            <p:ph idx="1"/>
          </p:nvPr>
        </p:nvSpPr>
        <p:spPr/>
        <p:txBody>
          <a:bodyPr spcFirstLastPara="1" vert="horz" wrap="square" lIns="91440" tIns="45720" rIns="91440" bIns="45720" rtlCol="0" anchor="t" anchorCtr="0">
            <a:normAutofit/>
          </a:bodyPr>
          <a:lstStyle/>
          <a:p>
            <a:r>
              <a:rPr lang="en-US">
                <a:ea typeface="+mj-lt"/>
                <a:cs typeface="+mj-lt"/>
              </a:rPr>
              <a:t>To create an Asset that contains </a:t>
            </a:r>
            <a:r>
              <a:rPr lang="en-US">
                <a:ea typeface="+mj-lt"/>
                <a:cs typeface="+mj-lt"/>
                <a:hlinkClick r:id="rId2"/>
              </a:rPr>
              <a:t>Input Actions</a:t>
            </a:r>
            <a:r>
              <a:rPr lang="en-US">
                <a:ea typeface="+mj-lt"/>
                <a:cs typeface="+mj-lt"/>
              </a:rPr>
              <a:t> in Unity, right-click in the </a:t>
            </a:r>
            <a:r>
              <a:rPr lang="en-US" b="1">
                <a:ea typeface="+mj-lt"/>
                <a:cs typeface="+mj-lt"/>
              </a:rPr>
              <a:t>Project</a:t>
            </a:r>
            <a:r>
              <a:rPr lang="en-US">
                <a:ea typeface="+mj-lt"/>
                <a:cs typeface="+mj-lt"/>
              </a:rPr>
              <a:t> window or go to </a:t>
            </a:r>
            <a:r>
              <a:rPr lang="en-US" b="1">
                <a:ea typeface="+mj-lt"/>
                <a:cs typeface="+mj-lt"/>
              </a:rPr>
              <a:t>Assets &gt; Create &gt; Input Actions</a:t>
            </a:r>
            <a:r>
              <a:rPr lang="en-US">
                <a:ea typeface="+mj-lt"/>
                <a:cs typeface="+mj-lt"/>
              </a:rPr>
              <a:t> from Unity's main menu.</a:t>
            </a:r>
            <a:endParaRPr lang="en-US"/>
          </a:p>
          <a:p>
            <a:r>
              <a:rPr lang="en-US">
                <a:ea typeface="+mj-lt"/>
                <a:cs typeface="+mj-lt"/>
              </a:rPr>
              <a:t>To bring up the Action editor, double-click an </a:t>
            </a:r>
            <a:r>
              <a:rPr lang="en-US">
                <a:latin typeface="Consolas"/>
              </a:rPr>
              <a:t>.</a:t>
            </a:r>
            <a:r>
              <a:rPr lang="en-US" err="1">
                <a:latin typeface="Consolas"/>
              </a:rPr>
              <a:t>inputactions</a:t>
            </a:r>
            <a:r>
              <a:rPr lang="en-US">
                <a:ea typeface="+mj-lt"/>
                <a:cs typeface="+mj-lt"/>
              </a:rPr>
              <a:t> Asset in the Project Browser, or select the </a:t>
            </a:r>
            <a:r>
              <a:rPr lang="en-US" b="1">
                <a:ea typeface="+mj-lt"/>
                <a:cs typeface="+mj-lt"/>
              </a:rPr>
              <a:t>Edit Asset</a:t>
            </a:r>
            <a:r>
              <a:rPr lang="en-US">
                <a:ea typeface="+mj-lt"/>
                <a:cs typeface="+mj-lt"/>
              </a:rPr>
              <a:t> button in the Inspector for that Asset. </a:t>
            </a:r>
            <a:br>
              <a:rPr lang="en-US"/>
            </a:br>
            <a:endParaRPr lang="en-US"/>
          </a:p>
        </p:txBody>
      </p:sp>
    </p:spTree>
    <p:extLst>
      <p:ext uri="{BB962C8B-B14F-4D97-AF65-F5344CB8AC3E}">
        <p14:creationId xmlns:p14="http://schemas.microsoft.com/office/powerpoint/2010/main" val="42757647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2F0E-87B5-8D4F-BD50-9AC885263A1D}"/>
              </a:ext>
            </a:extLst>
          </p:cNvPr>
          <p:cNvSpPr>
            <a:spLocks noGrp="1"/>
          </p:cNvSpPr>
          <p:nvPr>
            <p:ph type="title"/>
          </p:nvPr>
        </p:nvSpPr>
        <p:spPr/>
        <p:txBody>
          <a:bodyPr/>
          <a:lstStyle/>
          <a:p>
            <a:r>
              <a:rPr lang="en-US" dirty="0"/>
              <a:t>Create Input an Action Asset</a:t>
            </a:r>
            <a:endParaRPr lang="en-CA" dirty="0"/>
          </a:p>
        </p:txBody>
      </p:sp>
      <p:pic>
        <p:nvPicPr>
          <p:cNvPr id="5" name="Content Placeholder 4">
            <a:extLst>
              <a:ext uri="{FF2B5EF4-FFF2-40B4-BE49-F238E27FC236}">
                <a16:creationId xmlns:a16="http://schemas.microsoft.com/office/drawing/2014/main" id="{975435FC-12A3-87CB-5A9A-2D6ABBE08361}"/>
              </a:ext>
            </a:extLst>
          </p:cNvPr>
          <p:cNvPicPr>
            <a:picLocks noGrp="1" noChangeAspect="1"/>
          </p:cNvPicPr>
          <p:nvPr>
            <p:ph idx="1"/>
          </p:nvPr>
        </p:nvPicPr>
        <p:blipFill>
          <a:blip r:embed="rId2"/>
          <a:stretch>
            <a:fillRect/>
          </a:stretch>
        </p:blipFill>
        <p:spPr>
          <a:xfrm>
            <a:off x="1981200" y="1693267"/>
            <a:ext cx="8229600" cy="4339828"/>
          </a:xfrm>
        </p:spPr>
      </p:pic>
    </p:spTree>
    <p:extLst>
      <p:ext uri="{BB962C8B-B14F-4D97-AF65-F5344CB8AC3E}">
        <p14:creationId xmlns:p14="http://schemas.microsoft.com/office/powerpoint/2010/main" val="27519003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D41F-F439-403B-DC8C-650F272CB0FE}"/>
              </a:ext>
            </a:extLst>
          </p:cNvPr>
          <p:cNvSpPr>
            <a:spLocks noGrp="1"/>
          </p:cNvSpPr>
          <p:nvPr>
            <p:ph type="title"/>
          </p:nvPr>
        </p:nvSpPr>
        <p:spPr/>
        <p:txBody>
          <a:bodyPr/>
          <a:lstStyle/>
          <a:p>
            <a:r>
              <a:rPr lang="en-US"/>
              <a:t>Setting Up the Action Map</a:t>
            </a:r>
          </a:p>
        </p:txBody>
      </p:sp>
      <p:sp>
        <p:nvSpPr>
          <p:cNvPr id="3" name="Content Placeholder 2">
            <a:extLst>
              <a:ext uri="{FF2B5EF4-FFF2-40B4-BE49-F238E27FC236}">
                <a16:creationId xmlns:a16="http://schemas.microsoft.com/office/drawing/2014/main" id="{28B31EA4-7118-F9BC-3485-5E6E4C6AF957}"/>
              </a:ext>
            </a:extLst>
          </p:cNvPr>
          <p:cNvSpPr>
            <a:spLocks noGrp="1"/>
          </p:cNvSpPr>
          <p:nvPr>
            <p:ph idx="1"/>
          </p:nvPr>
        </p:nvSpPr>
        <p:spPr/>
        <p:txBody>
          <a:bodyPr spcFirstLastPara="1" vert="horz" wrap="square" lIns="91440" tIns="45720" rIns="91440" bIns="45720" rtlCol="0" anchor="t" anchorCtr="0">
            <a:normAutofit lnSpcReduction="10000"/>
          </a:bodyPr>
          <a:lstStyle/>
          <a:p>
            <a:r>
              <a:rPr lang="en-US" dirty="0">
                <a:ea typeface="+mj-lt"/>
                <a:cs typeface="+mj-lt"/>
              </a:rPr>
              <a:t>To add a new Action Map, select the Add (+) icon in the header of the Action Map column.</a:t>
            </a:r>
            <a:endParaRPr lang="en-US" dirty="0"/>
          </a:p>
          <a:p>
            <a:r>
              <a:rPr lang="en-US" dirty="0">
                <a:ea typeface="+mj-lt"/>
                <a:cs typeface="+mj-lt"/>
              </a:rPr>
              <a:t>To add a new Action, select the Add (+) icon in the header of the Action column.</a:t>
            </a:r>
            <a:endParaRPr lang="en-US" dirty="0"/>
          </a:p>
          <a:p>
            <a:r>
              <a:rPr lang="en-US" dirty="0">
                <a:ea typeface="+mj-lt"/>
                <a:cs typeface="+mj-lt"/>
              </a:rPr>
              <a:t>To add a new Binding, select the Add (+) icon on the action you want to add it to, and select the binding type from the menu that appears.</a:t>
            </a:r>
            <a:endParaRPr lang="en-US" dirty="0"/>
          </a:p>
          <a:p>
            <a:r>
              <a:rPr lang="en-US" dirty="0">
                <a:ea typeface="+mj-lt"/>
                <a:cs typeface="+mj-lt"/>
              </a:rPr>
              <a:t>The most important property of any Binding is the </a:t>
            </a:r>
            <a:r>
              <a:rPr lang="en-US" dirty="0">
                <a:ea typeface="+mj-lt"/>
                <a:cs typeface="+mj-lt"/>
                <a:hlinkClick r:id="rId2"/>
              </a:rPr>
              <a:t>control path</a:t>
            </a:r>
            <a:r>
              <a:rPr lang="en-US" dirty="0">
                <a:ea typeface="+mj-lt"/>
                <a:cs typeface="+mj-lt"/>
              </a:rPr>
              <a:t> it's bound to. To edit it, open the </a:t>
            </a:r>
            <a:r>
              <a:rPr lang="en-US" b="1" dirty="0">
                <a:ea typeface="+mj-lt"/>
                <a:cs typeface="+mj-lt"/>
              </a:rPr>
              <a:t>Path</a:t>
            </a:r>
            <a:r>
              <a:rPr lang="en-US" dirty="0">
                <a:ea typeface="+mj-lt"/>
                <a:cs typeface="+mj-lt"/>
              </a:rPr>
              <a:t> drop-down list. This displays a Control picker window.</a:t>
            </a:r>
          </a:p>
        </p:txBody>
      </p:sp>
    </p:spTree>
    <p:extLst>
      <p:ext uri="{BB962C8B-B14F-4D97-AF65-F5344CB8AC3E}">
        <p14:creationId xmlns:p14="http://schemas.microsoft.com/office/powerpoint/2010/main" val="17669080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77AE-A0A6-A70D-E806-DAA01E60EB62}"/>
              </a:ext>
            </a:extLst>
          </p:cNvPr>
          <p:cNvSpPr>
            <a:spLocks noGrp="1"/>
          </p:cNvSpPr>
          <p:nvPr>
            <p:ph type="title"/>
          </p:nvPr>
        </p:nvSpPr>
        <p:spPr/>
        <p:txBody>
          <a:bodyPr/>
          <a:lstStyle/>
          <a:p>
            <a:r>
              <a:rPr lang="en-US" dirty="0"/>
              <a:t>Setting Up an Action Type</a:t>
            </a:r>
            <a:endParaRPr lang="en-CA" dirty="0"/>
          </a:p>
        </p:txBody>
      </p:sp>
      <p:pic>
        <p:nvPicPr>
          <p:cNvPr id="6" name="Content Placeholder 5">
            <a:extLst>
              <a:ext uri="{FF2B5EF4-FFF2-40B4-BE49-F238E27FC236}">
                <a16:creationId xmlns:a16="http://schemas.microsoft.com/office/drawing/2014/main" id="{2C85A36D-DAC5-BAF7-7F08-686B85F3863B}"/>
              </a:ext>
            </a:extLst>
          </p:cNvPr>
          <p:cNvPicPr>
            <a:picLocks noGrp="1" noChangeAspect="1"/>
          </p:cNvPicPr>
          <p:nvPr>
            <p:ph sz="half" idx="2"/>
          </p:nvPr>
        </p:nvPicPr>
        <p:blipFill>
          <a:blip r:embed="rId2"/>
          <a:stretch>
            <a:fillRect/>
          </a:stretch>
        </p:blipFill>
        <p:spPr>
          <a:xfrm>
            <a:off x="6051804" y="2378500"/>
            <a:ext cx="4038600" cy="3747980"/>
          </a:xfrm>
        </p:spPr>
      </p:pic>
      <p:sp>
        <p:nvSpPr>
          <p:cNvPr id="4" name="Content Placeholder 3">
            <a:extLst>
              <a:ext uri="{FF2B5EF4-FFF2-40B4-BE49-F238E27FC236}">
                <a16:creationId xmlns:a16="http://schemas.microsoft.com/office/drawing/2014/main" id="{F5AF770D-8E65-277E-C5EE-EF32C7D9EA9E}"/>
              </a:ext>
            </a:extLst>
          </p:cNvPr>
          <p:cNvSpPr>
            <a:spLocks noGrp="1"/>
          </p:cNvSpPr>
          <p:nvPr>
            <p:ph sz="quarter" idx="13"/>
          </p:nvPr>
        </p:nvSpPr>
        <p:spPr/>
        <p:txBody>
          <a:bodyPr>
            <a:normAutofit fontScale="85000" lnSpcReduction="20000"/>
          </a:bodyPr>
          <a:lstStyle/>
          <a:p>
            <a:r>
              <a:rPr lang="en-US" dirty="0"/>
              <a:t>Double click on </a:t>
            </a:r>
            <a:r>
              <a:rPr lang="en-US" dirty="0" err="1"/>
              <a:t>InputAction</a:t>
            </a:r>
            <a:r>
              <a:rPr lang="en-US" dirty="0"/>
              <a:t> asset (.</a:t>
            </a:r>
            <a:r>
              <a:rPr lang="en-US" dirty="0" err="1"/>
              <a:t>inputactions</a:t>
            </a:r>
            <a:r>
              <a:rPr lang="en-US" dirty="0"/>
              <a:t>)</a:t>
            </a:r>
          </a:p>
          <a:p>
            <a:r>
              <a:rPr lang="en-US" dirty="0"/>
              <a:t>Create a “Land” action map</a:t>
            </a:r>
          </a:p>
          <a:p>
            <a:r>
              <a:rPr lang="en-US" dirty="0"/>
              <a:t>Create three Actions: Move, Jump, Explosion</a:t>
            </a:r>
          </a:p>
          <a:p>
            <a:r>
              <a:rPr lang="en-US" dirty="0"/>
              <a:t>There are three action types:</a:t>
            </a:r>
          </a:p>
          <a:p>
            <a:pPr lvl="1"/>
            <a:r>
              <a:rPr lang="en-US" dirty="0"/>
              <a:t>Value</a:t>
            </a:r>
          </a:p>
          <a:p>
            <a:pPr lvl="1"/>
            <a:r>
              <a:rPr lang="en-US" dirty="0"/>
              <a:t>Button </a:t>
            </a:r>
          </a:p>
          <a:p>
            <a:pPr lvl="1"/>
            <a:r>
              <a:rPr lang="en-US" dirty="0"/>
              <a:t>Pass Through (if you have several controls bound to this action, “Value” selects the main one, but “Pass Through” gets them all)</a:t>
            </a:r>
          </a:p>
          <a:p>
            <a:r>
              <a:rPr lang="en-US" dirty="0"/>
              <a:t>Move: Value</a:t>
            </a:r>
          </a:p>
          <a:p>
            <a:r>
              <a:rPr lang="en-US" dirty="0"/>
              <a:t>Jump: Button</a:t>
            </a:r>
          </a:p>
          <a:p>
            <a:endParaRPr lang="en-CA" dirty="0"/>
          </a:p>
        </p:txBody>
      </p:sp>
      <p:pic>
        <p:nvPicPr>
          <p:cNvPr id="7" name="Picture 6">
            <a:extLst>
              <a:ext uri="{FF2B5EF4-FFF2-40B4-BE49-F238E27FC236}">
                <a16:creationId xmlns:a16="http://schemas.microsoft.com/office/drawing/2014/main" id="{B3154AFD-BA49-3043-A49C-515C0574520F}"/>
              </a:ext>
            </a:extLst>
          </p:cNvPr>
          <p:cNvPicPr>
            <a:picLocks noChangeAspect="1"/>
          </p:cNvPicPr>
          <p:nvPr/>
        </p:nvPicPr>
        <p:blipFill>
          <a:blip r:embed="rId3"/>
          <a:stretch>
            <a:fillRect/>
          </a:stretch>
        </p:blipFill>
        <p:spPr>
          <a:xfrm>
            <a:off x="6063812" y="1685942"/>
            <a:ext cx="2127688" cy="615749"/>
          </a:xfrm>
          <a:prstGeom prst="rect">
            <a:avLst/>
          </a:prstGeom>
        </p:spPr>
      </p:pic>
    </p:spTree>
    <p:extLst>
      <p:ext uri="{BB962C8B-B14F-4D97-AF65-F5344CB8AC3E}">
        <p14:creationId xmlns:p14="http://schemas.microsoft.com/office/powerpoint/2010/main" val="35622351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D2C91-FB88-FADC-E615-55772A68B574}"/>
              </a:ext>
            </a:extLst>
          </p:cNvPr>
          <p:cNvSpPr>
            <a:spLocks noGrp="1"/>
          </p:cNvSpPr>
          <p:nvPr>
            <p:ph type="title"/>
          </p:nvPr>
        </p:nvSpPr>
        <p:spPr/>
        <p:txBody>
          <a:bodyPr/>
          <a:lstStyle/>
          <a:p>
            <a:r>
              <a:rPr lang="en-US" dirty="0"/>
              <a:t>Setting Up an Action Binding</a:t>
            </a:r>
            <a:endParaRPr lang="en-CA" dirty="0"/>
          </a:p>
        </p:txBody>
      </p:sp>
      <p:pic>
        <p:nvPicPr>
          <p:cNvPr id="19" name="Content Placeholder 18">
            <a:extLst>
              <a:ext uri="{FF2B5EF4-FFF2-40B4-BE49-F238E27FC236}">
                <a16:creationId xmlns:a16="http://schemas.microsoft.com/office/drawing/2014/main" id="{B8A67679-A4B7-A94B-69FA-4120F741AD39}"/>
              </a:ext>
            </a:extLst>
          </p:cNvPr>
          <p:cNvPicPr>
            <a:picLocks noGrp="1" noChangeAspect="1"/>
          </p:cNvPicPr>
          <p:nvPr>
            <p:ph sz="half" idx="2"/>
          </p:nvPr>
        </p:nvPicPr>
        <p:blipFill>
          <a:blip r:embed="rId2"/>
          <a:stretch>
            <a:fillRect/>
          </a:stretch>
        </p:blipFill>
        <p:spPr>
          <a:xfrm>
            <a:off x="6263640" y="2564436"/>
            <a:ext cx="4163309" cy="1485740"/>
          </a:xfrm>
        </p:spPr>
      </p:pic>
      <p:sp>
        <p:nvSpPr>
          <p:cNvPr id="17" name="Content Placeholder 16">
            <a:extLst>
              <a:ext uri="{FF2B5EF4-FFF2-40B4-BE49-F238E27FC236}">
                <a16:creationId xmlns:a16="http://schemas.microsoft.com/office/drawing/2014/main" id="{4A86C2AC-BF06-F325-98E9-4E4F38A08DFC}"/>
              </a:ext>
            </a:extLst>
          </p:cNvPr>
          <p:cNvSpPr>
            <a:spLocks noGrp="1"/>
          </p:cNvSpPr>
          <p:nvPr>
            <p:ph sz="quarter" idx="13"/>
          </p:nvPr>
        </p:nvSpPr>
        <p:spPr/>
        <p:txBody>
          <a:bodyPr>
            <a:normAutofit lnSpcReduction="10000"/>
          </a:bodyPr>
          <a:lstStyle/>
          <a:p>
            <a:r>
              <a:rPr lang="en-US" dirty="0"/>
              <a:t>Composite is a group of different bindings (WASD)</a:t>
            </a:r>
          </a:p>
          <a:p>
            <a:r>
              <a:rPr lang="en-US" dirty="0"/>
              <a:t>Input System has an event callbacks</a:t>
            </a:r>
          </a:p>
          <a:p>
            <a:r>
              <a:rPr lang="en-US" dirty="0"/>
              <a:t>Input System Callback:</a:t>
            </a:r>
          </a:p>
          <a:p>
            <a:pPr lvl="1"/>
            <a:r>
              <a:rPr lang="en-US" dirty="0"/>
              <a:t>Started (Control(s) changed value from the default value)</a:t>
            </a:r>
          </a:p>
          <a:p>
            <a:pPr lvl="1"/>
            <a:r>
              <a:rPr lang="en-US" dirty="0"/>
              <a:t>Performed (Control(s) changed value)</a:t>
            </a:r>
          </a:p>
          <a:p>
            <a:pPr lvl="1"/>
            <a:r>
              <a:rPr lang="en-US" dirty="0"/>
              <a:t>Cancelled (Control(s) are no longer actuated)</a:t>
            </a:r>
            <a:endParaRPr lang="en-CA" dirty="0"/>
          </a:p>
        </p:txBody>
      </p:sp>
      <p:pic>
        <p:nvPicPr>
          <p:cNvPr id="21" name="Picture 20">
            <a:extLst>
              <a:ext uri="{FF2B5EF4-FFF2-40B4-BE49-F238E27FC236}">
                <a16:creationId xmlns:a16="http://schemas.microsoft.com/office/drawing/2014/main" id="{EB0602EF-9A93-33AD-4645-3278AC626B3E}"/>
              </a:ext>
            </a:extLst>
          </p:cNvPr>
          <p:cNvPicPr>
            <a:picLocks noChangeAspect="1"/>
          </p:cNvPicPr>
          <p:nvPr/>
        </p:nvPicPr>
        <p:blipFill>
          <a:blip r:embed="rId3"/>
          <a:stretch>
            <a:fillRect/>
          </a:stretch>
        </p:blipFill>
        <p:spPr>
          <a:xfrm>
            <a:off x="6260594" y="4050176"/>
            <a:ext cx="4163310" cy="2076304"/>
          </a:xfrm>
          <a:prstGeom prst="rect">
            <a:avLst/>
          </a:prstGeom>
        </p:spPr>
      </p:pic>
    </p:spTree>
    <p:extLst>
      <p:ext uri="{BB962C8B-B14F-4D97-AF65-F5344CB8AC3E}">
        <p14:creationId xmlns:p14="http://schemas.microsoft.com/office/powerpoint/2010/main" val="35062873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CF4CEE-64E1-D65E-05DC-BC37F36B9769}"/>
              </a:ext>
            </a:extLst>
          </p:cNvPr>
          <p:cNvSpPr>
            <a:spLocks noGrp="1"/>
          </p:cNvSpPr>
          <p:nvPr>
            <p:ph type="title"/>
          </p:nvPr>
        </p:nvSpPr>
        <p:spPr/>
        <p:txBody>
          <a:bodyPr/>
          <a:lstStyle/>
          <a:p>
            <a:r>
              <a:rPr lang="en-US" dirty="0"/>
              <a:t>Setting Up a Path for each binding</a:t>
            </a:r>
            <a:endParaRPr lang="en-CA" dirty="0"/>
          </a:p>
        </p:txBody>
      </p:sp>
      <p:pic>
        <p:nvPicPr>
          <p:cNvPr id="8" name="Content Placeholder 7">
            <a:extLst>
              <a:ext uri="{FF2B5EF4-FFF2-40B4-BE49-F238E27FC236}">
                <a16:creationId xmlns:a16="http://schemas.microsoft.com/office/drawing/2014/main" id="{C9E3B8BA-9FF4-E1F4-FCBC-B217F476D5D5}"/>
              </a:ext>
            </a:extLst>
          </p:cNvPr>
          <p:cNvPicPr>
            <a:picLocks noGrp="1" noChangeAspect="1"/>
          </p:cNvPicPr>
          <p:nvPr>
            <p:ph idx="1"/>
          </p:nvPr>
        </p:nvPicPr>
        <p:blipFill>
          <a:blip r:embed="rId2"/>
          <a:stretch>
            <a:fillRect/>
          </a:stretch>
        </p:blipFill>
        <p:spPr>
          <a:xfrm>
            <a:off x="3005001" y="1600201"/>
            <a:ext cx="6181999" cy="4525963"/>
          </a:xfrm>
        </p:spPr>
      </p:pic>
    </p:spTree>
    <p:extLst>
      <p:ext uri="{BB962C8B-B14F-4D97-AF65-F5344CB8AC3E}">
        <p14:creationId xmlns:p14="http://schemas.microsoft.com/office/powerpoint/2010/main" val="18664966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07114-FF34-8B7D-8615-6A108342A2B0}"/>
              </a:ext>
            </a:extLst>
          </p:cNvPr>
          <p:cNvSpPr>
            <a:spLocks noGrp="1"/>
          </p:cNvSpPr>
          <p:nvPr>
            <p:ph type="title"/>
          </p:nvPr>
        </p:nvSpPr>
        <p:spPr/>
        <p:txBody>
          <a:bodyPr/>
          <a:lstStyle/>
          <a:p>
            <a:r>
              <a:rPr lang="en-US" dirty="0"/>
              <a:t>Add arrow keys</a:t>
            </a:r>
            <a:endParaRPr lang="en-CA" dirty="0"/>
          </a:p>
        </p:txBody>
      </p:sp>
      <p:pic>
        <p:nvPicPr>
          <p:cNvPr id="7" name="Content Placeholder 6">
            <a:extLst>
              <a:ext uri="{FF2B5EF4-FFF2-40B4-BE49-F238E27FC236}">
                <a16:creationId xmlns:a16="http://schemas.microsoft.com/office/drawing/2014/main" id="{EFFD7D7F-2ABC-5375-204C-D7DD0D4D3522}"/>
              </a:ext>
            </a:extLst>
          </p:cNvPr>
          <p:cNvPicPr>
            <a:picLocks noGrp="1" noChangeAspect="1"/>
          </p:cNvPicPr>
          <p:nvPr>
            <p:ph sz="half" idx="2"/>
          </p:nvPr>
        </p:nvPicPr>
        <p:blipFill>
          <a:blip r:embed="rId2"/>
          <a:stretch>
            <a:fillRect/>
          </a:stretch>
        </p:blipFill>
        <p:spPr>
          <a:xfrm>
            <a:off x="6172200" y="2783181"/>
            <a:ext cx="4038600" cy="3825493"/>
          </a:xfrm>
        </p:spPr>
      </p:pic>
      <p:sp>
        <p:nvSpPr>
          <p:cNvPr id="5" name="Content Placeholder 4">
            <a:extLst>
              <a:ext uri="{FF2B5EF4-FFF2-40B4-BE49-F238E27FC236}">
                <a16:creationId xmlns:a16="http://schemas.microsoft.com/office/drawing/2014/main" id="{2C15AB1E-57D4-6381-07A1-B4F19AA786EA}"/>
              </a:ext>
            </a:extLst>
          </p:cNvPr>
          <p:cNvSpPr>
            <a:spLocks noGrp="1"/>
          </p:cNvSpPr>
          <p:nvPr>
            <p:ph sz="quarter" idx="13"/>
          </p:nvPr>
        </p:nvSpPr>
        <p:spPr>
          <a:xfrm>
            <a:off x="1889760" y="1600200"/>
            <a:ext cx="8321040" cy="4526280"/>
          </a:xfrm>
        </p:spPr>
        <p:txBody>
          <a:bodyPr/>
          <a:lstStyle/>
          <a:p>
            <a:r>
              <a:rPr lang="en-US" dirty="0"/>
              <a:t>Add another 2 vector composite in “Move” Action in to add arrow keys</a:t>
            </a:r>
          </a:p>
          <a:p>
            <a:endParaRPr lang="en-US" dirty="0"/>
          </a:p>
          <a:p>
            <a:endParaRPr lang="en-CA" dirty="0"/>
          </a:p>
        </p:txBody>
      </p:sp>
      <p:pic>
        <p:nvPicPr>
          <p:cNvPr id="9" name="Picture 8">
            <a:extLst>
              <a:ext uri="{FF2B5EF4-FFF2-40B4-BE49-F238E27FC236}">
                <a16:creationId xmlns:a16="http://schemas.microsoft.com/office/drawing/2014/main" id="{5D2C2D8F-1BF8-50C8-FC65-9E61D16740F0}"/>
              </a:ext>
            </a:extLst>
          </p:cNvPr>
          <p:cNvPicPr>
            <a:picLocks noChangeAspect="1"/>
          </p:cNvPicPr>
          <p:nvPr/>
        </p:nvPicPr>
        <p:blipFill>
          <a:blip r:embed="rId3"/>
          <a:stretch>
            <a:fillRect/>
          </a:stretch>
        </p:blipFill>
        <p:spPr>
          <a:xfrm>
            <a:off x="2348832" y="2783182"/>
            <a:ext cx="3823368" cy="3825493"/>
          </a:xfrm>
          <a:prstGeom prst="rect">
            <a:avLst/>
          </a:prstGeom>
        </p:spPr>
      </p:pic>
    </p:spTree>
    <p:extLst>
      <p:ext uri="{BB962C8B-B14F-4D97-AF65-F5344CB8AC3E}">
        <p14:creationId xmlns:p14="http://schemas.microsoft.com/office/powerpoint/2010/main" val="2795199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27DFD-51A5-0E44-1E33-40D6D4168257}"/>
              </a:ext>
            </a:extLst>
          </p:cNvPr>
          <p:cNvSpPr>
            <a:spLocks noGrp="1"/>
          </p:cNvSpPr>
          <p:nvPr>
            <p:ph type="title"/>
          </p:nvPr>
        </p:nvSpPr>
        <p:spPr/>
        <p:txBody>
          <a:bodyPr/>
          <a:lstStyle/>
          <a:p>
            <a:r>
              <a:rPr lang="en-US" dirty="0"/>
              <a:t>PlayerController3</a:t>
            </a:r>
            <a:endParaRPr lang="en-CA" dirty="0"/>
          </a:p>
        </p:txBody>
      </p:sp>
      <p:sp>
        <p:nvSpPr>
          <p:cNvPr id="5" name="Content Placeholder 4">
            <a:extLst>
              <a:ext uri="{FF2B5EF4-FFF2-40B4-BE49-F238E27FC236}">
                <a16:creationId xmlns:a16="http://schemas.microsoft.com/office/drawing/2014/main" id="{144CEDC7-1C9A-8302-0704-09195166F824}"/>
              </a:ext>
            </a:extLst>
          </p:cNvPr>
          <p:cNvSpPr>
            <a:spLocks noGrp="1"/>
          </p:cNvSpPr>
          <p:nvPr>
            <p:ph idx="1"/>
          </p:nvPr>
        </p:nvSpPr>
        <p:spPr/>
        <p:txBody>
          <a:bodyPr>
            <a:normAutofit fontScale="25000" lnSpcReduction="20000"/>
          </a:bodyPr>
          <a:lstStyle/>
          <a:p>
            <a:pPr marL="0" indent="0">
              <a:buNone/>
            </a:pPr>
            <a:r>
              <a:rPr lang="en-CA" dirty="0"/>
              <a:t>using </a:t>
            </a:r>
            <a:r>
              <a:rPr lang="en-CA" dirty="0" err="1"/>
              <a:t>System.Collections</a:t>
            </a:r>
            <a:r>
              <a:rPr lang="en-CA" dirty="0"/>
              <a:t>;</a:t>
            </a:r>
          </a:p>
          <a:p>
            <a:pPr marL="0" indent="0">
              <a:buNone/>
            </a:pPr>
            <a:r>
              <a:rPr lang="en-CA" dirty="0"/>
              <a:t>using </a:t>
            </a:r>
            <a:r>
              <a:rPr lang="en-CA" dirty="0" err="1"/>
              <a:t>System.Collections.Generic</a:t>
            </a:r>
            <a:r>
              <a:rPr lang="en-CA" dirty="0"/>
              <a:t>;</a:t>
            </a:r>
          </a:p>
          <a:p>
            <a:pPr marL="0" indent="0">
              <a:buNone/>
            </a:pPr>
            <a:r>
              <a:rPr lang="en-CA" dirty="0"/>
              <a:t>using </a:t>
            </a:r>
            <a:r>
              <a:rPr lang="en-CA" dirty="0" err="1"/>
              <a:t>UnityEngine</a:t>
            </a:r>
            <a:r>
              <a:rPr lang="en-CA" dirty="0"/>
              <a:t>;</a:t>
            </a:r>
          </a:p>
          <a:p>
            <a:pPr marL="0" indent="0">
              <a:buNone/>
            </a:pPr>
            <a:r>
              <a:rPr lang="en-CA" dirty="0"/>
              <a:t>using </a:t>
            </a:r>
            <a:r>
              <a:rPr lang="en-CA" dirty="0" err="1"/>
              <a:t>UnityEngine.InputSystem</a:t>
            </a:r>
            <a:r>
              <a:rPr lang="en-CA" dirty="0"/>
              <a:t>;</a:t>
            </a:r>
          </a:p>
          <a:p>
            <a:pPr marL="0" indent="0">
              <a:buNone/>
            </a:pPr>
            <a:endParaRPr lang="en-CA" dirty="0"/>
          </a:p>
          <a:p>
            <a:pPr marL="0" indent="0">
              <a:buNone/>
            </a:pPr>
            <a:r>
              <a:rPr lang="en-CA" dirty="0"/>
              <a:t>public class PlayerController3 : </a:t>
            </a:r>
            <a:r>
              <a:rPr lang="en-CA" dirty="0" err="1"/>
              <a:t>MonoBehaviour</a:t>
            </a:r>
            <a:endParaRPr lang="en-CA" dirty="0"/>
          </a:p>
          <a:p>
            <a:pPr marL="0" indent="0">
              <a:buNone/>
            </a:pPr>
            <a:r>
              <a:rPr lang="en-CA" dirty="0"/>
              <a:t>{</a:t>
            </a:r>
          </a:p>
          <a:p>
            <a:pPr marL="0" indent="0">
              <a:buNone/>
            </a:pPr>
            <a:r>
              <a:rPr lang="en-CA" dirty="0"/>
              <a:t>    public </a:t>
            </a:r>
            <a:r>
              <a:rPr lang="en-CA" dirty="0" err="1"/>
              <a:t>Rigidbody</a:t>
            </a:r>
            <a:r>
              <a:rPr lang="en-CA" dirty="0"/>
              <a:t> </a:t>
            </a:r>
            <a:r>
              <a:rPr lang="en-CA" dirty="0" err="1"/>
              <a:t>rb</a:t>
            </a:r>
            <a:r>
              <a:rPr lang="en-CA" dirty="0"/>
              <a:t>;</a:t>
            </a:r>
          </a:p>
          <a:p>
            <a:pPr marL="0" indent="0">
              <a:buNone/>
            </a:pPr>
            <a:r>
              <a:rPr lang="en-CA" dirty="0"/>
              <a:t>    public float </a:t>
            </a:r>
            <a:r>
              <a:rPr lang="en-CA" dirty="0" err="1"/>
              <a:t>moveSpeed</a:t>
            </a:r>
            <a:r>
              <a:rPr lang="en-CA" dirty="0"/>
              <a:t> = 0.1f;</a:t>
            </a:r>
          </a:p>
          <a:p>
            <a:pPr marL="0" indent="0">
              <a:buNone/>
            </a:pPr>
            <a:endParaRPr lang="en-CA" dirty="0"/>
          </a:p>
          <a:p>
            <a:pPr marL="0" indent="0">
              <a:buNone/>
            </a:pPr>
            <a:r>
              <a:rPr lang="en-CA" dirty="0"/>
              <a:t>    Vector3 </a:t>
            </a:r>
            <a:r>
              <a:rPr lang="en-CA" dirty="0" err="1"/>
              <a:t>moveDirection</a:t>
            </a:r>
            <a:r>
              <a:rPr lang="en-CA" dirty="0"/>
              <a:t> = Vector3.zero;</a:t>
            </a:r>
          </a:p>
          <a:p>
            <a:pPr marL="0" indent="0">
              <a:buNone/>
            </a:pPr>
            <a:r>
              <a:rPr lang="en-CA" dirty="0"/>
              <a:t>    Vector2 </a:t>
            </a:r>
            <a:r>
              <a:rPr lang="en-CA" dirty="0" err="1"/>
              <a:t>moveXY</a:t>
            </a:r>
            <a:r>
              <a:rPr lang="en-CA" dirty="0"/>
              <a:t> = Vector2.zero;</a:t>
            </a:r>
          </a:p>
          <a:p>
            <a:pPr marL="0" indent="0">
              <a:buNone/>
            </a:pPr>
            <a:endParaRPr lang="en-CA" dirty="0"/>
          </a:p>
          <a:p>
            <a:pPr marL="0" indent="0">
              <a:buNone/>
            </a:pPr>
            <a:r>
              <a:rPr lang="en-CA" dirty="0">
                <a:highlight>
                  <a:srgbClr val="FFFF00"/>
                </a:highlight>
              </a:rPr>
              <a:t>    public void Jump(</a:t>
            </a:r>
            <a:r>
              <a:rPr lang="en-CA" dirty="0" err="1">
                <a:highlight>
                  <a:srgbClr val="FFFF00"/>
                </a:highlight>
              </a:rPr>
              <a:t>InputAction.CallbackContext</a:t>
            </a:r>
            <a:r>
              <a:rPr lang="en-CA" dirty="0">
                <a:highlight>
                  <a:srgbClr val="FFFF00"/>
                </a:highlight>
              </a:rPr>
              <a:t> context)</a:t>
            </a:r>
          </a:p>
          <a:p>
            <a:pPr marL="0" indent="0">
              <a:buNone/>
            </a:pPr>
            <a:r>
              <a:rPr lang="en-CA" dirty="0">
                <a:highlight>
                  <a:srgbClr val="FFFF00"/>
                </a:highlight>
              </a:rPr>
              <a:t>    {</a:t>
            </a:r>
          </a:p>
          <a:p>
            <a:pPr marL="0" indent="0">
              <a:buNone/>
            </a:pPr>
            <a:r>
              <a:rPr lang="en-CA" dirty="0">
                <a:highlight>
                  <a:srgbClr val="FFFF00"/>
                </a:highlight>
              </a:rPr>
              <a:t>        </a:t>
            </a:r>
            <a:r>
              <a:rPr lang="en-CA" dirty="0" err="1">
                <a:highlight>
                  <a:srgbClr val="FFFF00"/>
                </a:highlight>
              </a:rPr>
              <a:t>Debug.Log</a:t>
            </a:r>
            <a:r>
              <a:rPr lang="en-CA" dirty="0">
                <a:highlight>
                  <a:srgbClr val="FFFF00"/>
                </a:highlight>
              </a:rPr>
              <a:t>("Jump!");</a:t>
            </a:r>
          </a:p>
          <a:p>
            <a:pPr marL="0" indent="0">
              <a:buNone/>
            </a:pPr>
            <a:r>
              <a:rPr lang="en-CA" dirty="0">
                <a:highlight>
                  <a:srgbClr val="FFFF00"/>
                </a:highlight>
              </a:rPr>
              <a:t>    }</a:t>
            </a:r>
          </a:p>
          <a:p>
            <a:pPr marL="0" indent="0">
              <a:buNone/>
            </a:pPr>
            <a:endParaRPr lang="en-CA" dirty="0">
              <a:highlight>
                <a:srgbClr val="FFFF00"/>
              </a:highlight>
            </a:endParaRPr>
          </a:p>
          <a:p>
            <a:pPr marL="0" indent="0">
              <a:buNone/>
            </a:pPr>
            <a:r>
              <a:rPr lang="en-CA" dirty="0">
                <a:highlight>
                  <a:srgbClr val="FFFF00"/>
                </a:highlight>
              </a:rPr>
              <a:t>    public void Move(</a:t>
            </a:r>
            <a:r>
              <a:rPr lang="en-CA" dirty="0" err="1">
                <a:highlight>
                  <a:srgbClr val="FFFF00"/>
                </a:highlight>
              </a:rPr>
              <a:t>InputAction.CallbackContext</a:t>
            </a:r>
            <a:r>
              <a:rPr lang="en-CA" dirty="0">
                <a:highlight>
                  <a:srgbClr val="FFFF00"/>
                </a:highlight>
              </a:rPr>
              <a:t> context)</a:t>
            </a:r>
          </a:p>
          <a:p>
            <a:pPr marL="0" indent="0">
              <a:buNone/>
            </a:pPr>
            <a:r>
              <a:rPr lang="en-CA" dirty="0">
                <a:highlight>
                  <a:srgbClr val="FFFF00"/>
                </a:highlight>
              </a:rPr>
              <a:t>    {</a:t>
            </a:r>
          </a:p>
          <a:p>
            <a:pPr marL="0" indent="0">
              <a:buNone/>
            </a:pPr>
            <a:r>
              <a:rPr lang="en-CA" dirty="0">
                <a:highlight>
                  <a:srgbClr val="FFFF00"/>
                </a:highlight>
              </a:rPr>
              <a:t>        </a:t>
            </a:r>
            <a:r>
              <a:rPr lang="en-CA" dirty="0" err="1">
                <a:highlight>
                  <a:srgbClr val="FFFF00"/>
                </a:highlight>
              </a:rPr>
              <a:t>Debug.Log</a:t>
            </a:r>
            <a:r>
              <a:rPr lang="en-CA" dirty="0">
                <a:highlight>
                  <a:srgbClr val="FFFF00"/>
                </a:highlight>
              </a:rPr>
              <a:t>("Move!");</a:t>
            </a:r>
          </a:p>
          <a:p>
            <a:pPr marL="0" indent="0">
              <a:buNone/>
            </a:pPr>
            <a:r>
              <a:rPr lang="en-CA" dirty="0">
                <a:highlight>
                  <a:srgbClr val="FFFF00"/>
                </a:highlight>
              </a:rPr>
              <a:t>        var </a:t>
            </a:r>
            <a:r>
              <a:rPr lang="en-CA" dirty="0" err="1">
                <a:highlight>
                  <a:srgbClr val="FFFF00"/>
                </a:highlight>
              </a:rPr>
              <a:t>moveXY</a:t>
            </a:r>
            <a:r>
              <a:rPr lang="en-CA" dirty="0">
                <a:highlight>
                  <a:srgbClr val="FFFF00"/>
                </a:highlight>
              </a:rPr>
              <a:t> = </a:t>
            </a:r>
            <a:r>
              <a:rPr lang="en-CA" dirty="0" err="1">
                <a:highlight>
                  <a:srgbClr val="FFFF00"/>
                </a:highlight>
              </a:rPr>
              <a:t>context.ReadValue</a:t>
            </a:r>
            <a:r>
              <a:rPr lang="en-CA" dirty="0">
                <a:highlight>
                  <a:srgbClr val="FFFF00"/>
                </a:highlight>
              </a:rPr>
              <a:t>&lt;Vector2&gt;();</a:t>
            </a:r>
          </a:p>
          <a:p>
            <a:pPr marL="0" indent="0">
              <a:buNone/>
            </a:pPr>
            <a:r>
              <a:rPr lang="en-CA" dirty="0">
                <a:highlight>
                  <a:srgbClr val="FFFF00"/>
                </a:highlight>
              </a:rPr>
              <a:t>        </a:t>
            </a:r>
            <a:r>
              <a:rPr lang="en-CA" dirty="0" err="1">
                <a:highlight>
                  <a:srgbClr val="FFFF00"/>
                </a:highlight>
              </a:rPr>
              <a:t>Debug.LogFormat</a:t>
            </a:r>
            <a:r>
              <a:rPr lang="en-CA" dirty="0">
                <a:highlight>
                  <a:srgbClr val="FFFF00"/>
                </a:highlight>
              </a:rPr>
              <a:t>("Move </a:t>
            </a:r>
            <a:r>
              <a:rPr lang="en-CA" dirty="0" err="1">
                <a:highlight>
                  <a:srgbClr val="FFFF00"/>
                </a:highlight>
              </a:rPr>
              <a:t>Directtion</a:t>
            </a:r>
            <a:r>
              <a:rPr lang="en-CA" dirty="0">
                <a:highlight>
                  <a:srgbClr val="FFFF00"/>
                </a:highlight>
              </a:rPr>
              <a:t>: ({0}, {1})", </a:t>
            </a:r>
            <a:r>
              <a:rPr lang="en-CA" dirty="0" err="1">
                <a:highlight>
                  <a:srgbClr val="FFFF00"/>
                </a:highlight>
              </a:rPr>
              <a:t>moveXY.x</a:t>
            </a:r>
            <a:r>
              <a:rPr lang="en-CA" dirty="0">
                <a:highlight>
                  <a:srgbClr val="FFFF00"/>
                </a:highlight>
              </a:rPr>
              <a:t>, </a:t>
            </a:r>
            <a:r>
              <a:rPr lang="en-CA" dirty="0" err="1">
                <a:highlight>
                  <a:srgbClr val="FFFF00"/>
                </a:highlight>
              </a:rPr>
              <a:t>moveXY.y</a:t>
            </a:r>
            <a:r>
              <a:rPr lang="en-CA" dirty="0">
                <a:highlight>
                  <a:srgbClr val="FFFF00"/>
                </a:highlight>
              </a:rPr>
              <a:t>);</a:t>
            </a:r>
          </a:p>
          <a:p>
            <a:pPr marL="0" indent="0">
              <a:buNone/>
            </a:pPr>
            <a:r>
              <a:rPr lang="en-CA" dirty="0">
                <a:highlight>
                  <a:srgbClr val="FFFF00"/>
                </a:highlight>
              </a:rPr>
              <a:t>        </a:t>
            </a:r>
            <a:r>
              <a:rPr lang="en-CA" dirty="0" err="1">
                <a:highlight>
                  <a:srgbClr val="FFFF00"/>
                </a:highlight>
              </a:rPr>
              <a:t>moveDirection</a:t>
            </a:r>
            <a:r>
              <a:rPr lang="en-CA" dirty="0">
                <a:highlight>
                  <a:srgbClr val="FFFF00"/>
                </a:highlight>
              </a:rPr>
              <a:t> = </a:t>
            </a:r>
            <a:r>
              <a:rPr lang="en-CA" dirty="0" err="1">
                <a:highlight>
                  <a:srgbClr val="FFFF00"/>
                </a:highlight>
              </a:rPr>
              <a:t>moveXY.normalized</a:t>
            </a:r>
            <a:r>
              <a:rPr lang="en-CA" dirty="0">
                <a:highlight>
                  <a:srgbClr val="FFFF00"/>
                </a:highlight>
              </a:rPr>
              <a:t>;</a:t>
            </a:r>
          </a:p>
          <a:p>
            <a:pPr marL="0" indent="0">
              <a:buNone/>
            </a:pPr>
            <a:r>
              <a:rPr lang="en-CA" dirty="0">
                <a:highlight>
                  <a:srgbClr val="FFFF00"/>
                </a:highlight>
              </a:rPr>
              <a:t>    }</a:t>
            </a:r>
          </a:p>
          <a:p>
            <a:pPr marL="0" indent="0">
              <a:buNone/>
            </a:pPr>
            <a:endParaRPr lang="en-CA" dirty="0"/>
          </a:p>
          <a:p>
            <a:pPr marL="0" indent="0">
              <a:buNone/>
            </a:pPr>
            <a:r>
              <a:rPr lang="en-CA" dirty="0"/>
              <a:t>    private void </a:t>
            </a:r>
            <a:r>
              <a:rPr lang="en-CA" dirty="0" err="1"/>
              <a:t>FixedUpdate</a:t>
            </a:r>
            <a:r>
              <a:rPr lang="en-CA" dirty="0"/>
              <a:t>()</a:t>
            </a:r>
          </a:p>
          <a:p>
            <a:pPr marL="0" indent="0">
              <a:buNone/>
            </a:pPr>
            <a:r>
              <a:rPr lang="en-CA" dirty="0"/>
              <a:t>    {</a:t>
            </a:r>
          </a:p>
          <a:p>
            <a:pPr marL="0" indent="0">
              <a:buNone/>
            </a:pPr>
            <a:endParaRPr lang="en-CA" dirty="0"/>
          </a:p>
          <a:p>
            <a:pPr marL="0" indent="0">
              <a:buNone/>
            </a:pPr>
            <a:r>
              <a:rPr lang="en-CA" dirty="0"/>
              <a:t>        </a:t>
            </a:r>
            <a:r>
              <a:rPr lang="en-CA" dirty="0" err="1"/>
              <a:t>rb.linearVelocity</a:t>
            </a:r>
            <a:r>
              <a:rPr lang="en-CA" dirty="0"/>
              <a:t> = new Vector3(</a:t>
            </a:r>
            <a:r>
              <a:rPr lang="en-CA" dirty="0" err="1"/>
              <a:t>moveDirection.x</a:t>
            </a:r>
            <a:r>
              <a:rPr lang="en-CA" dirty="0"/>
              <a:t> * </a:t>
            </a:r>
            <a:r>
              <a:rPr lang="en-CA" dirty="0" err="1"/>
              <a:t>moveSpeed</a:t>
            </a:r>
            <a:r>
              <a:rPr lang="en-CA" dirty="0"/>
              <a:t> * </a:t>
            </a:r>
            <a:r>
              <a:rPr lang="en-CA" dirty="0" err="1"/>
              <a:t>Time.fixedDeltaTime</a:t>
            </a:r>
            <a:r>
              <a:rPr lang="en-CA" dirty="0"/>
              <a:t>, </a:t>
            </a:r>
            <a:r>
              <a:rPr lang="en-CA" dirty="0" err="1"/>
              <a:t>moveDirection.y</a:t>
            </a:r>
            <a:r>
              <a:rPr lang="en-CA" dirty="0"/>
              <a:t> * </a:t>
            </a:r>
            <a:r>
              <a:rPr lang="en-CA" dirty="0" err="1"/>
              <a:t>moveSpeed</a:t>
            </a:r>
            <a:r>
              <a:rPr lang="en-CA" dirty="0"/>
              <a:t> * </a:t>
            </a:r>
            <a:r>
              <a:rPr lang="en-CA" dirty="0" err="1"/>
              <a:t>Time.fixedDeltaTime</a:t>
            </a:r>
            <a:r>
              <a:rPr lang="en-CA" dirty="0"/>
              <a:t>, </a:t>
            </a:r>
            <a:r>
              <a:rPr lang="en-CA" dirty="0" err="1"/>
              <a:t>moveDirection.z</a:t>
            </a:r>
            <a:r>
              <a:rPr lang="en-CA" dirty="0"/>
              <a:t> * </a:t>
            </a:r>
            <a:r>
              <a:rPr lang="en-CA" dirty="0" err="1"/>
              <a:t>moveSpeed</a:t>
            </a:r>
            <a:r>
              <a:rPr lang="en-CA" dirty="0"/>
              <a:t> * </a:t>
            </a:r>
            <a:r>
              <a:rPr lang="en-CA" dirty="0" err="1"/>
              <a:t>Time.fixedDeltaTime</a:t>
            </a:r>
            <a:r>
              <a:rPr lang="en-CA" dirty="0"/>
              <a:t>);</a:t>
            </a:r>
          </a:p>
          <a:p>
            <a:pPr marL="0" indent="0">
              <a:buNone/>
            </a:pPr>
            <a:r>
              <a:rPr lang="en-CA" dirty="0"/>
              <a:t>    }</a:t>
            </a:r>
          </a:p>
          <a:p>
            <a:pPr marL="0" indent="0">
              <a:buNone/>
            </a:pPr>
            <a:r>
              <a:rPr lang="en-CA" dirty="0"/>
              <a:t>}</a:t>
            </a:r>
          </a:p>
        </p:txBody>
      </p:sp>
    </p:spTree>
    <p:extLst>
      <p:ext uri="{BB962C8B-B14F-4D97-AF65-F5344CB8AC3E}">
        <p14:creationId xmlns:p14="http://schemas.microsoft.com/office/powerpoint/2010/main" val="34765481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78B01-8F7F-3D93-E074-EE55051921E5}"/>
              </a:ext>
            </a:extLst>
          </p:cNvPr>
          <p:cNvSpPr>
            <a:spLocks noGrp="1"/>
          </p:cNvSpPr>
          <p:nvPr>
            <p:ph type="title"/>
          </p:nvPr>
        </p:nvSpPr>
        <p:spPr/>
        <p:txBody>
          <a:bodyPr/>
          <a:lstStyle/>
          <a:p>
            <a:r>
              <a:rPr lang="en-US"/>
              <a:t>Using Action Assets with </a:t>
            </a:r>
            <a:r>
              <a:rPr lang="en-US" err="1">
                <a:latin typeface="Consolas"/>
              </a:rPr>
              <a:t>PlayerInput</a:t>
            </a:r>
            <a:endParaRPr lang="en-US" err="1"/>
          </a:p>
        </p:txBody>
      </p:sp>
      <p:sp>
        <p:nvSpPr>
          <p:cNvPr id="3" name="Content Placeholder 2">
            <a:extLst>
              <a:ext uri="{FF2B5EF4-FFF2-40B4-BE49-F238E27FC236}">
                <a16:creationId xmlns:a16="http://schemas.microsoft.com/office/drawing/2014/main" id="{AEDF9047-05D9-B900-7974-7A21ADDD5261}"/>
              </a:ext>
            </a:extLst>
          </p:cNvPr>
          <p:cNvSpPr>
            <a:spLocks noGrp="1"/>
          </p:cNvSpPr>
          <p:nvPr>
            <p:ph idx="1"/>
          </p:nvPr>
        </p:nvSpPr>
        <p:spPr/>
        <p:txBody>
          <a:bodyPr spcFirstLastPara="1" vert="horz" wrap="square" lIns="91440" tIns="45720" rIns="91440" bIns="45720" rtlCol="0" anchor="t" anchorCtr="0">
            <a:normAutofit/>
          </a:bodyPr>
          <a:lstStyle/>
          <a:p>
            <a:r>
              <a:rPr lang="en-US">
                <a:ea typeface="+mj-lt"/>
                <a:cs typeface="+mj-lt"/>
              </a:rPr>
              <a:t>The </a:t>
            </a:r>
            <a:r>
              <a:rPr lang="en-US">
                <a:latin typeface="Consolas"/>
                <a:hlinkClick r:id="rId2"/>
              </a:rPr>
              <a:t>PlayerInput</a:t>
            </a:r>
            <a:r>
              <a:rPr lang="en-US">
                <a:ea typeface="+mj-lt"/>
                <a:cs typeface="+mj-lt"/>
              </a:rPr>
              <a:t> component provides a convenient way to handle input for one or multiple players. </a:t>
            </a:r>
          </a:p>
          <a:p>
            <a:r>
              <a:rPr lang="en-US">
                <a:ea typeface="+mj-lt"/>
                <a:cs typeface="+mj-lt"/>
              </a:rPr>
              <a:t>It requires you to set up all your Actions in an Input Action Asset, which you can then assign to the </a:t>
            </a:r>
            <a:r>
              <a:rPr lang="en-US">
                <a:latin typeface="Consolas"/>
                <a:hlinkClick r:id="rId2"/>
              </a:rPr>
              <a:t>PlayerInput</a:t>
            </a:r>
            <a:r>
              <a:rPr lang="en-US">
                <a:ea typeface="+mj-lt"/>
                <a:cs typeface="+mj-lt"/>
              </a:rPr>
              <a:t> component. </a:t>
            </a:r>
            <a:endParaRPr lang="en-US">
              <a:latin typeface="Century Gothic"/>
            </a:endParaRPr>
          </a:p>
          <a:p>
            <a:r>
              <a:rPr lang="en-US">
                <a:latin typeface="Consolas"/>
                <a:hlinkClick r:id="rId2"/>
              </a:rPr>
              <a:t>PlayerInput</a:t>
            </a:r>
            <a:r>
              <a:rPr lang="en-US">
                <a:ea typeface="+mj-lt"/>
                <a:cs typeface="+mj-lt"/>
              </a:rPr>
              <a:t> can then automatically handle activating Action Maps and selecting Control Schemes for you. </a:t>
            </a:r>
            <a:endParaRPr lang="en-US"/>
          </a:p>
        </p:txBody>
      </p:sp>
    </p:spTree>
    <p:extLst>
      <p:ext uri="{BB962C8B-B14F-4D97-AF65-F5344CB8AC3E}">
        <p14:creationId xmlns:p14="http://schemas.microsoft.com/office/powerpoint/2010/main" val="25849408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0863-4A39-1D55-2EBE-5C79FDF43958}"/>
              </a:ext>
            </a:extLst>
          </p:cNvPr>
          <p:cNvSpPr>
            <a:spLocks noGrp="1"/>
          </p:cNvSpPr>
          <p:nvPr>
            <p:ph type="title"/>
          </p:nvPr>
        </p:nvSpPr>
        <p:spPr/>
        <p:txBody>
          <a:bodyPr/>
          <a:lstStyle/>
          <a:p>
            <a:r>
              <a:rPr lang="en-US" dirty="0"/>
              <a:t>Add a </a:t>
            </a:r>
            <a:r>
              <a:rPr lang="en-US" dirty="0" err="1"/>
              <a:t>PlayerInput</a:t>
            </a:r>
            <a:r>
              <a:rPr lang="en-US" dirty="0"/>
              <a:t> Component</a:t>
            </a:r>
            <a:endParaRPr lang="en-CA" dirty="0"/>
          </a:p>
        </p:txBody>
      </p:sp>
      <p:sp>
        <p:nvSpPr>
          <p:cNvPr id="3" name="Content Placeholder 2">
            <a:extLst>
              <a:ext uri="{FF2B5EF4-FFF2-40B4-BE49-F238E27FC236}">
                <a16:creationId xmlns:a16="http://schemas.microsoft.com/office/drawing/2014/main" id="{D35BB787-5AA4-9136-325C-0AE44D97A766}"/>
              </a:ext>
            </a:extLst>
          </p:cNvPr>
          <p:cNvSpPr>
            <a:spLocks noGrp="1"/>
          </p:cNvSpPr>
          <p:nvPr>
            <p:ph idx="1"/>
          </p:nvPr>
        </p:nvSpPr>
        <p:spPr/>
        <p:txBody>
          <a:bodyPr>
            <a:normAutofit/>
          </a:bodyPr>
          <a:lstStyle/>
          <a:p>
            <a:r>
              <a:rPr lang="en-US" dirty="0"/>
              <a:t>Getting input directly from an Input Device is quick and convenient, but requires a separate path for each type of Device. That also makes it harder to later change which Device Control triggers a specific event in the game.</a:t>
            </a:r>
          </a:p>
          <a:p>
            <a:r>
              <a:rPr lang="en-US" dirty="0"/>
              <a:t>Alternatively, you can use Actions as an intermediary between Devices and the in-game responses they trigger. The easiest way to do this is to use the </a:t>
            </a:r>
            <a:r>
              <a:rPr lang="en-US" dirty="0" err="1"/>
              <a:t>PlayerInput</a:t>
            </a:r>
            <a:r>
              <a:rPr lang="en-US" dirty="0"/>
              <a:t> component. To add this component, click the Add Component button in the </a:t>
            </a:r>
            <a:r>
              <a:rPr lang="en-US" dirty="0" err="1"/>
              <a:t>GameObject</a:t>
            </a:r>
            <a:r>
              <a:rPr lang="en-US" dirty="0"/>
              <a:t> Inspector:</a:t>
            </a:r>
            <a:endParaRPr lang="en-CA" dirty="0"/>
          </a:p>
        </p:txBody>
      </p:sp>
      <p:pic>
        <p:nvPicPr>
          <p:cNvPr id="5" name="Picture 4">
            <a:extLst>
              <a:ext uri="{FF2B5EF4-FFF2-40B4-BE49-F238E27FC236}">
                <a16:creationId xmlns:a16="http://schemas.microsoft.com/office/drawing/2014/main" id="{448B2B1B-97F0-F4E0-B065-CC963E626A65}"/>
              </a:ext>
            </a:extLst>
          </p:cNvPr>
          <p:cNvPicPr>
            <a:picLocks noChangeAspect="1"/>
          </p:cNvPicPr>
          <p:nvPr/>
        </p:nvPicPr>
        <p:blipFill>
          <a:blip r:embed="rId2"/>
          <a:stretch>
            <a:fillRect/>
          </a:stretch>
        </p:blipFill>
        <p:spPr>
          <a:xfrm>
            <a:off x="6563842" y="5317746"/>
            <a:ext cx="2466993" cy="1295409"/>
          </a:xfrm>
          <a:prstGeom prst="rect">
            <a:avLst/>
          </a:prstGeom>
        </p:spPr>
      </p:pic>
    </p:spTree>
    <p:extLst>
      <p:ext uri="{BB962C8B-B14F-4D97-AF65-F5344CB8AC3E}">
        <p14:creationId xmlns:p14="http://schemas.microsoft.com/office/powerpoint/2010/main" val="25153522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0433-55A4-CA31-DE1D-58227CCEEC8D}"/>
              </a:ext>
            </a:extLst>
          </p:cNvPr>
          <p:cNvSpPr>
            <a:spLocks noGrp="1"/>
          </p:cNvSpPr>
          <p:nvPr>
            <p:ph type="title"/>
          </p:nvPr>
        </p:nvSpPr>
        <p:spPr/>
        <p:txBody>
          <a:bodyPr/>
          <a:lstStyle/>
          <a:p>
            <a:r>
              <a:rPr lang="en-US" dirty="0"/>
              <a:t>“Player Input” component</a:t>
            </a:r>
            <a:endParaRPr lang="en-CA" dirty="0"/>
          </a:p>
        </p:txBody>
      </p:sp>
      <p:pic>
        <p:nvPicPr>
          <p:cNvPr id="6" name="Content Placeholder 5">
            <a:extLst>
              <a:ext uri="{FF2B5EF4-FFF2-40B4-BE49-F238E27FC236}">
                <a16:creationId xmlns:a16="http://schemas.microsoft.com/office/drawing/2014/main" id="{61A82DE1-5ECD-D2EF-2EDE-4F3675A1E8EE}"/>
              </a:ext>
            </a:extLst>
          </p:cNvPr>
          <p:cNvPicPr>
            <a:picLocks noGrp="1" noChangeAspect="1"/>
          </p:cNvPicPr>
          <p:nvPr>
            <p:ph sz="half" idx="2"/>
          </p:nvPr>
        </p:nvPicPr>
        <p:blipFill>
          <a:blip r:embed="rId2"/>
          <a:stretch>
            <a:fillRect/>
          </a:stretch>
        </p:blipFill>
        <p:spPr>
          <a:xfrm>
            <a:off x="6172200" y="2047492"/>
            <a:ext cx="4038600" cy="3631381"/>
          </a:xfrm>
        </p:spPr>
      </p:pic>
      <p:sp>
        <p:nvSpPr>
          <p:cNvPr id="4" name="Content Placeholder 3">
            <a:extLst>
              <a:ext uri="{FF2B5EF4-FFF2-40B4-BE49-F238E27FC236}">
                <a16:creationId xmlns:a16="http://schemas.microsoft.com/office/drawing/2014/main" id="{60072B63-1DC1-248E-32AF-F7B54331E147}"/>
              </a:ext>
            </a:extLst>
          </p:cNvPr>
          <p:cNvSpPr>
            <a:spLocks noGrp="1"/>
          </p:cNvSpPr>
          <p:nvPr>
            <p:ph sz="quarter" idx="13"/>
          </p:nvPr>
        </p:nvSpPr>
        <p:spPr/>
        <p:txBody>
          <a:bodyPr/>
          <a:lstStyle/>
          <a:p>
            <a:r>
              <a:rPr lang="en-US" dirty="0"/>
              <a:t>Add “Player Input” component to your “Player/Cube” game object</a:t>
            </a:r>
          </a:p>
          <a:p>
            <a:r>
              <a:rPr lang="en-US" dirty="0"/>
              <a:t>Select the action map (Land)</a:t>
            </a:r>
          </a:p>
          <a:p>
            <a:r>
              <a:rPr lang="en-US" dirty="0"/>
              <a:t>Select the behavior as “Invoke Unity Events”</a:t>
            </a:r>
            <a:endParaRPr lang="en-CA" dirty="0"/>
          </a:p>
        </p:txBody>
      </p:sp>
    </p:spTree>
    <p:extLst>
      <p:ext uri="{BB962C8B-B14F-4D97-AF65-F5344CB8AC3E}">
        <p14:creationId xmlns:p14="http://schemas.microsoft.com/office/powerpoint/2010/main" val="7771654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BB2A-225B-CF2E-78DF-19CF391347CF}"/>
              </a:ext>
            </a:extLst>
          </p:cNvPr>
          <p:cNvSpPr>
            <a:spLocks noGrp="1"/>
          </p:cNvSpPr>
          <p:nvPr>
            <p:ph type="title"/>
          </p:nvPr>
        </p:nvSpPr>
        <p:spPr/>
        <p:txBody>
          <a:bodyPr/>
          <a:lstStyle/>
          <a:p>
            <a:r>
              <a:rPr lang="en-US" dirty="0"/>
              <a:t>Setting up Action responses</a:t>
            </a:r>
            <a:endParaRPr lang="en-CA" dirty="0"/>
          </a:p>
        </p:txBody>
      </p:sp>
      <p:pic>
        <p:nvPicPr>
          <p:cNvPr id="6" name="Content Placeholder 5">
            <a:extLst>
              <a:ext uri="{FF2B5EF4-FFF2-40B4-BE49-F238E27FC236}">
                <a16:creationId xmlns:a16="http://schemas.microsoft.com/office/drawing/2014/main" id="{20892F6A-E570-8170-7B17-86144B66F51C}"/>
              </a:ext>
            </a:extLst>
          </p:cNvPr>
          <p:cNvPicPr>
            <a:picLocks noGrp="1" noChangeAspect="1"/>
          </p:cNvPicPr>
          <p:nvPr>
            <p:ph sz="half" idx="2"/>
          </p:nvPr>
        </p:nvPicPr>
        <p:blipFill>
          <a:blip r:embed="rId2"/>
          <a:stretch>
            <a:fillRect/>
          </a:stretch>
        </p:blipFill>
        <p:spPr>
          <a:xfrm>
            <a:off x="6172200" y="2412879"/>
            <a:ext cx="4038600" cy="2900604"/>
          </a:xfrm>
        </p:spPr>
      </p:pic>
      <p:sp>
        <p:nvSpPr>
          <p:cNvPr id="4" name="Content Placeholder 3">
            <a:extLst>
              <a:ext uri="{FF2B5EF4-FFF2-40B4-BE49-F238E27FC236}">
                <a16:creationId xmlns:a16="http://schemas.microsoft.com/office/drawing/2014/main" id="{22798CBA-A851-6653-C1A4-21101593AB0F}"/>
              </a:ext>
            </a:extLst>
          </p:cNvPr>
          <p:cNvSpPr>
            <a:spLocks noGrp="1"/>
          </p:cNvSpPr>
          <p:nvPr>
            <p:ph sz="quarter" idx="13"/>
          </p:nvPr>
        </p:nvSpPr>
        <p:spPr/>
        <p:txBody>
          <a:bodyPr>
            <a:normAutofit fontScale="92500" lnSpcReduction="20000"/>
          </a:bodyPr>
          <a:lstStyle/>
          <a:p>
            <a:r>
              <a:rPr lang="en-US" dirty="0"/>
              <a:t>Once the component has its Actions, you must set up a response for each Action. </a:t>
            </a:r>
            <a:r>
              <a:rPr lang="en-US" dirty="0" err="1"/>
              <a:t>PlayerInput</a:t>
            </a:r>
            <a:r>
              <a:rPr lang="en-US" dirty="0"/>
              <a:t> allows you to set up responses in several ways, using the Behavior property in the Inspector window.</a:t>
            </a:r>
          </a:p>
          <a:p>
            <a:r>
              <a:rPr lang="en-US" dirty="0"/>
              <a:t> Select “Invoke </a:t>
            </a:r>
            <a:r>
              <a:rPr lang="en-US" dirty="0" err="1"/>
              <a:t>UnityEvent</a:t>
            </a:r>
            <a:r>
              <a:rPr lang="en-US" dirty="0"/>
              <a:t>” , which is in the same way the Unity UI does. Unity displays an event for each Action that is linked to the component. This allows you to directly wire in the target method for each event.</a:t>
            </a:r>
          </a:p>
          <a:p>
            <a:endParaRPr lang="en-CA" dirty="0"/>
          </a:p>
        </p:txBody>
      </p:sp>
    </p:spTree>
    <p:extLst>
      <p:ext uri="{BB962C8B-B14F-4D97-AF65-F5344CB8AC3E}">
        <p14:creationId xmlns:p14="http://schemas.microsoft.com/office/powerpoint/2010/main" val="10595041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7ED0-E626-23E0-CE47-6F6E2CFAE147}"/>
              </a:ext>
            </a:extLst>
          </p:cNvPr>
          <p:cNvSpPr>
            <a:spLocks noGrp="1"/>
          </p:cNvSpPr>
          <p:nvPr>
            <p:ph type="title"/>
          </p:nvPr>
        </p:nvSpPr>
        <p:spPr/>
        <p:txBody>
          <a:bodyPr/>
          <a:lstStyle/>
          <a:p>
            <a:r>
              <a:rPr lang="en-US" dirty="0"/>
              <a:t>Set the callback context</a:t>
            </a:r>
            <a:endParaRPr lang="en-CA" dirty="0"/>
          </a:p>
        </p:txBody>
      </p:sp>
      <p:pic>
        <p:nvPicPr>
          <p:cNvPr id="6" name="Content Placeholder 5">
            <a:extLst>
              <a:ext uri="{FF2B5EF4-FFF2-40B4-BE49-F238E27FC236}">
                <a16:creationId xmlns:a16="http://schemas.microsoft.com/office/drawing/2014/main" id="{D8339CBC-2382-6C89-E323-D7ACA7146B37}"/>
              </a:ext>
            </a:extLst>
          </p:cNvPr>
          <p:cNvPicPr>
            <a:picLocks noGrp="1" noChangeAspect="1"/>
          </p:cNvPicPr>
          <p:nvPr>
            <p:ph sz="half" idx="2"/>
          </p:nvPr>
        </p:nvPicPr>
        <p:blipFill>
          <a:blip r:embed="rId2"/>
          <a:stretch>
            <a:fillRect/>
          </a:stretch>
        </p:blipFill>
        <p:spPr>
          <a:xfrm>
            <a:off x="6172200" y="2204217"/>
            <a:ext cx="4038600" cy="3317931"/>
          </a:xfrm>
        </p:spPr>
      </p:pic>
      <p:sp>
        <p:nvSpPr>
          <p:cNvPr id="4" name="Content Placeholder 3">
            <a:extLst>
              <a:ext uri="{FF2B5EF4-FFF2-40B4-BE49-F238E27FC236}">
                <a16:creationId xmlns:a16="http://schemas.microsoft.com/office/drawing/2014/main" id="{7BCFED7E-3245-2478-2C0B-AD30702B7F01}"/>
              </a:ext>
            </a:extLst>
          </p:cNvPr>
          <p:cNvSpPr>
            <a:spLocks noGrp="1"/>
          </p:cNvSpPr>
          <p:nvPr>
            <p:ph sz="quarter" idx="13"/>
          </p:nvPr>
        </p:nvSpPr>
        <p:spPr/>
        <p:txBody>
          <a:bodyPr/>
          <a:lstStyle/>
          <a:p>
            <a:r>
              <a:rPr lang="en-US" dirty="0"/>
              <a:t>Select “Move” method for “Move” callback context</a:t>
            </a:r>
          </a:p>
          <a:p>
            <a:r>
              <a:rPr lang="en-US" dirty="0"/>
              <a:t>Select “Jump” method for “Jump” callback context</a:t>
            </a:r>
          </a:p>
          <a:p>
            <a:r>
              <a:rPr lang="en-US" dirty="0"/>
              <a:t>Run and test the application</a:t>
            </a:r>
            <a:endParaRPr lang="en-CA" dirty="0"/>
          </a:p>
        </p:txBody>
      </p:sp>
    </p:spTree>
    <p:extLst>
      <p:ext uri="{BB962C8B-B14F-4D97-AF65-F5344CB8AC3E}">
        <p14:creationId xmlns:p14="http://schemas.microsoft.com/office/powerpoint/2010/main" val="31102804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9D7B79-4C45-88D9-42C3-6BEA88F7B8F0}"/>
              </a:ext>
            </a:extLst>
          </p:cNvPr>
          <p:cNvSpPr>
            <a:spLocks noGrp="1"/>
          </p:cNvSpPr>
          <p:nvPr>
            <p:ph type="title"/>
          </p:nvPr>
        </p:nvSpPr>
        <p:spPr/>
        <p:txBody>
          <a:bodyPr/>
          <a:lstStyle/>
          <a:p>
            <a:r>
              <a:rPr lang="en-US" dirty="0"/>
              <a:t>Lab4: Generate C# Class</a:t>
            </a:r>
            <a:endParaRPr lang="en-CA" dirty="0"/>
          </a:p>
        </p:txBody>
      </p:sp>
      <p:pic>
        <p:nvPicPr>
          <p:cNvPr id="9" name="Content Placeholder 8">
            <a:extLst>
              <a:ext uri="{FF2B5EF4-FFF2-40B4-BE49-F238E27FC236}">
                <a16:creationId xmlns:a16="http://schemas.microsoft.com/office/drawing/2014/main" id="{CA9D18D2-8E6B-DAC9-F6FB-FFE403E7084C}"/>
              </a:ext>
            </a:extLst>
          </p:cNvPr>
          <p:cNvPicPr>
            <a:picLocks noGrp="1" noChangeAspect="1"/>
          </p:cNvPicPr>
          <p:nvPr>
            <p:ph sz="half" idx="2"/>
          </p:nvPr>
        </p:nvPicPr>
        <p:blipFill>
          <a:blip r:embed="rId3"/>
          <a:stretch>
            <a:fillRect/>
          </a:stretch>
        </p:blipFill>
        <p:spPr>
          <a:xfrm>
            <a:off x="6172200" y="2227307"/>
            <a:ext cx="4038600" cy="3271748"/>
          </a:xfrm>
        </p:spPr>
      </p:pic>
      <p:sp>
        <p:nvSpPr>
          <p:cNvPr id="6" name="Content Placeholder 5">
            <a:extLst>
              <a:ext uri="{FF2B5EF4-FFF2-40B4-BE49-F238E27FC236}">
                <a16:creationId xmlns:a16="http://schemas.microsoft.com/office/drawing/2014/main" id="{2BEFEC12-0E05-7DFE-CBDD-DB94F262B0FF}"/>
              </a:ext>
            </a:extLst>
          </p:cNvPr>
          <p:cNvSpPr>
            <a:spLocks noGrp="1"/>
          </p:cNvSpPr>
          <p:nvPr>
            <p:ph sz="quarter" idx="13"/>
          </p:nvPr>
        </p:nvSpPr>
        <p:spPr/>
        <p:txBody>
          <a:bodyPr>
            <a:normAutofit fontScale="85000" lnSpcReduction="20000"/>
          </a:bodyPr>
          <a:lstStyle/>
          <a:p>
            <a:r>
              <a:rPr lang="en-US" dirty="0">
                <a:ea typeface="+mj-lt"/>
                <a:cs typeface="+mj-lt"/>
              </a:rPr>
              <a:t>Select your input action asset under “Assets”</a:t>
            </a:r>
          </a:p>
          <a:p>
            <a:r>
              <a:rPr lang="en-US" dirty="0">
                <a:ea typeface="+mj-lt"/>
                <a:cs typeface="+mj-lt"/>
              </a:rPr>
              <a:t>Select the “Generate C# class”</a:t>
            </a:r>
          </a:p>
          <a:p>
            <a:r>
              <a:rPr lang="en-US" dirty="0">
                <a:ea typeface="+mj-lt"/>
                <a:cs typeface="+mj-lt"/>
              </a:rPr>
              <a:t>Press “Apply”</a:t>
            </a:r>
          </a:p>
          <a:p>
            <a:r>
              <a:rPr lang="en-US" dirty="0">
                <a:ea typeface="+mj-lt"/>
                <a:cs typeface="+mj-lt"/>
              </a:rPr>
              <a:t>One of the most convenient ways to work with </a:t>
            </a:r>
            <a:r>
              <a:rPr lang="en-US" dirty="0">
                <a:latin typeface="Consolas"/>
              </a:rPr>
              <a:t>.</a:t>
            </a:r>
            <a:r>
              <a:rPr lang="en-US" dirty="0" err="1">
                <a:latin typeface="Consolas"/>
              </a:rPr>
              <a:t>inputactions</a:t>
            </a:r>
            <a:r>
              <a:rPr lang="en-US" dirty="0">
                <a:ea typeface="+mj-lt"/>
                <a:cs typeface="+mj-lt"/>
              </a:rPr>
              <a:t> Assets in scripts is to automatically generate a C# wrapper class for them. </a:t>
            </a:r>
          </a:p>
          <a:p>
            <a:r>
              <a:rPr lang="en-US" dirty="0">
                <a:ea typeface="+mj-lt"/>
                <a:cs typeface="+mj-lt"/>
              </a:rPr>
              <a:t>This removes the need to manually look up Actions and Action Maps using their names, and also provides an easier way to set up callbacks.</a:t>
            </a:r>
          </a:p>
          <a:p>
            <a:endParaRPr lang="en-CA" dirty="0"/>
          </a:p>
        </p:txBody>
      </p:sp>
    </p:spTree>
    <p:extLst>
      <p:ext uri="{BB962C8B-B14F-4D97-AF65-F5344CB8AC3E}">
        <p14:creationId xmlns:p14="http://schemas.microsoft.com/office/powerpoint/2010/main" val="21083054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3FEB-9C57-E0BD-1871-BBEB991E0FDE}"/>
              </a:ext>
            </a:extLst>
          </p:cNvPr>
          <p:cNvSpPr>
            <a:spLocks noGrp="1"/>
          </p:cNvSpPr>
          <p:nvPr>
            <p:ph type="title"/>
          </p:nvPr>
        </p:nvSpPr>
        <p:spPr/>
        <p:txBody>
          <a:bodyPr/>
          <a:lstStyle/>
          <a:p>
            <a:r>
              <a:rPr lang="en-US" dirty="0"/>
              <a:t>PlayerController4.cs</a:t>
            </a:r>
            <a:endParaRPr lang="en-CA" dirty="0"/>
          </a:p>
        </p:txBody>
      </p:sp>
      <p:sp>
        <p:nvSpPr>
          <p:cNvPr id="3" name="Content Placeholder 2">
            <a:extLst>
              <a:ext uri="{FF2B5EF4-FFF2-40B4-BE49-F238E27FC236}">
                <a16:creationId xmlns:a16="http://schemas.microsoft.com/office/drawing/2014/main" id="{96E35DC9-3D54-36DA-CF4A-745D2CF1915B}"/>
              </a:ext>
            </a:extLst>
          </p:cNvPr>
          <p:cNvSpPr>
            <a:spLocks noGrp="1"/>
          </p:cNvSpPr>
          <p:nvPr>
            <p:ph idx="1"/>
          </p:nvPr>
        </p:nvSpPr>
        <p:spPr/>
        <p:txBody>
          <a:bodyPr>
            <a:normAutofit fontScale="25000" lnSpcReduction="20000"/>
          </a:bodyPr>
          <a:lstStyle/>
          <a:p>
            <a:pPr marL="0" indent="0">
              <a:buNone/>
            </a:pPr>
            <a:r>
              <a:rPr lang="en-CA" dirty="0"/>
              <a:t>using </a:t>
            </a:r>
            <a:r>
              <a:rPr lang="en-CA" dirty="0" err="1"/>
              <a:t>UnityEngine</a:t>
            </a:r>
            <a:r>
              <a:rPr lang="en-CA" dirty="0"/>
              <a:t>;</a:t>
            </a:r>
          </a:p>
          <a:p>
            <a:pPr marL="0" indent="0">
              <a:buNone/>
            </a:pPr>
            <a:endParaRPr lang="en-CA" dirty="0"/>
          </a:p>
          <a:p>
            <a:pPr marL="0" indent="0">
              <a:buNone/>
            </a:pPr>
            <a:r>
              <a:rPr lang="en-CA" dirty="0"/>
              <a:t>public class PlayerController4 : </a:t>
            </a:r>
            <a:r>
              <a:rPr lang="en-CA" dirty="0" err="1"/>
              <a:t>MonoBehaviour</a:t>
            </a:r>
            <a:endParaRPr lang="en-CA" dirty="0"/>
          </a:p>
          <a:p>
            <a:pPr marL="0" indent="0">
              <a:buNone/>
            </a:pPr>
            <a:r>
              <a:rPr lang="en-CA" dirty="0"/>
              <a:t>{</a:t>
            </a:r>
          </a:p>
          <a:p>
            <a:pPr marL="0" indent="0">
              <a:buNone/>
            </a:pPr>
            <a:r>
              <a:rPr lang="en-CA" dirty="0"/>
              <a:t>    //step1: Make a reference to </a:t>
            </a:r>
            <a:r>
              <a:rPr lang="en-CA" dirty="0" err="1"/>
              <a:t>PlayerControls</a:t>
            </a:r>
            <a:endParaRPr lang="en-CA" dirty="0"/>
          </a:p>
          <a:p>
            <a:pPr marL="0" indent="0">
              <a:buNone/>
            </a:pPr>
            <a:r>
              <a:rPr lang="en-CA" dirty="0"/>
              <a:t>    private </a:t>
            </a:r>
            <a:r>
              <a:rPr lang="en-CA" dirty="0" err="1"/>
              <a:t>MyInputActionAsset</a:t>
            </a:r>
            <a:r>
              <a:rPr lang="en-CA" dirty="0"/>
              <a:t> </a:t>
            </a:r>
            <a:r>
              <a:rPr lang="en-CA" dirty="0" err="1"/>
              <a:t>playerControls</a:t>
            </a:r>
            <a:r>
              <a:rPr lang="en-CA" dirty="0"/>
              <a:t>;</a:t>
            </a:r>
          </a:p>
          <a:p>
            <a:pPr marL="0" indent="0">
              <a:buNone/>
            </a:pPr>
            <a:r>
              <a:rPr lang="en-CA" dirty="0"/>
              <a:t>    public float </a:t>
            </a:r>
            <a:r>
              <a:rPr lang="en-CA" dirty="0" err="1"/>
              <a:t>moveSpeed</a:t>
            </a:r>
            <a:r>
              <a:rPr lang="en-CA" dirty="0"/>
              <a:t> = 5f;</a:t>
            </a:r>
          </a:p>
          <a:p>
            <a:pPr marL="0" indent="0">
              <a:buNone/>
            </a:pPr>
            <a:endParaRPr lang="en-CA" dirty="0"/>
          </a:p>
          <a:p>
            <a:pPr marL="0" indent="0">
              <a:buNone/>
            </a:pPr>
            <a:r>
              <a:rPr lang="en-CA" dirty="0"/>
              <a:t>    //Step2: Instantiate</a:t>
            </a:r>
          </a:p>
          <a:p>
            <a:pPr marL="0" indent="0">
              <a:buNone/>
            </a:pPr>
            <a:r>
              <a:rPr lang="en-CA" dirty="0"/>
              <a:t>    private void Awake()</a:t>
            </a:r>
          </a:p>
          <a:p>
            <a:pPr marL="0" indent="0">
              <a:buNone/>
            </a:pPr>
            <a:r>
              <a:rPr lang="en-CA" dirty="0"/>
              <a:t>    {</a:t>
            </a:r>
          </a:p>
          <a:p>
            <a:pPr marL="0" indent="0">
              <a:buNone/>
            </a:pPr>
            <a:r>
              <a:rPr lang="en-CA" dirty="0"/>
              <a:t>        </a:t>
            </a:r>
            <a:r>
              <a:rPr lang="en-CA" dirty="0" err="1"/>
              <a:t>playerControls</a:t>
            </a:r>
            <a:r>
              <a:rPr lang="en-CA" dirty="0"/>
              <a:t> = new </a:t>
            </a:r>
            <a:r>
              <a:rPr lang="en-CA" dirty="0" err="1"/>
              <a:t>MyInputActionAsset</a:t>
            </a:r>
            <a:r>
              <a:rPr lang="en-CA" dirty="0"/>
              <a:t>();</a:t>
            </a:r>
          </a:p>
          <a:p>
            <a:pPr marL="0" indent="0">
              <a:buNone/>
            </a:pPr>
            <a:r>
              <a:rPr lang="en-CA" dirty="0"/>
              <a:t>    }</a:t>
            </a:r>
          </a:p>
          <a:p>
            <a:pPr marL="0" indent="0">
              <a:buNone/>
            </a:pPr>
            <a:endParaRPr lang="en-CA" dirty="0"/>
          </a:p>
          <a:p>
            <a:pPr marL="0" indent="0">
              <a:buNone/>
            </a:pPr>
            <a:r>
              <a:rPr lang="en-CA" dirty="0"/>
              <a:t>    //Step3: Enable/Disable the action map</a:t>
            </a:r>
          </a:p>
          <a:p>
            <a:pPr marL="0" indent="0">
              <a:buNone/>
            </a:pPr>
            <a:r>
              <a:rPr lang="en-CA" dirty="0"/>
              <a:t>    private void </a:t>
            </a:r>
            <a:r>
              <a:rPr lang="en-CA" dirty="0" err="1"/>
              <a:t>OnEnable</a:t>
            </a:r>
            <a:r>
              <a:rPr lang="en-CA" dirty="0"/>
              <a:t>()</a:t>
            </a:r>
          </a:p>
          <a:p>
            <a:pPr marL="0" indent="0">
              <a:buNone/>
            </a:pPr>
            <a:r>
              <a:rPr lang="en-CA" dirty="0"/>
              <a:t>    {</a:t>
            </a:r>
          </a:p>
          <a:p>
            <a:pPr marL="0" indent="0">
              <a:buNone/>
            </a:pPr>
            <a:r>
              <a:rPr lang="en-CA" dirty="0"/>
              <a:t>        </a:t>
            </a:r>
            <a:r>
              <a:rPr lang="en-CA" dirty="0" err="1"/>
              <a:t>playerControls.Enable</a:t>
            </a:r>
            <a:r>
              <a:rPr lang="en-CA" dirty="0"/>
              <a:t>();</a:t>
            </a:r>
          </a:p>
          <a:p>
            <a:pPr marL="0" indent="0">
              <a:buNone/>
            </a:pPr>
            <a:r>
              <a:rPr lang="en-CA" dirty="0"/>
              <a:t>    }</a:t>
            </a:r>
          </a:p>
          <a:p>
            <a:pPr marL="0" indent="0">
              <a:buNone/>
            </a:pPr>
            <a:endParaRPr lang="en-CA" dirty="0"/>
          </a:p>
          <a:p>
            <a:pPr marL="0" indent="0">
              <a:buNone/>
            </a:pPr>
            <a:r>
              <a:rPr lang="en-CA" dirty="0"/>
              <a:t>    private void </a:t>
            </a:r>
            <a:r>
              <a:rPr lang="en-CA" dirty="0" err="1"/>
              <a:t>OnDisable</a:t>
            </a:r>
            <a:r>
              <a:rPr lang="en-CA" dirty="0"/>
              <a:t>()</a:t>
            </a:r>
          </a:p>
          <a:p>
            <a:pPr marL="0" indent="0">
              <a:buNone/>
            </a:pPr>
            <a:r>
              <a:rPr lang="en-CA" dirty="0"/>
              <a:t>    {</a:t>
            </a:r>
          </a:p>
          <a:p>
            <a:pPr marL="0" indent="0">
              <a:buNone/>
            </a:pPr>
            <a:r>
              <a:rPr lang="en-CA" dirty="0"/>
              <a:t>        </a:t>
            </a:r>
            <a:r>
              <a:rPr lang="en-CA" dirty="0" err="1"/>
              <a:t>playerControls.Disable</a:t>
            </a:r>
            <a:r>
              <a:rPr lang="en-CA" dirty="0"/>
              <a:t>();</a:t>
            </a:r>
          </a:p>
          <a:p>
            <a:pPr marL="0" indent="0">
              <a:buNone/>
            </a:pPr>
            <a:r>
              <a:rPr lang="en-CA" dirty="0"/>
              <a:t>    }</a:t>
            </a:r>
          </a:p>
          <a:p>
            <a:pPr marL="0" indent="0">
              <a:buNone/>
            </a:pPr>
            <a:endParaRPr lang="en-CA" dirty="0"/>
          </a:p>
          <a:p>
            <a:pPr marL="0" indent="0">
              <a:buNone/>
            </a:pPr>
            <a:r>
              <a:rPr lang="en-CA" dirty="0"/>
              <a:t>    // Update is called once per frame</a:t>
            </a:r>
          </a:p>
          <a:p>
            <a:pPr marL="0" indent="0">
              <a:buNone/>
            </a:pPr>
            <a:r>
              <a:rPr lang="en-CA" dirty="0"/>
              <a:t>    void Update()</a:t>
            </a:r>
          </a:p>
          <a:p>
            <a:pPr marL="0" indent="0">
              <a:buNone/>
            </a:pPr>
            <a:r>
              <a:rPr lang="en-CA" dirty="0"/>
              <a:t>    {</a:t>
            </a:r>
          </a:p>
          <a:p>
            <a:pPr marL="0" indent="0">
              <a:buNone/>
            </a:pPr>
            <a:r>
              <a:rPr lang="en-CA" dirty="0"/>
              <a:t>        //step4</a:t>
            </a:r>
          </a:p>
          <a:p>
            <a:pPr marL="0" indent="0">
              <a:buNone/>
            </a:pPr>
            <a:r>
              <a:rPr lang="en-CA" dirty="0"/>
              <a:t>        Vector2 move = </a:t>
            </a:r>
            <a:r>
              <a:rPr lang="en-CA" dirty="0" err="1"/>
              <a:t>playerControls.Land.Move.ReadValue</a:t>
            </a:r>
            <a:r>
              <a:rPr lang="en-CA" dirty="0"/>
              <a:t>&lt;Vector2&gt;();</a:t>
            </a:r>
          </a:p>
          <a:p>
            <a:pPr marL="0" indent="0">
              <a:buNone/>
            </a:pPr>
            <a:endParaRPr lang="en-CA" dirty="0"/>
          </a:p>
          <a:p>
            <a:pPr marL="0" indent="0">
              <a:buNone/>
            </a:pPr>
            <a:r>
              <a:rPr lang="en-CA" dirty="0"/>
              <a:t>        //</a:t>
            </a:r>
            <a:r>
              <a:rPr lang="en-CA" dirty="0" err="1"/>
              <a:t>horizontalInput</a:t>
            </a:r>
            <a:r>
              <a:rPr lang="en-CA" dirty="0"/>
              <a:t> = </a:t>
            </a:r>
            <a:r>
              <a:rPr lang="en-CA" dirty="0" err="1"/>
              <a:t>Input.GetAxis</a:t>
            </a:r>
            <a:r>
              <a:rPr lang="en-CA" dirty="0"/>
              <a:t>("Horizontal");</a:t>
            </a:r>
          </a:p>
          <a:p>
            <a:pPr marL="0" indent="0">
              <a:buNone/>
            </a:pPr>
            <a:r>
              <a:rPr lang="en-CA" dirty="0"/>
              <a:t>        </a:t>
            </a:r>
            <a:r>
              <a:rPr lang="en-CA" dirty="0" err="1"/>
              <a:t>transform.Translate</a:t>
            </a:r>
            <a:r>
              <a:rPr lang="en-CA" dirty="0"/>
              <a:t>(Vector3.right * </a:t>
            </a:r>
            <a:r>
              <a:rPr lang="en-CA" dirty="0" err="1"/>
              <a:t>move.x</a:t>
            </a:r>
            <a:r>
              <a:rPr lang="en-CA" dirty="0"/>
              <a:t> * </a:t>
            </a:r>
            <a:r>
              <a:rPr lang="en-CA" dirty="0" err="1"/>
              <a:t>Time.deltaTime</a:t>
            </a:r>
            <a:r>
              <a:rPr lang="en-CA" dirty="0"/>
              <a:t> * </a:t>
            </a:r>
            <a:r>
              <a:rPr lang="en-CA" dirty="0" err="1"/>
              <a:t>moveSpeed</a:t>
            </a:r>
            <a:r>
              <a:rPr lang="en-CA" dirty="0"/>
              <a:t>);</a:t>
            </a:r>
          </a:p>
          <a:p>
            <a:pPr marL="0" indent="0">
              <a:buNone/>
            </a:pPr>
            <a:r>
              <a:rPr lang="en-CA" dirty="0"/>
              <a:t>        </a:t>
            </a:r>
            <a:r>
              <a:rPr lang="en-CA" dirty="0" err="1"/>
              <a:t>transform.Translate</a:t>
            </a:r>
            <a:r>
              <a:rPr lang="en-CA" dirty="0"/>
              <a:t>(Vector3.up * </a:t>
            </a:r>
            <a:r>
              <a:rPr lang="en-CA" dirty="0" err="1"/>
              <a:t>move.y</a:t>
            </a:r>
            <a:r>
              <a:rPr lang="en-CA" dirty="0"/>
              <a:t> * </a:t>
            </a:r>
            <a:r>
              <a:rPr lang="en-CA" dirty="0" err="1"/>
              <a:t>Time.deltaTime</a:t>
            </a:r>
            <a:r>
              <a:rPr lang="en-CA" dirty="0"/>
              <a:t> * </a:t>
            </a:r>
            <a:r>
              <a:rPr lang="en-CA" dirty="0" err="1"/>
              <a:t>moveSpeed</a:t>
            </a:r>
            <a:r>
              <a:rPr lang="en-CA" dirty="0"/>
              <a:t>);</a:t>
            </a:r>
          </a:p>
          <a:p>
            <a:pPr marL="0" indent="0">
              <a:buNone/>
            </a:pPr>
            <a:endParaRPr lang="en-CA" dirty="0"/>
          </a:p>
          <a:p>
            <a:pPr marL="0" indent="0">
              <a:buNone/>
            </a:pPr>
            <a:r>
              <a:rPr lang="en-CA" dirty="0"/>
              <a:t>        //if (</a:t>
            </a:r>
            <a:r>
              <a:rPr lang="en-CA" dirty="0" err="1"/>
              <a:t>playerControls.Land.Jump.ReadValue</a:t>
            </a:r>
            <a:r>
              <a:rPr lang="en-CA" dirty="0"/>
              <a:t>&lt;float&gt;() == 1)</a:t>
            </a:r>
          </a:p>
          <a:p>
            <a:pPr marL="0" indent="0">
              <a:buNone/>
            </a:pPr>
            <a:r>
              <a:rPr lang="en-CA" dirty="0"/>
              <a:t>        if (</a:t>
            </a:r>
            <a:r>
              <a:rPr lang="en-CA" dirty="0" err="1"/>
              <a:t>playerControls.Land.Jump.triggered</a:t>
            </a:r>
            <a:r>
              <a:rPr lang="en-CA" dirty="0"/>
              <a:t>) //same as above</a:t>
            </a:r>
          </a:p>
          <a:p>
            <a:pPr marL="0" indent="0">
              <a:buNone/>
            </a:pPr>
            <a:r>
              <a:rPr lang="en-CA" dirty="0"/>
              <a:t>        {</a:t>
            </a:r>
          </a:p>
          <a:p>
            <a:pPr marL="0" indent="0">
              <a:buNone/>
            </a:pPr>
            <a:r>
              <a:rPr lang="en-CA" dirty="0"/>
              <a:t>            //Launch a projectile from the player</a:t>
            </a:r>
          </a:p>
          <a:p>
            <a:pPr marL="0" indent="0">
              <a:buNone/>
            </a:pPr>
            <a:r>
              <a:rPr lang="en-CA" dirty="0"/>
              <a:t>            </a:t>
            </a:r>
            <a:r>
              <a:rPr lang="en-CA" dirty="0" err="1"/>
              <a:t>Debug.Log</a:t>
            </a:r>
            <a:r>
              <a:rPr lang="en-CA" dirty="0"/>
              <a:t>("Jump!");</a:t>
            </a:r>
          </a:p>
          <a:p>
            <a:pPr marL="0" indent="0">
              <a:buNone/>
            </a:pPr>
            <a:r>
              <a:rPr lang="en-CA" dirty="0"/>
              <a:t>        }</a:t>
            </a:r>
          </a:p>
          <a:p>
            <a:pPr marL="0" indent="0">
              <a:buNone/>
            </a:pPr>
            <a:r>
              <a:rPr lang="en-CA" dirty="0"/>
              <a:t>    }</a:t>
            </a:r>
          </a:p>
          <a:p>
            <a:pPr marL="0" indent="0">
              <a:buNone/>
            </a:pPr>
            <a:r>
              <a:rPr lang="en-CA" dirty="0"/>
              <a:t>}</a:t>
            </a:r>
          </a:p>
          <a:p>
            <a:pPr marL="0" indent="0">
              <a:buNone/>
            </a:pPr>
            <a:endParaRPr lang="en-CA" dirty="0"/>
          </a:p>
        </p:txBody>
      </p:sp>
    </p:spTree>
    <p:extLst>
      <p:ext uri="{BB962C8B-B14F-4D97-AF65-F5344CB8AC3E}">
        <p14:creationId xmlns:p14="http://schemas.microsoft.com/office/powerpoint/2010/main" val="18169415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7B02-CDB9-78A0-2AE8-CC47B4B7D08A}"/>
              </a:ext>
            </a:extLst>
          </p:cNvPr>
          <p:cNvSpPr>
            <a:spLocks noGrp="1"/>
          </p:cNvSpPr>
          <p:nvPr>
            <p:ph type="title"/>
          </p:nvPr>
        </p:nvSpPr>
        <p:spPr/>
        <p:txBody>
          <a:bodyPr/>
          <a:lstStyle/>
          <a:p>
            <a:r>
              <a:rPr lang="en-US" dirty="0"/>
              <a:t>Lab5: Embedding Actions in </a:t>
            </a:r>
            <a:r>
              <a:rPr lang="en-US" dirty="0" err="1"/>
              <a:t>MonoBehaviours</a:t>
            </a:r>
            <a:endParaRPr lang="en-US" dirty="0"/>
          </a:p>
        </p:txBody>
      </p:sp>
      <p:sp>
        <p:nvSpPr>
          <p:cNvPr id="3" name="Content Placeholder 2">
            <a:extLst>
              <a:ext uri="{FF2B5EF4-FFF2-40B4-BE49-F238E27FC236}">
                <a16:creationId xmlns:a16="http://schemas.microsoft.com/office/drawing/2014/main" id="{09C0BD4D-1DBF-2D30-735C-CA5E2CA4DE35}"/>
              </a:ext>
            </a:extLst>
          </p:cNvPr>
          <p:cNvSpPr>
            <a:spLocks noGrp="1"/>
          </p:cNvSpPr>
          <p:nvPr>
            <p:ph idx="1"/>
          </p:nvPr>
        </p:nvSpPr>
        <p:spPr/>
        <p:txBody>
          <a:bodyPr spcFirstLastPara="1" vert="horz" wrap="square" lIns="91440" tIns="45720" rIns="91440" bIns="45720" rtlCol="0" anchor="t" anchorCtr="0">
            <a:normAutofit fontScale="40000" lnSpcReduction="20000"/>
          </a:bodyPr>
          <a:lstStyle/>
          <a:p>
            <a:pPr marL="0" indent="0">
              <a:buNone/>
            </a:pPr>
            <a:r>
              <a:rPr lang="en-US" sz="1800" dirty="0"/>
              <a:t>using </a:t>
            </a:r>
            <a:r>
              <a:rPr lang="en-US" sz="1800" dirty="0" err="1"/>
              <a:t>UnityEngine</a:t>
            </a:r>
            <a:r>
              <a:rPr lang="en-US" sz="1800" dirty="0"/>
              <a:t>;</a:t>
            </a:r>
          </a:p>
          <a:p>
            <a:pPr marL="0" indent="0">
              <a:buNone/>
            </a:pPr>
            <a:r>
              <a:rPr lang="en-US" sz="1800" dirty="0"/>
              <a:t>using </a:t>
            </a:r>
            <a:r>
              <a:rPr lang="en-US" sz="1800" dirty="0" err="1"/>
              <a:t>UnityEngine.InputSystem</a:t>
            </a:r>
            <a:r>
              <a:rPr lang="en-US" sz="1800" dirty="0"/>
              <a:t>;</a:t>
            </a:r>
          </a:p>
          <a:p>
            <a:pPr marL="0" indent="0">
              <a:buNone/>
            </a:pPr>
            <a:endParaRPr lang="en-US" sz="1800" dirty="0"/>
          </a:p>
          <a:p>
            <a:pPr marL="0" indent="0">
              <a:buNone/>
            </a:pPr>
            <a:r>
              <a:rPr lang="en-US" sz="1800" dirty="0"/>
              <a:t>public class PlayerController5 : </a:t>
            </a:r>
            <a:r>
              <a:rPr lang="en-US" sz="1800" dirty="0" err="1"/>
              <a:t>MonoBehaviour</a:t>
            </a:r>
            <a:endParaRPr lang="en-US" sz="1800" dirty="0"/>
          </a:p>
          <a:p>
            <a:pPr marL="0" indent="0">
              <a:buNone/>
            </a:pPr>
            <a:r>
              <a:rPr lang="en-US" sz="1800" dirty="0"/>
              <a:t>{</a:t>
            </a:r>
          </a:p>
          <a:p>
            <a:pPr marL="0" indent="0">
              <a:buNone/>
            </a:pPr>
            <a:r>
              <a:rPr lang="en-US" sz="1800" dirty="0"/>
              <a:t>    //step1: Make a reference to </a:t>
            </a:r>
            <a:r>
              <a:rPr lang="en-US" sz="1800" dirty="0" err="1"/>
              <a:t>PlayerControls</a:t>
            </a:r>
            <a:endParaRPr lang="en-US" sz="1800" dirty="0"/>
          </a:p>
          <a:p>
            <a:pPr marL="0" indent="0">
              <a:buNone/>
            </a:pPr>
            <a:r>
              <a:rPr lang="en-US" sz="1800" dirty="0"/>
              <a:t>    private </a:t>
            </a:r>
            <a:r>
              <a:rPr lang="en-US" sz="1800" dirty="0" err="1"/>
              <a:t>MyInputActionAsset</a:t>
            </a:r>
            <a:r>
              <a:rPr lang="en-US" sz="1800" dirty="0"/>
              <a:t> </a:t>
            </a:r>
            <a:r>
              <a:rPr lang="en-US" sz="1800" dirty="0" err="1"/>
              <a:t>playerControls</a:t>
            </a:r>
            <a:r>
              <a:rPr lang="en-US" sz="1800" dirty="0"/>
              <a:t>;</a:t>
            </a:r>
          </a:p>
          <a:p>
            <a:pPr marL="0" indent="0">
              <a:buNone/>
            </a:pPr>
            <a:r>
              <a:rPr lang="en-US" sz="1800" dirty="0"/>
              <a:t>    public float </a:t>
            </a:r>
            <a:r>
              <a:rPr lang="en-US" sz="1800" dirty="0" err="1"/>
              <a:t>moveSpeed</a:t>
            </a:r>
            <a:r>
              <a:rPr lang="en-US" sz="1800" dirty="0"/>
              <a:t> = 5f;</a:t>
            </a:r>
          </a:p>
          <a:p>
            <a:pPr marL="0" indent="0">
              <a:buNone/>
            </a:pPr>
            <a:endParaRPr lang="en-US" sz="1800" dirty="0"/>
          </a:p>
          <a:p>
            <a:pPr marL="0" indent="0">
              <a:buNone/>
            </a:pPr>
            <a:r>
              <a:rPr lang="en-US" sz="1800" dirty="0">
                <a:highlight>
                  <a:srgbClr val="FFFF00"/>
                </a:highlight>
              </a:rPr>
              <a:t>    private </a:t>
            </a:r>
            <a:r>
              <a:rPr lang="en-US" sz="1800" dirty="0" err="1">
                <a:highlight>
                  <a:srgbClr val="FFFF00"/>
                </a:highlight>
              </a:rPr>
              <a:t>InputAction</a:t>
            </a:r>
            <a:r>
              <a:rPr lang="en-US" sz="1800" dirty="0">
                <a:highlight>
                  <a:srgbClr val="FFFF00"/>
                </a:highlight>
              </a:rPr>
              <a:t> move;</a:t>
            </a:r>
          </a:p>
          <a:p>
            <a:pPr marL="0" indent="0">
              <a:buNone/>
            </a:pPr>
            <a:r>
              <a:rPr lang="en-US" sz="1800" dirty="0">
                <a:highlight>
                  <a:srgbClr val="FFFF00"/>
                </a:highlight>
              </a:rPr>
              <a:t>    private </a:t>
            </a:r>
            <a:r>
              <a:rPr lang="en-US" sz="1800" dirty="0" err="1">
                <a:highlight>
                  <a:srgbClr val="FFFF00"/>
                </a:highlight>
              </a:rPr>
              <a:t>InputAction</a:t>
            </a:r>
            <a:r>
              <a:rPr lang="en-US" sz="1800" dirty="0">
                <a:highlight>
                  <a:srgbClr val="FFFF00"/>
                </a:highlight>
              </a:rPr>
              <a:t> fire;</a:t>
            </a:r>
          </a:p>
          <a:p>
            <a:pPr marL="0" indent="0">
              <a:buNone/>
            </a:pPr>
            <a:endParaRPr lang="en-US" sz="1800" dirty="0"/>
          </a:p>
          <a:p>
            <a:pPr marL="0" indent="0">
              <a:buNone/>
            </a:pPr>
            <a:endParaRPr lang="en-US" sz="1800" dirty="0"/>
          </a:p>
          <a:p>
            <a:pPr marL="0" indent="0">
              <a:buNone/>
            </a:pPr>
            <a:r>
              <a:rPr lang="en-US" sz="1800" dirty="0"/>
              <a:t>    //Step2: Instantiate</a:t>
            </a:r>
          </a:p>
          <a:p>
            <a:pPr marL="0" indent="0">
              <a:buNone/>
            </a:pPr>
            <a:r>
              <a:rPr lang="en-US" sz="1800" dirty="0"/>
              <a:t>    private void Awake()</a:t>
            </a:r>
          </a:p>
          <a:p>
            <a:pPr marL="0" indent="0">
              <a:buNone/>
            </a:pPr>
            <a:r>
              <a:rPr lang="en-US" sz="1800" dirty="0"/>
              <a:t>    {</a:t>
            </a:r>
          </a:p>
          <a:p>
            <a:pPr marL="0" indent="0">
              <a:buNone/>
            </a:pPr>
            <a:r>
              <a:rPr lang="en-US" sz="1800" dirty="0"/>
              <a:t>        if (</a:t>
            </a:r>
            <a:r>
              <a:rPr lang="en-US" sz="1800" dirty="0" err="1"/>
              <a:t>playerControls</a:t>
            </a:r>
            <a:r>
              <a:rPr lang="en-US" sz="1800" dirty="0"/>
              <a:t> == null)</a:t>
            </a:r>
          </a:p>
          <a:p>
            <a:pPr marL="0" indent="0">
              <a:buNone/>
            </a:pPr>
            <a:r>
              <a:rPr lang="en-US" sz="1800" dirty="0"/>
              <a:t>        {</a:t>
            </a:r>
          </a:p>
          <a:p>
            <a:pPr marL="0" indent="0">
              <a:buNone/>
            </a:pPr>
            <a:r>
              <a:rPr lang="en-US" sz="1800" dirty="0"/>
              <a:t>            </a:t>
            </a:r>
            <a:r>
              <a:rPr lang="en-US" sz="1800" dirty="0" err="1"/>
              <a:t>playerControls</a:t>
            </a:r>
            <a:r>
              <a:rPr lang="en-US" sz="1800" dirty="0"/>
              <a:t> = new </a:t>
            </a:r>
            <a:r>
              <a:rPr lang="en-US" sz="1800" dirty="0" err="1"/>
              <a:t>MyInputActionAsset</a:t>
            </a:r>
            <a:r>
              <a:rPr lang="en-US" sz="1800" dirty="0"/>
              <a:t>();</a:t>
            </a:r>
          </a:p>
          <a:p>
            <a:pPr marL="0" indent="0">
              <a:buNone/>
            </a:pPr>
            <a:r>
              <a:rPr lang="en-US" sz="1800" dirty="0"/>
              <a:t>        }</a:t>
            </a:r>
          </a:p>
          <a:p>
            <a:pPr marL="0" indent="0">
              <a:buNone/>
            </a:pPr>
            <a:r>
              <a:rPr lang="en-US" sz="1800" dirty="0"/>
              <a:t>    }</a:t>
            </a:r>
          </a:p>
          <a:p>
            <a:pPr marL="0" indent="0">
              <a:buNone/>
            </a:pPr>
            <a:endParaRPr lang="en-US" dirty="0"/>
          </a:p>
          <a:p>
            <a:pPr marL="0" indent="0">
              <a:buNone/>
            </a:pPr>
            <a:endParaRPr lang="en-US" dirty="0"/>
          </a:p>
          <a:p>
            <a:pPr marL="0" indent="0">
              <a:buNone/>
            </a:pPr>
            <a:endParaRPr lang="en-US" dirty="0">
              <a:latin typeface="Century Gothic"/>
            </a:endParaRPr>
          </a:p>
        </p:txBody>
      </p:sp>
    </p:spTree>
    <p:extLst>
      <p:ext uri="{BB962C8B-B14F-4D97-AF65-F5344CB8AC3E}">
        <p14:creationId xmlns:p14="http://schemas.microsoft.com/office/powerpoint/2010/main" val="16251908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FB7D-3AE5-48DC-44EF-3393E826A99E}"/>
              </a:ext>
            </a:extLst>
          </p:cNvPr>
          <p:cNvSpPr>
            <a:spLocks noGrp="1"/>
          </p:cNvSpPr>
          <p:nvPr>
            <p:ph type="title"/>
          </p:nvPr>
        </p:nvSpPr>
        <p:spPr/>
        <p:txBody>
          <a:bodyPr/>
          <a:lstStyle/>
          <a:p>
            <a:r>
              <a:rPr lang="en-US"/>
              <a:t>Enable/Disable Actions </a:t>
            </a:r>
          </a:p>
        </p:txBody>
      </p:sp>
      <p:sp>
        <p:nvSpPr>
          <p:cNvPr id="3" name="Content Placeholder 2">
            <a:extLst>
              <a:ext uri="{FF2B5EF4-FFF2-40B4-BE49-F238E27FC236}">
                <a16:creationId xmlns:a16="http://schemas.microsoft.com/office/drawing/2014/main" id="{D5CF15AA-F14C-507B-316B-A6AE8F0C67D0}"/>
              </a:ext>
            </a:extLst>
          </p:cNvPr>
          <p:cNvSpPr>
            <a:spLocks noGrp="1"/>
          </p:cNvSpPr>
          <p:nvPr>
            <p:ph idx="1"/>
          </p:nvPr>
        </p:nvSpPr>
        <p:spPr/>
        <p:txBody>
          <a:bodyPr spcFirstLastPara="1" vert="horz" wrap="square" lIns="91440" tIns="45720" rIns="91440" bIns="45720" rtlCol="0" anchor="t" anchorCtr="0">
            <a:normAutofit fontScale="40000" lnSpcReduction="20000"/>
          </a:bodyPr>
          <a:lstStyle/>
          <a:p>
            <a:r>
              <a:rPr lang="en-US" dirty="0">
                <a:ea typeface="+mj-lt"/>
                <a:cs typeface="+mj-lt"/>
              </a:rPr>
              <a:t>You must manually </a:t>
            </a:r>
            <a:r>
              <a:rPr lang="en-US" dirty="0">
                <a:ea typeface="+mj-lt"/>
                <a:cs typeface="+mj-lt"/>
                <a:hlinkClick r:id="rId2"/>
              </a:rPr>
              <a:t>enable and disable</a:t>
            </a:r>
            <a:r>
              <a:rPr lang="en-US" dirty="0">
                <a:ea typeface="+mj-lt"/>
                <a:cs typeface="+mj-lt"/>
              </a:rPr>
              <a:t> Actions and Action Maps that are embedded in </a:t>
            </a:r>
            <a:r>
              <a:rPr lang="en-US" dirty="0" err="1">
                <a:ea typeface="+mj-lt"/>
                <a:cs typeface="+mj-lt"/>
              </a:rPr>
              <a:t>MonoBehaviour</a:t>
            </a:r>
            <a:r>
              <a:rPr lang="en-US" dirty="0">
                <a:ea typeface="+mj-lt"/>
                <a:cs typeface="+mj-lt"/>
              </a:rPr>
              <a:t> components.</a:t>
            </a:r>
          </a:p>
          <a:p>
            <a:pPr marL="0" indent="0">
              <a:buNone/>
            </a:pPr>
            <a:endParaRPr lang="en-US" dirty="0">
              <a:ea typeface="+mj-lt"/>
              <a:cs typeface="+mj-lt"/>
            </a:endParaRPr>
          </a:p>
          <a:p>
            <a:pPr marL="400050" lvl="1" indent="0">
              <a:buNone/>
            </a:pPr>
            <a:r>
              <a:rPr lang="en-US" dirty="0">
                <a:ea typeface="+mj-lt"/>
                <a:cs typeface="+mj-lt"/>
              </a:rPr>
              <a:t>private void </a:t>
            </a:r>
            <a:r>
              <a:rPr lang="en-US" dirty="0" err="1">
                <a:ea typeface="+mj-lt"/>
                <a:cs typeface="+mj-lt"/>
              </a:rPr>
              <a:t>OnEnable</a:t>
            </a:r>
            <a:r>
              <a:rPr lang="en-US" dirty="0">
                <a:ea typeface="+mj-lt"/>
                <a:cs typeface="+mj-lt"/>
              </a:rPr>
              <a:t>()</a:t>
            </a:r>
          </a:p>
          <a:p>
            <a:pPr marL="400050" lvl="1" indent="0">
              <a:buNone/>
            </a:pPr>
            <a:r>
              <a:rPr lang="en-US" dirty="0">
                <a:ea typeface="+mj-lt"/>
                <a:cs typeface="+mj-lt"/>
              </a:rPr>
              <a:t>{</a:t>
            </a:r>
          </a:p>
          <a:p>
            <a:pPr marL="400050" lvl="1" indent="0">
              <a:buNone/>
            </a:pPr>
            <a:r>
              <a:rPr lang="en-US" dirty="0">
                <a:ea typeface="+mj-lt"/>
                <a:cs typeface="+mj-lt"/>
              </a:rPr>
              <a:t>    </a:t>
            </a:r>
            <a:r>
              <a:rPr lang="en-US" dirty="0" err="1">
                <a:ea typeface="+mj-lt"/>
                <a:cs typeface="+mj-lt"/>
              </a:rPr>
              <a:t>playerControls.Enable</a:t>
            </a:r>
            <a:r>
              <a:rPr lang="en-US" dirty="0">
                <a:ea typeface="+mj-lt"/>
                <a:cs typeface="+mj-lt"/>
              </a:rPr>
              <a:t>();</a:t>
            </a:r>
          </a:p>
          <a:p>
            <a:pPr marL="400050" lvl="1" indent="0">
              <a:buNone/>
            </a:pPr>
            <a:r>
              <a:rPr lang="en-US" dirty="0">
                <a:ea typeface="+mj-lt"/>
                <a:cs typeface="+mj-lt"/>
              </a:rPr>
              <a:t>    move = </a:t>
            </a:r>
            <a:r>
              <a:rPr lang="en-US" dirty="0" err="1">
                <a:ea typeface="+mj-lt"/>
                <a:cs typeface="+mj-lt"/>
              </a:rPr>
              <a:t>playerControls.Land.Move</a:t>
            </a:r>
            <a:r>
              <a:rPr lang="en-US" dirty="0">
                <a:ea typeface="+mj-lt"/>
                <a:cs typeface="+mj-lt"/>
              </a:rPr>
              <a:t>;</a:t>
            </a:r>
          </a:p>
          <a:p>
            <a:pPr marL="400050" lvl="1" indent="0">
              <a:buNone/>
            </a:pPr>
            <a:r>
              <a:rPr lang="en-US" dirty="0">
                <a:ea typeface="+mj-lt"/>
                <a:cs typeface="+mj-lt"/>
              </a:rPr>
              <a:t>    </a:t>
            </a:r>
            <a:r>
              <a:rPr lang="en-US" dirty="0" err="1">
                <a:ea typeface="+mj-lt"/>
                <a:cs typeface="+mj-lt"/>
              </a:rPr>
              <a:t>move.Enable</a:t>
            </a:r>
            <a:r>
              <a:rPr lang="en-US" dirty="0">
                <a:ea typeface="+mj-lt"/>
                <a:cs typeface="+mj-lt"/>
              </a:rPr>
              <a:t>();</a:t>
            </a:r>
          </a:p>
          <a:p>
            <a:pPr marL="400050" lvl="1" indent="0">
              <a:buNone/>
            </a:pPr>
            <a:r>
              <a:rPr lang="en-US" dirty="0">
                <a:ea typeface="+mj-lt"/>
                <a:cs typeface="+mj-lt"/>
              </a:rPr>
              <a:t>    </a:t>
            </a:r>
            <a:r>
              <a:rPr lang="en-US" dirty="0" err="1">
                <a:ea typeface="+mj-lt"/>
                <a:cs typeface="+mj-lt"/>
              </a:rPr>
              <a:t>move.performed</a:t>
            </a:r>
            <a:r>
              <a:rPr lang="en-US" dirty="0">
                <a:ea typeface="+mj-lt"/>
                <a:cs typeface="+mj-lt"/>
              </a:rPr>
              <a:t> += </a:t>
            </a:r>
            <a:r>
              <a:rPr lang="en-US" dirty="0" err="1">
                <a:ea typeface="+mj-lt"/>
                <a:cs typeface="+mj-lt"/>
              </a:rPr>
              <a:t>OnMove</a:t>
            </a:r>
            <a:r>
              <a:rPr lang="en-US" dirty="0">
                <a:ea typeface="+mj-lt"/>
                <a:cs typeface="+mj-lt"/>
              </a:rPr>
              <a:t>;</a:t>
            </a:r>
          </a:p>
          <a:p>
            <a:pPr marL="400050" lvl="1" indent="0">
              <a:buNone/>
            </a:pPr>
            <a:endParaRPr lang="en-US" dirty="0">
              <a:ea typeface="+mj-lt"/>
              <a:cs typeface="+mj-lt"/>
            </a:endParaRPr>
          </a:p>
          <a:p>
            <a:pPr marL="400050" lvl="1" indent="0">
              <a:buNone/>
            </a:pPr>
            <a:r>
              <a:rPr lang="en-US" dirty="0">
                <a:ea typeface="+mj-lt"/>
                <a:cs typeface="+mj-lt"/>
              </a:rPr>
              <a:t>    fire = </a:t>
            </a:r>
            <a:r>
              <a:rPr lang="en-US" dirty="0" err="1">
                <a:ea typeface="+mj-lt"/>
                <a:cs typeface="+mj-lt"/>
              </a:rPr>
              <a:t>playerControls.Land.Jump</a:t>
            </a:r>
            <a:r>
              <a:rPr lang="en-US" dirty="0">
                <a:ea typeface="+mj-lt"/>
                <a:cs typeface="+mj-lt"/>
              </a:rPr>
              <a:t>;</a:t>
            </a:r>
          </a:p>
          <a:p>
            <a:pPr marL="400050" lvl="1" indent="0">
              <a:buNone/>
            </a:pPr>
            <a:r>
              <a:rPr lang="en-US" dirty="0">
                <a:ea typeface="+mj-lt"/>
                <a:cs typeface="+mj-lt"/>
              </a:rPr>
              <a:t>    </a:t>
            </a:r>
            <a:r>
              <a:rPr lang="en-US" dirty="0" err="1">
                <a:ea typeface="+mj-lt"/>
                <a:cs typeface="+mj-lt"/>
              </a:rPr>
              <a:t>fire.Enable</a:t>
            </a:r>
            <a:r>
              <a:rPr lang="en-US" dirty="0">
                <a:ea typeface="+mj-lt"/>
                <a:cs typeface="+mj-lt"/>
              </a:rPr>
              <a:t>();</a:t>
            </a:r>
          </a:p>
          <a:p>
            <a:pPr marL="400050" lvl="1" indent="0">
              <a:buNone/>
            </a:pPr>
            <a:r>
              <a:rPr lang="en-US" dirty="0">
                <a:ea typeface="+mj-lt"/>
                <a:cs typeface="+mj-lt"/>
              </a:rPr>
              <a:t>    //Register the fire method to the event</a:t>
            </a:r>
          </a:p>
          <a:p>
            <a:pPr marL="400050" lvl="1" indent="0">
              <a:buNone/>
            </a:pPr>
            <a:r>
              <a:rPr lang="en-US" dirty="0">
                <a:ea typeface="+mj-lt"/>
                <a:cs typeface="+mj-lt"/>
              </a:rPr>
              <a:t>    </a:t>
            </a:r>
            <a:r>
              <a:rPr lang="en-US" dirty="0" err="1">
                <a:ea typeface="+mj-lt"/>
                <a:cs typeface="+mj-lt"/>
              </a:rPr>
              <a:t>fire.performed</a:t>
            </a:r>
            <a:r>
              <a:rPr lang="en-US" dirty="0">
                <a:ea typeface="+mj-lt"/>
                <a:cs typeface="+mj-lt"/>
              </a:rPr>
              <a:t> += </a:t>
            </a:r>
            <a:r>
              <a:rPr lang="en-US" dirty="0" err="1">
                <a:ea typeface="+mj-lt"/>
                <a:cs typeface="+mj-lt"/>
              </a:rPr>
              <a:t>OnJump</a:t>
            </a:r>
            <a:r>
              <a:rPr lang="en-US" dirty="0">
                <a:ea typeface="+mj-lt"/>
                <a:cs typeface="+mj-lt"/>
              </a:rPr>
              <a:t>;</a:t>
            </a:r>
          </a:p>
          <a:p>
            <a:pPr marL="400050" lvl="1" indent="0">
              <a:buNone/>
            </a:pPr>
            <a:endParaRPr lang="en-US" dirty="0">
              <a:ea typeface="+mj-lt"/>
              <a:cs typeface="+mj-lt"/>
            </a:endParaRPr>
          </a:p>
          <a:p>
            <a:pPr marL="400050" lvl="1" indent="0">
              <a:buNone/>
            </a:pPr>
            <a:r>
              <a:rPr lang="en-US" dirty="0">
                <a:ea typeface="+mj-lt"/>
                <a:cs typeface="+mj-lt"/>
              </a:rPr>
              <a:t>}</a:t>
            </a:r>
          </a:p>
          <a:p>
            <a:pPr marL="400050" lvl="1" indent="0">
              <a:buNone/>
            </a:pPr>
            <a:endParaRPr lang="en-US" dirty="0">
              <a:ea typeface="+mj-lt"/>
              <a:cs typeface="+mj-lt"/>
            </a:endParaRPr>
          </a:p>
          <a:p>
            <a:pPr marL="400050" lvl="1" indent="0">
              <a:buNone/>
            </a:pPr>
            <a:r>
              <a:rPr lang="en-US" dirty="0">
                <a:ea typeface="+mj-lt"/>
                <a:cs typeface="+mj-lt"/>
              </a:rPr>
              <a:t>private void </a:t>
            </a:r>
            <a:r>
              <a:rPr lang="en-US" dirty="0" err="1">
                <a:ea typeface="+mj-lt"/>
                <a:cs typeface="+mj-lt"/>
              </a:rPr>
              <a:t>OnDisable</a:t>
            </a:r>
            <a:r>
              <a:rPr lang="en-US" dirty="0">
                <a:ea typeface="+mj-lt"/>
                <a:cs typeface="+mj-lt"/>
              </a:rPr>
              <a:t>()</a:t>
            </a:r>
          </a:p>
          <a:p>
            <a:pPr marL="400050" lvl="1" indent="0">
              <a:buNone/>
            </a:pPr>
            <a:r>
              <a:rPr lang="en-US" dirty="0">
                <a:ea typeface="+mj-lt"/>
                <a:cs typeface="+mj-lt"/>
              </a:rPr>
              <a:t>{</a:t>
            </a:r>
          </a:p>
          <a:p>
            <a:pPr marL="400050" lvl="1" indent="0">
              <a:buNone/>
            </a:pPr>
            <a:r>
              <a:rPr lang="en-US" dirty="0">
                <a:ea typeface="+mj-lt"/>
                <a:cs typeface="+mj-lt"/>
              </a:rPr>
              <a:t>    </a:t>
            </a:r>
            <a:r>
              <a:rPr lang="en-US" dirty="0" err="1">
                <a:ea typeface="+mj-lt"/>
                <a:cs typeface="+mj-lt"/>
              </a:rPr>
              <a:t>playerControls.Disable</a:t>
            </a:r>
            <a:r>
              <a:rPr lang="en-US" dirty="0">
                <a:ea typeface="+mj-lt"/>
                <a:cs typeface="+mj-lt"/>
              </a:rPr>
              <a:t>();</a:t>
            </a:r>
          </a:p>
          <a:p>
            <a:pPr marL="400050" lvl="1" indent="0">
              <a:buNone/>
            </a:pPr>
            <a:r>
              <a:rPr lang="en-US" dirty="0">
                <a:ea typeface="+mj-lt"/>
                <a:cs typeface="+mj-lt"/>
              </a:rPr>
              <a:t>    </a:t>
            </a:r>
            <a:r>
              <a:rPr lang="en-US" dirty="0" err="1">
                <a:ea typeface="+mj-lt"/>
                <a:cs typeface="+mj-lt"/>
              </a:rPr>
              <a:t>move.Disable</a:t>
            </a:r>
            <a:r>
              <a:rPr lang="en-US" dirty="0">
                <a:ea typeface="+mj-lt"/>
                <a:cs typeface="+mj-lt"/>
              </a:rPr>
              <a:t>();</a:t>
            </a:r>
          </a:p>
          <a:p>
            <a:pPr marL="400050" lvl="1" indent="0">
              <a:buNone/>
            </a:pPr>
            <a:r>
              <a:rPr lang="en-US" dirty="0">
                <a:ea typeface="+mj-lt"/>
                <a:cs typeface="+mj-lt"/>
              </a:rPr>
              <a:t>    </a:t>
            </a:r>
            <a:r>
              <a:rPr lang="en-US" dirty="0" err="1">
                <a:ea typeface="+mj-lt"/>
                <a:cs typeface="+mj-lt"/>
              </a:rPr>
              <a:t>fire.Disable</a:t>
            </a:r>
            <a:r>
              <a:rPr lang="en-US" dirty="0">
                <a:ea typeface="+mj-lt"/>
                <a:cs typeface="+mj-lt"/>
              </a:rPr>
              <a:t>();</a:t>
            </a:r>
          </a:p>
          <a:p>
            <a:pPr marL="400050" lvl="1" indent="0">
              <a:buNone/>
            </a:pPr>
            <a:endParaRPr lang="en-US" dirty="0">
              <a:ea typeface="+mj-lt"/>
              <a:cs typeface="+mj-lt"/>
            </a:endParaRPr>
          </a:p>
          <a:p>
            <a:pPr marL="400050" lvl="1" indent="0">
              <a:buNone/>
            </a:pPr>
            <a:r>
              <a:rPr lang="en-US" dirty="0">
                <a:ea typeface="+mj-lt"/>
                <a:cs typeface="+mj-lt"/>
              </a:rPr>
              <a:t>}</a:t>
            </a:r>
          </a:p>
          <a:p>
            <a:pPr marL="0" indent="0">
              <a:buNone/>
            </a:pPr>
            <a:endParaRPr lang="en-US" dirty="0">
              <a:ea typeface="+mj-lt"/>
              <a:cs typeface="+mj-lt"/>
            </a:endParaRPr>
          </a:p>
        </p:txBody>
      </p:sp>
    </p:spTree>
    <p:extLst>
      <p:ext uri="{BB962C8B-B14F-4D97-AF65-F5344CB8AC3E}">
        <p14:creationId xmlns:p14="http://schemas.microsoft.com/office/powerpoint/2010/main" val="37353570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C0C31-742E-2C16-436C-2D9765A694F0}"/>
              </a:ext>
            </a:extLst>
          </p:cNvPr>
          <p:cNvSpPr>
            <a:spLocks noGrp="1"/>
          </p:cNvSpPr>
          <p:nvPr>
            <p:ph type="title"/>
          </p:nvPr>
        </p:nvSpPr>
        <p:spPr/>
        <p:txBody>
          <a:bodyPr/>
          <a:lstStyle/>
          <a:p>
            <a:r>
              <a:rPr lang="en-US" dirty="0"/>
              <a:t>Events</a:t>
            </a:r>
            <a:endParaRPr lang="en-CA" dirty="0"/>
          </a:p>
        </p:txBody>
      </p:sp>
      <p:sp>
        <p:nvSpPr>
          <p:cNvPr id="3" name="Content Placeholder 2">
            <a:extLst>
              <a:ext uri="{FF2B5EF4-FFF2-40B4-BE49-F238E27FC236}">
                <a16:creationId xmlns:a16="http://schemas.microsoft.com/office/drawing/2014/main" id="{AA26858E-54BA-3E46-8C20-620EE9770D5F}"/>
              </a:ext>
            </a:extLst>
          </p:cNvPr>
          <p:cNvSpPr>
            <a:spLocks noGrp="1"/>
          </p:cNvSpPr>
          <p:nvPr>
            <p:ph idx="1"/>
          </p:nvPr>
        </p:nvSpPr>
        <p:spPr/>
        <p:txBody>
          <a:bodyPr>
            <a:normAutofit fontScale="25000" lnSpcReduction="20000"/>
          </a:bodyPr>
          <a:lstStyle/>
          <a:p>
            <a:pPr marL="0" indent="0">
              <a:buNone/>
            </a:pPr>
            <a:r>
              <a:rPr lang="en-CA" dirty="0"/>
              <a:t> void Update()</a:t>
            </a:r>
          </a:p>
          <a:p>
            <a:pPr marL="0" indent="0">
              <a:buNone/>
            </a:pPr>
            <a:r>
              <a:rPr lang="en-CA" dirty="0"/>
              <a:t>    {</a:t>
            </a:r>
          </a:p>
          <a:p>
            <a:pPr marL="0" indent="0">
              <a:buNone/>
            </a:pPr>
            <a:endParaRPr lang="en-CA" dirty="0"/>
          </a:p>
          <a:p>
            <a:pPr marL="0" indent="0">
              <a:buNone/>
            </a:pPr>
            <a:r>
              <a:rPr lang="en-CA" dirty="0"/>
              <a:t>       </a:t>
            </a:r>
          </a:p>
          <a:p>
            <a:pPr marL="0" indent="0">
              <a:buNone/>
            </a:pPr>
            <a:r>
              <a:rPr lang="en-CA" dirty="0"/>
              <a:t>    }</a:t>
            </a:r>
          </a:p>
          <a:p>
            <a:pPr marL="0" indent="0">
              <a:buNone/>
            </a:pPr>
            <a:endParaRPr lang="en-CA" dirty="0"/>
          </a:p>
          <a:p>
            <a:pPr marL="0" indent="0">
              <a:buNone/>
            </a:pPr>
            <a:r>
              <a:rPr lang="en-CA" dirty="0"/>
              <a:t>    private void </a:t>
            </a:r>
            <a:r>
              <a:rPr lang="en-CA" dirty="0" err="1">
                <a:highlight>
                  <a:srgbClr val="FFFF00"/>
                </a:highlight>
              </a:rPr>
              <a:t>OnJump</a:t>
            </a:r>
            <a:r>
              <a:rPr lang="en-CA" dirty="0"/>
              <a:t>(</a:t>
            </a:r>
            <a:r>
              <a:rPr lang="en-CA" dirty="0" err="1"/>
              <a:t>InputAction.CallbackContext</a:t>
            </a:r>
            <a:r>
              <a:rPr lang="en-CA" dirty="0"/>
              <a:t> context)</a:t>
            </a:r>
          </a:p>
          <a:p>
            <a:pPr marL="0" indent="0">
              <a:buNone/>
            </a:pPr>
            <a:r>
              <a:rPr lang="en-CA" dirty="0"/>
              <a:t>    {</a:t>
            </a:r>
          </a:p>
          <a:p>
            <a:pPr marL="0" indent="0">
              <a:buNone/>
            </a:pPr>
            <a:r>
              <a:rPr lang="en-CA" dirty="0"/>
              <a:t>        </a:t>
            </a:r>
            <a:r>
              <a:rPr lang="en-CA" dirty="0" err="1"/>
              <a:t>Debug.Log</a:t>
            </a:r>
            <a:r>
              <a:rPr lang="en-CA" dirty="0"/>
              <a:t>("We jumped");</a:t>
            </a:r>
          </a:p>
          <a:p>
            <a:pPr marL="0" indent="0">
              <a:buNone/>
            </a:pPr>
            <a:r>
              <a:rPr lang="en-CA" dirty="0"/>
              <a:t>    }</a:t>
            </a:r>
          </a:p>
          <a:p>
            <a:pPr marL="0" indent="0">
              <a:buNone/>
            </a:pPr>
            <a:endParaRPr lang="en-CA" dirty="0"/>
          </a:p>
          <a:p>
            <a:pPr marL="0" indent="0">
              <a:buNone/>
            </a:pPr>
            <a:endParaRPr lang="en-CA" dirty="0"/>
          </a:p>
          <a:p>
            <a:pPr marL="0" indent="0">
              <a:buNone/>
            </a:pPr>
            <a:endParaRPr lang="en-CA" dirty="0"/>
          </a:p>
          <a:p>
            <a:pPr marL="0" indent="0">
              <a:buNone/>
            </a:pPr>
            <a:r>
              <a:rPr lang="en-CA" dirty="0"/>
              <a:t>    public void </a:t>
            </a:r>
            <a:r>
              <a:rPr lang="en-CA" dirty="0" err="1">
                <a:highlight>
                  <a:srgbClr val="FFFF00"/>
                </a:highlight>
              </a:rPr>
              <a:t>OnMove</a:t>
            </a:r>
            <a:r>
              <a:rPr lang="en-CA" dirty="0"/>
              <a:t>(</a:t>
            </a:r>
            <a:r>
              <a:rPr lang="en-CA" dirty="0" err="1"/>
              <a:t>InputAction.CallbackContext</a:t>
            </a:r>
            <a:r>
              <a:rPr lang="en-CA" dirty="0"/>
              <a:t> context)</a:t>
            </a:r>
          </a:p>
          <a:p>
            <a:pPr marL="0" indent="0">
              <a:buNone/>
            </a:pPr>
            <a:r>
              <a:rPr lang="en-CA" dirty="0"/>
              <a:t>    {</a:t>
            </a:r>
          </a:p>
          <a:p>
            <a:pPr marL="0" indent="0">
              <a:buNone/>
            </a:pPr>
            <a:r>
              <a:rPr lang="en-CA" dirty="0"/>
              <a:t>        // 'Move' code here.</a:t>
            </a:r>
          </a:p>
          <a:p>
            <a:pPr marL="0" indent="0">
              <a:buNone/>
            </a:pPr>
            <a:r>
              <a:rPr lang="en-CA" dirty="0"/>
              <a:t>        </a:t>
            </a:r>
            <a:r>
              <a:rPr lang="en-CA" dirty="0" err="1"/>
              <a:t>Debug.Log</a:t>
            </a:r>
            <a:r>
              <a:rPr lang="en-CA" dirty="0"/>
              <a:t>("Player Moved");</a:t>
            </a:r>
          </a:p>
          <a:p>
            <a:pPr marL="0" indent="0">
              <a:buNone/>
            </a:pPr>
            <a:r>
              <a:rPr lang="en-CA" dirty="0"/>
              <a:t>        //step4</a:t>
            </a:r>
          </a:p>
          <a:p>
            <a:pPr marL="0" indent="0">
              <a:buNone/>
            </a:pPr>
            <a:r>
              <a:rPr lang="en-CA" dirty="0"/>
              <a:t>        Vector2 move = </a:t>
            </a:r>
            <a:r>
              <a:rPr lang="en-CA" dirty="0" err="1"/>
              <a:t>playerControls.Land.Move.ReadValue</a:t>
            </a:r>
            <a:r>
              <a:rPr lang="en-CA" dirty="0"/>
              <a:t>&lt;Vector2&gt;();</a:t>
            </a:r>
          </a:p>
          <a:p>
            <a:pPr marL="0" indent="0">
              <a:buNone/>
            </a:pPr>
            <a:endParaRPr lang="en-CA" dirty="0"/>
          </a:p>
          <a:p>
            <a:pPr marL="0" indent="0">
              <a:buNone/>
            </a:pPr>
            <a:r>
              <a:rPr lang="en-CA" dirty="0"/>
              <a:t>        </a:t>
            </a:r>
            <a:r>
              <a:rPr lang="en-CA" dirty="0" err="1"/>
              <a:t>transform.Translate</a:t>
            </a:r>
            <a:r>
              <a:rPr lang="en-CA" dirty="0"/>
              <a:t>(Vector3.right * </a:t>
            </a:r>
            <a:r>
              <a:rPr lang="en-CA" dirty="0" err="1"/>
              <a:t>move.x</a:t>
            </a:r>
            <a:r>
              <a:rPr lang="en-CA" dirty="0"/>
              <a:t> * </a:t>
            </a:r>
            <a:r>
              <a:rPr lang="en-CA" dirty="0" err="1"/>
              <a:t>Time.deltaTime</a:t>
            </a:r>
            <a:r>
              <a:rPr lang="en-CA" dirty="0"/>
              <a:t> * </a:t>
            </a:r>
            <a:r>
              <a:rPr lang="en-CA" dirty="0" err="1"/>
              <a:t>moveSpeed</a:t>
            </a:r>
            <a:r>
              <a:rPr lang="en-CA" dirty="0"/>
              <a:t>);</a:t>
            </a:r>
          </a:p>
          <a:p>
            <a:pPr marL="0" indent="0">
              <a:buNone/>
            </a:pPr>
            <a:r>
              <a:rPr lang="en-CA" dirty="0"/>
              <a:t>        </a:t>
            </a:r>
            <a:r>
              <a:rPr lang="en-CA" dirty="0" err="1"/>
              <a:t>transform.Translate</a:t>
            </a:r>
            <a:r>
              <a:rPr lang="en-CA" dirty="0"/>
              <a:t>(Vector3.up * </a:t>
            </a:r>
            <a:r>
              <a:rPr lang="en-CA" dirty="0" err="1"/>
              <a:t>move.y</a:t>
            </a:r>
            <a:r>
              <a:rPr lang="en-CA" dirty="0"/>
              <a:t> * </a:t>
            </a:r>
            <a:r>
              <a:rPr lang="en-CA" dirty="0" err="1"/>
              <a:t>Time.deltaTime</a:t>
            </a:r>
            <a:r>
              <a:rPr lang="en-CA" dirty="0"/>
              <a:t> * </a:t>
            </a:r>
            <a:r>
              <a:rPr lang="en-CA" dirty="0" err="1"/>
              <a:t>moveSpeed</a:t>
            </a:r>
            <a:r>
              <a:rPr lang="en-CA" dirty="0"/>
              <a:t>);</a:t>
            </a:r>
          </a:p>
          <a:p>
            <a:pPr marL="0" indent="0">
              <a:buNone/>
            </a:pPr>
            <a:r>
              <a:rPr lang="en-CA" dirty="0"/>
              <a:t>    }</a:t>
            </a:r>
          </a:p>
          <a:p>
            <a:pPr marL="0" indent="0">
              <a:buNone/>
            </a:pPr>
            <a:endParaRPr lang="en-CA" dirty="0"/>
          </a:p>
          <a:p>
            <a:pPr marL="0" indent="0">
              <a:buNone/>
            </a:pPr>
            <a:r>
              <a:rPr lang="en-CA" dirty="0"/>
              <a:t>}</a:t>
            </a:r>
          </a:p>
        </p:txBody>
      </p:sp>
    </p:spTree>
    <p:extLst>
      <p:ext uri="{BB962C8B-B14F-4D97-AF65-F5344CB8AC3E}">
        <p14:creationId xmlns:p14="http://schemas.microsoft.com/office/powerpoint/2010/main" val="3844616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4942-6D42-0A35-3D8E-C94348DF6663}"/>
              </a:ext>
            </a:extLst>
          </p:cNvPr>
          <p:cNvSpPr>
            <a:spLocks noGrp="1"/>
          </p:cNvSpPr>
          <p:nvPr>
            <p:ph type="title"/>
          </p:nvPr>
        </p:nvSpPr>
        <p:spPr/>
        <p:txBody>
          <a:bodyPr/>
          <a:lstStyle/>
          <a:p>
            <a:r>
              <a:rPr lang="en-US" dirty="0"/>
              <a:t>Lab6: Loading Actions from JSON</a:t>
            </a:r>
          </a:p>
        </p:txBody>
      </p:sp>
      <p:sp>
        <p:nvSpPr>
          <p:cNvPr id="3" name="Content Placeholder 2">
            <a:extLst>
              <a:ext uri="{FF2B5EF4-FFF2-40B4-BE49-F238E27FC236}">
                <a16:creationId xmlns:a16="http://schemas.microsoft.com/office/drawing/2014/main" id="{3F81C957-BF7A-FEF4-193B-F69104E54C9E}"/>
              </a:ext>
            </a:extLst>
          </p:cNvPr>
          <p:cNvSpPr>
            <a:spLocks noGrp="1"/>
          </p:cNvSpPr>
          <p:nvPr>
            <p:ph idx="1"/>
          </p:nvPr>
        </p:nvSpPr>
        <p:spPr/>
        <p:txBody>
          <a:bodyPr spcFirstLastPara="1" vert="horz" wrap="square" lIns="91440" tIns="45720" rIns="91440" bIns="45720" rtlCol="0" anchor="t" anchorCtr="0">
            <a:normAutofit/>
          </a:bodyPr>
          <a:lstStyle/>
          <a:p>
            <a:pPr marL="0" indent="0">
              <a:buNone/>
            </a:pPr>
            <a:r>
              <a:rPr lang="en-US" dirty="0">
                <a:latin typeface="Consolas"/>
              </a:rPr>
              <a:t>// Load a set of action maps from JSON.
var maps = </a:t>
            </a:r>
            <a:r>
              <a:rPr lang="en-US" dirty="0" err="1">
                <a:latin typeface="Consolas"/>
              </a:rPr>
              <a:t>InputActionMap.FromJson</a:t>
            </a:r>
            <a:r>
              <a:rPr lang="en-US" dirty="0">
                <a:latin typeface="Consolas"/>
              </a:rPr>
              <a:t>(</a:t>
            </a:r>
            <a:r>
              <a:rPr lang="en-US" dirty="0" err="1">
                <a:latin typeface="Consolas"/>
              </a:rPr>
              <a:t>json</a:t>
            </a:r>
            <a:r>
              <a:rPr lang="en-US" dirty="0">
                <a:latin typeface="Consolas"/>
              </a:rPr>
              <a:t>);
// Load an entire </a:t>
            </a:r>
            <a:r>
              <a:rPr lang="en-US" dirty="0" err="1">
                <a:latin typeface="Consolas"/>
              </a:rPr>
              <a:t>InputActionAsset</a:t>
            </a:r>
            <a:r>
              <a:rPr lang="en-US" dirty="0">
                <a:latin typeface="Consolas"/>
              </a:rPr>
              <a:t> from JSON.
var asset = </a:t>
            </a:r>
            <a:r>
              <a:rPr lang="en-US" dirty="0" err="1">
                <a:latin typeface="Consolas"/>
              </a:rPr>
              <a:t>InputActionAsset.FromJson</a:t>
            </a:r>
            <a:r>
              <a:rPr lang="en-US" dirty="0">
                <a:latin typeface="Consolas"/>
              </a:rPr>
              <a:t>(</a:t>
            </a:r>
            <a:r>
              <a:rPr lang="en-US" dirty="0" err="1">
                <a:latin typeface="Consolas"/>
              </a:rPr>
              <a:t>json</a:t>
            </a:r>
            <a:r>
              <a:rPr lang="en-US" dirty="0">
                <a:latin typeface="Consolas"/>
              </a:rPr>
              <a:t>);
</a:t>
            </a:r>
            <a:br>
              <a:rPr lang="en-US" dirty="0">
                <a:latin typeface="Consolas"/>
              </a:rPr>
            </a:br>
            <a:endParaRPr lang="en-US" dirty="0">
              <a:latin typeface="Consolas"/>
            </a:endParaRPr>
          </a:p>
        </p:txBody>
      </p:sp>
    </p:spTree>
    <p:extLst>
      <p:ext uri="{BB962C8B-B14F-4D97-AF65-F5344CB8AC3E}">
        <p14:creationId xmlns:p14="http://schemas.microsoft.com/office/powerpoint/2010/main" val="29681162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3D9D5-5BA0-8A7E-A2A0-744A092D6D8A}"/>
              </a:ext>
            </a:extLst>
          </p:cNvPr>
          <p:cNvSpPr>
            <a:spLocks noGrp="1"/>
          </p:cNvSpPr>
          <p:nvPr>
            <p:ph type="title"/>
          </p:nvPr>
        </p:nvSpPr>
        <p:spPr/>
        <p:txBody>
          <a:bodyPr/>
          <a:lstStyle/>
          <a:p>
            <a:r>
              <a:rPr lang="en-US" dirty="0"/>
              <a:t>Lab7: Creating Actions in code</a:t>
            </a:r>
          </a:p>
        </p:txBody>
      </p:sp>
      <p:sp>
        <p:nvSpPr>
          <p:cNvPr id="3" name="Content Placeholder 2">
            <a:extLst>
              <a:ext uri="{FF2B5EF4-FFF2-40B4-BE49-F238E27FC236}">
                <a16:creationId xmlns:a16="http://schemas.microsoft.com/office/drawing/2014/main" id="{9E0D70DA-F7B3-01E9-DE71-D468E61745AF}"/>
              </a:ext>
            </a:extLst>
          </p:cNvPr>
          <p:cNvSpPr>
            <a:spLocks noGrp="1"/>
          </p:cNvSpPr>
          <p:nvPr>
            <p:ph idx="1"/>
          </p:nvPr>
        </p:nvSpPr>
        <p:spPr/>
        <p:txBody>
          <a:bodyPr spcFirstLastPara="1" vert="horz" wrap="square" lIns="91440" tIns="45720" rIns="91440" bIns="45720" rtlCol="0" anchor="t" anchorCtr="0">
            <a:normAutofit fontScale="55000" lnSpcReduction="20000"/>
          </a:bodyPr>
          <a:lstStyle/>
          <a:p>
            <a:pPr marL="400050" lvl="1" indent="0">
              <a:buNone/>
            </a:pPr>
            <a:r>
              <a:rPr lang="en-US" dirty="0">
                <a:latin typeface="Consolas"/>
              </a:rPr>
              <a:t>// Create free-standing Actions.
var </a:t>
            </a:r>
            <a:r>
              <a:rPr lang="en-US" dirty="0" err="1">
                <a:latin typeface="Consolas"/>
              </a:rPr>
              <a:t>lookAction</a:t>
            </a:r>
            <a:r>
              <a:rPr lang="en-US" dirty="0">
                <a:latin typeface="Consolas"/>
              </a:rPr>
              <a:t> = new </a:t>
            </a:r>
            <a:r>
              <a:rPr lang="en-US" dirty="0" err="1">
                <a:latin typeface="Consolas"/>
              </a:rPr>
              <a:t>InputAction</a:t>
            </a:r>
            <a:r>
              <a:rPr lang="en-US" dirty="0">
                <a:latin typeface="Consolas"/>
              </a:rPr>
              <a:t>("look", binding: "&lt;Gamepad&gt;/</a:t>
            </a:r>
            <a:r>
              <a:rPr lang="en-US" dirty="0" err="1">
                <a:latin typeface="Consolas"/>
              </a:rPr>
              <a:t>leftStick</a:t>
            </a:r>
            <a:r>
              <a:rPr lang="en-US" dirty="0">
                <a:latin typeface="Consolas"/>
              </a:rPr>
              <a:t>");
var </a:t>
            </a:r>
            <a:r>
              <a:rPr lang="en-US" dirty="0" err="1">
                <a:latin typeface="Consolas"/>
              </a:rPr>
              <a:t>moveAction</a:t>
            </a:r>
            <a:r>
              <a:rPr lang="en-US" dirty="0">
                <a:latin typeface="Consolas"/>
              </a:rPr>
              <a:t> = new </a:t>
            </a:r>
            <a:r>
              <a:rPr lang="en-US" dirty="0" err="1">
                <a:latin typeface="Consolas"/>
              </a:rPr>
              <a:t>InputAction</a:t>
            </a:r>
            <a:r>
              <a:rPr lang="en-US" dirty="0">
                <a:latin typeface="Consolas"/>
              </a:rPr>
              <a:t>("move", binding: "&lt;Gamepad&gt;/</a:t>
            </a:r>
            <a:r>
              <a:rPr lang="en-US" dirty="0" err="1">
                <a:latin typeface="Consolas"/>
              </a:rPr>
              <a:t>rightStick</a:t>
            </a:r>
            <a:r>
              <a:rPr lang="en-US" dirty="0">
                <a:latin typeface="Consolas"/>
              </a:rPr>
              <a:t>");
</a:t>
            </a:r>
            <a:r>
              <a:rPr lang="en-US" dirty="0" err="1">
                <a:latin typeface="Consolas"/>
              </a:rPr>
              <a:t>lookAction.AddBinding</a:t>
            </a:r>
            <a:r>
              <a:rPr lang="en-US" dirty="0">
                <a:latin typeface="Consolas"/>
              </a:rPr>
              <a:t>("&lt;Mouse&gt;/delta");
</a:t>
            </a:r>
            <a:r>
              <a:rPr lang="en-US" dirty="0" err="1">
                <a:latin typeface="Consolas"/>
              </a:rPr>
              <a:t>moveAction.AddCompositeBinding</a:t>
            </a:r>
            <a:r>
              <a:rPr lang="en-US" dirty="0">
                <a:latin typeface="Consolas"/>
              </a:rPr>
              <a:t>("</a:t>
            </a:r>
            <a:r>
              <a:rPr lang="en-US" dirty="0" err="1">
                <a:latin typeface="Consolas"/>
              </a:rPr>
              <a:t>Dpad</a:t>
            </a:r>
            <a:r>
              <a:rPr lang="en-US" dirty="0">
                <a:latin typeface="Consolas"/>
              </a:rPr>
              <a:t>")
    .With("Up", "&lt;Keyboard&gt;/w")
    .With("Down", "&lt;Keyboard&gt;/s")
    .With("Left", "&lt;Keyboard&gt;/a")
    .With("Right", "&lt;Keyboard&gt;/d");
// Create an Action Map with Actions.
var map = new </a:t>
            </a:r>
            <a:r>
              <a:rPr lang="en-US" dirty="0" err="1">
                <a:latin typeface="Consolas"/>
              </a:rPr>
              <a:t>InputActionMap</a:t>
            </a:r>
            <a:r>
              <a:rPr lang="en-US" dirty="0">
                <a:latin typeface="Consolas"/>
              </a:rPr>
              <a:t>("Gameplay");
var </a:t>
            </a:r>
            <a:r>
              <a:rPr lang="en-US" dirty="0" err="1">
                <a:latin typeface="Consolas"/>
              </a:rPr>
              <a:t>lookAction</a:t>
            </a:r>
            <a:r>
              <a:rPr lang="en-US" dirty="0">
                <a:latin typeface="Consolas"/>
              </a:rPr>
              <a:t> = </a:t>
            </a:r>
            <a:r>
              <a:rPr lang="en-US" dirty="0" err="1">
                <a:latin typeface="Consolas"/>
              </a:rPr>
              <a:t>map.AddAction</a:t>
            </a:r>
            <a:r>
              <a:rPr lang="en-US" dirty="0">
                <a:latin typeface="Consolas"/>
              </a:rPr>
              <a:t>("look");
</a:t>
            </a:r>
            <a:r>
              <a:rPr lang="en-US" dirty="0" err="1">
                <a:latin typeface="Consolas"/>
              </a:rPr>
              <a:t>lookAction.AddBinding</a:t>
            </a:r>
            <a:r>
              <a:rPr lang="en-US" dirty="0">
                <a:latin typeface="Consolas"/>
              </a:rPr>
              <a:t>("&lt;Gamepad&gt;/</a:t>
            </a:r>
            <a:r>
              <a:rPr lang="en-US" dirty="0" err="1">
                <a:latin typeface="Consolas"/>
              </a:rPr>
              <a:t>leftStick</a:t>
            </a:r>
            <a:r>
              <a:rPr lang="en-US" dirty="0">
                <a:latin typeface="Consolas"/>
              </a:rPr>
              <a:t>");
// Create an Action Asset.
var asset = </a:t>
            </a:r>
            <a:r>
              <a:rPr lang="en-US" dirty="0" err="1">
                <a:latin typeface="Consolas"/>
              </a:rPr>
              <a:t>ScriptableObject.CreateInstance</a:t>
            </a:r>
            <a:r>
              <a:rPr lang="en-US" dirty="0">
                <a:latin typeface="Consolas"/>
              </a:rPr>
              <a:t>&lt;</a:t>
            </a:r>
            <a:r>
              <a:rPr lang="en-US" dirty="0" err="1">
                <a:latin typeface="Consolas"/>
              </a:rPr>
              <a:t>InputActionAsset</a:t>
            </a:r>
            <a:r>
              <a:rPr lang="en-US" dirty="0">
                <a:latin typeface="Consolas"/>
              </a:rPr>
              <a:t>&gt;();
var </a:t>
            </a:r>
            <a:r>
              <a:rPr lang="en-US" dirty="0" err="1">
                <a:latin typeface="Consolas"/>
              </a:rPr>
              <a:t>gameplayMap</a:t>
            </a:r>
            <a:r>
              <a:rPr lang="en-US" dirty="0">
                <a:latin typeface="Consolas"/>
              </a:rPr>
              <a:t> = new </a:t>
            </a:r>
            <a:r>
              <a:rPr lang="en-US" dirty="0" err="1">
                <a:latin typeface="Consolas"/>
              </a:rPr>
              <a:t>InputActionMap</a:t>
            </a:r>
            <a:r>
              <a:rPr lang="en-US" dirty="0">
                <a:latin typeface="Consolas"/>
              </a:rPr>
              <a:t>("gameplay");
</a:t>
            </a:r>
            <a:r>
              <a:rPr lang="en-US" dirty="0" err="1">
                <a:latin typeface="Consolas"/>
              </a:rPr>
              <a:t>asset.AddActionMap</a:t>
            </a:r>
            <a:r>
              <a:rPr lang="en-US" dirty="0">
                <a:latin typeface="Consolas"/>
              </a:rPr>
              <a:t>(</a:t>
            </a:r>
            <a:r>
              <a:rPr lang="en-US" dirty="0" err="1">
                <a:latin typeface="Consolas"/>
              </a:rPr>
              <a:t>gameplayMap</a:t>
            </a:r>
            <a:r>
              <a:rPr lang="en-US" dirty="0">
                <a:latin typeface="Consolas"/>
              </a:rPr>
              <a:t>);
var </a:t>
            </a:r>
            <a:r>
              <a:rPr lang="en-US" dirty="0" err="1">
                <a:latin typeface="Consolas"/>
              </a:rPr>
              <a:t>lookAction</a:t>
            </a:r>
            <a:r>
              <a:rPr lang="en-US" dirty="0">
                <a:latin typeface="Consolas"/>
              </a:rPr>
              <a:t> = </a:t>
            </a:r>
            <a:r>
              <a:rPr lang="en-US" dirty="0" err="1">
                <a:latin typeface="Consolas"/>
              </a:rPr>
              <a:t>gameplayMap.AddAction</a:t>
            </a:r>
            <a:r>
              <a:rPr lang="en-US" dirty="0">
                <a:latin typeface="Consolas"/>
              </a:rPr>
              <a:t>("look", "&lt;Gamepad&gt;/</a:t>
            </a:r>
            <a:r>
              <a:rPr lang="en-US" dirty="0" err="1">
                <a:latin typeface="Consolas"/>
              </a:rPr>
              <a:t>leftStick</a:t>
            </a:r>
            <a:r>
              <a:rPr lang="en-US" dirty="0">
                <a:latin typeface="Consolas"/>
              </a:rPr>
              <a:t>");</a:t>
            </a:r>
            <a:endParaRPr lang="en-US" dirty="0"/>
          </a:p>
        </p:txBody>
      </p:sp>
    </p:spTree>
    <p:extLst>
      <p:ext uri="{BB962C8B-B14F-4D97-AF65-F5344CB8AC3E}">
        <p14:creationId xmlns:p14="http://schemas.microsoft.com/office/powerpoint/2010/main" val="23962705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89D2-1BA9-5577-4A2B-5D036DADC294}"/>
              </a:ext>
            </a:extLst>
          </p:cNvPr>
          <p:cNvSpPr>
            <a:spLocks noGrp="1"/>
          </p:cNvSpPr>
          <p:nvPr>
            <p:ph type="title"/>
          </p:nvPr>
        </p:nvSpPr>
        <p:spPr/>
        <p:txBody>
          <a:bodyPr/>
          <a:lstStyle/>
          <a:p>
            <a:r>
              <a:rPr lang="en-US" dirty="0"/>
              <a:t>Lab8: Default Actions</a:t>
            </a:r>
          </a:p>
        </p:txBody>
      </p:sp>
      <p:sp>
        <p:nvSpPr>
          <p:cNvPr id="3" name="Content Placeholder 2">
            <a:extLst>
              <a:ext uri="{FF2B5EF4-FFF2-40B4-BE49-F238E27FC236}">
                <a16:creationId xmlns:a16="http://schemas.microsoft.com/office/drawing/2014/main" id="{C454E452-3429-B7E5-0FAD-EF655015634A}"/>
              </a:ext>
            </a:extLst>
          </p:cNvPr>
          <p:cNvSpPr>
            <a:spLocks noGrp="1"/>
          </p:cNvSpPr>
          <p:nvPr>
            <p:ph idx="1"/>
          </p:nvPr>
        </p:nvSpPr>
        <p:spPr/>
        <p:txBody>
          <a:bodyPr spcFirstLastPara="1" vert="horz" wrap="square" lIns="91440" tIns="45720" rIns="91440" bIns="45720" rtlCol="0" anchor="t" anchorCtr="0">
            <a:normAutofit fontScale="85000" lnSpcReduction="20000"/>
          </a:bodyPr>
          <a:lstStyle/>
          <a:p>
            <a:r>
              <a:rPr lang="en-US" dirty="0">
                <a:ea typeface="+mj-lt"/>
                <a:cs typeface="+mj-lt"/>
              </a:rPr>
              <a:t>An </a:t>
            </a:r>
            <a:r>
              <a:rPr lang="en-US" dirty="0">
                <a:ea typeface="+mj-lt"/>
                <a:cs typeface="+mj-lt"/>
                <a:hlinkClick r:id="rId2"/>
              </a:rPr>
              <a:t>asset</a:t>
            </a:r>
            <a:r>
              <a:rPr lang="en-US" dirty="0">
                <a:ea typeface="+mj-lt"/>
                <a:cs typeface="+mj-lt"/>
              </a:rPr>
              <a:t> called </a:t>
            </a:r>
            <a:r>
              <a:rPr lang="en-US" dirty="0" err="1">
                <a:latin typeface="Consolas"/>
              </a:rPr>
              <a:t>DefaultInputActions.inputactions</a:t>
            </a:r>
            <a:r>
              <a:rPr lang="en-US" dirty="0">
                <a:ea typeface="+mj-lt"/>
                <a:cs typeface="+mj-lt"/>
              </a:rPr>
              <a:t> containing a default setup of Actions comes with the Input System Package. </a:t>
            </a:r>
          </a:p>
          <a:p>
            <a:r>
              <a:rPr lang="en-US" dirty="0">
                <a:ea typeface="+mj-lt"/>
                <a:cs typeface="+mj-lt"/>
              </a:rPr>
              <a:t>You can reference this asset directly in your projects like any other Unity asset. However, the asset is also available in code form through the </a:t>
            </a:r>
            <a:r>
              <a:rPr lang="en-US" dirty="0" err="1">
                <a:latin typeface="Consolas"/>
                <a:hlinkClick r:id="rId3"/>
              </a:rPr>
              <a:t>DefaultInputActions</a:t>
            </a:r>
            <a:r>
              <a:rPr lang="en-US" dirty="0">
                <a:ea typeface="+mj-lt"/>
                <a:cs typeface="+mj-lt"/>
              </a:rPr>
              <a:t> class.</a:t>
            </a:r>
          </a:p>
          <a:p>
            <a:pPr marL="400050" lvl="1" indent="0">
              <a:buNone/>
            </a:pPr>
            <a:r>
              <a:rPr lang="en-US" dirty="0">
                <a:latin typeface="Consolas"/>
              </a:rPr>
              <a:t>void Start()
{
    // Create an instance of the default actions.
    var actions = new </a:t>
            </a:r>
            <a:r>
              <a:rPr lang="en-US" dirty="0" err="1">
                <a:latin typeface="Consolas"/>
              </a:rPr>
              <a:t>DefaultInputActions</a:t>
            </a:r>
            <a:r>
              <a:rPr lang="en-US" dirty="0">
                <a:latin typeface="Consolas"/>
              </a:rPr>
              <a:t>();
    </a:t>
            </a:r>
            <a:r>
              <a:rPr lang="en-US" dirty="0" err="1">
                <a:latin typeface="Consolas"/>
              </a:rPr>
              <a:t>actions.Player.Look.performed</a:t>
            </a:r>
            <a:r>
              <a:rPr lang="en-US" dirty="0">
                <a:latin typeface="Consolas"/>
              </a:rPr>
              <a:t> += </a:t>
            </a:r>
            <a:r>
              <a:rPr lang="en-US" dirty="0" err="1">
                <a:latin typeface="Consolas"/>
              </a:rPr>
              <a:t>OnLook</a:t>
            </a:r>
            <a:r>
              <a:rPr lang="en-US" dirty="0">
                <a:latin typeface="Consolas"/>
              </a:rPr>
              <a:t>;
    </a:t>
            </a:r>
            <a:r>
              <a:rPr lang="en-US" dirty="0" err="1">
                <a:latin typeface="Consolas"/>
              </a:rPr>
              <a:t>actions.Player.Move.performed</a:t>
            </a:r>
            <a:r>
              <a:rPr lang="en-US" dirty="0">
                <a:latin typeface="Consolas"/>
              </a:rPr>
              <a:t> += </a:t>
            </a:r>
            <a:r>
              <a:rPr lang="en-US" dirty="0" err="1">
                <a:latin typeface="Consolas"/>
              </a:rPr>
              <a:t>OnMove</a:t>
            </a:r>
            <a:r>
              <a:rPr lang="en-US" dirty="0">
                <a:latin typeface="Consolas"/>
              </a:rPr>
              <a:t>;
    </a:t>
            </a:r>
            <a:r>
              <a:rPr lang="en-US" dirty="0" err="1">
                <a:latin typeface="Consolas"/>
              </a:rPr>
              <a:t>actions.Enable</a:t>
            </a:r>
            <a:r>
              <a:rPr lang="en-US" dirty="0">
                <a:latin typeface="Consolas"/>
              </a:rPr>
              <a:t>();
}
</a:t>
            </a:r>
            <a:br>
              <a:rPr lang="en-US" dirty="0">
                <a:latin typeface="Consolas"/>
              </a:rPr>
            </a:br>
            <a:endParaRPr lang="en-US" dirty="0">
              <a:latin typeface="Consolas"/>
            </a:endParaRPr>
          </a:p>
        </p:txBody>
      </p:sp>
    </p:spTree>
    <p:extLst>
      <p:ext uri="{BB962C8B-B14F-4D97-AF65-F5344CB8AC3E}">
        <p14:creationId xmlns:p14="http://schemas.microsoft.com/office/powerpoint/2010/main" val="36449139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648BB-0F65-35E0-1C0A-A404A546015E}"/>
              </a:ext>
            </a:extLst>
          </p:cNvPr>
          <p:cNvSpPr>
            <a:spLocks noGrp="1"/>
          </p:cNvSpPr>
          <p:nvPr>
            <p:ph type="title"/>
          </p:nvPr>
        </p:nvSpPr>
        <p:spPr/>
        <p:txBody>
          <a:bodyPr/>
          <a:lstStyle/>
          <a:p>
            <a:r>
              <a:rPr lang="en-US"/>
              <a:t>Responding to Actions</a:t>
            </a:r>
          </a:p>
        </p:txBody>
      </p:sp>
      <p:sp>
        <p:nvSpPr>
          <p:cNvPr id="3" name="Content Placeholder 2">
            <a:extLst>
              <a:ext uri="{FF2B5EF4-FFF2-40B4-BE49-F238E27FC236}">
                <a16:creationId xmlns:a16="http://schemas.microsoft.com/office/drawing/2014/main" id="{CA5E56B3-AEFC-18A3-11A3-CEBA6D0029DB}"/>
              </a:ext>
            </a:extLst>
          </p:cNvPr>
          <p:cNvSpPr>
            <a:spLocks noGrp="1"/>
          </p:cNvSpPr>
          <p:nvPr>
            <p:ph idx="1"/>
          </p:nvPr>
        </p:nvSpPr>
        <p:spPr/>
        <p:txBody>
          <a:bodyPr spcFirstLastPara="1" vert="horz" wrap="square" lIns="91440" tIns="45720" rIns="91440" bIns="45720" rtlCol="0" anchor="t" anchorCtr="0">
            <a:normAutofit fontScale="92500" lnSpcReduction="10000"/>
          </a:bodyPr>
          <a:lstStyle/>
          <a:p>
            <a:r>
              <a:rPr lang="en-US">
                <a:ea typeface="+mj-lt"/>
                <a:cs typeface="+mj-lt"/>
              </a:rPr>
              <a:t>An Action doesn't represent an actual response to input by itself. Instead, an Action informs your code that a certain type of input has occurred. Your code then responds to this information.</a:t>
            </a:r>
            <a:endParaRPr lang="en-US"/>
          </a:p>
          <a:p>
            <a:r>
              <a:rPr lang="en-US">
                <a:ea typeface="+mj-lt"/>
                <a:cs typeface="+mj-lt"/>
              </a:rPr>
              <a:t>There are several ways to do this:</a:t>
            </a:r>
            <a:endParaRPr lang="en-US"/>
          </a:p>
          <a:p>
            <a:r>
              <a:rPr lang="en-US">
                <a:ea typeface="+mj-lt"/>
                <a:cs typeface="+mj-lt"/>
              </a:rPr>
              <a:t>Each Action has a </a:t>
            </a:r>
            <a:r>
              <a:rPr lang="en-US">
                <a:latin typeface="Consolas"/>
                <a:hlinkClick r:id="rId2"/>
              </a:rPr>
              <a:t>started</a:t>
            </a:r>
            <a:r>
              <a:rPr lang="en-US">
                <a:ea typeface="+mj-lt"/>
                <a:cs typeface="+mj-lt"/>
                <a:hlinkClick r:id="rId3"/>
              </a:rPr>
              <a:t>, </a:t>
            </a:r>
            <a:r>
              <a:rPr lang="en-US">
                <a:latin typeface="Consolas"/>
                <a:hlinkClick r:id="rId2"/>
              </a:rPr>
              <a:t>performed</a:t>
            </a:r>
            <a:r>
              <a:rPr lang="en-US">
                <a:ea typeface="+mj-lt"/>
                <a:cs typeface="+mj-lt"/>
                <a:hlinkClick r:id="rId3"/>
              </a:rPr>
              <a:t>, and </a:t>
            </a:r>
            <a:r>
              <a:rPr lang="en-US">
                <a:latin typeface="Consolas"/>
                <a:hlinkClick r:id="rId2"/>
              </a:rPr>
              <a:t>canceled</a:t>
            </a:r>
            <a:r>
              <a:rPr lang="en-US">
                <a:ea typeface="+mj-lt"/>
                <a:cs typeface="+mj-lt"/>
                <a:hlinkClick r:id="rId3"/>
              </a:rPr>
              <a:t> callback</a:t>
            </a:r>
            <a:r>
              <a:rPr lang="en-US">
                <a:ea typeface="+mj-lt"/>
                <a:cs typeface="+mj-lt"/>
              </a:rPr>
              <a:t>.</a:t>
            </a:r>
            <a:endParaRPr lang="en-US"/>
          </a:p>
          <a:p>
            <a:r>
              <a:rPr lang="en-US">
                <a:ea typeface="+mj-lt"/>
                <a:cs typeface="+mj-lt"/>
              </a:rPr>
              <a:t>Each Action Map has an </a:t>
            </a:r>
            <a:r>
              <a:rPr lang="en-US">
                <a:latin typeface="Consolas"/>
                <a:hlinkClick r:id="rId4"/>
              </a:rPr>
              <a:t>actionTriggered</a:t>
            </a:r>
            <a:r>
              <a:rPr lang="en-US">
                <a:ea typeface="+mj-lt"/>
                <a:cs typeface="+mj-lt"/>
                <a:hlinkClick r:id="rId3"/>
              </a:rPr>
              <a:t> callback</a:t>
            </a:r>
            <a:r>
              <a:rPr lang="en-US">
                <a:ea typeface="+mj-lt"/>
                <a:cs typeface="+mj-lt"/>
              </a:rPr>
              <a:t>.</a:t>
            </a:r>
            <a:endParaRPr lang="en-US"/>
          </a:p>
          <a:p>
            <a:r>
              <a:rPr lang="en-US">
                <a:ea typeface="+mj-lt"/>
                <a:cs typeface="+mj-lt"/>
              </a:rPr>
              <a:t>The Input System has a global </a:t>
            </a:r>
            <a:r>
              <a:rPr lang="en-US">
                <a:latin typeface="Consolas"/>
                <a:hlinkClick r:id="rId3"/>
              </a:rPr>
              <a:t>InputSystem.onActionChange</a:t>
            </a:r>
            <a:r>
              <a:rPr lang="en-US">
                <a:ea typeface="+mj-lt"/>
                <a:cs typeface="+mj-lt"/>
                <a:hlinkClick r:id="rId3"/>
              </a:rPr>
              <a:t> callback</a:t>
            </a:r>
            <a:r>
              <a:rPr lang="en-US">
                <a:ea typeface="+mj-lt"/>
                <a:cs typeface="+mj-lt"/>
              </a:rPr>
              <a:t>.</a:t>
            </a:r>
            <a:endParaRPr lang="en-US"/>
          </a:p>
          <a:p>
            <a:r>
              <a:rPr lang="en-US">
                <a:ea typeface="+mj-lt"/>
                <a:cs typeface="+mj-lt"/>
              </a:rPr>
              <a:t>You can </a:t>
            </a:r>
            <a:r>
              <a:rPr lang="en-US">
                <a:ea typeface="+mj-lt"/>
                <a:cs typeface="+mj-lt"/>
                <a:hlinkClick r:id="rId5"/>
              </a:rPr>
              <a:t>poll the current state</a:t>
            </a:r>
            <a:r>
              <a:rPr lang="en-US">
                <a:ea typeface="+mj-lt"/>
                <a:cs typeface="+mj-lt"/>
              </a:rPr>
              <a:t> of an Action whenever you need it.</a:t>
            </a:r>
            <a:endParaRPr lang="en-US"/>
          </a:p>
          <a:p>
            <a:r>
              <a:rPr lang="en-US">
                <a:latin typeface="Consolas"/>
                <a:hlinkClick r:id="rId6"/>
              </a:rPr>
              <a:t>InputActionTrace</a:t>
            </a:r>
            <a:r>
              <a:rPr lang="en-US">
                <a:ea typeface="+mj-lt"/>
                <a:cs typeface="+mj-lt"/>
              </a:rPr>
              <a:t> can record changes happening on Actions.</a:t>
            </a:r>
            <a:endParaRPr lang="en-US"/>
          </a:p>
          <a:p>
            <a:endParaRPr lang="en-US"/>
          </a:p>
        </p:txBody>
      </p:sp>
    </p:spTree>
    <p:extLst>
      <p:ext uri="{BB962C8B-B14F-4D97-AF65-F5344CB8AC3E}">
        <p14:creationId xmlns:p14="http://schemas.microsoft.com/office/powerpoint/2010/main" val="41629901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DA81-7FAC-FCA0-095F-6B19C575A615}"/>
              </a:ext>
            </a:extLst>
          </p:cNvPr>
          <p:cNvSpPr>
            <a:spLocks noGrp="1"/>
          </p:cNvSpPr>
          <p:nvPr>
            <p:ph type="title"/>
          </p:nvPr>
        </p:nvSpPr>
        <p:spPr/>
        <p:txBody>
          <a:bodyPr/>
          <a:lstStyle/>
          <a:p>
            <a:r>
              <a:rPr lang="en-US"/>
              <a:t>Action callbacks</a:t>
            </a:r>
          </a:p>
        </p:txBody>
      </p:sp>
      <p:sp>
        <p:nvSpPr>
          <p:cNvPr id="3" name="Content Placeholder 2">
            <a:extLst>
              <a:ext uri="{FF2B5EF4-FFF2-40B4-BE49-F238E27FC236}">
                <a16:creationId xmlns:a16="http://schemas.microsoft.com/office/drawing/2014/main" id="{67735C61-70EA-CBAD-6BBA-9929F8D5FC45}"/>
              </a:ext>
            </a:extLst>
          </p:cNvPr>
          <p:cNvSpPr>
            <a:spLocks noGrp="1"/>
          </p:cNvSpPr>
          <p:nvPr>
            <p:ph idx="1"/>
          </p:nvPr>
        </p:nvSpPr>
        <p:spPr/>
        <p:txBody>
          <a:bodyPr spcFirstLastPara="1" vert="horz" wrap="square" lIns="91440" tIns="45720" rIns="91440" bIns="45720" rtlCol="0" anchor="t" anchorCtr="0">
            <a:normAutofit fontScale="85000" lnSpcReduction="20000"/>
          </a:bodyPr>
          <a:lstStyle/>
          <a:p>
            <a:r>
              <a:rPr lang="en-US" dirty="0">
                <a:ea typeface="+mj-lt"/>
                <a:cs typeface="+mj-lt"/>
              </a:rPr>
              <a:t>You can read the current phase of an action using </a:t>
            </a:r>
            <a:r>
              <a:rPr lang="en-US" dirty="0" err="1">
                <a:latin typeface="Consolas"/>
                <a:hlinkClick r:id="rId2"/>
              </a:rPr>
              <a:t>InputAction.phase</a:t>
            </a:r>
            <a:r>
              <a:rPr lang="en-US" dirty="0">
                <a:ea typeface="+mj-lt"/>
                <a:cs typeface="+mj-lt"/>
              </a:rPr>
              <a:t>.</a:t>
            </a:r>
            <a:endParaRPr lang="en-US" dirty="0">
              <a:latin typeface="Consolas"/>
            </a:endParaRPr>
          </a:p>
          <a:p>
            <a:r>
              <a:rPr lang="en-US" dirty="0">
                <a:ea typeface="+mj-lt"/>
                <a:cs typeface="+mj-lt"/>
              </a:rPr>
              <a:t>The </a:t>
            </a:r>
            <a:r>
              <a:rPr lang="en-US" dirty="0">
                <a:latin typeface="Consolas"/>
              </a:rPr>
              <a:t>Started</a:t>
            </a:r>
            <a:r>
              <a:rPr lang="en-US" dirty="0">
                <a:ea typeface="+mj-lt"/>
                <a:cs typeface="+mj-lt"/>
              </a:rPr>
              <a:t>, </a:t>
            </a:r>
            <a:r>
              <a:rPr lang="en-US" dirty="0">
                <a:latin typeface="Consolas"/>
              </a:rPr>
              <a:t>Performed</a:t>
            </a:r>
            <a:r>
              <a:rPr lang="en-US" dirty="0">
                <a:ea typeface="+mj-lt"/>
                <a:cs typeface="+mj-lt"/>
              </a:rPr>
              <a:t>, and </a:t>
            </a:r>
            <a:r>
              <a:rPr lang="en-US" dirty="0">
                <a:latin typeface="Consolas"/>
              </a:rPr>
              <a:t>Canceled</a:t>
            </a:r>
            <a:r>
              <a:rPr lang="en-US" dirty="0">
                <a:ea typeface="+mj-lt"/>
                <a:cs typeface="+mj-lt"/>
              </a:rPr>
              <a:t> phases each have a callback associated with them.</a:t>
            </a:r>
            <a:endParaRPr lang="en-US" dirty="0"/>
          </a:p>
          <a:p>
            <a:r>
              <a:rPr lang="en-US" dirty="0">
                <a:ea typeface="+mj-lt"/>
                <a:cs typeface="+mj-lt"/>
              </a:rPr>
              <a:t>Each callback receives an </a:t>
            </a:r>
            <a:r>
              <a:rPr lang="en-US" dirty="0" err="1">
                <a:latin typeface="Consolas"/>
                <a:hlinkClick r:id="rId3"/>
              </a:rPr>
              <a:t>InputAction.CallbackContext</a:t>
            </a:r>
            <a:r>
              <a:rPr lang="en-US" dirty="0">
                <a:ea typeface="+mj-lt"/>
                <a:cs typeface="+mj-lt"/>
              </a:rPr>
              <a:t> structure, which holds context information that you can use to query the current state of the Action and to read out values from Controls that triggered the Action (</a:t>
            </a:r>
            <a:r>
              <a:rPr lang="en-US" dirty="0" err="1">
                <a:latin typeface="Consolas"/>
                <a:hlinkClick r:id="rId4"/>
              </a:rPr>
              <a:t>InputAction.CallbackContext.ReadValue</a:t>
            </a:r>
            <a:r>
              <a:rPr lang="en-US" dirty="0">
                <a:ea typeface="+mj-lt"/>
                <a:cs typeface="+mj-lt"/>
              </a:rPr>
              <a:t>).</a:t>
            </a:r>
            <a:endParaRPr lang="en-US" dirty="0">
              <a:latin typeface="Century Gothic"/>
            </a:endParaRPr>
          </a:p>
          <a:p>
            <a:endParaRPr lang="en-US" dirty="0">
              <a:latin typeface="Consolas"/>
            </a:endParaRPr>
          </a:p>
          <a:p>
            <a:pPr marL="400050" lvl="1" indent="0">
              <a:buNone/>
            </a:pPr>
            <a:r>
              <a:rPr lang="en-US" dirty="0">
                <a:latin typeface="Consolas"/>
              </a:rPr>
              <a:t>var action = new </a:t>
            </a:r>
            <a:r>
              <a:rPr lang="en-US" dirty="0" err="1">
                <a:latin typeface="Consolas"/>
              </a:rPr>
              <a:t>InputAction</a:t>
            </a:r>
            <a:r>
              <a:rPr lang="en-US" dirty="0">
                <a:latin typeface="Consolas"/>
              </a:rPr>
              <a:t>();
    </a:t>
            </a:r>
            <a:r>
              <a:rPr lang="en-US" dirty="0" err="1">
                <a:latin typeface="Consolas"/>
              </a:rPr>
              <a:t>action.started</a:t>
            </a:r>
            <a:r>
              <a:rPr lang="en-US" dirty="0">
                <a:latin typeface="Consolas"/>
              </a:rPr>
              <a:t> += </a:t>
            </a:r>
            <a:r>
              <a:rPr lang="en-US" dirty="0" err="1">
                <a:latin typeface="Consolas"/>
              </a:rPr>
              <a:t>ctx</a:t>
            </a:r>
            <a:r>
              <a:rPr lang="en-US" dirty="0">
                <a:latin typeface="Consolas"/>
              </a:rPr>
              <a:t> =&gt; /* Action was started */;
    </a:t>
            </a:r>
            <a:r>
              <a:rPr lang="en-US" dirty="0" err="1">
                <a:latin typeface="Consolas"/>
              </a:rPr>
              <a:t>action.performed</a:t>
            </a:r>
            <a:r>
              <a:rPr lang="en-US" dirty="0">
                <a:latin typeface="Consolas"/>
              </a:rPr>
              <a:t> += </a:t>
            </a:r>
            <a:r>
              <a:rPr lang="en-US" dirty="0" err="1">
                <a:latin typeface="Consolas"/>
              </a:rPr>
              <a:t>ctx</a:t>
            </a:r>
            <a:r>
              <a:rPr lang="en-US" dirty="0">
                <a:latin typeface="Consolas"/>
              </a:rPr>
              <a:t> =&gt; /* Action was performed */;
    </a:t>
            </a:r>
            <a:r>
              <a:rPr lang="en-US" dirty="0" err="1">
                <a:latin typeface="Consolas"/>
              </a:rPr>
              <a:t>action.canceled</a:t>
            </a:r>
            <a:r>
              <a:rPr lang="en-US" dirty="0">
                <a:latin typeface="Consolas"/>
              </a:rPr>
              <a:t> += </a:t>
            </a:r>
            <a:r>
              <a:rPr lang="en-US" dirty="0" err="1">
                <a:latin typeface="Consolas"/>
              </a:rPr>
              <a:t>ctx</a:t>
            </a:r>
            <a:r>
              <a:rPr lang="en-US" dirty="0">
                <a:latin typeface="Consolas"/>
              </a:rPr>
              <a:t> =&gt; /* Action was canceled */;</a:t>
            </a:r>
            <a:endParaRPr lang="en-US" dirty="0"/>
          </a:p>
        </p:txBody>
      </p:sp>
    </p:spTree>
    <p:extLst>
      <p:ext uri="{BB962C8B-B14F-4D97-AF65-F5344CB8AC3E}">
        <p14:creationId xmlns:p14="http://schemas.microsoft.com/office/powerpoint/2010/main" val="16718230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162F1-579E-6FE4-537A-0D596B5A6D12}"/>
              </a:ext>
            </a:extLst>
          </p:cNvPr>
          <p:cNvSpPr>
            <a:spLocks noGrp="1"/>
          </p:cNvSpPr>
          <p:nvPr>
            <p:ph type="title"/>
          </p:nvPr>
        </p:nvSpPr>
        <p:spPr/>
        <p:txBody>
          <a:bodyPr/>
          <a:lstStyle/>
          <a:p>
            <a:r>
              <a:rPr lang="en-US" err="1">
                <a:latin typeface="Consolas"/>
              </a:rPr>
              <a:t>InputActionMap.actionTriggered</a:t>
            </a:r>
            <a:r>
              <a:rPr lang="en-US"/>
              <a:t> callback</a:t>
            </a:r>
          </a:p>
        </p:txBody>
      </p:sp>
      <p:sp>
        <p:nvSpPr>
          <p:cNvPr id="3" name="Content Placeholder 2">
            <a:extLst>
              <a:ext uri="{FF2B5EF4-FFF2-40B4-BE49-F238E27FC236}">
                <a16:creationId xmlns:a16="http://schemas.microsoft.com/office/drawing/2014/main" id="{80063B26-9C93-C2B4-7C22-47C70C1775B9}"/>
              </a:ext>
            </a:extLst>
          </p:cNvPr>
          <p:cNvSpPr>
            <a:spLocks noGrp="1"/>
          </p:cNvSpPr>
          <p:nvPr>
            <p:ph idx="1"/>
          </p:nvPr>
        </p:nvSpPr>
        <p:spPr/>
        <p:txBody>
          <a:bodyPr spcFirstLastPara="1" vert="horz" wrap="square" lIns="91440" tIns="45720" rIns="91440" bIns="45720" rtlCol="0" anchor="t" anchorCtr="0">
            <a:normAutofit fontScale="92500"/>
          </a:bodyPr>
          <a:lstStyle/>
          <a:p>
            <a:pPr marL="0" indent="0">
              <a:buNone/>
            </a:pPr>
            <a:r>
              <a:rPr lang="en-US" dirty="0">
                <a:ea typeface="+mj-lt"/>
                <a:cs typeface="+mj-lt"/>
              </a:rPr>
              <a:t>Instead of listening to individual actions, you can listen on an entire Action Map for state changes on any of the Actions in the Action Map.</a:t>
            </a:r>
          </a:p>
          <a:p>
            <a:pPr marL="0" indent="0">
              <a:buNone/>
            </a:pPr>
            <a:r>
              <a:rPr lang="en-US" dirty="0">
                <a:latin typeface="Consolas"/>
              </a:rPr>
              <a:t>var </a:t>
            </a:r>
            <a:r>
              <a:rPr lang="en-US" dirty="0" err="1">
                <a:latin typeface="Consolas"/>
              </a:rPr>
              <a:t>actionMap</a:t>
            </a:r>
            <a:r>
              <a:rPr lang="en-US" dirty="0">
                <a:latin typeface="Consolas"/>
              </a:rPr>
              <a:t> = new </a:t>
            </a:r>
            <a:r>
              <a:rPr lang="en-US" dirty="0" err="1">
                <a:latin typeface="Consolas"/>
              </a:rPr>
              <a:t>InputActionMap</a:t>
            </a:r>
            <a:r>
              <a:rPr lang="en-US" dirty="0">
                <a:latin typeface="Consolas"/>
              </a:rPr>
              <a:t>();
</a:t>
            </a:r>
            <a:r>
              <a:rPr lang="en-US" dirty="0" err="1">
                <a:latin typeface="Consolas"/>
              </a:rPr>
              <a:t>actionMap.AddAction</a:t>
            </a:r>
            <a:r>
              <a:rPr lang="en-US" dirty="0">
                <a:latin typeface="Consolas"/>
              </a:rPr>
              <a:t>("action1", "&lt;Gamepad&gt;/</a:t>
            </a:r>
            <a:r>
              <a:rPr lang="en-US" dirty="0" err="1">
                <a:latin typeface="Consolas"/>
              </a:rPr>
              <a:t>buttonSouth</a:t>
            </a:r>
            <a:r>
              <a:rPr lang="en-US" dirty="0">
                <a:latin typeface="Consolas"/>
              </a:rPr>
              <a:t>");
</a:t>
            </a:r>
            <a:r>
              <a:rPr lang="en-US" dirty="0" err="1">
                <a:latin typeface="Consolas"/>
              </a:rPr>
              <a:t>actionMap.AddAction</a:t>
            </a:r>
            <a:r>
              <a:rPr lang="en-US" dirty="0">
                <a:latin typeface="Consolas"/>
              </a:rPr>
              <a:t>("action2", "&lt;Gamepad&gt;/</a:t>
            </a:r>
            <a:r>
              <a:rPr lang="en-US" dirty="0" err="1">
                <a:latin typeface="Consolas"/>
              </a:rPr>
              <a:t>buttonNorth</a:t>
            </a:r>
            <a:r>
              <a:rPr lang="en-US" dirty="0">
                <a:latin typeface="Consolas"/>
              </a:rPr>
              <a:t>");
</a:t>
            </a:r>
            <a:r>
              <a:rPr lang="en-US" dirty="0" err="1">
                <a:latin typeface="Consolas"/>
              </a:rPr>
              <a:t>actionMap.actionTriggered</a:t>
            </a:r>
            <a:r>
              <a:rPr lang="en-US" dirty="0">
                <a:latin typeface="Consolas"/>
              </a:rPr>
              <a:t> +=
    context =&gt; { ... };</a:t>
            </a:r>
            <a:endParaRPr lang="en-US" dirty="0"/>
          </a:p>
        </p:txBody>
      </p:sp>
    </p:spTree>
    <p:extLst>
      <p:ext uri="{BB962C8B-B14F-4D97-AF65-F5344CB8AC3E}">
        <p14:creationId xmlns:p14="http://schemas.microsoft.com/office/powerpoint/2010/main" val="7209408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970B8-C92B-A863-46AC-3643D0EB276F}"/>
              </a:ext>
            </a:extLst>
          </p:cNvPr>
          <p:cNvSpPr>
            <a:spLocks noGrp="1"/>
          </p:cNvSpPr>
          <p:nvPr>
            <p:ph type="title"/>
          </p:nvPr>
        </p:nvSpPr>
        <p:spPr/>
        <p:txBody>
          <a:bodyPr/>
          <a:lstStyle/>
          <a:p>
            <a:r>
              <a:rPr lang="en-US" err="1">
                <a:latin typeface="Consolas"/>
              </a:rPr>
              <a:t>InputSystem.onActionChange</a:t>
            </a:r>
            <a:r>
              <a:rPr lang="en-US"/>
              <a:t> callback</a:t>
            </a:r>
          </a:p>
        </p:txBody>
      </p:sp>
      <p:sp>
        <p:nvSpPr>
          <p:cNvPr id="3" name="Content Placeholder 2">
            <a:extLst>
              <a:ext uri="{FF2B5EF4-FFF2-40B4-BE49-F238E27FC236}">
                <a16:creationId xmlns:a16="http://schemas.microsoft.com/office/drawing/2014/main" id="{2508C3E9-86D3-A67F-92CF-1F5ABBAEAA04}"/>
              </a:ext>
            </a:extLst>
          </p:cNvPr>
          <p:cNvSpPr>
            <a:spLocks noGrp="1"/>
          </p:cNvSpPr>
          <p:nvPr>
            <p:ph idx="1"/>
          </p:nvPr>
        </p:nvSpPr>
        <p:spPr/>
        <p:txBody>
          <a:bodyPr spcFirstLastPara="1" vert="horz" wrap="square" lIns="91440" tIns="45720" rIns="91440" bIns="45720" rtlCol="0" anchor="t" anchorCtr="0">
            <a:normAutofit fontScale="62500" lnSpcReduction="20000"/>
          </a:bodyPr>
          <a:lstStyle/>
          <a:p>
            <a:r>
              <a:rPr lang="en-US" dirty="0">
                <a:ea typeface="+mj-lt"/>
                <a:cs typeface="+mj-lt"/>
              </a:rPr>
              <a:t>Similar to </a:t>
            </a:r>
            <a:r>
              <a:rPr lang="en-US" dirty="0" err="1">
                <a:latin typeface="Consolas"/>
              </a:rPr>
              <a:t>InputSystem.onDeviceChange</a:t>
            </a:r>
            <a:r>
              <a:rPr lang="en-US" dirty="0">
                <a:ea typeface="+mj-lt"/>
                <a:cs typeface="+mj-lt"/>
              </a:rPr>
              <a:t>, your app can listen for any action-related change globally.</a:t>
            </a:r>
          </a:p>
          <a:p>
            <a:pPr marL="400050" lvl="1" indent="0">
              <a:buNone/>
            </a:pPr>
            <a:r>
              <a:rPr lang="en-US" dirty="0" err="1">
                <a:latin typeface="Consolas"/>
              </a:rPr>
              <a:t>InputSystem.onActionChange</a:t>
            </a:r>
            <a:r>
              <a:rPr lang="en-US" dirty="0">
                <a:latin typeface="Consolas"/>
              </a:rPr>
              <a:t> +=
    (obj, change) =&gt;
    {
        // obj can be either an </a:t>
            </a:r>
            <a:r>
              <a:rPr lang="en-US" dirty="0" err="1">
                <a:latin typeface="Consolas"/>
              </a:rPr>
              <a:t>InputAction</a:t>
            </a:r>
            <a:r>
              <a:rPr lang="en-US" dirty="0">
                <a:latin typeface="Consolas"/>
              </a:rPr>
              <a:t> or an </a:t>
            </a:r>
            <a:r>
              <a:rPr lang="en-US" dirty="0" err="1">
                <a:latin typeface="Consolas"/>
              </a:rPr>
              <a:t>InputActionMap</a:t>
            </a:r>
            <a:r>
              <a:rPr lang="en-US" dirty="0">
                <a:latin typeface="Consolas"/>
              </a:rPr>
              <a:t>
        // depending on the specific change.
        switch (change)
        {
            case </a:t>
            </a:r>
            <a:r>
              <a:rPr lang="en-US" dirty="0" err="1">
                <a:latin typeface="Consolas"/>
              </a:rPr>
              <a:t>InputActionChange.ActionStarted</a:t>
            </a:r>
            <a:r>
              <a:rPr lang="en-US" dirty="0">
                <a:latin typeface="Consolas"/>
              </a:rPr>
              <a:t>:
            case </a:t>
            </a:r>
            <a:r>
              <a:rPr lang="en-US" dirty="0" err="1">
                <a:latin typeface="Consolas"/>
              </a:rPr>
              <a:t>InputActionChange.ActionPerformed</a:t>
            </a:r>
            <a:r>
              <a:rPr lang="en-US" dirty="0">
                <a:latin typeface="Consolas"/>
              </a:rPr>
              <a:t>:
            case </a:t>
            </a:r>
            <a:r>
              <a:rPr lang="en-US" dirty="0" err="1">
                <a:latin typeface="Consolas"/>
              </a:rPr>
              <a:t>InputActionChange.ActionCanceled</a:t>
            </a:r>
            <a:r>
              <a:rPr lang="en-US" dirty="0">
                <a:latin typeface="Consolas"/>
              </a:rPr>
              <a:t>:
                </a:t>
            </a:r>
            <a:r>
              <a:rPr lang="en-US" dirty="0" err="1">
                <a:latin typeface="Consolas"/>
              </a:rPr>
              <a:t>Debug.Log</a:t>
            </a:r>
            <a:r>
              <a:rPr lang="en-US" dirty="0">
                <a:latin typeface="Consolas"/>
              </a:rPr>
              <a:t>($"{((</a:t>
            </a:r>
            <a:r>
              <a:rPr lang="en-US" dirty="0" err="1">
                <a:latin typeface="Consolas"/>
              </a:rPr>
              <a:t>InputAction</a:t>
            </a:r>
            <a:r>
              <a:rPr lang="en-US" dirty="0">
                <a:latin typeface="Consolas"/>
              </a:rPr>
              <a:t>)obj).name} {change}");
                break;
        }
    }
</a:t>
            </a:r>
            <a:br>
              <a:rPr lang="en-US" dirty="0">
                <a:latin typeface="Consolas"/>
              </a:rPr>
            </a:br>
            <a:endParaRPr lang="en-US" dirty="0">
              <a:latin typeface="Consolas"/>
            </a:endParaRPr>
          </a:p>
        </p:txBody>
      </p:sp>
    </p:spTree>
    <p:extLst>
      <p:ext uri="{BB962C8B-B14F-4D97-AF65-F5344CB8AC3E}">
        <p14:creationId xmlns:p14="http://schemas.microsoft.com/office/powerpoint/2010/main" val="22638848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9087-F03E-B58A-4617-CA9ADD1806F0}"/>
              </a:ext>
            </a:extLst>
          </p:cNvPr>
          <p:cNvSpPr>
            <a:spLocks noGrp="1"/>
          </p:cNvSpPr>
          <p:nvPr>
            <p:ph type="title"/>
          </p:nvPr>
        </p:nvSpPr>
        <p:spPr/>
        <p:txBody>
          <a:bodyPr/>
          <a:lstStyle/>
          <a:p>
            <a:r>
              <a:rPr lang="en-US"/>
              <a:t>Polling Actions</a:t>
            </a:r>
          </a:p>
        </p:txBody>
      </p:sp>
      <p:sp>
        <p:nvSpPr>
          <p:cNvPr id="3" name="Content Placeholder 2">
            <a:extLst>
              <a:ext uri="{FF2B5EF4-FFF2-40B4-BE49-F238E27FC236}">
                <a16:creationId xmlns:a16="http://schemas.microsoft.com/office/drawing/2014/main" id="{8DEF091E-DD28-0725-828A-14B5E87E81AF}"/>
              </a:ext>
            </a:extLst>
          </p:cNvPr>
          <p:cNvSpPr>
            <a:spLocks noGrp="1"/>
          </p:cNvSpPr>
          <p:nvPr>
            <p:ph idx="1"/>
          </p:nvPr>
        </p:nvSpPr>
        <p:spPr/>
        <p:txBody>
          <a:bodyPr spcFirstLastPara="1" vert="horz" wrap="square" lIns="91440" tIns="45720" rIns="91440" bIns="45720" rtlCol="0" anchor="t" anchorCtr="0">
            <a:normAutofit fontScale="70000" lnSpcReduction="20000"/>
          </a:bodyPr>
          <a:lstStyle/>
          <a:p>
            <a:r>
              <a:rPr lang="en-US" dirty="0">
                <a:ea typeface="+mj-lt"/>
                <a:cs typeface="+mj-lt"/>
              </a:rPr>
              <a:t>Instead of using callbacks, it might be simpler sometimes to poll the value of an Action where you need it in your code.</a:t>
            </a:r>
          </a:p>
          <a:p>
            <a:pPr marL="400050" lvl="1" indent="0">
              <a:buNone/>
            </a:pPr>
            <a:r>
              <a:rPr lang="en-US" dirty="0">
                <a:latin typeface="Consolas"/>
              </a:rPr>
              <a:t>public </a:t>
            </a:r>
            <a:r>
              <a:rPr lang="en-US" dirty="0" err="1">
                <a:latin typeface="Consolas"/>
              </a:rPr>
              <a:t>InputAction</a:t>
            </a:r>
            <a:r>
              <a:rPr lang="en-US" dirty="0">
                <a:latin typeface="Consolas"/>
              </a:rPr>
              <a:t> </a:t>
            </a:r>
            <a:r>
              <a:rPr lang="en-US" dirty="0" err="1">
                <a:latin typeface="Consolas"/>
              </a:rPr>
              <a:t>moveAction</a:t>
            </a:r>
            <a:r>
              <a:rPr lang="en-US" dirty="0">
                <a:latin typeface="Consolas"/>
              </a:rPr>
              <a:t>;
    public float </a:t>
            </a:r>
            <a:r>
              <a:rPr lang="en-US" dirty="0" err="1">
                <a:latin typeface="Consolas"/>
              </a:rPr>
              <a:t>moveSpeed</a:t>
            </a:r>
            <a:r>
              <a:rPr lang="en-US" dirty="0">
                <a:latin typeface="Consolas"/>
              </a:rPr>
              <a:t> = 10.0f;
    public Vector2 position;
    void Start()
    {
        </a:t>
            </a:r>
            <a:r>
              <a:rPr lang="en-US" dirty="0" err="1">
                <a:latin typeface="Consolas"/>
              </a:rPr>
              <a:t>moveAction.Enable</a:t>
            </a:r>
            <a:r>
              <a:rPr lang="en-US" dirty="0">
                <a:latin typeface="Consolas"/>
              </a:rPr>
              <a:t>();
    }
    void Update()
    {
        var </a:t>
            </a:r>
            <a:r>
              <a:rPr lang="en-US" dirty="0" err="1">
                <a:latin typeface="Consolas"/>
              </a:rPr>
              <a:t>moveDirection</a:t>
            </a:r>
            <a:r>
              <a:rPr lang="en-US" dirty="0">
                <a:latin typeface="Consolas"/>
              </a:rPr>
              <a:t> = </a:t>
            </a:r>
            <a:r>
              <a:rPr lang="en-US" dirty="0" err="1">
                <a:latin typeface="Consolas"/>
              </a:rPr>
              <a:t>moveAction.ReadValue</a:t>
            </a:r>
            <a:r>
              <a:rPr lang="en-US" dirty="0">
                <a:latin typeface="Consolas"/>
              </a:rPr>
              <a:t>&lt;Vector2&gt;();
        position += </a:t>
            </a:r>
            <a:r>
              <a:rPr lang="en-US" dirty="0" err="1">
                <a:latin typeface="Consolas"/>
              </a:rPr>
              <a:t>moveDirection</a:t>
            </a:r>
            <a:r>
              <a:rPr lang="en-US" dirty="0">
                <a:latin typeface="Consolas"/>
              </a:rPr>
              <a:t> * </a:t>
            </a:r>
            <a:r>
              <a:rPr lang="en-US" dirty="0" err="1">
                <a:latin typeface="Consolas"/>
              </a:rPr>
              <a:t>moveSpeed</a:t>
            </a:r>
            <a:r>
              <a:rPr lang="en-US" dirty="0">
                <a:latin typeface="Consolas"/>
              </a:rPr>
              <a:t> * </a:t>
            </a:r>
            <a:r>
              <a:rPr lang="en-US" dirty="0" err="1">
                <a:latin typeface="Consolas"/>
              </a:rPr>
              <a:t>Time.deltaTime</a:t>
            </a:r>
            <a:r>
              <a:rPr lang="en-US" dirty="0">
                <a:latin typeface="Consolas"/>
              </a:rPr>
              <a:t>;
    }</a:t>
            </a:r>
            <a:endParaRPr lang="en-US" dirty="0"/>
          </a:p>
        </p:txBody>
      </p:sp>
    </p:spTree>
    <p:extLst>
      <p:ext uri="{BB962C8B-B14F-4D97-AF65-F5344CB8AC3E}">
        <p14:creationId xmlns:p14="http://schemas.microsoft.com/office/powerpoint/2010/main" val="5078493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64A7B-B08B-6FE8-D699-8C41F9617120}"/>
              </a:ext>
            </a:extLst>
          </p:cNvPr>
          <p:cNvSpPr>
            <a:spLocks noGrp="1"/>
          </p:cNvSpPr>
          <p:nvPr>
            <p:ph type="title"/>
          </p:nvPr>
        </p:nvSpPr>
        <p:spPr/>
        <p:txBody>
          <a:bodyPr/>
          <a:lstStyle/>
          <a:p>
            <a:r>
              <a:rPr lang="en-US" dirty="0" err="1"/>
              <a:t>InputAction.WasPerformedThisFrame</a:t>
            </a:r>
            <a:r>
              <a:rPr lang="en-US" dirty="0"/>
              <a:t>()</a:t>
            </a:r>
          </a:p>
        </p:txBody>
      </p:sp>
      <p:sp>
        <p:nvSpPr>
          <p:cNvPr id="3" name="Content Placeholder 2">
            <a:extLst>
              <a:ext uri="{FF2B5EF4-FFF2-40B4-BE49-F238E27FC236}">
                <a16:creationId xmlns:a16="http://schemas.microsoft.com/office/drawing/2014/main" id="{9B4D310E-5A53-533B-5704-3373F9819B0F}"/>
              </a:ext>
            </a:extLst>
          </p:cNvPr>
          <p:cNvSpPr>
            <a:spLocks noGrp="1"/>
          </p:cNvSpPr>
          <p:nvPr>
            <p:ph idx="1"/>
          </p:nvPr>
        </p:nvSpPr>
        <p:spPr/>
        <p:txBody>
          <a:bodyPr spcFirstLastPara="1" vert="horz" wrap="square" lIns="91440" tIns="45720" rIns="91440" bIns="45720" rtlCol="0" anchor="t" anchorCtr="0">
            <a:normAutofit fontScale="25000" lnSpcReduction="20000"/>
          </a:bodyPr>
          <a:lstStyle/>
          <a:p>
            <a:pPr marL="0" indent="0">
              <a:buNone/>
            </a:pPr>
            <a:r>
              <a:rPr lang="en-US" dirty="0">
                <a:ea typeface="+mj-lt"/>
                <a:cs typeface="+mj-lt"/>
              </a:rPr>
              <a:t>To determine whether an action was performed in the current frame, you can use </a:t>
            </a:r>
            <a:r>
              <a:rPr lang="en-US" dirty="0" err="1">
                <a:latin typeface="Consolas"/>
                <a:hlinkClick r:id="rId2"/>
              </a:rPr>
              <a:t>InputAction.WasPerformedThisFrame</a:t>
            </a:r>
            <a:r>
              <a:rPr lang="en-US" dirty="0">
                <a:latin typeface="Consolas"/>
                <a:hlinkClick r:id="rId2"/>
              </a:rPr>
              <a:t>()</a:t>
            </a:r>
            <a:r>
              <a:rPr lang="en-US" dirty="0">
                <a:ea typeface="+mj-lt"/>
                <a:cs typeface="+mj-lt"/>
              </a:rPr>
              <a:t>:</a:t>
            </a:r>
          </a:p>
          <a:p>
            <a:pPr marL="0" indent="0">
              <a:buNone/>
            </a:pPr>
            <a:r>
              <a:rPr lang="en-US" dirty="0">
                <a:latin typeface="Consolas"/>
              </a:rPr>
              <a:t>private </a:t>
            </a:r>
            <a:r>
              <a:rPr lang="en-US" dirty="0" err="1">
                <a:latin typeface="Consolas"/>
              </a:rPr>
              <a:t>InputAction</a:t>
            </a:r>
            <a:r>
              <a:rPr lang="en-US" dirty="0">
                <a:latin typeface="Consolas"/>
              </a:rPr>
              <a:t> action;
    void Start()
    {
        // Set up an action that triggers when the A button is
        // held for 1 second.
        action = new </a:t>
            </a:r>
            <a:r>
              <a:rPr lang="en-US" dirty="0" err="1">
                <a:latin typeface="Consolas"/>
              </a:rPr>
              <a:t>InputAction</a:t>
            </a:r>
            <a:r>
              <a:rPr lang="en-US" dirty="0">
                <a:latin typeface="Consolas"/>
              </a:rPr>
              <a:t>(
            type: </a:t>
            </a:r>
            <a:r>
              <a:rPr lang="en-US" dirty="0" err="1">
                <a:latin typeface="Consolas"/>
              </a:rPr>
              <a:t>InputActionType.Button</a:t>
            </a:r>
            <a:r>
              <a:rPr lang="en-US" dirty="0">
                <a:latin typeface="Consolas"/>
              </a:rPr>
              <a:t>,
            binding: "&lt;Gamepad&gt;/</a:t>
            </a:r>
            <a:r>
              <a:rPr lang="en-US" dirty="0" err="1">
                <a:latin typeface="Consolas"/>
              </a:rPr>
              <a:t>buttonSouth</a:t>
            </a:r>
            <a:r>
              <a:rPr lang="en-US" dirty="0">
                <a:latin typeface="Consolas"/>
              </a:rPr>
              <a:t>",
            interactions: "hold(duration=1)");
        </a:t>
            </a:r>
            <a:r>
              <a:rPr lang="en-US" dirty="0" err="1">
                <a:latin typeface="Consolas"/>
              </a:rPr>
              <a:t>action.Enable</a:t>
            </a:r>
            <a:r>
              <a:rPr lang="en-US" dirty="0">
                <a:latin typeface="Consolas"/>
              </a:rPr>
              <a:t>();
    }
    void Update()
    {
        if (</a:t>
            </a:r>
            <a:r>
              <a:rPr lang="en-US" dirty="0" err="1">
                <a:latin typeface="Consolas"/>
              </a:rPr>
              <a:t>action.WasPerformedThisFrame</a:t>
            </a:r>
            <a:r>
              <a:rPr lang="en-US" dirty="0">
                <a:latin typeface="Consolas"/>
              </a:rPr>
              <a:t>())
            </a:t>
            </a:r>
            <a:r>
              <a:rPr lang="en-US" dirty="0" err="1">
                <a:latin typeface="Consolas"/>
              </a:rPr>
              <a:t>Debug.Log</a:t>
            </a:r>
            <a:r>
              <a:rPr lang="en-US" dirty="0">
                <a:latin typeface="Consolas"/>
              </a:rPr>
              <a:t>("A button on gamepad was held for one second");
    }</a:t>
            </a:r>
            <a:endParaRPr lang="en-US" dirty="0"/>
          </a:p>
        </p:txBody>
      </p:sp>
    </p:spTree>
    <p:extLst>
      <p:ext uri="{BB962C8B-B14F-4D97-AF65-F5344CB8AC3E}">
        <p14:creationId xmlns:p14="http://schemas.microsoft.com/office/powerpoint/2010/main" val="40815380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55A6-A008-138F-9FE0-87DC9B798669}"/>
              </a:ext>
            </a:extLst>
          </p:cNvPr>
          <p:cNvSpPr>
            <a:spLocks noGrp="1"/>
          </p:cNvSpPr>
          <p:nvPr>
            <p:ph type="title"/>
          </p:nvPr>
        </p:nvSpPr>
        <p:spPr/>
        <p:txBody>
          <a:bodyPr/>
          <a:lstStyle/>
          <a:p>
            <a:r>
              <a:rPr lang="en-US">
                <a:ea typeface="+mn-lt"/>
                <a:cs typeface="+mn-lt"/>
              </a:rPr>
              <a:t>poll for button presses and releases</a:t>
            </a:r>
            <a:endParaRPr lang="en-US"/>
          </a:p>
        </p:txBody>
      </p:sp>
      <p:sp>
        <p:nvSpPr>
          <p:cNvPr id="3" name="Content Placeholder 2">
            <a:extLst>
              <a:ext uri="{FF2B5EF4-FFF2-40B4-BE49-F238E27FC236}">
                <a16:creationId xmlns:a16="http://schemas.microsoft.com/office/drawing/2014/main" id="{C8114690-41A3-37D1-5B68-0C878C3569C7}"/>
              </a:ext>
            </a:extLst>
          </p:cNvPr>
          <p:cNvSpPr>
            <a:spLocks noGrp="1"/>
          </p:cNvSpPr>
          <p:nvPr>
            <p:ph idx="1"/>
          </p:nvPr>
        </p:nvSpPr>
        <p:spPr/>
        <p:txBody>
          <a:bodyPr spcFirstLastPara="1" vert="horz" wrap="square" lIns="91440" tIns="45720" rIns="91440" bIns="45720" rtlCol="0" anchor="t" anchorCtr="0">
            <a:normAutofit fontScale="32500" lnSpcReduction="20000"/>
          </a:bodyPr>
          <a:lstStyle/>
          <a:p>
            <a:pPr marL="0" indent="0">
              <a:buNone/>
            </a:pPr>
            <a:r>
              <a:rPr lang="en-US" dirty="0">
                <a:latin typeface="Consolas"/>
              </a:rPr>
              <a:t>public </a:t>
            </a:r>
            <a:r>
              <a:rPr lang="en-US" dirty="0" err="1">
                <a:latin typeface="Consolas"/>
              </a:rPr>
              <a:t>PlayerInput</a:t>
            </a:r>
            <a:r>
              <a:rPr lang="en-US" dirty="0">
                <a:latin typeface="Consolas"/>
              </a:rPr>
              <a:t> </a:t>
            </a:r>
            <a:r>
              <a:rPr lang="en-US" dirty="0" err="1">
                <a:latin typeface="Consolas"/>
              </a:rPr>
              <a:t>playerInput</a:t>
            </a:r>
            <a:r>
              <a:rPr lang="en-US" dirty="0">
                <a:latin typeface="Consolas"/>
              </a:rPr>
              <a:t>;
    public void Update()
    {
        // </a:t>
            </a:r>
            <a:r>
              <a:rPr lang="en-US" dirty="0" err="1">
                <a:latin typeface="Consolas"/>
              </a:rPr>
              <a:t>IsPressed</a:t>
            </a:r>
            <a:r>
              <a:rPr lang="en-US" dirty="0">
                <a:latin typeface="Consolas"/>
              </a:rPr>
              <a:t>
        if (</a:t>
            </a:r>
            <a:r>
              <a:rPr lang="en-US" dirty="0" err="1">
                <a:latin typeface="Consolas"/>
              </a:rPr>
              <a:t>playerInput.actions</a:t>
            </a:r>
            <a:r>
              <a:rPr lang="en-US" dirty="0">
                <a:latin typeface="Consolas"/>
              </a:rPr>
              <a:t>["up"].</a:t>
            </a:r>
            <a:r>
              <a:rPr lang="en-US" dirty="0" err="1">
                <a:latin typeface="Consolas"/>
              </a:rPr>
              <a:t>IsPressed</a:t>
            </a:r>
            <a:r>
              <a:rPr lang="en-US" dirty="0">
                <a:latin typeface="Consolas"/>
              </a:rPr>
              <a:t>())
            </a:t>
            </a:r>
            <a:r>
              <a:rPr lang="en-US" dirty="0" err="1">
                <a:latin typeface="Consolas"/>
              </a:rPr>
              <a:t>transform.Translate</a:t>
            </a:r>
            <a:r>
              <a:rPr lang="en-US" dirty="0">
                <a:latin typeface="Consolas"/>
              </a:rPr>
              <a:t>(0, 10 * </a:t>
            </a:r>
            <a:r>
              <a:rPr lang="en-US" dirty="0" err="1">
                <a:latin typeface="Consolas"/>
              </a:rPr>
              <a:t>Time.deltaTime</a:t>
            </a:r>
            <a:r>
              <a:rPr lang="en-US" dirty="0">
                <a:latin typeface="Consolas"/>
              </a:rPr>
              <a:t>, 0);
        // </a:t>
            </a:r>
            <a:r>
              <a:rPr lang="en-US" dirty="0" err="1">
                <a:latin typeface="Consolas"/>
              </a:rPr>
              <a:t>WasPressedThisFrame</a:t>
            </a:r>
            <a:r>
              <a:rPr lang="en-US" dirty="0">
                <a:latin typeface="Consolas"/>
              </a:rPr>
              <a:t>
        if (</a:t>
            </a:r>
            <a:r>
              <a:rPr lang="en-US" dirty="0" err="1">
                <a:latin typeface="Consolas"/>
              </a:rPr>
              <a:t>playerInput.actions</a:t>
            </a:r>
            <a:r>
              <a:rPr lang="en-US" dirty="0">
                <a:latin typeface="Consolas"/>
              </a:rPr>
              <a:t>["teleport"].</a:t>
            </a:r>
            <a:r>
              <a:rPr lang="en-US" dirty="0" err="1">
                <a:latin typeface="Consolas"/>
              </a:rPr>
              <a:t>WasPressedThisFrame</a:t>
            </a:r>
            <a:r>
              <a:rPr lang="en-US" dirty="0">
                <a:latin typeface="Consolas"/>
              </a:rPr>
              <a:t>())
            Teleport();
        // </a:t>
            </a:r>
            <a:r>
              <a:rPr lang="en-US" dirty="0" err="1">
                <a:latin typeface="Consolas"/>
              </a:rPr>
              <a:t>WasReleasedThisFrame</a:t>
            </a:r>
            <a:r>
              <a:rPr lang="en-US" dirty="0">
                <a:latin typeface="Consolas"/>
              </a:rPr>
              <a:t>
        if (</a:t>
            </a:r>
            <a:r>
              <a:rPr lang="en-US" dirty="0" err="1">
                <a:latin typeface="Consolas"/>
              </a:rPr>
              <a:t>playerInput.actions</a:t>
            </a:r>
            <a:r>
              <a:rPr lang="en-US" dirty="0">
                <a:latin typeface="Consolas"/>
              </a:rPr>
              <a:t>["submit"].</a:t>
            </a:r>
            <a:r>
              <a:rPr lang="en-US" dirty="0" err="1">
                <a:latin typeface="Consolas"/>
              </a:rPr>
              <a:t>WasReleasedThisFrame</a:t>
            </a:r>
            <a:r>
              <a:rPr lang="en-US" dirty="0">
                <a:latin typeface="Consolas"/>
              </a:rPr>
              <a:t>())
            </a:t>
            </a:r>
            <a:r>
              <a:rPr lang="en-US" dirty="0" err="1">
                <a:latin typeface="Consolas"/>
              </a:rPr>
              <a:t>ConfirmSelection</a:t>
            </a:r>
            <a:r>
              <a:rPr lang="en-US" dirty="0">
                <a:latin typeface="Consolas"/>
              </a:rPr>
              <a:t>();
    }
</a:t>
            </a:r>
            <a:br>
              <a:rPr lang="en-US" dirty="0">
                <a:latin typeface="Consolas"/>
              </a:rPr>
            </a:br>
            <a:endParaRPr lang="en-US" dirty="0">
              <a:latin typeface="Consolas"/>
            </a:endParaRPr>
          </a:p>
        </p:txBody>
      </p:sp>
    </p:spTree>
    <p:extLst>
      <p:ext uri="{BB962C8B-B14F-4D97-AF65-F5344CB8AC3E}">
        <p14:creationId xmlns:p14="http://schemas.microsoft.com/office/powerpoint/2010/main" val="37785665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C3881-6BA2-7473-6177-7DB886525801}"/>
              </a:ext>
            </a:extLst>
          </p:cNvPr>
          <p:cNvSpPr>
            <a:spLocks noGrp="1"/>
          </p:cNvSpPr>
          <p:nvPr>
            <p:ph type="title"/>
          </p:nvPr>
        </p:nvSpPr>
        <p:spPr/>
        <p:txBody>
          <a:bodyPr/>
          <a:lstStyle/>
          <a:p>
            <a:r>
              <a:rPr lang="en-US" dirty="0"/>
              <a:t>How to Simulate Touch Screen</a:t>
            </a:r>
            <a:endParaRPr lang="en-CA" dirty="0"/>
          </a:p>
        </p:txBody>
      </p:sp>
      <p:pic>
        <p:nvPicPr>
          <p:cNvPr id="5" name="Content Placeholder 4">
            <a:extLst>
              <a:ext uri="{FF2B5EF4-FFF2-40B4-BE49-F238E27FC236}">
                <a16:creationId xmlns:a16="http://schemas.microsoft.com/office/drawing/2014/main" id="{FCDB4DA7-68B5-F3EE-42F3-8E5AB4585BEA}"/>
              </a:ext>
            </a:extLst>
          </p:cNvPr>
          <p:cNvPicPr>
            <a:picLocks noGrp="1" noChangeAspect="1"/>
          </p:cNvPicPr>
          <p:nvPr>
            <p:ph idx="1"/>
          </p:nvPr>
        </p:nvPicPr>
        <p:blipFill>
          <a:blip r:embed="rId2"/>
          <a:stretch>
            <a:fillRect/>
          </a:stretch>
        </p:blipFill>
        <p:spPr>
          <a:xfrm>
            <a:off x="4291000" y="2377270"/>
            <a:ext cx="3610001" cy="2971822"/>
          </a:xfrm>
        </p:spPr>
      </p:pic>
    </p:spTree>
    <p:extLst>
      <p:ext uri="{BB962C8B-B14F-4D97-AF65-F5344CB8AC3E}">
        <p14:creationId xmlns:p14="http://schemas.microsoft.com/office/powerpoint/2010/main" val="676483591"/>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1890</TotalTime>
  <Words>11665</Words>
  <Application>Microsoft Macintosh PowerPoint</Application>
  <PresentationFormat>Widescreen</PresentationFormat>
  <Paragraphs>1333</Paragraphs>
  <Slides>101</Slides>
  <Notes>26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101</vt:i4>
      </vt:variant>
    </vt:vector>
  </HeadingPairs>
  <TitlesOfParts>
    <vt:vector size="113" baseType="lpstr">
      <vt:lpstr>Cascadia Mono</vt:lpstr>
      <vt:lpstr>Cambria Math</vt:lpstr>
      <vt:lpstr>Arial</vt:lpstr>
      <vt:lpstr>Symbol</vt:lpstr>
      <vt:lpstr>Calibri</vt:lpstr>
      <vt:lpstr>Quattrocento Sans</vt:lpstr>
      <vt:lpstr>Roboto</vt:lpstr>
      <vt:lpstr>Google Sans</vt:lpstr>
      <vt:lpstr>Wingdings</vt:lpstr>
      <vt:lpstr>Consolas</vt:lpstr>
      <vt:lpstr>Century Gothic</vt:lpstr>
      <vt:lpstr>Get Started with 3D</vt:lpstr>
      <vt:lpstr>Week 7 Game Engine Development Unity User Interface</vt:lpstr>
      <vt:lpstr>Objective &amp; Concept</vt:lpstr>
      <vt:lpstr>HID</vt:lpstr>
      <vt:lpstr>Types of HIDs</vt:lpstr>
      <vt:lpstr>Types of HIDs</vt:lpstr>
      <vt:lpstr>Interfacing to a HID</vt:lpstr>
      <vt:lpstr>Interfacing</vt:lpstr>
      <vt:lpstr>Type of input</vt:lpstr>
      <vt:lpstr>wButtons</vt:lpstr>
      <vt:lpstr>Xinput_gamepad</vt:lpstr>
      <vt:lpstr>Analog axes and buttons</vt:lpstr>
      <vt:lpstr>_XINPUT_GAMEPAD</vt:lpstr>
      <vt:lpstr>Relative axes</vt:lpstr>
      <vt:lpstr>Accelerometers</vt:lpstr>
      <vt:lpstr>WiiMote and DualShock</vt:lpstr>
      <vt:lpstr>Dual Sense</vt:lpstr>
      <vt:lpstr>Cameras</vt:lpstr>
      <vt:lpstr>Camera input</vt:lpstr>
      <vt:lpstr>Types of output</vt:lpstr>
      <vt:lpstr>Game Engine HID Systems</vt:lpstr>
      <vt:lpstr>Typical requirements</vt:lpstr>
      <vt:lpstr>Dead zones</vt:lpstr>
      <vt:lpstr>Analog signal filtering</vt:lpstr>
      <vt:lpstr>Low-pass filter</vt:lpstr>
      <vt:lpstr>Moving average</vt:lpstr>
      <vt:lpstr>Input event detection</vt:lpstr>
      <vt:lpstr>Chords</vt:lpstr>
      <vt:lpstr>Sequences and gestures</vt:lpstr>
      <vt:lpstr>Rapid Button Tapping</vt:lpstr>
      <vt:lpstr>ButtonTapDetector</vt:lpstr>
      <vt:lpstr>Multibutton Sequence</vt:lpstr>
      <vt:lpstr>Thumb Stick Rotation</vt:lpstr>
      <vt:lpstr>Multiple HIDs</vt:lpstr>
      <vt:lpstr>Cross platform HIDs</vt:lpstr>
      <vt:lpstr>Hardware abstraction layer</vt:lpstr>
      <vt:lpstr>Input re-mapping</vt:lpstr>
      <vt:lpstr>Input values</vt:lpstr>
      <vt:lpstr>Context sensitive controls</vt:lpstr>
      <vt:lpstr>Disabling inputs</vt:lpstr>
      <vt:lpstr>In practice</vt:lpstr>
      <vt:lpstr>Unity HID Support</vt:lpstr>
      <vt:lpstr>Input Debugger</vt:lpstr>
      <vt:lpstr>HID Descriptor</vt:lpstr>
      <vt:lpstr>Mouse</vt:lpstr>
      <vt:lpstr>Input Debugger</vt:lpstr>
      <vt:lpstr>HID Layout</vt:lpstr>
      <vt:lpstr>Monitoring Devices</vt:lpstr>
      <vt:lpstr>HID output</vt:lpstr>
      <vt:lpstr>Input Settings</vt:lpstr>
      <vt:lpstr>Update Mode</vt:lpstr>
      <vt:lpstr>Background Behavior</vt:lpstr>
      <vt:lpstr>Background Behavior</vt:lpstr>
      <vt:lpstr>Filter Noise On Current</vt:lpstr>
      <vt:lpstr>Compensate Orientation</vt:lpstr>
      <vt:lpstr>Default value properties</vt:lpstr>
      <vt:lpstr>Supported Devices</vt:lpstr>
      <vt:lpstr>Override in Editor</vt:lpstr>
      <vt:lpstr>Platform-specific settings</vt:lpstr>
      <vt:lpstr>Play Mode Input Behavior</vt:lpstr>
      <vt:lpstr>Supported Input Devices</vt:lpstr>
      <vt:lpstr>Pointers</vt:lpstr>
      <vt:lpstr>Pointer Controls</vt:lpstr>
      <vt:lpstr>Keyboard support</vt:lpstr>
      <vt:lpstr>Lab1: The old input manager</vt:lpstr>
      <vt:lpstr>The old input manager</vt:lpstr>
      <vt:lpstr>Lab2: Getting input directly from an Input Device Using New Input System Manager</vt:lpstr>
      <vt:lpstr>PlayerController2.cs</vt:lpstr>
      <vt:lpstr>Input Actions</vt:lpstr>
      <vt:lpstr>Input Actions</vt:lpstr>
      <vt:lpstr>Input Action</vt:lpstr>
      <vt:lpstr>3  classes for Actions </vt:lpstr>
      <vt:lpstr>Creating Actions</vt:lpstr>
      <vt:lpstr>Lab3: Creating Input Action Assets</vt:lpstr>
      <vt:lpstr>Create Input an Action Asset</vt:lpstr>
      <vt:lpstr>Setting Up the Action Map</vt:lpstr>
      <vt:lpstr>Setting Up an Action Type</vt:lpstr>
      <vt:lpstr>Setting Up an Action Binding</vt:lpstr>
      <vt:lpstr>Setting Up a Path for each binding</vt:lpstr>
      <vt:lpstr>Add arrow keys</vt:lpstr>
      <vt:lpstr>PlayerController3</vt:lpstr>
      <vt:lpstr>Using Action Assets with PlayerInput</vt:lpstr>
      <vt:lpstr>Add a PlayerInput Component</vt:lpstr>
      <vt:lpstr>“Player Input” component</vt:lpstr>
      <vt:lpstr>Setting up Action responses</vt:lpstr>
      <vt:lpstr>Set the callback context</vt:lpstr>
      <vt:lpstr>Lab4: Generate C# Class</vt:lpstr>
      <vt:lpstr>PlayerController4.cs</vt:lpstr>
      <vt:lpstr>Lab5: Embedding Actions in MonoBehaviours</vt:lpstr>
      <vt:lpstr>Enable/Disable Actions </vt:lpstr>
      <vt:lpstr>Events</vt:lpstr>
      <vt:lpstr>Lab6: Loading Actions from JSON</vt:lpstr>
      <vt:lpstr>Lab7: Creating Actions in code</vt:lpstr>
      <vt:lpstr>Lab8: Default Actions</vt:lpstr>
      <vt:lpstr>Responding to Actions</vt:lpstr>
      <vt:lpstr>Action callbacks</vt:lpstr>
      <vt:lpstr>InputActionMap.actionTriggered callback</vt:lpstr>
      <vt:lpstr>InputSystem.onActionChange callback</vt:lpstr>
      <vt:lpstr>Polling Actions</vt:lpstr>
      <vt:lpstr>InputAction.WasPerformedThisFrame()</vt:lpstr>
      <vt:lpstr>poll for button presses and releases</vt:lpstr>
      <vt:lpstr>How to Simulate Touch Screen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Hooman Salamat</dc:creator>
  <cp:lastModifiedBy>Hooman Salamat</cp:lastModifiedBy>
  <cp:revision>84</cp:revision>
  <dcterms:created xsi:type="dcterms:W3CDTF">2020-06-08T20:23:19Z</dcterms:created>
  <dcterms:modified xsi:type="dcterms:W3CDTF">2026-10-08T13:36:50Z</dcterms:modified>
</cp:coreProperties>
</file>