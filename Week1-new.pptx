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1" r:id="rId24"/>
    <p:sldId id="280" r:id="rId25"/>
    <p:sldId id="323" r:id="rId26"/>
    <p:sldId id="282" r:id="rId27"/>
    <p:sldId id="324"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27" r:id="rId53"/>
    <p:sldId id="328" r:id="rId54"/>
    <p:sldId id="329" r:id="rId55"/>
    <p:sldId id="330" r:id="rId56"/>
    <p:sldId id="331" r:id="rId57"/>
    <p:sldId id="325" r:id="rId58"/>
    <p:sldId id="326" r:id="rId59"/>
    <p:sldId id="307" r:id="rId60"/>
    <p:sldId id="308" r:id="rId61"/>
    <p:sldId id="309" r:id="rId62"/>
    <p:sldId id="310" r:id="rId63"/>
    <p:sldId id="311" r:id="rId64"/>
    <p:sldId id="312" r:id="rId65"/>
    <p:sldId id="313" r:id="rId66"/>
    <p:sldId id="314" r:id="rId67"/>
    <p:sldId id="315" r:id="rId68"/>
  </p:sldIdLst>
  <p:sldSz cx="12192000" cy="6858000"/>
  <p:notesSz cx="6858000" cy="9144000"/>
  <p:embeddedFontLst>
    <p:embeddedFont>
      <p:font typeface="Century Gothic" panose="020B0502020202020204" pitchFamily="34" charset="0"/>
      <p:regular r:id="rId70"/>
      <p:bold r:id="rId71"/>
      <p:italic r:id="rId72"/>
      <p:boldItalic r:id="rId73"/>
    </p:embeddedFont>
    <p:embeddedFont>
      <p:font typeface="Quattrocento Sans" panose="020B0502050000020003" pitchFamily="34" charset="0"/>
      <p:regular r:id="rId74"/>
      <p:bold r:id="rId75"/>
      <p:italic r:id="rId76"/>
      <p:boldItalic r:id="rId77"/>
    </p:embeddedFont>
    <p:embeddedFont>
      <p:font typeface="Raleway" pitchFamily="2" charset="0"/>
      <p:regular r:id="rId78"/>
      <p:bold r:id="rId79"/>
      <p:italic r:id="rId80"/>
      <p:boldItalic r:id="rId81"/>
    </p:embeddedFont>
    <p:embeddedFont>
      <p:font typeface="Verdana" panose="020B0604030504040204" pitchFamily="34"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5"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93" autoAdjust="0"/>
  </p:normalViewPr>
  <p:slideViewPr>
    <p:cSldViewPr snapToGrid="0">
      <p:cViewPr varScale="1">
        <p:scale>
          <a:sx n="79" d="100"/>
          <a:sy n="79" d="100"/>
        </p:scale>
        <p:origin x="71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openxmlformats.org/officeDocument/2006/relationships/font" Target="fonts/font8.fntdata"/><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115" Type="http://customschemas.google.com/relationships/presentationmetadata" Target="metadata"/><Relationship Id="rId61" Type="http://schemas.openxmlformats.org/officeDocument/2006/relationships/slide" Target="slides/slide60.xml"/><Relationship Id="rId82" Type="http://schemas.openxmlformats.org/officeDocument/2006/relationships/font" Target="fonts/font13.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en.wikipedia.org/wiki/Music_cue" TargetMode="External"/><Relationship Id="rId3" Type="http://schemas.openxmlformats.org/officeDocument/2006/relationships/hyperlink" Target="https://en.wikipedia.org/wiki/Acting" TargetMode="External"/><Relationship Id="rId7" Type="http://schemas.openxmlformats.org/officeDocument/2006/relationships/hyperlink" Target="https://en.wikipedia.org/wiki/Sound_effect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en.wikipedia.org/wiki/Dialogue" TargetMode="External"/><Relationship Id="rId5" Type="http://schemas.openxmlformats.org/officeDocument/2006/relationships/hyperlink" Target="https://en.wikipedia.org/wiki/Soundtrack" TargetMode="External"/><Relationship Id="rId4" Type="http://schemas.openxmlformats.org/officeDocument/2006/relationships/hyperlink" Target="https://en.wikipedia.org/wiki/Motion-capture_acting#cite_note-1"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en.wikipedia.org/wiki/Physics" TargetMode="External"/><Relationship Id="rId13" Type="http://schemas.openxmlformats.org/officeDocument/2006/relationships/hyperlink" Target="https://en.wikipedia.org/wiki/Point_(geometry)" TargetMode="External"/><Relationship Id="rId3" Type="http://schemas.openxmlformats.org/officeDocument/2006/relationships/hyperlink" Target="https://en.wikipedia.org/wiki/Strategy_game" TargetMode="External"/><Relationship Id="rId7" Type="http://schemas.openxmlformats.org/officeDocument/2006/relationships/hyperlink" Target="https://en.wikipedia.org/wiki/Real-time_strategy" TargetMode="External"/><Relationship Id="rId12" Type="http://schemas.openxmlformats.org/officeDocument/2006/relationships/hyperlink" Target="https://en.wikipedia.org/wiki/Distance"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n.wikipedia.org/wiki/Time-keeping_systems_in_games" TargetMode="External"/><Relationship Id="rId11" Type="http://schemas.openxmlformats.org/officeDocument/2006/relationships/hyperlink" Target="https://en.wikipedia.org/wiki/Deformation_(engineering)" TargetMode="External"/><Relationship Id="rId5" Type="http://schemas.openxmlformats.org/officeDocument/2006/relationships/hyperlink" Target="https://en.wikipedia.org/wiki/Wargaming#Unit_or_map_scale" TargetMode="External"/><Relationship Id="rId10" Type="http://schemas.openxmlformats.org/officeDocument/2006/relationships/hyperlink" Target="https://en.wikipedia.org/wiki/Physical_body" TargetMode="External"/><Relationship Id="rId4" Type="http://schemas.openxmlformats.org/officeDocument/2006/relationships/hyperlink" Target="https://en.wikipedia.org/wiki/Wargaming" TargetMode="External"/><Relationship Id="rId9" Type="http://schemas.openxmlformats.org/officeDocument/2006/relationships/hyperlink" Target="https://en.wikipedia.org/wiki/Rigid_body#cite_note-2" TargetMode="External"/><Relationship Id="rId14" Type="http://schemas.openxmlformats.org/officeDocument/2006/relationships/hyperlink" Target="https://en.wikipedia.org/wiki/Force"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Mod_(video_games)#cite_note-Poor-1"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en.wikipedia.org/wiki/Video_game" TargetMode="Externa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en.wikipedia.org/wiki/Situational_awareness" TargetMode="External"/><Relationship Id="rId3" Type="http://schemas.openxmlformats.org/officeDocument/2006/relationships/hyperlink" Target="https://en.wikipedia.org/wiki/Game" TargetMode="External"/><Relationship Id="rId7" Type="http://schemas.openxmlformats.org/officeDocument/2006/relationships/hyperlink" Target="https://en.wikipedia.org/wiki/Decision_tree"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en.wikipedia.org/wiki/Autonomous" TargetMode="External"/><Relationship Id="rId5" Type="http://schemas.openxmlformats.org/officeDocument/2006/relationships/hyperlink" Target="https://en.wikipedia.org/wiki/Coercion" TargetMode="External"/><Relationship Id="rId4" Type="http://schemas.openxmlformats.org/officeDocument/2006/relationships/hyperlink" Target="https://en.wikipedia.org/wiki/Board_game" TargetMode="External"/></Relationships>
</file>

<file path=ppt/notesSlides/_rels/notesSlide12.xml.rels><?xml version="1.0" encoding="UTF-8" standalone="yes"?>
<Relationships xmlns="http://schemas.openxmlformats.org/package/2006/relationships"><Relationship Id="rId8" Type="http://schemas.openxmlformats.org/officeDocument/2006/relationships/hyperlink" Target="https://en.wikipedia.org/wiki/Frag_(military)" TargetMode="External"/><Relationship Id="rId3" Type="http://schemas.openxmlformats.org/officeDocument/2006/relationships/hyperlink" Target="https://en.wikipedia.org/wiki/Gameplay" TargetMode="External"/><Relationship Id="rId7" Type="http://schemas.openxmlformats.org/officeDocument/2006/relationships/hyperlink" Target="https://en.wikipedia.org/wiki/Video_game"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en.wikipedia.org/wiki/Real-time_strategy" TargetMode="External"/><Relationship Id="rId5" Type="http://schemas.openxmlformats.org/officeDocument/2006/relationships/hyperlink" Target="https://en.wikipedia.org/wiki/FPS_game" TargetMode="External"/><Relationship Id="rId4" Type="http://schemas.openxmlformats.org/officeDocument/2006/relationships/hyperlink" Target="https://en.wikipedia.org/wiki/Shooter_gam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en.wikipedia.org/wiki/Computer-generated_imagery" TargetMode="External"/><Relationship Id="rId2" Type="http://schemas.openxmlformats.org/officeDocument/2006/relationships/slide" Target="../slides/slide38.xml"/><Relationship Id="rId1" Type="http://schemas.openxmlformats.org/officeDocument/2006/relationships/notesMaster" Target="../notesMasters/notesMaster1.xml"/><Relationship Id="rId6" Type="http://schemas.openxmlformats.org/officeDocument/2006/relationships/hyperlink" Target="https://en.wikipedia.org/wiki/Potentially_visible_set" TargetMode="External"/><Relationship Id="rId5" Type="http://schemas.openxmlformats.org/officeDocument/2006/relationships/hyperlink" Target="https://en.wikipedia.org/wiki/Hidden_surface_determination" TargetMode="External"/><Relationship Id="rId4" Type="http://schemas.openxmlformats.org/officeDocument/2006/relationships/hyperlink" Target="https://en.wikipedia.org/wiki/3D_computer_graphics" TargetMode="External"/></Relationships>
</file>

<file path=ppt/notesSlides/_rels/notesSlide38.xml.rels><?xml version="1.0" encoding="UTF-8" standalone="yes"?>
<Relationships xmlns="http://schemas.openxmlformats.org/package/2006/relationships"><Relationship Id="rId8" Type="http://schemas.openxmlformats.org/officeDocument/2006/relationships/hyperlink" Target="https://en.wikipedia.org/wiki/Bleach" TargetMode="External"/><Relationship Id="rId3" Type="http://schemas.openxmlformats.org/officeDocument/2006/relationships/hyperlink" Target="https://en.wikipedia.org/wiki/Image_processing" TargetMode="External"/><Relationship Id="rId7" Type="http://schemas.openxmlformats.org/officeDocument/2006/relationships/hyperlink" Target="https://en.wikipedia.org/wiki/Dynamic_range"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en.wikipedia.org/wiki/High-dynamic-range_imaging" TargetMode="External"/><Relationship Id="rId5" Type="http://schemas.openxmlformats.org/officeDocument/2006/relationships/hyperlink" Target="https://en.wikipedia.org/wiki/Map_(mathematics)" TargetMode="External"/><Relationship Id="rId10" Type="http://schemas.openxmlformats.org/officeDocument/2006/relationships/hyperlink" Target="https://en.wikipedia.org/wiki/Silver" TargetMode="External"/><Relationship Id="rId4" Type="http://schemas.openxmlformats.org/officeDocument/2006/relationships/hyperlink" Target="https://en.wikipedia.org/wiki/Computer_graphics" TargetMode="External"/><Relationship Id="rId9" Type="http://schemas.openxmlformats.org/officeDocument/2006/relationships/hyperlink" Target="https://en.wikipedia.org/wiki/Film_developing"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en.wikipedia.org/wiki/Physics_engine" TargetMode="External"/><Relationship Id="rId7" Type="http://schemas.openxmlformats.org/officeDocument/2006/relationships/hyperlink" Target="https://en.wikipedia.org/wiki/Ragdoll_physics" TargetMode="External"/><Relationship Id="rId2" Type="http://schemas.openxmlformats.org/officeDocument/2006/relationships/slide" Target="../slides/slide43.xml"/><Relationship Id="rId1" Type="http://schemas.openxmlformats.org/officeDocument/2006/relationships/notesMaster" Target="../notesMasters/notesMaster1.xml"/><Relationship Id="rId6" Type="http://schemas.openxmlformats.org/officeDocument/2006/relationships/hyperlink" Target="https://en.wikipedia.org/wiki/Animation" TargetMode="External"/><Relationship Id="rId5" Type="http://schemas.openxmlformats.org/officeDocument/2006/relationships/hyperlink" Target="https://en.wikipedia.org/wiki/Video_game" TargetMode="External"/><Relationship Id="rId4" Type="http://schemas.openxmlformats.org/officeDocument/2006/relationships/hyperlink" Target="https://en.wikipedia.org/wiki/Procedural_animation"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https://www.youtube.com/watch?v=-oKdIbexbPw</a:t>
            </a: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 how real industrial-strength production game engines are architected;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 how game development teams are organized and work in the real world;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 which major subsystems and design patterns appear again and again in virtually every game engine;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 the typical requirements for each major subsystem;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 which subsystems are genre- or game-agnostic, and which ones are typically designed explicitly for a specific genre or game; and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 where the engine normally ends and the game begins.</a:t>
            </a:r>
            <a:endParaRPr dirty="0"/>
          </a:p>
        </p:txBody>
      </p:sp>
      <p:sp>
        <p:nvSpPr>
          <p:cNvPr id="98" name="Google Shape;9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On both sides of the runtime/tools line, engineers have various specialties. Some engineers focus their careers on a single engine system, such as rendering, artificial intelligence, audio or collision and physics. Some focus on gameplay programming and scripting, while others prefer to work at the systems level and not get too involved in how the game actually plays. Some engineers are generalists—jacks of all trades who can jump around and tackle whate ver problems might arise during development.</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Motion-capture acting</a:t>
            </a:r>
            <a:r>
              <a:rPr lang="en-US" sz="1200" b="0" i="0" u="none" strike="noStrike">
                <a:solidFill>
                  <a:schemeClr val="dk1"/>
                </a:solidFill>
                <a:latin typeface="Calibri"/>
                <a:ea typeface="Calibri"/>
                <a:cs typeface="Calibri"/>
                <a:sym typeface="Calibri"/>
              </a:rPr>
              <a:t>, also called </a:t>
            </a:r>
            <a:r>
              <a:rPr lang="en-US" sz="1200" b="1" i="0" u="none" strike="noStrike">
                <a:solidFill>
                  <a:schemeClr val="dk1"/>
                </a:solidFill>
                <a:latin typeface="Calibri"/>
                <a:ea typeface="Calibri"/>
                <a:cs typeface="Calibri"/>
                <a:sym typeface="Calibri"/>
              </a:rPr>
              <a:t>performance-capture acting</a:t>
            </a:r>
            <a:r>
              <a:rPr lang="en-US" sz="1200" b="0" i="0" u="none" strike="noStrike">
                <a:solidFill>
                  <a:schemeClr val="dk1"/>
                </a:solidFill>
                <a:latin typeface="Calibri"/>
                <a:ea typeface="Calibri"/>
                <a:cs typeface="Calibri"/>
                <a:sym typeface="Calibri"/>
              </a:rPr>
              <a:t>, sometimes abbreviated as </a:t>
            </a:r>
            <a:r>
              <a:rPr lang="en-US" sz="1200" b="1" i="0" u="none" strike="noStrike">
                <a:solidFill>
                  <a:schemeClr val="dk1"/>
                </a:solidFill>
                <a:latin typeface="Calibri"/>
                <a:ea typeface="Calibri"/>
                <a:cs typeface="Calibri"/>
                <a:sym typeface="Calibri"/>
              </a:rPr>
              <a:t>MoCap</a:t>
            </a:r>
            <a:r>
              <a:rPr lang="en-US" sz="1200" b="0" i="0" u="none" strike="noStrike">
                <a:solidFill>
                  <a:schemeClr val="dk1"/>
                </a:solidFill>
                <a:latin typeface="Calibri"/>
                <a:ea typeface="Calibri"/>
                <a:cs typeface="Calibri"/>
                <a:sym typeface="Calibri"/>
              </a:rPr>
              <a:t> or </a:t>
            </a:r>
            <a:r>
              <a:rPr lang="en-US" sz="1200" b="1" i="0" u="none" strike="noStrike">
                <a:solidFill>
                  <a:schemeClr val="dk1"/>
                </a:solidFill>
                <a:latin typeface="Calibri"/>
                <a:ea typeface="Calibri"/>
                <a:cs typeface="Calibri"/>
                <a:sym typeface="Calibri"/>
              </a:rPr>
              <a:t>Pcap</a:t>
            </a:r>
            <a:r>
              <a:rPr lang="en-US" sz="1200" b="0" i="0" u="none" strike="noStrike">
                <a:solidFill>
                  <a:schemeClr val="dk1"/>
                </a:solidFill>
                <a:latin typeface="Calibri"/>
                <a:ea typeface="Calibri"/>
                <a:cs typeface="Calibri"/>
                <a:sym typeface="Calibri"/>
              </a:rPr>
              <a:t>, is a type of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acting</a:t>
            </a:r>
            <a:r>
              <a:rPr lang="en-US" sz="1200" b="0" i="0" u="none" strike="noStrike">
                <a:solidFill>
                  <a:schemeClr val="dk1"/>
                </a:solidFill>
                <a:latin typeface="Calibri"/>
                <a:ea typeface="Calibri"/>
                <a:cs typeface="Calibri"/>
                <a:sym typeface="Calibri"/>
              </a:rPr>
              <a:t> in which an actor wears markers or sensors on a skintight bodysuit</a:t>
            </a:r>
            <a:r>
              <a:rPr lang="en-US" sz="1200" b="0" i="0" u="sng" strike="noStrike" baseline="3000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[1]</a:t>
            </a:r>
            <a:r>
              <a:rPr lang="en-US" sz="1200" b="0" i="0" u="none" strike="noStrike">
                <a:solidFill>
                  <a:schemeClr val="dk1"/>
                </a:solidFill>
                <a:latin typeface="Calibri"/>
                <a:ea typeface="Calibri"/>
                <a:cs typeface="Calibri"/>
                <a:sym typeface="Calibri"/>
              </a:rPr>
              <a:t> or directly on the skin.</a:t>
            </a:r>
            <a:endParaRPr/>
          </a:p>
          <a:p>
            <a:pPr marL="0" lvl="0" indent="0" algn="l" rtl="0">
              <a:spcBef>
                <a:spcPts val="0"/>
              </a:spcBef>
              <a:spcAft>
                <a:spcPts val="0"/>
              </a:spcAft>
              <a:buNone/>
            </a:pP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Many games have one or more </a:t>
            </a:r>
            <a:r>
              <a:rPr lang="en-US" sz="1200" b="0" i="1" u="none" strike="noStrike">
                <a:solidFill>
                  <a:schemeClr val="dk1"/>
                </a:solidFill>
                <a:latin typeface="Calibri"/>
                <a:ea typeface="Calibri"/>
                <a:cs typeface="Calibri"/>
                <a:sym typeface="Calibri"/>
              </a:rPr>
              <a:t>composers</a:t>
            </a:r>
            <a:r>
              <a:rPr lang="en-US" sz="1200" b="0" i="0" u="none" strike="noStrike">
                <a:solidFill>
                  <a:schemeClr val="dk1"/>
                </a:solidFill>
                <a:latin typeface="Calibri"/>
                <a:ea typeface="Calibri"/>
                <a:cs typeface="Calibri"/>
                <a:sym typeface="Calibri"/>
              </a:rPr>
              <a:t>, who compose an original score for the game. The score forms part of the film's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soundtrack</a:t>
            </a:r>
            <a:r>
              <a:rPr lang="en-US" sz="1200" b="0" i="0" u="none" strike="noStrike">
                <a:solidFill>
                  <a:schemeClr val="dk1"/>
                </a:solidFill>
                <a:latin typeface="Calibri"/>
                <a:ea typeface="Calibri"/>
                <a:cs typeface="Calibri"/>
                <a:sym typeface="Calibri"/>
              </a:rPr>
              <a:t>, which also, usually includes pre-existing music,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dialogue</a:t>
            </a:r>
            <a:r>
              <a:rPr lang="en-US" sz="1200" b="0" i="0" u="none" strike="noStrike">
                <a:solidFill>
                  <a:schemeClr val="dk1"/>
                </a:solidFill>
                <a:latin typeface="Calibri"/>
                <a:ea typeface="Calibri"/>
                <a:cs typeface="Calibri"/>
                <a:sym typeface="Calibri"/>
              </a:rPr>
              <a:t> and </a:t>
            </a:r>
            <a:r>
              <a:rPr lang="en-US" sz="1200" b="0" i="0" u="sng" strike="noStrike">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sound effects</a:t>
            </a:r>
            <a:r>
              <a:rPr lang="en-US" sz="1200" b="0" i="0" u="none" strike="noStrike">
                <a:solidFill>
                  <a:schemeClr val="dk1"/>
                </a:solidFill>
                <a:latin typeface="Calibri"/>
                <a:ea typeface="Calibri"/>
                <a:cs typeface="Calibri"/>
                <a:sym typeface="Calibri"/>
              </a:rPr>
              <a:t>, and comprises a number of orchestral, instrumental, or choral pieces called </a:t>
            </a:r>
            <a:r>
              <a:rPr lang="en-US" sz="1200" b="0" i="0" u="sng" strike="noStrike">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cues</a:t>
            </a:r>
            <a:r>
              <a:rPr lang="en-US" sz="1200" b="0" i="0" u="none" strike="noStrike">
                <a:solidFill>
                  <a:schemeClr val="dk1"/>
                </a:solidFill>
                <a:latin typeface="Calibri"/>
                <a:ea typeface="Calibri"/>
                <a:cs typeface="Calibri"/>
                <a:sym typeface="Calibri"/>
              </a:rPr>
              <a:t>, which are timed to begin and end at specific points during the film in order to enhance the dramatic narrative and the emotional impact of the scene in question.</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(usually senior) game designers work at the macro level, determining the story arc, the overall sequence of chapters or levels, and the high-level goals and objectives of the player. Other designers work on individual levels or geographical areas within the virtual game world, laying out the static background geometry, determining where and when enemies will emerge, placing supplies like weapons and health packs, designing puzzle elements and so on.</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Charles Brace Darrow was the first millionaire game designer in history for the design of the “Monopoly board game” in 1930s, which was based on Lizzie Magie’s original invention “The landlord’s game” who received only $500 by game manufacturer Parker Brothers (became a brand of Hasbro in 1991).</a:t>
            </a:r>
            <a:endParaRPr/>
          </a:p>
        </p:txBody>
      </p:sp>
      <p:sp>
        <p:nvSpPr>
          <p:cNvPr id="105" name="Google Shape;10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a:t>
            </a:r>
            <a:r>
              <a:rPr lang="en-US" sz="1200" b="1" i="0" u="none" strike="noStrike">
                <a:solidFill>
                  <a:schemeClr val="dk1"/>
                </a:solidFill>
                <a:latin typeface="Calibri"/>
                <a:ea typeface="Calibri"/>
                <a:cs typeface="Calibri"/>
                <a:sym typeface="Calibri"/>
              </a:rPr>
              <a:t>turn-based strategy</a:t>
            </a:r>
            <a:r>
              <a:rPr lang="en-US" sz="1200" b="0" i="0" u="none" strike="noStrike">
                <a:solidFill>
                  <a:schemeClr val="dk1"/>
                </a:solidFill>
                <a:latin typeface="Calibri"/>
                <a:ea typeface="Calibri"/>
                <a:cs typeface="Calibri"/>
                <a:sym typeface="Calibri"/>
              </a:rPr>
              <a:t> (</a:t>
            </a:r>
            <a:r>
              <a:rPr lang="en-US" sz="1200" b="1" i="0" u="none" strike="noStrike">
                <a:solidFill>
                  <a:schemeClr val="dk1"/>
                </a:solidFill>
                <a:latin typeface="Calibri"/>
                <a:ea typeface="Calibri"/>
                <a:cs typeface="Calibri"/>
                <a:sym typeface="Calibri"/>
              </a:rPr>
              <a:t>TBS</a:t>
            </a:r>
            <a:r>
              <a:rPr lang="en-US" sz="1200" b="0" i="0" u="none" strike="noStrike">
                <a:solidFill>
                  <a:schemeClr val="dk1"/>
                </a:solidFill>
                <a:latin typeface="Calibri"/>
                <a:ea typeface="Calibri"/>
                <a:cs typeface="Calibri"/>
                <a:sym typeface="Calibri"/>
              </a:rPr>
              <a:t>) game is a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strategy game</a:t>
            </a:r>
            <a:r>
              <a:rPr lang="en-US" sz="1200" b="0" i="0" u="none" strike="noStrike">
                <a:solidFill>
                  <a:schemeClr val="dk1"/>
                </a:solidFill>
                <a:latin typeface="Calibri"/>
                <a:ea typeface="Calibri"/>
                <a:cs typeface="Calibri"/>
                <a:sym typeface="Calibri"/>
              </a:rPr>
              <a:t> (usually some type of </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wargame</a:t>
            </a:r>
            <a:r>
              <a:rPr lang="en-US" sz="1200" b="0" i="0" u="none" strike="noStrike">
                <a:solidFill>
                  <a:schemeClr val="dk1"/>
                </a:solidFill>
                <a:latin typeface="Calibri"/>
                <a:ea typeface="Calibri"/>
                <a:cs typeface="Calibri"/>
                <a:sym typeface="Calibri"/>
              </a:rPr>
              <a:t>, especially a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strategic-level</a:t>
            </a:r>
            <a:r>
              <a:rPr lang="en-US" sz="1200" b="0" i="0" u="none" strike="noStrike">
                <a:solidFill>
                  <a:schemeClr val="dk1"/>
                </a:solidFill>
                <a:latin typeface="Calibri"/>
                <a:ea typeface="Calibri"/>
                <a:cs typeface="Calibri"/>
                <a:sym typeface="Calibri"/>
              </a:rPr>
              <a:t> wargame) where players take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turns</a:t>
            </a:r>
            <a:r>
              <a:rPr lang="en-US" sz="1200" b="0" i="0" u="none" strike="noStrike">
                <a:solidFill>
                  <a:schemeClr val="dk1"/>
                </a:solidFill>
                <a:latin typeface="Calibri"/>
                <a:ea typeface="Calibri"/>
                <a:cs typeface="Calibri"/>
                <a:sym typeface="Calibri"/>
              </a:rPr>
              <a:t> when playing. This is distinguished from </a:t>
            </a:r>
            <a:r>
              <a:rPr lang="en-US" sz="1200" b="0" i="0" u="sng" strike="noStrike">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real-time strategy (RTS)</a:t>
            </a:r>
            <a:r>
              <a:rPr lang="en-US" sz="1200" b="0" i="0" u="none" strike="noStrike">
                <a:solidFill>
                  <a:schemeClr val="dk1"/>
                </a:solidFill>
                <a:latin typeface="Calibri"/>
                <a:ea typeface="Calibri"/>
                <a:cs typeface="Calibri"/>
                <a:sym typeface="Calibri"/>
              </a:rPr>
              <a:t>, in which all players play simultaneously.</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a:solidFill>
                  <a:schemeClr val="dk1"/>
                </a:solidFill>
                <a:latin typeface="Calibri"/>
                <a:ea typeface="Calibri"/>
                <a:cs typeface="Calibri"/>
                <a:sym typeface="Calibri"/>
              </a:rPr>
              <a:t>In mathematics, some problems can be solved analytically and numerically. </a:t>
            </a:r>
            <a:r>
              <a:rPr lang="en-US" sz="1200" b="0" i="0">
                <a:solidFill>
                  <a:schemeClr val="dk1"/>
                </a:solidFill>
                <a:latin typeface="Calibri"/>
                <a:ea typeface="Calibri"/>
                <a:cs typeface="Calibri"/>
                <a:sym typeface="Calibri"/>
              </a:rPr>
              <a:t>An analytical solution involves framing the problem in a well-understood form and calculating the exact solution. A numerical solution means making guesses at the solution and testing whether the problem is solved well enough to stop.</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In </a:t>
            </a:r>
            <a:r>
              <a:rPr lang="en-US" sz="1200" b="0" i="0" u="sng" strike="noStrike">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physics</a:t>
            </a:r>
            <a:r>
              <a:rPr lang="en-US" sz="1200" b="0" i="0">
                <a:solidFill>
                  <a:schemeClr val="dk1"/>
                </a:solidFill>
                <a:latin typeface="Calibri"/>
                <a:ea typeface="Calibri"/>
                <a:cs typeface="Calibri"/>
                <a:sym typeface="Calibri"/>
              </a:rPr>
              <a:t>, a </a:t>
            </a:r>
            <a:r>
              <a:rPr lang="en-US" sz="1200" b="1" i="0">
                <a:solidFill>
                  <a:schemeClr val="dk1"/>
                </a:solidFill>
                <a:latin typeface="Calibri"/>
                <a:ea typeface="Calibri"/>
                <a:cs typeface="Calibri"/>
                <a:sym typeface="Calibri"/>
              </a:rPr>
              <a:t>rigid body</a:t>
            </a:r>
            <a:r>
              <a:rPr lang="en-US" sz="1200" b="0" i="0">
                <a:solidFill>
                  <a:schemeClr val="dk1"/>
                </a:solidFill>
                <a:latin typeface="Calibri"/>
                <a:ea typeface="Calibri"/>
                <a:cs typeface="Calibri"/>
                <a:sym typeface="Calibri"/>
              </a:rPr>
              <a:t> (also known as a </a:t>
            </a:r>
            <a:r>
              <a:rPr lang="en-US" sz="1200" b="1" i="0">
                <a:solidFill>
                  <a:schemeClr val="dk1"/>
                </a:solidFill>
                <a:latin typeface="Calibri"/>
                <a:ea typeface="Calibri"/>
                <a:cs typeface="Calibri"/>
                <a:sym typeface="Calibri"/>
              </a:rPr>
              <a:t>rigid object</a:t>
            </a:r>
            <a:r>
              <a:rPr lang="en-US" sz="1200" b="0" i="0">
                <a:solidFill>
                  <a:schemeClr val="dk1"/>
                </a:solidFill>
                <a:latin typeface="Calibri"/>
                <a:ea typeface="Calibri"/>
                <a:cs typeface="Calibri"/>
                <a:sym typeface="Calibri"/>
              </a:rPr>
              <a:t> </a:t>
            </a:r>
            <a:r>
              <a:rPr lang="en-US" sz="1200" b="0" i="0" u="sng" strike="noStrike" baseline="30000">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[2]</a:t>
            </a:r>
            <a:r>
              <a:rPr lang="en-US" sz="1200" b="0" i="0">
                <a:solidFill>
                  <a:schemeClr val="dk1"/>
                </a:solidFill>
                <a:latin typeface="Calibri"/>
                <a:ea typeface="Calibri"/>
                <a:cs typeface="Calibri"/>
                <a:sym typeface="Calibri"/>
              </a:rPr>
              <a:t>) is a solid </a:t>
            </a:r>
            <a:r>
              <a:rPr lang="en-US" sz="1200" b="0" i="0" u="sng" strike="noStrike">
                <a:solidFill>
                  <a:schemeClr val="dk1"/>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body</a:t>
            </a:r>
            <a:r>
              <a:rPr lang="en-US" sz="1200" b="0" i="0">
                <a:solidFill>
                  <a:schemeClr val="dk1"/>
                </a:solidFill>
                <a:latin typeface="Calibri"/>
                <a:ea typeface="Calibri"/>
                <a:cs typeface="Calibri"/>
                <a:sym typeface="Calibri"/>
              </a:rPr>
              <a:t> in which </a:t>
            </a:r>
            <a:r>
              <a:rPr lang="en-US" sz="1200" b="0" i="0" u="sng" strike="noStrike">
                <a:solidFill>
                  <a:schemeClr val="dk1"/>
                </a:solidFill>
                <a:latin typeface="Calibri"/>
                <a:ea typeface="Calibri"/>
                <a:cs typeface="Calibri"/>
                <a:sym typeface="Calibri"/>
                <a:hlinkClick r:id="rId11">
                  <a:extLst>
                    <a:ext uri="{A12FA001-AC4F-418D-AE19-62706E023703}">
                      <ahyp:hlinkClr xmlns:ahyp="http://schemas.microsoft.com/office/drawing/2018/hyperlinkcolor" val="tx"/>
                    </a:ext>
                  </a:extLst>
                </a:hlinkClick>
              </a:rPr>
              <a:t>deformation</a:t>
            </a:r>
            <a:r>
              <a:rPr lang="en-US" sz="1200" b="0" i="0">
                <a:solidFill>
                  <a:schemeClr val="dk1"/>
                </a:solidFill>
                <a:latin typeface="Calibri"/>
                <a:ea typeface="Calibri"/>
                <a:cs typeface="Calibri"/>
                <a:sym typeface="Calibri"/>
              </a:rPr>
              <a:t> is zero or so small it can be neglected. The </a:t>
            </a:r>
            <a:r>
              <a:rPr lang="en-US" sz="1200" b="0" i="0" u="sng" strike="noStrike">
                <a:solidFill>
                  <a:schemeClr val="dk1"/>
                </a:solidFill>
                <a:latin typeface="Calibri"/>
                <a:ea typeface="Calibri"/>
                <a:cs typeface="Calibri"/>
                <a:sym typeface="Calibri"/>
                <a:hlinkClick r:id="rId12">
                  <a:extLst>
                    <a:ext uri="{A12FA001-AC4F-418D-AE19-62706E023703}">
                      <ahyp:hlinkClr xmlns:ahyp="http://schemas.microsoft.com/office/drawing/2018/hyperlinkcolor" val="tx"/>
                    </a:ext>
                  </a:extLst>
                </a:hlinkClick>
              </a:rPr>
              <a:t>distance</a:t>
            </a:r>
            <a:r>
              <a:rPr lang="en-US" sz="1200" b="0" i="0">
                <a:solidFill>
                  <a:schemeClr val="dk1"/>
                </a:solidFill>
                <a:latin typeface="Calibri"/>
                <a:ea typeface="Calibri"/>
                <a:cs typeface="Calibri"/>
                <a:sym typeface="Calibri"/>
              </a:rPr>
              <a:t> between any two given </a:t>
            </a:r>
            <a:r>
              <a:rPr lang="en-US" sz="1200" b="0" i="0" u="sng" strike="noStrike">
                <a:solidFill>
                  <a:schemeClr val="dk1"/>
                </a:solidFill>
                <a:latin typeface="Calibri"/>
                <a:ea typeface="Calibri"/>
                <a:cs typeface="Calibri"/>
                <a:sym typeface="Calibri"/>
                <a:hlinkClick r:id="rId13">
                  <a:extLst>
                    <a:ext uri="{A12FA001-AC4F-418D-AE19-62706E023703}">
                      <ahyp:hlinkClr xmlns:ahyp="http://schemas.microsoft.com/office/drawing/2018/hyperlinkcolor" val="tx"/>
                    </a:ext>
                  </a:extLst>
                </a:hlinkClick>
              </a:rPr>
              <a:t>points</a:t>
            </a:r>
            <a:r>
              <a:rPr lang="en-US" sz="1200" b="0" i="0">
                <a:solidFill>
                  <a:schemeClr val="dk1"/>
                </a:solidFill>
                <a:latin typeface="Calibri"/>
                <a:ea typeface="Calibri"/>
                <a:cs typeface="Calibri"/>
                <a:sym typeface="Calibri"/>
              </a:rPr>
              <a:t> on a rigid body remains constant in time regardless of external </a:t>
            </a:r>
            <a:r>
              <a:rPr lang="en-US" sz="1200" b="0" i="0" u="sng" strike="noStrike">
                <a:solidFill>
                  <a:schemeClr val="dk1"/>
                </a:solidFill>
                <a:latin typeface="Calibri"/>
                <a:ea typeface="Calibri"/>
                <a:cs typeface="Calibri"/>
                <a:sym typeface="Calibri"/>
                <a:hlinkClick r:id="rId14">
                  <a:extLst>
                    <a:ext uri="{A12FA001-AC4F-418D-AE19-62706E023703}">
                      <ahyp:hlinkClr xmlns:ahyp="http://schemas.microsoft.com/office/drawing/2018/hyperlinkcolor" val="tx"/>
                    </a:ext>
                  </a:extLst>
                </a:hlinkClick>
              </a:rPr>
              <a:t>forces</a:t>
            </a:r>
            <a:r>
              <a:rPr lang="en-US" sz="1200" b="0" i="0">
                <a:solidFill>
                  <a:schemeClr val="dk1"/>
                </a:solidFill>
                <a:latin typeface="Calibri"/>
                <a:ea typeface="Calibri"/>
                <a:cs typeface="Calibri"/>
                <a:sym typeface="Calibri"/>
              </a:rPr>
              <a:t> exerted on it. A rigid body is usually considered as a continuous distribution of mass.</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the analytic (closed-form) mathematical model of a rigid body falling under the influence of constant acceleration due to gravity </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=1/2gt^2+ </a:t>
            </a:r>
            <a:r>
              <a:rPr lang="en-US" sz="1200" b="0" i="1" u="none" strike="noStrike">
                <a:solidFill>
                  <a:schemeClr val="dk1"/>
                </a:solidFill>
                <a:latin typeface="Calibri"/>
                <a:ea typeface="Calibri"/>
                <a:cs typeface="Calibri"/>
                <a:sym typeface="Calibri"/>
              </a:rPr>
              <a:t>v</a:t>
            </a:r>
            <a:r>
              <a:rPr lang="en-US" sz="1200" b="0" i="0" u="none" strike="noStrike">
                <a:solidFill>
                  <a:schemeClr val="dk1"/>
                </a:solidFill>
                <a:latin typeface="Calibri"/>
                <a:ea typeface="Calibri"/>
                <a:cs typeface="Calibri"/>
                <a:sym typeface="Calibri"/>
              </a:rPr>
              <a:t>0</a:t>
            </a:r>
            <a:r>
              <a:rPr lang="en-US" sz="1200" b="0" i="1" u="none" strike="noStrike">
                <a:solidFill>
                  <a:schemeClr val="dk1"/>
                </a:solidFill>
                <a:latin typeface="Calibri"/>
                <a:ea typeface="Calibri"/>
                <a:cs typeface="Calibri"/>
                <a:sym typeface="Calibri"/>
              </a:rPr>
              <a:t>t </a:t>
            </a:r>
            <a:r>
              <a:rPr lang="en-US" sz="1200" b="0" i="0" u="none" strike="noStrike">
                <a:solidFill>
                  <a:schemeClr val="dk1"/>
                </a:solidFill>
                <a:latin typeface="Calibri"/>
                <a:ea typeface="Calibri"/>
                <a:cs typeface="Calibri"/>
                <a:sym typeface="Calibri"/>
              </a:rPr>
              <a:t>+ </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0. An analytic model can be evaluated for any value of its independent variables, such as the time </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given only the initial conditions </a:t>
            </a:r>
            <a:r>
              <a:rPr lang="en-US" sz="1200" b="0" i="1" u="none" strike="noStrike">
                <a:solidFill>
                  <a:schemeClr val="dk1"/>
                </a:solidFill>
                <a:latin typeface="Calibri"/>
                <a:ea typeface="Calibri"/>
                <a:cs typeface="Calibri"/>
                <a:sym typeface="Calibri"/>
              </a:rPr>
              <a:t>v</a:t>
            </a:r>
            <a:r>
              <a:rPr lang="en-US" sz="1200" b="0" i="0" u="none" strike="noStrike">
                <a:solidFill>
                  <a:schemeClr val="dk1"/>
                </a:solidFill>
                <a:latin typeface="Calibri"/>
                <a:ea typeface="Calibri"/>
                <a:cs typeface="Calibri"/>
                <a:sym typeface="Calibri"/>
              </a:rPr>
              <a:t> and </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0 and the constant </a:t>
            </a:r>
            <a:r>
              <a:rPr lang="en-US" sz="1200" b="0" i="1" u="none" strike="noStrike">
                <a:solidFill>
                  <a:schemeClr val="dk1"/>
                </a:solidFill>
                <a:latin typeface="Calibri"/>
                <a:ea typeface="Calibri"/>
                <a:cs typeface="Calibri"/>
                <a:sym typeface="Calibri"/>
              </a:rPr>
              <a:t>g. </a:t>
            </a:r>
            <a:r>
              <a:rPr lang="en-US" sz="1200" b="0" i="0" u="none" strike="noStrike">
                <a:solidFill>
                  <a:schemeClr val="dk1"/>
                </a:solidFill>
                <a:latin typeface="Calibri"/>
                <a:ea typeface="Calibri"/>
                <a:cs typeface="Calibri"/>
                <a:sym typeface="Calibri"/>
              </a:rPr>
              <a:t>However, many problems in mathematics have no closed-form solution. And in video games, where the user’s input is unpredictable, we cannot hope to model the entire game analytically..</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numerical model of the same rigid body under gravity can be expressed </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a:t>
            </a:r>
            <a:r>
              <a:rPr lang="en-US" sz="1200" b="0" i="1" u="none" strike="noStrike">
                <a:solidFill>
                  <a:schemeClr val="dk1"/>
                </a:solidFill>
                <a:latin typeface="Calibri"/>
                <a:ea typeface="Calibri"/>
                <a:cs typeface="Calibri"/>
                <a:sym typeface="Calibri"/>
              </a:rPr>
              <a:t>t </a:t>
            </a:r>
            <a:r>
              <a:rPr lang="en-US" sz="1200" b="0" i="0" u="none" strike="noStrike">
                <a:solidFill>
                  <a:schemeClr val="dk1"/>
                </a:solidFill>
                <a:latin typeface="Calibri"/>
                <a:ea typeface="Calibri"/>
                <a:cs typeface="Calibri"/>
                <a:sym typeface="Calibri"/>
              </a:rPr>
              <a:t>+ Δ</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 </a:t>
            </a:r>
            <a:r>
              <a:rPr lang="en-US" sz="1200" b="0" i="1" u="none" strike="noStrike">
                <a:solidFill>
                  <a:schemeClr val="dk1"/>
                </a:solidFill>
                <a:latin typeface="Calibri"/>
                <a:ea typeface="Calibri"/>
                <a:cs typeface="Calibri"/>
                <a:sym typeface="Calibri"/>
              </a:rPr>
              <a:t>F</a:t>
            </a:r>
            <a:r>
              <a:rPr lang="en-US" sz="1200" b="0" i="0" u="none" strike="noStrike">
                <a:solidFill>
                  <a:schemeClr val="dk1"/>
                </a:solidFill>
                <a:latin typeface="Calibri"/>
                <a:ea typeface="Calibri"/>
                <a:cs typeface="Calibri"/>
                <a:sym typeface="Calibri"/>
              </a:rPr>
              <a:t>(</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a:t>
            </a:r>
            <a:r>
              <a:rPr lang="en-US" sz="1200" b="0" i="1" u="none" strike="noStrike">
                <a:solidFill>
                  <a:schemeClr val="dk1"/>
                </a:solidFill>
                <a:latin typeface="Calibri"/>
                <a:ea typeface="Calibri"/>
                <a:cs typeface="Calibri"/>
                <a:sym typeface="Calibri"/>
              </a:rPr>
              <a:t>y</a:t>
            </a:r>
            <a:r>
              <a:rPr lang="en-US" sz="1200" b="0" i="0" u="none" strike="noStrike">
                <a:solidFill>
                  <a:schemeClr val="dk1"/>
                </a:solidFill>
                <a:latin typeface="Calibri"/>
                <a:ea typeface="Calibri"/>
                <a:cs typeface="Calibri"/>
                <a:sym typeface="Calibri"/>
              </a:rPr>
              <a:t>¨(</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 . .). That is, the height of the rigid body at some future time (</a:t>
            </a:r>
            <a:r>
              <a:rPr lang="en-US" sz="1200" b="0" i="1" u="none" strike="noStrike">
                <a:solidFill>
                  <a:schemeClr val="dk1"/>
                </a:solidFill>
                <a:latin typeface="Calibri"/>
                <a:ea typeface="Calibri"/>
                <a:cs typeface="Calibri"/>
                <a:sym typeface="Calibri"/>
              </a:rPr>
              <a:t>t </a:t>
            </a:r>
            <a:r>
              <a:rPr lang="en-US" sz="1200" b="0" i="0" u="none" strike="noStrike">
                <a:solidFill>
                  <a:schemeClr val="dk1"/>
                </a:solidFill>
                <a:latin typeface="Calibri"/>
                <a:ea typeface="Calibri"/>
                <a:cs typeface="Calibri"/>
                <a:sym typeface="Calibri"/>
              </a:rPr>
              <a:t>+ Δ</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can be found as a function of the height and its first, second, and possibly higher-order time derivatives at the current time </a:t>
            </a:r>
            <a:r>
              <a:rPr lang="en-US" sz="1200" b="0" i="1" u="none" strike="noStrike">
                <a:solidFill>
                  <a:schemeClr val="dk1"/>
                </a:solidFill>
                <a:latin typeface="Calibri"/>
                <a:ea typeface="Calibri"/>
                <a:cs typeface="Calibri"/>
                <a:sym typeface="Calibri"/>
              </a:rPr>
              <a:t>t</a:t>
            </a:r>
            <a:r>
              <a:rPr lang="en-US" sz="1200" b="0" i="0" u="none" strike="noStrike">
                <a:solidFill>
                  <a:schemeClr val="dk1"/>
                </a:solidFill>
                <a:latin typeface="Calibri"/>
                <a:ea typeface="Calibri"/>
                <a:cs typeface="Calibri"/>
                <a:sym typeface="Calibri"/>
              </a:rPr>
              <a:t>. Numerical simulations are typically implemented by running calculations repeatedly, in order to determine the state of the system at each discrete time step.</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Games work in the same way. A main “game loop” runs repeatedly, and during each iteration of the loop, various game systems such as artificial intelligence, game logic, physics simulations and so on are given a chance to calculate or update their state for the next discrete time step. The results are then “rendered” by displaying graphics, emitting sound and possibly producing other outputs such as force-feedback on the joypad.</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a:p>
        </p:txBody>
      </p:sp>
      <p:sp>
        <p:nvSpPr>
          <p:cNvPr id="147" name="Google Shape;14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https://www.youtube.com/shorts/cp-ChC4zL-Q</a:t>
            </a:r>
          </a:p>
          <a:p>
            <a:pPr marL="0" lvl="0" indent="0" algn="l" rtl="0">
              <a:spcBef>
                <a:spcPts val="0"/>
              </a:spcBef>
              <a:spcAft>
                <a:spcPts val="0"/>
              </a:spcAft>
              <a:buNone/>
            </a:pPr>
            <a:r>
              <a:rPr lang="en-US" sz="1200" b="0" i="0" u="none" strike="noStrike" cap="none" dirty="0">
                <a:solidFill>
                  <a:schemeClr val="dk1"/>
                </a:solidFill>
                <a:effectLst/>
                <a:latin typeface="Calibri"/>
                <a:ea typeface="Calibri"/>
                <a:cs typeface="Calibri"/>
                <a:sym typeface="Calibri"/>
              </a:rPr>
              <a:t>In 1996, two ex-Microsoft employees sought an engine for their game. Quake's potential led Mike Harrington and Gabe Newell (Valve founders) to license and modify it, birthing the influential Half-Life. </a:t>
            </a:r>
            <a:endParaRPr lang="en-US"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term “game engine” arose in the mid-1990s in reference to first-person</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shooter (FPS) games like the insanely popular </a:t>
            </a:r>
            <a:r>
              <a:rPr lang="en-US" sz="1200" b="0" i="1" u="none" strike="noStrike" dirty="0">
                <a:solidFill>
                  <a:schemeClr val="dk1"/>
                </a:solidFill>
                <a:latin typeface="Calibri"/>
                <a:ea typeface="Calibri"/>
                <a:cs typeface="Calibri"/>
                <a:sym typeface="Calibri"/>
              </a:rPr>
              <a:t>Doom </a:t>
            </a:r>
            <a:r>
              <a:rPr lang="en-US" sz="1200" b="0" i="0" u="none" strike="noStrike" dirty="0">
                <a:solidFill>
                  <a:schemeClr val="dk1"/>
                </a:solidFill>
                <a:latin typeface="Calibri"/>
                <a:ea typeface="Calibri"/>
                <a:cs typeface="Calibri"/>
                <a:sym typeface="Calibri"/>
              </a:rPr>
              <a:t>by id Software. </a:t>
            </a:r>
            <a:r>
              <a:rPr lang="en-US" sz="1200" b="0" i="1" u="none" strike="noStrike" dirty="0">
                <a:solidFill>
                  <a:schemeClr val="dk1"/>
                </a:solidFill>
                <a:latin typeface="Calibri"/>
                <a:ea typeface="Calibri"/>
                <a:cs typeface="Calibri"/>
                <a:sym typeface="Calibri"/>
              </a:rPr>
              <a:t>Doom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was architected with a reasonably well-defined separation between its core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software components (such as the three-dimensional graphics rendering system,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collision detection system or the audio system) and the art assets,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game worlds and rules of play that comprised the player’s gaming experience.</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value of this separation became evident as developers began licensing</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games and retooling them into new products by creating new art, world layouts,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weapons, characters, vehicles and game rules with only minimal changes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to the “engine” software. This marked the birth of the “mod community”—</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group of individual gamers and small independent studios that built new</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games by modifying existing games, using free toolkits provided by the original</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Developers.</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a:t>
            </a:r>
            <a:r>
              <a:rPr lang="en-US" sz="1200" b="1" i="0" u="none" strike="noStrike" dirty="0">
                <a:solidFill>
                  <a:schemeClr val="dk1"/>
                </a:solidFill>
                <a:latin typeface="Calibri"/>
                <a:ea typeface="Calibri"/>
                <a:cs typeface="Calibri"/>
                <a:sym typeface="Calibri"/>
              </a:rPr>
              <a:t>mod</a:t>
            </a:r>
            <a:r>
              <a:rPr lang="en-US" sz="1200" b="0" i="0" u="none" strike="noStrike" dirty="0">
                <a:solidFill>
                  <a:schemeClr val="dk1"/>
                </a:solidFill>
                <a:latin typeface="Calibri"/>
                <a:ea typeface="Calibri"/>
                <a:cs typeface="Calibri"/>
                <a:sym typeface="Calibri"/>
              </a:rPr>
              <a:t> (short for "modification") is an alteration by players or fans of a video game</a:t>
            </a:r>
            <a:r>
              <a:rPr lang="en-US" sz="1200" b="0" i="0" u="sng" strike="noStrike" baseline="30000"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[1]</a:t>
            </a:r>
            <a:r>
              <a:rPr lang="en-US" sz="1200" b="0" i="0" u="none" strike="noStrike" dirty="0">
                <a:solidFill>
                  <a:schemeClr val="dk1"/>
                </a:solidFill>
                <a:latin typeface="Calibri"/>
                <a:ea typeface="Calibri"/>
                <a:cs typeface="Calibri"/>
                <a:sym typeface="Calibri"/>
              </a:rPr>
              <a:t> that changes one or more aspects of a </a:t>
            </a:r>
            <a:r>
              <a:rPr lang="en-US" sz="1200" b="0" i="0" u="sng" strike="noStrike"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video game</a:t>
            </a:r>
            <a:r>
              <a:rPr lang="en-US" sz="1200" b="0" i="0" u="none" strike="noStrike" dirty="0">
                <a:solidFill>
                  <a:schemeClr val="dk1"/>
                </a:solidFill>
                <a:latin typeface="Calibri"/>
                <a:ea typeface="Calibri"/>
                <a:cs typeface="Calibri"/>
                <a:sym typeface="Calibri"/>
              </a:rPr>
              <a:t>, such as how it looks or behaves. Mods may range from small changes and tweaks to complete overhauls, and can extend the replay value and interest of the game. </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Modding a game can also be understood as the act of seeking and installing mods to the player's game, but the act of tweaking pre-existing settings and preferences is not truly modding.</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Towards the end of the 1990s, some games like </a:t>
            </a:r>
            <a:r>
              <a:rPr lang="en-US" sz="1200" b="0" i="1" u="none" strike="noStrike" dirty="0">
                <a:solidFill>
                  <a:schemeClr val="dk1"/>
                </a:solidFill>
                <a:latin typeface="Calibri"/>
                <a:ea typeface="Calibri"/>
                <a:cs typeface="Calibri"/>
                <a:sym typeface="Calibri"/>
              </a:rPr>
              <a:t>Quake III Arena </a:t>
            </a:r>
            <a:r>
              <a:rPr lang="en-US" sz="1200" b="0" i="0" u="none" strike="noStrike" dirty="0">
                <a:solidFill>
                  <a:schemeClr val="dk1"/>
                </a:solidFill>
                <a:latin typeface="Calibri"/>
                <a:ea typeface="Calibri"/>
                <a:cs typeface="Calibri"/>
                <a:sym typeface="Calibri"/>
              </a:rPr>
              <a:t>and </a:t>
            </a:r>
            <a:r>
              <a:rPr lang="en-US" sz="1200" b="0" i="1" u="none" strike="noStrike" dirty="0">
                <a:solidFill>
                  <a:schemeClr val="dk1"/>
                </a:solidFill>
                <a:latin typeface="Calibri"/>
                <a:ea typeface="Calibri"/>
                <a:cs typeface="Calibri"/>
                <a:sym typeface="Calibri"/>
              </a:rPr>
              <a:t>Unreal</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were designed with reuse and “modding” in mind. Engines were made highly</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customizable via scripting languages like id’s Quake C, and engine licensing</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began to be a viable secondary revenue stream for the developers who created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them. Today, game developers can license a game engine and reuse significant</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portions of its key software components in order to build games. While this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practice still involves considerable investment in custom software engineering,</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it can be much more economical than developing all of the core engine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components in-house.</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line between a game and its engine is often blurry. Some engines make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reasonably clear distinction, while others make almost no attempt to separate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two. In one game, the rendering code might “know” specifically how</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to draw an orc. In another game, the rendering engine might provide general purpose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material and shading facilities, and “orc-ness” might be defined entirely</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in data. No studio makes a perfectly clear separation between the game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and the engine, which is understandable considering that the definitions of</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these two components often shift as the game’s design solidifies.</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Arguably a </a:t>
            </a:r>
            <a:r>
              <a:rPr lang="en-US" sz="1200" b="0" i="1" u="none" strike="noStrike" dirty="0">
                <a:solidFill>
                  <a:schemeClr val="dk1"/>
                </a:solidFill>
                <a:latin typeface="Calibri"/>
                <a:ea typeface="Calibri"/>
                <a:cs typeface="Calibri"/>
                <a:sym typeface="Calibri"/>
              </a:rPr>
              <a:t>data-driven architecture </a:t>
            </a:r>
            <a:r>
              <a:rPr lang="en-US" sz="1200" b="0" i="0" u="none" strike="noStrike" dirty="0">
                <a:solidFill>
                  <a:schemeClr val="dk1"/>
                </a:solidFill>
                <a:latin typeface="Calibri"/>
                <a:ea typeface="Calibri"/>
                <a:cs typeface="Calibri"/>
                <a:sym typeface="Calibri"/>
              </a:rPr>
              <a:t>is what differentiates a game engine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from a piece of software that is a game but not an engine. When a game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contains hard-coded logic or game rules, or employs special-case code to render</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specific types of game objects, it becomes difficult or impossible to reuse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that software to make a different game. We should probably reserve the term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“game engine” for software that is extensible and can be used as the foundation</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for many different games without major modification.</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Clearly this is not a black-and-white distinction. We can think of a gamut</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of reusability onto which every engine falls. This figure shows Game engine reusability gamut, which takes a stab at the locations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of some well-known games/engines along this gamut.</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One would think that a game engine could be something akin to Apple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QuickTime or Microsoft Windows Media Player—a general-purpose piece of</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software capable of playing virtually </a:t>
            </a:r>
            <a:r>
              <a:rPr lang="en-US" sz="1200" b="0" i="1" u="none" strike="noStrike" dirty="0">
                <a:solidFill>
                  <a:schemeClr val="dk1"/>
                </a:solidFill>
                <a:latin typeface="Calibri"/>
                <a:ea typeface="Calibri"/>
                <a:cs typeface="Calibri"/>
                <a:sym typeface="Calibri"/>
              </a:rPr>
              <a:t>any </a:t>
            </a:r>
            <a:r>
              <a:rPr lang="en-US" sz="1200" b="0" i="0" u="none" strike="noStrike" dirty="0">
                <a:solidFill>
                  <a:schemeClr val="dk1"/>
                </a:solidFill>
                <a:latin typeface="Calibri"/>
                <a:ea typeface="Calibri"/>
                <a:cs typeface="Calibri"/>
                <a:sym typeface="Calibri"/>
              </a:rPr>
              <a:t>game content imaginable. However,</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this ideal has not yet been achieved (and may never be). Most game engines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are carefully crafted and fine-tuned to run a particular game on a particular</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hardware platform. And even the most general-purpose multiplatform engines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are really only suitable for building games in one particular genre, such</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as first-person shooters or racing games. It’s safe to say that the more general purpose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game engine or middleware component is, the less optimal it is for</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running a particular game on a particular platform.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This phenomenon occurs because designing any efficient piece of software</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invariably entails making trade-offs, and those trade-offs are based on</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assumptions about how the software will be used and/or about the target hardware on which it will run. For example, a rendering engine that was designed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to handle intimate indoor environments probably won’t be very good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at rendering vast outdoor environments. The indoor engine might use a binary</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space partitioning (BSP) tree or portal system to ensure that no geometry</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is drawn that is being occluded by walls or objects that are closer to the camera.</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outdoor engine, on the other hand, might use a less-exact occlusion mechanism,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or none at all, but it probably makes aggressive use of level-of-detail</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(LOD) techniques to ensure that distant objects are rendered with a minimum</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number of triangles, while using high-resolution triangle meshes for geometry</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that is close to the camera.</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advent of ever-faster computer hardware and specialized graphics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cards, along with ever-more-efficient rendering algorithms and data structures,</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is beginning to soften the differences between the graphics engines of</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different genres. It is now possible to use a first-person shooter engine to build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strategy game, for example. However, the trade-off between generality and</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optimality still exists. A game can always be made more impressive by fine tuning</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the engine to the specific requirements and constraints of a particular</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game and/or hardware platform.</a:t>
            </a:r>
            <a:endParaRPr dirty="0"/>
          </a:p>
        </p:txBody>
      </p:sp>
      <p:sp>
        <p:nvSpPr>
          <p:cNvPr id="176" name="Google Shape;17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A </a:t>
            </a:r>
            <a:r>
              <a:rPr lang="en-US" sz="1200" b="1" i="0">
                <a:solidFill>
                  <a:schemeClr val="dk1"/>
                </a:solidFill>
                <a:latin typeface="Calibri"/>
                <a:ea typeface="Calibri"/>
                <a:cs typeface="Calibri"/>
                <a:sym typeface="Calibri"/>
              </a:rPr>
              <a:t>strategy game</a:t>
            </a:r>
            <a:r>
              <a:rPr lang="en-US" sz="1200" b="0" i="0">
                <a:solidFill>
                  <a:schemeClr val="dk1"/>
                </a:solidFill>
                <a:latin typeface="Calibri"/>
                <a:ea typeface="Calibri"/>
                <a:cs typeface="Calibri"/>
                <a:sym typeface="Calibri"/>
              </a:rPr>
              <a:t> or </a:t>
            </a:r>
            <a:r>
              <a:rPr lang="en-US" sz="1200" b="1" i="0">
                <a:solidFill>
                  <a:schemeClr val="dk1"/>
                </a:solidFill>
                <a:latin typeface="Calibri"/>
                <a:ea typeface="Calibri"/>
                <a:cs typeface="Calibri"/>
                <a:sym typeface="Calibri"/>
              </a:rPr>
              <a:t>strategic game</a:t>
            </a:r>
            <a:r>
              <a:rPr lang="en-US" sz="1200" b="0" i="0">
                <a:solidFill>
                  <a:schemeClr val="dk1"/>
                </a:solidFill>
                <a:latin typeface="Calibri"/>
                <a:ea typeface="Calibri"/>
                <a:cs typeface="Calibri"/>
                <a:sym typeface="Calibri"/>
              </a:rPr>
              <a:t> is a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game</a:t>
            </a:r>
            <a:r>
              <a:rPr lang="en-US" sz="1200" b="0" i="0">
                <a:solidFill>
                  <a:schemeClr val="dk1"/>
                </a:solidFill>
                <a:latin typeface="Calibri"/>
                <a:ea typeface="Calibri"/>
                <a:cs typeface="Calibri"/>
                <a:sym typeface="Calibri"/>
              </a:rPr>
              <a:t> (e.g. a </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board game</a:t>
            </a:r>
            <a:r>
              <a:rPr lang="en-US" sz="1200" b="0" i="0">
                <a:solidFill>
                  <a:schemeClr val="dk1"/>
                </a:solidFill>
                <a:latin typeface="Calibri"/>
                <a:ea typeface="Calibri"/>
                <a:cs typeface="Calibri"/>
                <a:sym typeface="Calibri"/>
              </a:rPr>
              <a:t>) in which the players'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uncoerced</a:t>
            </a:r>
            <a:r>
              <a:rPr lang="en-US" sz="1200" b="0" i="0">
                <a:solidFill>
                  <a:schemeClr val="dk1"/>
                </a:solidFill>
                <a:latin typeface="Calibri"/>
                <a:ea typeface="Calibri"/>
                <a:cs typeface="Calibri"/>
                <a:sym typeface="Calibri"/>
              </a:rPr>
              <a:t>, and often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autonomous</a:t>
            </a:r>
            <a:r>
              <a:rPr lang="en-US" sz="1200" b="0" i="0">
                <a:solidFill>
                  <a:schemeClr val="dk1"/>
                </a:solidFill>
                <a:latin typeface="Calibri"/>
                <a:ea typeface="Calibri"/>
                <a:cs typeface="Calibri"/>
                <a:sym typeface="Calibri"/>
              </a:rPr>
              <a:t> decision-making skills have a high significance in determining the outcome. Almost all strategy games require internal </a:t>
            </a:r>
            <a:r>
              <a:rPr lang="en-US" sz="1200" b="0" i="0" u="sng" strike="noStrike">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decision tree</a:t>
            </a:r>
            <a:r>
              <a:rPr lang="en-US" sz="1200" b="0" i="0">
                <a:solidFill>
                  <a:schemeClr val="dk1"/>
                </a:solidFill>
                <a:latin typeface="Calibri"/>
                <a:ea typeface="Calibri"/>
                <a:cs typeface="Calibri"/>
                <a:sym typeface="Calibri"/>
              </a:rPr>
              <a:t> style thinking, and typically very high </a:t>
            </a:r>
            <a:r>
              <a:rPr lang="en-US" sz="1200" b="0" i="0" u="sng" strike="noStrike">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situational awareness</a:t>
            </a:r>
            <a:r>
              <a:rPr lang="en-US" sz="1200" b="0" i="0">
                <a:solidFill>
                  <a:schemeClr val="dk1"/>
                </a:solidFill>
                <a:latin typeface="Calibri"/>
                <a:ea typeface="Calibri"/>
                <a:cs typeface="Calibri"/>
                <a:sym typeface="Calibri"/>
              </a:rPr>
              <a:t>.</a:t>
            </a:r>
            <a:endParaRPr/>
          </a:p>
        </p:txBody>
      </p:sp>
      <p:sp>
        <p:nvSpPr>
          <p:cNvPr id="185" name="Google Shape;18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Game engines are typically somewhat genre specific. An engine designed for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two-person fighting game in a boxing ring will be very different from a massively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multiplayer online game (MMOG) engine or a first-person shooter (FPS)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engine or a real-time strategy (RTS) engine. However, there is also a great deal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 overlap—all 3D games, regardless of genre, require some form of low-level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user input from the joypad, keyboard and/or mouse, some form of 3D mesh</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rendering, some form of heads-up display (HUD) including text rendering in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variety of fonts, a powerful audio system, and the list goes on. So while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Unreal Engine, for example, was designed for first-person shooter games,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has been used successfully to construct games in a number of other genres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as well, including the wildly popular third-person shooter(TPS) franchise </a:t>
            </a:r>
            <a:r>
              <a:rPr lang="en-US" sz="1200" b="0" i="1" u="none" strike="noStrike">
                <a:solidFill>
                  <a:schemeClr val="dk1"/>
                </a:solidFill>
                <a:latin typeface="Calibri"/>
                <a:ea typeface="Calibri"/>
                <a:cs typeface="Calibri"/>
                <a:sym typeface="Calibri"/>
              </a:rPr>
              <a:t>Gears of</a:t>
            </a:r>
            <a:endParaRPr/>
          </a:p>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War </a:t>
            </a:r>
            <a:r>
              <a:rPr lang="en-US" sz="1200" b="0" i="0" u="none" strike="noStrike">
                <a:solidFill>
                  <a:schemeClr val="dk1"/>
                </a:solidFill>
                <a:latin typeface="Calibri"/>
                <a:ea typeface="Calibri"/>
                <a:cs typeface="Calibri"/>
                <a:sym typeface="Calibri"/>
              </a:rPr>
              <a:t>by Epic Games, the hit action-adventure games in the </a:t>
            </a:r>
            <a:r>
              <a:rPr lang="en-US" sz="1200" b="0" i="1" u="none" strike="noStrike">
                <a:solidFill>
                  <a:schemeClr val="dk1"/>
                </a:solidFill>
                <a:latin typeface="Calibri"/>
                <a:ea typeface="Calibri"/>
                <a:cs typeface="Calibri"/>
                <a:sym typeface="Calibri"/>
              </a:rPr>
              <a:t>Batman: Arkham </a:t>
            </a:r>
            <a:r>
              <a:rPr lang="en-US" sz="1200" b="0" i="0" u="none" strike="noStrike">
                <a:solidFill>
                  <a:schemeClr val="dk1"/>
                </a:solidFill>
                <a:latin typeface="Calibri"/>
                <a:ea typeface="Calibri"/>
                <a:cs typeface="Calibri"/>
                <a:sym typeface="Calibri"/>
              </a:rPr>
              <a:t>series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by Rocksteady Studios, the well-known fighting game </a:t>
            </a:r>
            <a:r>
              <a:rPr lang="en-US" sz="1200" b="0" i="1" u="none" strike="noStrike">
                <a:solidFill>
                  <a:schemeClr val="dk1"/>
                </a:solidFill>
                <a:latin typeface="Calibri"/>
                <a:ea typeface="Calibri"/>
                <a:cs typeface="Calibri"/>
                <a:sym typeface="Calibri"/>
              </a:rPr>
              <a:t>Tekken 7 </a:t>
            </a:r>
            <a:r>
              <a:rPr lang="en-US" sz="1200" b="0" i="0" u="none" strike="noStrike">
                <a:solidFill>
                  <a:schemeClr val="dk1"/>
                </a:solidFill>
                <a:latin typeface="Calibri"/>
                <a:ea typeface="Calibri"/>
                <a:cs typeface="Calibri"/>
                <a:sym typeface="Calibri"/>
              </a:rPr>
              <a:t>by Bandai</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Namco Studios, and the first three role-playing third-person shooter games in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a:t>
            </a:r>
            <a:r>
              <a:rPr lang="en-US" sz="1200" b="0" i="1" u="none" strike="noStrike">
                <a:solidFill>
                  <a:schemeClr val="dk1"/>
                </a:solidFill>
                <a:latin typeface="Calibri"/>
                <a:ea typeface="Calibri"/>
                <a:cs typeface="Calibri"/>
                <a:sym typeface="Calibri"/>
              </a:rPr>
              <a:t>Mass Effect </a:t>
            </a:r>
            <a:r>
              <a:rPr lang="en-US" sz="1200" b="0" i="0" u="none" strike="noStrike">
                <a:solidFill>
                  <a:schemeClr val="dk1"/>
                </a:solidFill>
                <a:latin typeface="Calibri"/>
                <a:ea typeface="Calibri"/>
                <a:cs typeface="Calibri"/>
                <a:sym typeface="Calibri"/>
              </a:rPr>
              <a:t>series by BioWare.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Let’s take a look at some of the most common game genres and explore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examples of the technology requirements particular to each.</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u="none" strike="noStrike">
                <a:solidFill>
                  <a:schemeClr val="dk1"/>
                </a:solidFill>
                <a:latin typeface="Calibri"/>
                <a:ea typeface="Calibri"/>
                <a:cs typeface="Calibri"/>
                <a:sym typeface="Calibri"/>
              </a:rPr>
              <a:t>Deathmatch</a:t>
            </a:r>
            <a:r>
              <a:rPr lang="en-US" sz="1200" b="0" i="0" u="none" strike="noStrike">
                <a:solidFill>
                  <a:schemeClr val="dk1"/>
                </a:solidFill>
                <a:latin typeface="Calibri"/>
                <a:ea typeface="Calibri"/>
                <a:cs typeface="Calibri"/>
                <a:sym typeface="Calibri"/>
              </a:rPr>
              <a:t>, also known as </a:t>
            </a:r>
            <a:r>
              <a:rPr lang="en-US" sz="1200" b="1" i="0" u="none" strike="noStrike">
                <a:solidFill>
                  <a:schemeClr val="dk1"/>
                </a:solidFill>
                <a:latin typeface="Calibri"/>
                <a:ea typeface="Calibri"/>
                <a:cs typeface="Calibri"/>
                <a:sym typeface="Calibri"/>
              </a:rPr>
              <a:t>free-for-all</a:t>
            </a:r>
            <a:r>
              <a:rPr lang="en-US" sz="1200" b="0" i="0" u="none" strike="noStrike">
                <a:solidFill>
                  <a:schemeClr val="dk1"/>
                </a:solidFill>
                <a:latin typeface="Calibri"/>
                <a:ea typeface="Calibri"/>
                <a:cs typeface="Calibri"/>
                <a:sym typeface="Calibri"/>
              </a:rPr>
              <a:t>, is a widely used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gameplay</a:t>
            </a:r>
            <a:r>
              <a:rPr lang="en-US" sz="1200" b="0" i="0" u="none" strike="noStrike">
                <a:solidFill>
                  <a:schemeClr val="dk1"/>
                </a:solidFill>
                <a:latin typeface="Calibri"/>
                <a:ea typeface="Calibri"/>
                <a:cs typeface="Calibri"/>
                <a:sym typeface="Calibri"/>
              </a:rPr>
              <a:t> mode integrated into many </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shooters</a:t>
            </a:r>
            <a:r>
              <a:rPr lang="en-US" sz="1200" b="0" i="0" u="none" strike="noStrike">
                <a:solidFill>
                  <a:schemeClr val="dk1"/>
                </a:solidFill>
                <a:latin typeface="Calibri"/>
                <a:ea typeface="Calibri"/>
                <a:cs typeface="Calibri"/>
                <a:sym typeface="Calibri"/>
              </a:rPr>
              <a:t>, including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first-person shooter (FPS)</a:t>
            </a:r>
            <a:r>
              <a:rPr lang="en-US" sz="1200" b="0" i="0" u="none" strike="noStrike">
                <a:solidFill>
                  <a:schemeClr val="dk1"/>
                </a:solidFill>
                <a:latin typeface="Calibri"/>
                <a:ea typeface="Calibri"/>
                <a:cs typeface="Calibri"/>
                <a:sym typeface="Calibri"/>
              </a:rPr>
              <a:t>, and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real-time strategy</a:t>
            </a:r>
            <a:r>
              <a:rPr lang="en-US" sz="1200" b="0" i="0" u="none" strike="noStrike">
                <a:solidFill>
                  <a:schemeClr val="dk1"/>
                </a:solidFill>
                <a:latin typeface="Calibri"/>
                <a:ea typeface="Calibri"/>
                <a:cs typeface="Calibri"/>
                <a:sym typeface="Calibri"/>
              </a:rPr>
              <a:t> (RTS) </a:t>
            </a:r>
            <a:r>
              <a:rPr lang="en-US" sz="1200" b="0" i="0" u="sng" strike="noStrike">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video games</a:t>
            </a:r>
            <a:r>
              <a:rPr lang="en-US" sz="1200" b="0" i="0" u="none" strike="noStrike">
                <a:solidFill>
                  <a:schemeClr val="dk1"/>
                </a:solidFill>
                <a:latin typeface="Calibri"/>
                <a:ea typeface="Calibri"/>
                <a:cs typeface="Calibri"/>
                <a:sym typeface="Calibri"/>
              </a:rPr>
              <a:t>. Normally the goal of a deathmatch game is to kill (or </a:t>
            </a:r>
            <a:r>
              <a:rPr lang="en-US" sz="1200" b="0" i="0" u="sng" strike="noStrike">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"frag" [a military term]</a:t>
            </a:r>
            <a:r>
              <a:rPr lang="en-US" sz="1200" b="0" i="0" u="none" strike="noStrike">
                <a:solidFill>
                  <a:schemeClr val="dk1"/>
                </a:solidFill>
                <a:latin typeface="Calibri"/>
                <a:ea typeface="Calibri"/>
                <a:cs typeface="Calibri"/>
                <a:sym typeface="Calibri"/>
              </a:rPr>
              <a:t>) as many other players as possible until a certain condition or limit is reached, commonly a </a:t>
            </a:r>
            <a:r>
              <a:rPr lang="en-US" sz="1200" b="0" i="1" u="none" strike="noStrike">
                <a:solidFill>
                  <a:schemeClr val="dk1"/>
                </a:solidFill>
                <a:latin typeface="Calibri"/>
                <a:ea typeface="Calibri"/>
                <a:cs typeface="Calibri"/>
                <a:sym typeface="Calibri"/>
              </a:rPr>
              <a:t>frag limit</a:t>
            </a:r>
            <a:r>
              <a:rPr lang="en-US" sz="1200" b="0" i="0" u="none" strike="noStrike">
                <a:solidFill>
                  <a:schemeClr val="dk1"/>
                </a:solidFill>
                <a:latin typeface="Calibri"/>
                <a:ea typeface="Calibri"/>
                <a:cs typeface="Calibri"/>
                <a:sym typeface="Calibri"/>
              </a:rPr>
              <a:t> or a </a:t>
            </a:r>
            <a:r>
              <a:rPr lang="en-US" sz="1200" b="0" i="1" u="none" strike="noStrike">
                <a:solidFill>
                  <a:schemeClr val="dk1"/>
                </a:solidFill>
                <a:latin typeface="Calibri"/>
                <a:ea typeface="Calibri"/>
                <a:cs typeface="Calibri"/>
                <a:sym typeface="Calibri"/>
              </a:rPr>
              <a:t>time limit</a:t>
            </a:r>
            <a:r>
              <a:rPr lang="en-US" sz="1200" b="0" i="0" u="none" strike="noStrike">
                <a:solidFill>
                  <a:schemeClr val="dk1"/>
                </a:solidFill>
                <a:latin typeface="Calibri"/>
                <a:ea typeface="Calibri"/>
                <a:cs typeface="Calibri"/>
                <a:sym typeface="Calibri"/>
              </a:rPr>
              <a:t>. Once one of the conditions is met, the match is over, and the winner is the player that accumulated the greatest number of frags.</a:t>
            </a:r>
            <a:endParaRPr/>
          </a:p>
        </p:txBody>
      </p:sp>
      <p:sp>
        <p:nvSpPr>
          <p:cNvPr id="193" name="Google Shape;19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It’s important to note that some fighting games like Ninja Theory’s </a:t>
            </a:r>
            <a:r>
              <a:rPr lang="en-US" sz="1200" b="0" i="1" u="none" strike="noStrike">
                <a:solidFill>
                  <a:schemeClr val="dk1"/>
                </a:solidFill>
                <a:latin typeface="Calibri"/>
                <a:ea typeface="Calibri"/>
                <a:cs typeface="Calibri"/>
                <a:sym typeface="Calibri"/>
              </a:rPr>
              <a:t>Heavenly</a:t>
            </a:r>
            <a:endParaRPr/>
          </a:p>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Sword </a:t>
            </a:r>
            <a:r>
              <a:rPr lang="en-US" sz="1200" b="0" i="0" u="none" strike="noStrike">
                <a:solidFill>
                  <a:schemeClr val="dk1"/>
                </a:solidFill>
                <a:latin typeface="Calibri"/>
                <a:ea typeface="Calibri"/>
                <a:cs typeface="Calibri"/>
                <a:sym typeface="Calibri"/>
              </a:rPr>
              <a:t>and </a:t>
            </a:r>
            <a:r>
              <a:rPr lang="en-US" sz="1200" b="0" i="1" u="none" strike="noStrike">
                <a:solidFill>
                  <a:schemeClr val="dk1"/>
                </a:solidFill>
                <a:latin typeface="Calibri"/>
                <a:ea typeface="Calibri"/>
                <a:cs typeface="Calibri"/>
                <a:sym typeface="Calibri"/>
              </a:rPr>
              <a:t>For Honor </a:t>
            </a:r>
            <a:r>
              <a:rPr lang="en-US" sz="1200" b="0" i="0" u="none" strike="noStrike">
                <a:solidFill>
                  <a:schemeClr val="dk1"/>
                </a:solidFill>
                <a:latin typeface="Calibri"/>
                <a:ea typeface="Calibri"/>
                <a:cs typeface="Calibri"/>
                <a:sym typeface="Calibri"/>
              </a:rPr>
              <a:t>by Ubisoft Montreal take place in a large-scale virtual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world, not a confined arena. In fact, many people consider this to be a separate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genre, sometimes called a </a:t>
            </a:r>
            <a:r>
              <a:rPr lang="en-US" sz="1200" b="0" i="1" u="none" strike="noStrike">
                <a:solidFill>
                  <a:schemeClr val="dk1"/>
                </a:solidFill>
                <a:latin typeface="Calibri"/>
                <a:ea typeface="Calibri"/>
                <a:cs typeface="Calibri"/>
                <a:sym typeface="Calibri"/>
              </a:rPr>
              <a:t>brawler</a:t>
            </a:r>
            <a:r>
              <a:rPr lang="en-US" sz="1200" b="0" i="0" u="none" strike="noStrike">
                <a:solidFill>
                  <a:schemeClr val="dk1"/>
                </a:solidFill>
                <a:latin typeface="Calibri"/>
                <a:ea typeface="Calibri"/>
                <a:cs typeface="Calibri"/>
                <a:sym typeface="Calibri"/>
              </a:rPr>
              <a:t>. This kind of fighting game can have technical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requirements more akin to those of a third-person shooter or a strategy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game.</a:t>
            </a:r>
            <a:endParaRPr/>
          </a:p>
        </p:txBody>
      </p:sp>
      <p:sp>
        <p:nvSpPr>
          <p:cNvPr id="210" name="Google Shape;21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racing game is often very linear, much like older FPS games. However,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travel speed is generally much faster than in an FPS. Therefore, more focus 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placed on very long corridor-based tracks, or looped tracks, sometimes with</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various alternate routes and secret short-cuts. Racing games usually focus all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their graphic detail on the vehicles, track and immediate surroundings. As an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example of this, Figure shows a screenshot from the latest installment in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well-known </a:t>
            </a:r>
            <a:r>
              <a:rPr lang="en-US" sz="1200" b="0" i="1" u="none" strike="noStrike">
                <a:solidFill>
                  <a:schemeClr val="dk1"/>
                </a:solidFill>
                <a:latin typeface="Calibri"/>
                <a:ea typeface="Calibri"/>
                <a:cs typeface="Calibri"/>
                <a:sym typeface="Calibri"/>
              </a:rPr>
              <a:t>Gran Turismo </a:t>
            </a:r>
            <a:r>
              <a:rPr lang="en-US" sz="1200" b="0" i="0" u="none" strike="noStrike">
                <a:solidFill>
                  <a:schemeClr val="dk1"/>
                </a:solidFill>
                <a:latin typeface="Calibri"/>
                <a:ea typeface="Calibri"/>
                <a:cs typeface="Calibri"/>
                <a:sym typeface="Calibri"/>
              </a:rPr>
              <a:t>racing game series, </a:t>
            </a:r>
            <a:r>
              <a:rPr lang="en-US" sz="1200" b="0" i="1" u="none" strike="noStrike">
                <a:solidFill>
                  <a:schemeClr val="dk1"/>
                </a:solidFill>
                <a:latin typeface="Calibri"/>
                <a:ea typeface="Calibri"/>
                <a:cs typeface="Calibri"/>
                <a:sym typeface="Calibri"/>
              </a:rPr>
              <a:t>Gran Turismo Sport</a:t>
            </a:r>
            <a:r>
              <a:rPr lang="en-US" sz="1200" b="0" i="0" u="none" strike="noStrike">
                <a:solidFill>
                  <a:schemeClr val="dk1"/>
                </a:solidFill>
                <a:latin typeface="Calibri"/>
                <a:ea typeface="Calibri"/>
                <a:cs typeface="Calibri"/>
                <a:sym typeface="Calibri"/>
              </a:rPr>
              <a:t>, developed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by Polyphony Digital and published by Sony Interactive Entertainment. However,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kart racers also devote significant rendering and animation bandwidth</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 the characters driving the vehicles.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Some of the technological properties of a typical racing game include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following techniques: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Various “tricks” are used when rendering distant background elements,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such as employing two-dimensional cards for trees, hills and mountains.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The track is often broken down into relatively simple two-dimensional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regions called “sectors.” These data structures are used to optimize rendering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visibility determination, to aid in artificial intelligence 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path finding for non-human-controlled vehicles, and to solve many other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technical problems.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The camera typically follows behind the vehicle for a third-person perspective, or is sometimes situated inside the cockpit first-person style.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When the track involves tunnels and other “tight” spaces, a good deal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 effort is often put into ensuring that the camera does not collide with</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background geometry.</a:t>
            </a:r>
            <a:endParaRPr/>
          </a:p>
        </p:txBody>
      </p:sp>
      <p:sp>
        <p:nvSpPr>
          <p:cNvPr id="219" name="Google Shape;21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game world is typically displayed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at an oblique top-down viewing angle. A distinction is often made between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turn-based strategy games and real-time strategy (RTS). For a discussion of</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genre, see https://en.wikipedia.org/wiki/Strategy_video_game.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strategy game player is usually prevented from significantly changing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viewing angle in order to see across large distances. This restriction permits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developers to employ various optimizations in the rendering engine of 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strategy game.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Older games in the genre employed a grid-based (cell-based) world construction,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an orthographic projection was used to greatly simplify the renderer.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Figure above shows a screenshot from the classic strategy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game </a:t>
            </a:r>
            <a:r>
              <a:rPr lang="en-US" sz="1200" b="0" i="1" u="none" strike="noStrike">
                <a:solidFill>
                  <a:schemeClr val="dk1"/>
                </a:solidFill>
                <a:latin typeface="Calibri"/>
                <a:ea typeface="Calibri"/>
                <a:cs typeface="Calibri"/>
                <a:sym typeface="Calibri"/>
              </a:rPr>
              <a:t>Age of Empires</a:t>
            </a:r>
            <a:r>
              <a:rPr lang="en-US" sz="1200" b="0" i="0" u="none" strike="noStrike">
                <a:solidFill>
                  <a:schemeClr val="dk1"/>
                </a:solidFill>
                <a:latin typeface="Calibri"/>
                <a:ea typeface="Calibri"/>
                <a:cs typeface="Calibri"/>
                <a:sym typeface="Calibri"/>
              </a:rPr>
              <a: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Modern strategy games sometimes use perspective projection and a true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3D world, but they may still employ a grid layout system to ensure that units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background elements, such as buildings, align with one another properly.</a:t>
            </a:r>
            <a:endParaRPr/>
          </a:p>
        </p:txBody>
      </p:sp>
      <p:sp>
        <p:nvSpPr>
          <p:cNvPr id="228" name="Google Shape;22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Other Subcategories of this genre include MMO role-playing games (MMORPG), MMO realtime strategy games (MMORTS) and MMO first-person shooters (MMOFPS). http://en.wikipedia.org/wiki/MMOG</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We should note here that the game </a:t>
            </a:r>
            <a:r>
              <a:rPr lang="en-US" sz="1200" b="0" i="1" u="none" strike="noStrike">
                <a:solidFill>
                  <a:schemeClr val="dk1"/>
                </a:solidFill>
                <a:latin typeface="Calibri"/>
                <a:ea typeface="Calibri"/>
                <a:cs typeface="Calibri"/>
                <a:sym typeface="Calibri"/>
              </a:rPr>
              <a:t>Player Unknown’s Battlegrounds </a:t>
            </a:r>
            <a:r>
              <a:rPr lang="en-US" sz="1200" b="0" i="0" u="none" strike="noStrike">
                <a:solidFill>
                  <a:schemeClr val="dk1"/>
                </a:solidFill>
                <a:latin typeface="Calibri"/>
                <a:ea typeface="Calibri"/>
                <a:cs typeface="Calibri"/>
                <a:sym typeface="Calibri"/>
              </a:rPr>
              <a:t>(PUBG)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has recently popularized a subgenre known as </a:t>
            </a:r>
            <a:r>
              <a:rPr lang="en-US" sz="1200" b="0" i="1" u="none" strike="noStrike">
                <a:solidFill>
                  <a:schemeClr val="dk1"/>
                </a:solidFill>
                <a:latin typeface="Calibri"/>
                <a:ea typeface="Calibri"/>
                <a:cs typeface="Calibri"/>
                <a:sym typeface="Calibri"/>
              </a:rPr>
              <a:t>battle royale</a:t>
            </a:r>
            <a:r>
              <a:rPr lang="en-US" sz="1200" b="0" i="0" u="none" strike="noStrike">
                <a:solidFill>
                  <a:schemeClr val="dk1"/>
                </a:solidFill>
                <a:latin typeface="Calibri"/>
                <a:ea typeface="Calibri"/>
                <a:cs typeface="Calibri"/>
                <a:sym typeface="Calibri"/>
              </a:rPr>
              <a:t>. This type of game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blurs the line between regular multiplayer shooters and massively multiplayer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online games, because they typically pit on the order of 100 players against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each other in an online world, employing a survival-based “last man standing”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gameplay style.</a:t>
            </a:r>
            <a:endParaRPr/>
          </a:p>
        </p:txBody>
      </p:sp>
      <p:sp>
        <p:nvSpPr>
          <p:cNvPr id="237" name="Google Shape;23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Virtual reality </a:t>
            </a:r>
            <a:r>
              <a:rPr lang="en-US" sz="1200" b="0" i="0" u="none" strike="noStrike">
                <a:solidFill>
                  <a:schemeClr val="dk1"/>
                </a:solidFill>
                <a:latin typeface="Calibri"/>
                <a:ea typeface="Calibri"/>
                <a:cs typeface="Calibri"/>
                <a:sym typeface="Calibri"/>
              </a:rPr>
              <a:t>(VR) can be defined as an immersive multimedia or computers imulated</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reality that simulates the user’s presence in an environment that 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either a place in the real world or in an imaginary world.</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real-time AR and MR systems, accelerometers in the viewing device permit the virtual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camera’s movements to track the movements of the device, producing the illusion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that the device is simply a window through which we are viewing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actual world, and hence giving the overlaid computer graphics a strong sense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 realism.</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The U.S. Army provides its soldiers with improved tactical awareness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using a system dubbed “tactical augmented reality” (TAR)—it overlays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video-game-like heads-up display (HUD) complete with a mini-map</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object markers onto the soldier’s view of the real world (https://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youtu.be/x8p19j8C6VI).</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In 2015, Disney demonstrated some cool AR technology that renders 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3D cartoon character on top of a sheet of real-world paper on which 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2D version of the character is colored with a crayon (https://youtu.be/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SWzurBQ81CM).</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PepsiCo also pranked commuting Londoners with an AR-enabled bus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stop. People sitting in the bus stop enclosure were treated to AR images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 a prowling tiger, a meteor crashing, and an alien tentacle grabbing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unwitting passers by off the street (https://youtu.be/Go9rf9GmYpM).</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Job Simulator: year 2050: </a:t>
            </a:r>
            <a:r>
              <a:rPr lang="en-US" sz="1200" b="1" i="0">
                <a:solidFill>
                  <a:schemeClr val="dk1"/>
                </a:solidFill>
                <a:latin typeface="Calibri"/>
                <a:ea typeface="Calibri"/>
                <a:cs typeface="Calibri"/>
                <a:sym typeface="Calibri"/>
              </a:rPr>
              <a:t>In a world where robots have replaced all human jobs, step into the "Job Simulator" to learn what it was like 'to job'.</a:t>
            </a:r>
            <a:endParaRPr/>
          </a:p>
        </p:txBody>
      </p:sp>
      <p:sp>
        <p:nvSpPr>
          <p:cNvPr id="254" name="Google Shape;25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Stereoscopic rendering</a:t>
            </a:r>
            <a:r>
              <a:rPr lang="en-US" sz="1200" b="0" i="0" u="none" strike="noStrike">
                <a:solidFill>
                  <a:schemeClr val="dk1"/>
                </a:solidFill>
                <a:latin typeface="Calibri"/>
                <a:ea typeface="Calibri"/>
                <a:cs typeface="Calibri"/>
                <a:sym typeface="Calibri"/>
              </a:rPr>
              <a:t>. A VR game needs to render the scene twice, once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each eye. This doubles the number of graphics primitives that must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be rendered, although other aspects of the graphics pipeline such as visibility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culling can be performed only once per frame, since the eyes are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reasonably close together. As such, a VR game isn’t quite as expensive to</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render as the same game would be to render in split-screen multiplayer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mode, but the principle of rendering each frame twice from two (slightly)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different virtual cameras is the same.</a:t>
            </a:r>
            <a:endParaRPr/>
          </a:p>
        </p:txBody>
      </p:sp>
      <p:sp>
        <p:nvSpPr>
          <p:cNvPr id="277" name="Google Shape;27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81" name="Google Shape;38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Using Unity, developers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can deploy their games on mobile platforms (e.g., Apple iOS, Google Android),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consoles (Microsoft Xbox 360 and Xbox One, Sony PlayStation 3 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PlayStation 4, and Nintendo Wii, Wii U), handheld gaming platforms (e.g.,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Playstation Vita, Nintendo Switch), desktop computers (Microsoft Windows,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Apple Macintosh and Linux), TV boxes (e.g., Android TV and tvOS) and virtual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reality (VR) systems (e.g., Oculus Rift, Steam VR, Gear VR).</a:t>
            </a:r>
            <a:endParaRPr/>
          </a:p>
        </p:txBody>
      </p:sp>
      <p:sp>
        <p:nvSpPr>
          <p:cNvPr id="358" name="Google Shape;358;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27B74C72-29AC-2E01-05B7-8B980DA18F46}"/>
            </a:ext>
          </a:extLst>
        </p:cNvPr>
        <p:cNvGrpSpPr/>
        <p:nvPr/>
      </p:nvGrpSpPr>
      <p:grpSpPr>
        <a:xfrm>
          <a:off x="0" y="0"/>
          <a:ext cx="0" cy="0"/>
          <a:chOff x="0" y="0"/>
          <a:chExt cx="0" cy="0"/>
        </a:xfrm>
      </p:grpSpPr>
      <p:sp>
        <p:nvSpPr>
          <p:cNvPr id="379" name="Google Shape;379;p26:notes">
            <a:extLst>
              <a:ext uri="{FF2B5EF4-FFF2-40B4-BE49-F238E27FC236}">
                <a16:creationId xmlns:a16="http://schemas.microsoft.com/office/drawing/2014/main" id="{0B161D31-4165-3017-5BC5-1FADF61BA0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26:notes">
            <a:extLst>
              <a:ext uri="{FF2B5EF4-FFF2-40B4-BE49-F238E27FC236}">
                <a16:creationId xmlns:a16="http://schemas.microsoft.com/office/drawing/2014/main" id="{5CFAFEB3-0E13-7E2D-EF69-35721597421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developers can port their XNA games to iOS, Android, Mac OS X, Linux</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Windows 8 Metro via an open-source implementation of XNA called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MonoGame.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check out the Tombstone engine (http://tombstoneengine.com/)</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by Terathon Software, the LeadWerks engine (https://www.leadwerks.com/),</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HeroEngine by Idea Fabrik, PLC (http://www.heroengine.com/).</a:t>
            </a:r>
            <a:endParaRPr/>
          </a:p>
        </p:txBody>
      </p:sp>
      <p:sp>
        <p:nvSpPr>
          <p:cNvPr id="381" name="Google Shape;381;p26:notes">
            <a:extLst>
              <a:ext uri="{FF2B5EF4-FFF2-40B4-BE49-F238E27FC236}">
                <a16:creationId xmlns:a16="http://schemas.microsoft.com/office/drawing/2014/main" id="{9648504E-90A9-690F-5838-AD1922EA59F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87337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a:solidFill>
                  <a:schemeClr val="dk1"/>
                </a:solidFill>
                <a:latin typeface="Calibri"/>
                <a:ea typeface="Calibri"/>
                <a:cs typeface="Calibri"/>
                <a:sym typeface="Calibri"/>
              </a:rPr>
              <a:t>https://www.youtube.com/watch?v=3Zq1yo0lxOU</a:t>
            </a:r>
            <a:endParaRPr/>
          </a:p>
          <a:p>
            <a:pPr marL="0" lvl="0" indent="0" algn="l" rtl="0">
              <a:spcBef>
                <a:spcPts val="0"/>
              </a:spcBef>
              <a:spcAft>
                <a:spcPts val="0"/>
              </a:spcAft>
              <a:buNone/>
            </a:pPr>
            <a:endParaRPr/>
          </a:p>
        </p:txBody>
      </p:sp>
      <p:sp>
        <p:nvSpPr>
          <p:cNvPr id="421" name="Google Shape;42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Typical platforms include Microsoft Windows, Linux 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MacOS-based PCs; mobile platforms like the Apple iPhone and iPad, Android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smart phones and tablets, Sony’s PlayStation Vita and Amazon’s Kindle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Fire (among others); and game consoles like Microsoft’s Xbox, Xbox 360 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Xbox One, Sony’s PlayStation, PlayStation 2, PlayStation 3 and PlayStation 4,</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Nintendo’s DS, GameCube, Wii, Wii U and Switch.</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PS3™ system includes a user interface called XMB™ (</a:t>
            </a:r>
            <a:r>
              <a:rPr lang="en-US" sz="1200" b="1" i="0" u="none" strike="noStrike">
                <a:solidFill>
                  <a:schemeClr val="dk1"/>
                </a:solidFill>
                <a:latin typeface="Calibri"/>
                <a:ea typeface="Calibri"/>
                <a:cs typeface="Calibri"/>
                <a:sym typeface="Calibri"/>
              </a:rPr>
              <a:t>XrossMediaBar</a:t>
            </a:r>
            <a:r>
              <a:rPr lang="en-US" sz="1200" b="0" i="0" u="none" strike="noStrike">
                <a:solidFill>
                  <a:schemeClr val="dk1"/>
                </a:solidFill>
                <a:latin typeface="Calibri"/>
                <a:ea typeface="Calibri"/>
                <a:cs typeface="Calibri"/>
                <a:sym typeface="Calibri"/>
              </a:rPr>
              <a:t>). The horizontal row shows system features in categories, and the vertical column shows items that can be performed under each category. Select a category or item. Confirm the selected item. Cancel an operation. View the options menu / control panel.</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On the PS4 and Xbox One, the OS is continually running background tasks,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such as recording video of your playthrough in case you decide to share it via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PS4’s Share button, or downloading games, patches and DLC, so you can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have fun playing a game while you wait. So the gap between console and PC</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development is gradually closing (for better or for worse).</a:t>
            </a:r>
            <a:endParaRPr/>
          </a:p>
        </p:txBody>
      </p:sp>
      <p:sp>
        <p:nvSpPr>
          <p:cNvPr id="460" name="Google Shape;46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Most game engines leverage a number of third-party software development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kits (SDKs) and middleware. The functional or classbased</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interface provided by an SDK is often called an application programming</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interface (API).</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libgcm </a:t>
            </a:r>
            <a:r>
              <a:rPr lang="en-US" sz="1200" b="0" i="0" u="none" strike="noStrike">
                <a:solidFill>
                  <a:schemeClr val="dk1"/>
                </a:solidFill>
                <a:latin typeface="Calibri"/>
                <a:ea typeface="Calibri"/>
                <a:cs typeface="Calibri"/>
                <a:sym typeface="Calibri"/>
              </a:rPr>
              <a:t>is a low-level direct interface to the PlayStation 3’s RSX graphics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hardware, which was provided by Sony as a more efficient alternative to</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OpenGL.</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Edge </a:t>
            </a:r>
            <a:r>
              <a:rPr lang="en-US" sz="1200" b="0" i="0" u="none" strike="noStrike">
                <a:solidFill>
                  <a:schemeClr val="dk1"/>
                </a:solidFill>
                <a:latin typeface="Calibri"/>
                <a:ea typeface="Calibri"/>
                <a:cs typeface="Calibri"/>
                <a:sym typeface="Calibri"/>
              </a:rPr>
              <a:t>is a powerful and highly efficient rendering and animation engine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produced by Naughty Dog and Sony for the PlayStation 3 and used by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number of first- and third-party game studios.</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1" u="none" strike="noStrike">
                <a:solidFill>
                  <a:schemeClr val="dk1"/>
                </a:solidFill>
                <a:latin typeface="Calibri"/>
                <a:ea typeface="Calibri"/>
                <a:cs typeface="Calibri"/>
                <a:sym typeface="Calibri"/>
              </a:rPr>
              <a:t>Vulkan </a:t>
            </a:r>
            <a:r>
              <a:rPr lang="en-US" sz="1200" b="0" i="0" u="none" strike="noStrike">
                <a:solidFill>
                  <a:schemeClr val="dk1"/>
                </a:solidFill>
                <a:latin typeface="Calibri"/>
                <a:ea typeface="Calibri"/>
                <a:cs typeface="Calibri"/>
                <a:sym typeface="Calibri"/>
              </a:rPr>
              <a:t>is a low-level library created by the Khronos™ Group which enables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game programmers to submit rendering batches and GPGPU compute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jobs directly to the GPU as command lists, and provides them with</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fine-grained control over memory and other resources that are shared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between the CPU and GPU</a:t>
            </a:r>
            <a:endParaRPr/>
          </a:p>
        </p:txBody>
      </p:sp>
      <p:sp>
        <p:nvSpPr>
          <p:cNvPr id="469" name="Google Shape;469;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computer-generated imagery</a:t>
            </a:r>
            <a:r>
              <a:rPr lang="en-US" sz="1200" b="0" i="0" u="none" strike="noStrike">
                <a:solidFill>
                  <a:schemeClr val="dk1"/>
                </a:solidFill>
                <a:latin typeface="Calibri"/>
                <a:ea typeface="Calibri"/>
                <a:cs typeface="Calibri"/>
                <a:sym typeface="Calibri"/>
              </a:rPr>
              <a:t> and real-time </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3D computer graphics</a:t>
            </a:r>
            <a:r>
              <a:rPr lang="en-US" sz="1200" b="0" i="0" u="none" strike="noStrike">
                <a:solidFill>
                  <a:schemeClr val="dk1"/>
                </a:solidFill>
                <a:latin typeface="Calibri"/>
                <a:ea typeface="Calibri"/>
                <a:cs typeface="Calibri"/>
                <a:sym typeface="Calibri"/>
              </a:rPr>
              <a:t>, </a:t>
            </a:r>
            <a:r>
              <a:rPr lang="en-US" sz="1200" b="1" i="0" u="none" strike="noStrike">
                <a:solidFill>
                  <a:schemeClr val="dk1"/>
                </a:solidFill>
                <a:latin typeface="Calibri"/>
                <a:ea typeface="Calibri"/>
                <a:cs typeface="Calibri"/>
                <a:sym typeface="Calibri"/>
              </a:rPr>
              <a:t>portal rendering</a:t>
            </a:r>
            <a:r>
              <a:rPr lang="en-US" sz="1200" b="0" i="0" u="none" strike="noStrike">
                <a:solidFill>
                  <a:schemeClr val="dk1"/>
                </a:solidFill>
                <a:latin typeface="Calibri"/>
                <a:ea typeface="Calibri"/>
                <a:cs typeface="Calibri"/>
                <a:sym typeface="Calibri"/>
              </a:rPr>
              <a:t> is an algorithm for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visibility determination</a:t>
            </a:r>
            <a:r>
              <a:rPr lang="en-US" sz="1200" b="0" i="0" u="none" strike="noStrike">
                <a:solidFill>
                  <a:schemeClr val="dk1"/>
                </a:solidFill>
                <a:latin typeface="Calibri"/>
                <a:ea typeface="Calibri"/>
                <a:cs typeface="Calibri"/>
                <a:sym typeface="Calibri"/>
              </a:rPr>
              <a:t>. For example, consider a 3D computer game environment, which may contain many polygons, only a few of which may be visible on screen at a given time. By determining which polygons are currently not visible, and not rendering those objects, significant performance improvements can be achieved. </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portal system is based on using the partitioning of space to form generalizations about the visibility of objects within those spaces. Regions of map space are divided into polygonal, generally convex, areas called </a:t>
            </a:r>
            <a:r>
              <a:rPr lang="en-US" sz="1200" b="0" i="1" u="none" strike="noStrike">
                <a:solidFill>
                  <a:schemeClr val="dk1"/>
                </a:solidFill>
                <a:latin typeface="Calibri"/>
                <a:ea typeface="Calibri"/>
                <a:cs typeface="Calibri"/>
                <a:sym typeface="Calibri"/>
              </a:rPr>
              <a:t>zones</a:t>
            </a:r>
            <a:r>
              <a:rPr lang="en-US" sz="1200" b="0" i="0" u="none" strike="noStrike">
                <a:solidFill>
                  <a:schemeClr val="dk1"/>
                </a:solidFill>
                <a:latin typeface="Calibri"/>
                <a:ea typeface="Calibri"/>
                <a:cs typeface="Calibri"/>
                <a:sym typeface="Calibri"/>
              </a:rPr>
              <a:t>, or sometimes </a:t>
            </a:r>
            <a:r>
              <a:rPr lang="en-US" sz="1200" b="0" i="1" u="none" strike="noStrike">
                <a:solidFill>
                  <a:schemeClr val="dk1"/>
                </a:solidFill>
                <a:latin typeface="Calibri"/>
                <a:ea typeface="Calibri"/>
                <a:cs typeface="Calibri"/>
                <a:sym typeface="Calibri"/>
              </a:rPr>
              <a:t>sectors</a:t>
            </a:r>
            <a:r>
              <a:rPr lang="en-US" sz="1200" b="0" i="0" u="none" strike="noStrike">
                <a:solidFill>
                  <a:schemeClr val="dk1"/>
                </a:solidFill>
                <a:latin typeface="Calibri"/>
                <a:ea typeface="Calibri"/>
                <a:cs typeface="Calibri"/>
                <a:sym typeface="Calibri"/>
              </a:rPr>
              <a:t>. Adjacent zones are linked to one another via shared dividing polygons termed </a:t>
            </a:r>
            <a:r>
              <a:rPr lang="en-US" sz="1200" b="0" i="1" u="none" strike="noStrike">
                <a:solidFill>
                  <a:schemeClr val="dk1"/>
                </a:solidFill>
                <a:latin typeface="Calibri"/>
                <a:ea typeface="Calibri"/>
                <a:cs typeface="Calibri"/>
                <a:sym typeface="Calibri"/>
              </a:rPr>
              <a:t>portals</a:t>
            </a:r>
            <a:r>
              <a:rPr lang="en-US" sz="1200" b="0" i="0" u="none" strike="noStrike">
                <a:solidFill>
                  <a:schemeClr val="dk1"/>
                </a:solidFill>
                <a:latin typeface="Calibri"/>
                <a:ea typeface="Calibri"/>
                <a:cs typeface="Calibri"/>
                <a:sym typeface="Calibri"/>
              </a:rPr>
              <a:t>. Approaches that precompute visibility for zones are referred to as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potentially visible set</a:t>
            </a:r>
            <a:r>
              <a:rPr lang="en-US" sz="1200" b="0" i="0" u="none" strike="noStrike">
                <a:solidFill>
                  <a:schemeClr val="dk1"/>
                </a:solidFill>
                <a:latin typeface="Calibri"/>
                <a:ea typeface="Calibri"/>
                <a:cs typeface="Calibri"/>
                <a:sym typeface="Calibri"/>
              </a:rPr>
              <a:t> or </a:t>
            </a:r>
            <a:r>
              <a:rPr lang="en-US" sz="1200" b="0" i="1" u="none" strike="noStrike">
                <a:solidFill>
                  <a:schemeClr val="dk1"/>
                </a:solidFill>
                <a:latin typeface="Calibri"/>
                <a:ea typeface="Calibri"/>
                <a:cs typeface="Calibri"/>
                <a:sym typeface="Calibri"/>
              </a:rPr>
              <a:t>PVS</a:t>
            </a:r>
            <a:r>
              <a:rPr lang="en-US" sz="1200" b="0" i="0" u="none" strike="noStrike">
                <a:solidFill>
                  <a:schemeClr val="dk1"/>
                </a:solidFill>
                <a:latin typeface="Calibri"/>
                <a:ea typeface="Calibri"/>
                <a:cs typeface="Calibri"/>
                <a:sym typeface="Calibri"/>
              </a:rPr>
              <a:t> methods. </a:t>
            </a:r>
            <a:endParaRPr/>
          </a:p>
          <a:p>
            <a:pPr marL="0" lvl="0" indent="0" algn="l" rtl="0">
              <a:spcBef>
                <a:spcPts val="0"/>
              </a:spcBef>
              <a:spcAft>
                <a:spcPts val="0"/>
              </a:spcAft>
              <a:buNone/>
            </a:pPr>
            <a:endParaRPr/>
          </a:p>
        </p:txBody>
      </p:sp>
      <p:sp>
        <p:nvSpPr>
          <p:cNvPr id="521" name="Google Shape;521;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a:solidFill>
                  <a:schemeClr val="dk1"/>
                </a:solidFill>
                <a:latin typeface="Calibri"/>
                <a:ea typeface="Calibri"/>
                <a:cs typeface="Calibri"/>
                <a:sym typeface="Calibri"/>
              </a:rPr>
              <a:t>Tone mapping</a:t>
            </a:r>
            <a:r>
              <a:rPr lang="en-US" sz="1200" b="0" i="0">
                <a:solidFill>
                  <a:schemeClr val="dk1"/>
                </a:solidFill>
                <a:latin typeface="Calibri"/>
                <a:ea typeface="Calibri"/>
                <a:cs typeface="Calibri"/>
                <a:sym typeface="Calibri"/>
              </a:rPr>
              <a:t> is a technique used in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image processing</a:t>
            </a:r>
            <a:r>
              <a:rPr lang="en-US" sz="1200" b="0" i="0">
                <a:solidFill>
                  <a:schemeClr val="dk1"/>
                </a:solidFill>
                <a:latin typeface="Calibri"/>
                <a:ea typeface="Calibri"/>
                <a:cs typeface="Calibri"/>
                <a:sym typeface="Calibri"/>
              </a:rPr>
              <a:t> and </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computer graphics</a:t>
            </a:r>
            <a:r>
              <a:rPr lang="en-US" sz="1200" b="0" i="0">
                <a:solidFill>
                  <a:schemeClr val="dk1"/>
                </a:solidFill>
                <a:latin typeface="Calibri"/>
                <a:ea typeface="Calibri"/>
                <a:cs typeface="Calibri"/>
                <a:sym typeface="Calibri"/>
              </a:rPr>
              <a:t> to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map</a:t>
            </a:r>
            <a:r>
              <a:rPr lang="en-US" sz="1200" b="0" i="0">
                <a:solidFill>
                  <a:schemeClr val="dk1"/>
                </a:solidFill>
                <a:latin typeface="Calibri"/>
                <a:ea typeface="Calibri"/>
                <a:cs typeface="Calibri"/>
                <a:sym typeface="Calibri"/>
              </a:rPr>
              <a:t> one set of colors to another to approximate the appearance of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high-dynamic-range images</a:t>
            </a:r>
            <a:r>
              <a:rPr lang="en-US" sz="1200" b="0" i="0">
                <a:solidFill>
                  <a:schemeClr val="dk1"/>
                </a:solidFill>
                <a:latin typeface="Calibri"/>
                <a:ea typeface="Calibri"/>
                <a:cs typeface="Calibri"/>
                <a:sym typeface="Calibri"/>
              </a:rPr>
              <a:t> in a medium that has a more limited </a:t>
            </a:r>
            <a:r>
              <a:rPr lang="en-US" sz="1200" b="0" i="0" u="sng" strike="noStrike">
                <a:solidFill>
                  <a:schemeClr val="dk1"/>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dynamic range</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a:solidFill>
                  <a:schemeClr val="dk1"/>
                </a:solidFill>
                <a:latin typeface="Calibri"/>
                <a:ea typeface="Calibri"/>
                <a:cs typeface="Calibri"/>
                <a:sym typeface="Calibri"/>
              </a:rPr>
              <a:t>Bleach bypass</a:t>
            </a:r>
            <a:r>
              <a:rPr lang="en-US" sz="1200" b="0" i="0">
                <a:solidFill>
                  <a:schemeClr val="dk1"/>
                </a:solidFill>
                <a:latin typeface="Calibri"/>
                <a:ea typeface="Calibri"/>
                <a:cs typeface="Calibri"/>
                <a:sym typeface="Calibri"/>
              </a:rPr>
              <a:t>, also known as </a:t>
            </a:r>
            <a:r>
              <a:rPr lang="en-US" sz="1200" b="1" i="0">
                <a:solidFill>
                  <a:schemeClr val="dk1"/>
                </a:solidFill>
                <a:latin typeface="Calibri"/>
                <a:ea typeface="Calibri"/>
                <a:cs typeface="Calibri"/>
                <a:sym typeface="Calibri"/>
              </a:rPr>
              <a:t>skip bleach</a:t>
            </a:r>
            <a:r>
              <a:rPr lang="en-US" sz="1200" b="0" i="0">
                <a:solidFill>
                  <a:schemeClr val="dk1"/>
                </a:solidFill>
                <a:latin typeface="Calibri"/>
                <a:ea typeface="Calibri"/>
                <a:cs typeface="Calibri"/>
                <a:sym typeface="Calibri"/>
              </a:rPr>
              <a:t> or </a:t>
            </a:r>
            <a:r>
              <a:rPr lang="en-US" sz="1200" b="1" i="0">
                <a:solidFill>
                  <a:schemeClr val="dk1"/>
                </a:solidFill>
                <a:latin typeface="Calibri"/>
                <a:ea typeface="Calibri"/>
                <a:cs typeface="Calibri"/>
                <a:sym typeface="Calibri"/>
              </a:rPr>
              <a:t>silver retention</a:t>
            </a:r>
            <a:r>
              <a:rPr lang="en-US" sz="1200" b="0" i="0">
                <a:solidFill>
                  <a:schemeClr val="dk1"/>
                </a:solidFill>
                <a:latin typeface="Calibri"/>
                <a:ea typeface="Calibri"/>
                <a:cs typeface="Calibri"/>
                <a:sym typeface="Calibri"/>
              </a:rPr>
              <a:t>, is a chemical effect which entails either the partial or complete skipping of the </a:t>
            </a:r>
            <a:r>
              <a:rPr lang="en-US" sz="1200" b="0" i="0" u="sng" strike="noStrike">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bleaching</a:t>
            </a:r>
            <a:r>
              <a:rPr lang="en-US" sz="1200" b="0" i="0">
                <a:solidFill>
                  <a:schemeClr val="dk1"/>
                </a:solidFill>
                <a:latin typeface="Calibri"/>
                <a:ea typeface="Calibri"/>
                <a:cs typeface="Calibri"/>
                <a:sym typeface="Calibri"/>
              </a:rPr>
              <a:t> function during the </a:t>
            </a:r>
            <a:r>
              <a:rPr lang="en-US" sz="1200" b="0" i="0" u="sng" strike="noStrike">
                <a:solidFill>
                  <a:schemeClr val="dk1"/>
                </a:solidFill>
                <a:latin typeface="Calibri"/>
                <a:ea typeface="Calibri"/>
                <a:cs typeface="Calibri"/>
                <a:sym typeface="Calibri"/>
                <a:hlinkClick r:id="rId9">
                  <a:extLst>
                    <a:ext uri="{A12FA001-AC4F-418D-AE19-62706E023703}">
                      <ahyp:hlinkClr xmlns:ahyp="http://schemas.microsoft.com/office/drawing/2018/hyperlinkcolor" val="tx"/>
                    </a:ext>
                  </a:extLst>
                </a:hlinkClick>
              </a:rPr>
              <a:t>processing</a:t>
            </a:r>
            <a:r>
              <a:rPr lang="en-US" sz="1200" b="0" i="0">
                <a:solidFill>
                  <a:schemeClr val="dk1"/>
                </a:solidFill>
                <a:latin typeface="Calibri"/>
                <a:ea typeface="Calibri"/>
                <a:cs typeface="Calibri"/>
                <a:sym typeface="Calibri"/>
              </a:rPr>
              <a:t> of a color film. By doing this, the </a:t>
            </a:r>
            <a:r>
              <a:rPr lang="en-US" sz="1200" b="0" i="0" u="sng" strike="noStrike">
                <a:solidFill>
                  <a:schemeClr val="dk1"/>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silver</a:t>
            </a:r>
            <a:r>
              <a:rPr lang="en-US" sz="1200" b="0" i="0">
                <a:solidFill>
                  <a:schemeClr val="dk1"/>
                </a:solidFill>
                <a:latin typeface="Calibri"/>
                <a:ea typeface="Calibri"/>
                <a:cs typeface="Calibri"/>
                <a:sym typeface="Calibri"/>
              </a:rPr>
              <a:t> is retained in the emulsion along with the color dyes. The result is a black-and-white image over a color image.</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Color saturation is the expression of the bandwidth of light from a source. The term hue refers to the color of the image itself, while saturation describes the intensity (purity) of that hue.</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When color is fully saturated, the color is considered in purest (truest) version.</a:t>
            </a:r>
            <a:endParaRPr/>
          </a:p>
          <a:p>
            <a:pPr marL="0" lvl="0" indent="0" algn="l" rtl="0">
              <a:spcBef>
                <a:spcPts val="0"/>
              </a:spcBef>
              <a:spcAft>
                <a:spcPts val="0"/>
              </a:spcAft>
              <a:buNone/>
            </a:pPr>
            <a:endParaRPr/>
          </a:p>
        </p:txBody>
      </p:sp>
      <p:sp>
        <p:nvSpPr>
          <p:cNvPr id="530" name="Google Shape;530;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4" name="Google Shape;55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when collisions are detected, they are almost always resolved as part of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physics integration and constraint satisfaction logic.</a:t>
            </a:r>
            <a:endParaRPr/>
          </a:p>
        </p:txBody>
      </p:sp>
      <p:sp>
        <p:nvSpPr>
          <p:cNvPr id="555" name="Google Shape;555;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3" name="Google Shape;56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The "morph target" is a deformed version of a shape. When applied to a human face, for example, the head is first modelled with a neutral expression and a "target deformation" is then created for each other expression. When the face is being animated, the animator can then smoothly morph (or "blend") between the base shape and one or several morph targets.</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Skeletal animation permits a detailed 3D character mesh to be posed by an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animator using a relatively simple system of bones. As the bones move,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vertices of the 3D mesh move with them. Although morph targets and vertex</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animation are used in some engines, skeletal animation is the most prevalent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animation method in games today.</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1" i="0">
                <a:solidFill>
                  <a:schemeClr val="dk1"/>
                </a:solidFill>
                <a:latin typeface="Calibri"/>
                <a:ea typeface="Calibri"/>
                <a:cs typeface="Calibri"/>
                <a:sym typeface="Calibri"/>
              </a:rPr>
              <a:t>Ragdoll physics</a:t>
            </a:r>
            <a:r>
              <a:rPr lang="en-US" sz="1200" b="0" i="0">
                <a:solidFill>
                  <a:schemeClr val="dk1"/>
                </a:solidFill>
                <a:latin typeface="Calibri"/>
                <a:ea typeface="Calibri"/>
                <a:cs typeface="Calibri"/>
                <a:sym typeface="Calibri"/>
              </a:rPr>
              <a:t> is a type of </a:t>
            </a:r>
            <a:r>
              <a:rPr lang="en-US" sz="1200" b="0" i="0"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physics engine</a:t>
            </a:r>
            <a:r>
              <a:rPr lang="en-US" sz="1200" b="0" i="0">
                <a:solidFill>
                  <a:schemeClr val="dk1"/>
                </a:solidFill>
                <a:latin typeface="Calibri"/>
                <a:ea typeface="Calibri"/>
                <a:cs typeface="Calibri"/>
                <a:sym typeface="Calibri"/>
              </a:rPr>
              <a:t> </a:t>
            </a:r>
            <a:r>
              <a:rPr lang="en-US" sz="1200" b="0" i="0" u="sng" strike="noStrike">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procedural animation</a:t>
            </a:r>
            <a:r>
              <a:rPr lang="en-US" sz="1200" b="0" i="0">
                <a:solidFill>
                  <a:schemeClr val="dk1"/>
                </a:solidFill>
                <a:latin typeface="Calibri"/>
                <a:ea typeface="Calibri"/>
                <a:cs typeface="Calibri"/>
                <a:sym typeface="Calibri"/>
              </a:rPr>
              <a:t> which is often used as a replacement for traditional static death animations in </a:t>
            </a:r>
            <a:r>
              <a:rPr lang="en-US" sz="1200" b="0" i="0" u="sng" strike="noStrike">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video games</a:t>
            </a:r>
            <a:r>
              <a:rPr lang="en-US" sz="1200" b="0" i="0">
                <a:solidFill>
                  <a:schemeClr val="dk1"/>
                </a:solidFill>
                <a:latin typeface="Calibri"/>
                <a:ea typeface="Calibri"/>
                <a:cs typeface="Calibri"/>
                <a:sym typeface="Calibri"/>
              </a:rPr>
              <a:t> and </a:t>
            </a:r>
            <a:r>
              <a:rPr lang="en-US" sz="1200" b="0" i="0" u="sng" strike="noStrike">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animated films</a:t>
            </a:r>
            <a:r>
              <a:rPr lang="en-US" sz="1200" b="0" i="0">
                <a:solidFill>
                  <a:schemeClr val="dk1"/>
                </a:solidFill>
                <a:latin typeface="Calibri"/>
                <a:ea typeface="Calibri"/>
                <a:cs typeface="Calibri"/>
                <a:sym typeface="Calibri"/>
              </a:rPr>
              <a:t>. (</a:t>
            </a:r>
            <a:r>
              <a:rPr lang="en-US" u="sng">
                <a:solidFill>
                  <a:schemeClr val="hlink"/>
                </a:solidFill>
                <a:hlinkClick r:id="rId7"/>
              </a:rPr>
              <a:t>https://en.wikipedia.org/wiki/Ragdoll_physics</a:t>
            </a:r>
            <a:r>
              <a:rPr lang="en-US"/>
              <a:t>)</a:t>
            </a:r>
            <a:endParaRPr/>
          </a:p>
          <a:p>
            <a:pPr marL="0" lvl="0" indent="0" algn="l" rtl="0">
              <a:spcBef>
                <a:spcPts val="0"/>
              </a:spcBef>
              <a:spcAft>
                <a:spcPts val="0"/>
              </a:spcAft>
              <a:buNone/>
            </a:pP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There is also a tight coupling between the animation and physics systems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when </a:t>
            </a:r>
            <a:r>
              <a:rPr lang="en-US" sz="1200" b="0" i="1" u="none" strike="noStrike">
                <a:solidFill>
                  <a:schemeClr val="dk1"/>
                </a:solidFill>
                <a:latin typeface="Calibri"/>
                <a:ea typeface="Calibri"/>
                <a:cs typeface="Calibri"/>
                <a:sym typeface="Calibri"/>
              </a:rPr>
              <a:t>rag dolls </a:t>
            </a:r>
            <a:r>
              <a:rPr lang="en-US" sz="1200" b="0" i="0" u="none" strike="noStrike">
                <a:solidFill>
                  <a:schemeClr val="dk1"/>
                </a:solidFill>
                <a:latin typeface="Calibri"/>
                <a:ea typeface="Calibri"/>
                <a:cs typeface="Calibri"/>
                <a:sym typeface="Calibri"/>
              </a:rPr>
              <a:t>are employed. A rag doll is a limp (often dead) animated character,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whose bodily motion is simulated by the physics system. The physics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system determines the positions and orientations of the various parts of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body by treating them as a constrained system of rigid bodies. The animation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system calculates the palette of matrices required by the rendering engine in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order to draw the character on-screen</a:t>
            </a:r>
            <a:endParaRPr/>
          </a:p>
        </p:txBody>
      </p:sp>
      <p:sp>
        <p:nvSpPr>
          <p:cNvPr id="564" name="Google Shape;564;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5" name="Google Shape;605;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the context of game engines,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software object model answers questions, such as: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Is your game engine designed in an object-oriented manner?</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What language will you use? C? C++? Java? OCaml?</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How will the static class hierarchy be organized? One giant monolithic</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hierarchy? Lots of loosely coupled components?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Will you use templates and policy-based design, or traditional polymorphism?</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How are objects referenced? Straight old pointers? Smart pointers?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Handles?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How will objects be uniquely identified? By address in memory only?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By name? By a global unique identifier (GUID)?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How are the lifetimes of game objects managed?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 How are the states of the game objects simulated over time?</a:t>
            </a:r>
            <a:endParaRPr/>
          </a:p>
        </p:txBody>
      </p:sp>
      <p:sp>
        <p:nvSpPr>
          <p:cNvPr id="606" name="Google Shape;606;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7" name="Google Shape;65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3" name="Google Shape;683;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3" name="Google Shape;72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Maya stores a directed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acyclic graph (DAG) of scene nodes, with a complex web of interconnections.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It stores a history of all the edits that have been performed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on the file. It represents the position, orientation and scale of every object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the scene as a full hierarchy of 3D transformations, decomposed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into translation, rotation, scale and shear components.</a:t>
            </a:r>
            <a:endParaRPr/>
          </a:p>
        </p:txBody>
      </p:sp>
      <p:sp>
        <p:nvSpPr>
          <p:cNvPr id="761" name="Google Shape;761;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 will use the term “mesh” to refer to a single renderable shape,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“model” to refer to a composite object that may contain multiple meshes,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plus animation data and other metadata for use by the game.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Meshes are typically created in a 3D modeling package such as 3ds Max,</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Maya or SoftImage. A powerful and popular tool by Pixologic called Zbrush</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In order to render a skeletal mesh, the game engine requires three distinct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kinds of data:</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1. the mesh itself,</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2. the skeletal hierarchy (joint names, parent-child relationships and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base pose the skeleton was in when it was originally bound to the mesh),</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3. one or more animation clips, which specify how the joints should move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over time.</a:t>
            </a:r>
            <a:endParaRPr/>
          </a:p>
        </p:txBody>
      </p:sp>
      <p:sp>
        <p:nvSpPr>
          <p:cNvPr id="793" name="Google Shape;793;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9" name="Google Shape;819;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 game engine’s tool suite may be architected in any number of ways. Some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tools might be stand-alone pieces of software, as shown in Figure (left). Some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tools may be built on top of some of the lower layers used by the runtime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engine, as Figure (right) illustrates.</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For example, Quake- and Unreal-based games both boast an in-game console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that permits developers and “modders” to type debugging and configuration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commands while running the game.</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As an interesting and unique example, Unreal’s world editor and asset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manager, UnrealEd, is built right into the runtime game engine. To run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editor, you run your game with a command-line argument of “editor.”</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p:txBody>
      </p:sp>
      <p:sp>
        <p:nvSpPr>
          <p:cNvPr id="862" name="Google Shape;862;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Finally, web-based user interfaces are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becoming more and more popular for certain kinds of tools.</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Web interfaces also force us to design</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our tools using a client-server architecture. This opens up the possibility</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of distributing our tools to a wider audience. For example, Naughty Dog’s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localization tool is available directly to outsourcing partners around the globe</a:t>
            </a:r>
            <a:endParaRPr/>
          </a:p>
          <a:p>
            <a:pPr marL="0" lvl="0" indent="0" algn="l" rtl="0">
              <a:spcBef>
                <a:spcPts val="0"/>
              </a:spcBef>
              <a:spcAft>
                <a:spcPts val="0"/>
              </a:spcAft>
              <a:buNone/>
            </a:pPr>
            <a:endParaRPr/>
          </a:p>
        </p:txBody>
      </p:sp>
      <p:sp>
        <p:nvSpPr>
          <p:cNvPr id="875" name="Google Shape;875;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accent1"/>
        </a:solidFill>
        <a:effectLst/>
      </p:bgPr>
    </p:bg>
    <p:spTree>
      <p:nvGrpSpPr>
        <p:cNvPr id="1" name="Shape 22"/>
        <p:cNvGrpSpPr/>
        <p:nvPr/>
      </p:nvGrpSpPr>
      <p:grpSpPr>
        <a:xfrm>
          <a:off x="0" y="0"/>
          <a:ext cx="0" cy="0"/>
          <a:chOff x="0" y="0"/>
          <a:chExt cx="0" cy="0"/>
        </a:xfrm>
      </p:grpSpPr>
      <p:sp>
        <p:nvSpPr>
          <p:cNvPr id="23" name="Google Shape;23;p63"/>
          <p:cNvSpPr txBox="1">
            <a:spLocks noGrp="1"/>
          </p:cNvSpPr>
          <p:nvPr>
            <p:ph type="title"/>
          </p:nvPr>
        </p:nvSpPr>
        <p:spPr>
          <a:xfrm>
            <a:off x="838200" y="0"/>
            <a:ext cx="9850557" cy="1325600"/>
          </a:xfrm>
          <a:prstGeom prst="rect">
            <a:avLst/>
          </a:prstGeom>
          <a:noFill/>
          <a:ln>
            <a:noFill/>
          </a:ln>
          <a:effectLst>
            <a:outerShdw blurRad="50800" dist="25400" dir="2700000" algn="tl" rotWithShape="0">
              <a:srgbClr val="000000">
                <a:alpha val="74901"/>
              </a:srgbClr>
            </a:outerShdw>
          </a:effectLst>
        </p:spPr>
        <p:txBody>
          <a:bodyPr spcFirstLastPara="1" wrap="square" lIns="68575" tIns="68575" rIns="68575" bIns="68575" anchor="ctr" anchorCtr="0">
            <a:noAutofit/>
          </a:bodyPr>
          <a:lstStyle>
            <a:lvl1pPr marR="0" lvl="0" algn="l">
              <a:lnSpc>
                <a:spcPct val="90000"/>
              </a:lnSpc>
              <a:spcBef>
                <a:spcPts val="0"/>
              </a:spcBef>
              <a:spcAft>
                <a:spcPts val="0"/>
              </a:spcAft>
              <a:buClr>
                <a:schemeClr val="lt1"/>
              </a:buClr>
              <a:buSzPts val="1100"/>
              <a:buFont typeface="Raleway"/>
              <a:buNone/>
              <a:defRPr sz="4400" i="0" u="none" strike="noStrike" cap="none">
                <a:solidFill>
                  <a:srgbClr val="1F3864"/>
                </a:solidFill>
                <a:latin typeface="Raleway"/>
                <a:ea typeface="Raleway"/>
                <a:cs typeface="Raleway"/>
                <a:sym typeface="Raleway"/>
              </a:defRPr>
            </a:lvl1pPr>
            <a:lvl2pPr lvl="1">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2pPr>
            <a:lvl3pPr lvl="2">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3pPr>
            <a:lvl4pPr lvl="3">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4pPr>
            <a:lvl5pPr lvl="4">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5pPr>
            <a:lvl6pPr lvl="5">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6pPr>
            <a:lvl7pPr lvl="6">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7pPr>
            <a:lvl8pPr lvl="7">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8pPr>
            <a:lvl9pPr lvl="8">
              <a:spcBef>
                <a:spcPts val="0"/>
              </a:spcBef>
              <a:spcAft>
                <a:spcPts val="0"/>
              </a:spcAft>
              <a:buClr>
                <a:schemeClr val="lt1"/>
              </a:buClr>
              <a:buSzPts val="1100"/>
              <a:buFont typeface="Raleway"/>
              <a:buNone/>
              <a:defRPr sz="1867">
                <a:solidFill>
                  <a:schemeClr val="lt1"/>
                </a:solidFill>
                <a:latin typeface="Raleway"/>
                <a:ea typeface="Raleway"/>
                <a:cs typeface="Raleway"/>
                <a:sym typeface="Raleway"/>
              </a:defRPr>
            </a:lvl9pPr>
          </a:lstStyle>
          <a:p>
            <a:endParaRPr/>
          </a:p>
        </p:txBody>
      </p:sp>
      <p:sp>
        <p:nvSpPr>
          <p:cNvPr id="24" name="Google Shape;24;p63"/>
          <p:cNvSpPr txBox="1">
            <a:spLocks noGrp="1"/>
          </p:cNvSpPr>
          <p:nvPr>
            <p:ph type="body" idx="1"/>
          </p:nvPr>
        </p:nvSpPr>
        <p:spPr>
          <a:xfrm>
            <a:off x="838200" y="1325601"/>
            <a:ext cx="9850557" cy="4851225"/>
          </a:xfrm>
          <a:prstGeom prst="rect">
            <a:avLst/>
          </a:prstGeom>
          <a:noFill/>
          <a:ln>
            <a:noFill/>
          </a:ln>
          <a:effectLst>
            <a:outerShdw blurRad="50800" dist="25400" dir="2700000" algn="tl" rotWithShape="0">
              <a:srgbClr val="000000">
                <a:alpha val="64705"/>
              </a:srgbClr>
            </a:outerShdw>
          </a:effectLst>
        </p:spPr>
        <p:txBody>
          <a:bodyPr spcFirstLastPara="1" wrap="square" lIns="68575" tIns="68575" rIns="68575" bIns="68575" anchor="t" anchorCtr="0">
            <a:noAutofit/>
          </a:bodyPr>
          <a:lstStyle>
            <a:lvl1pPr marL="457200" marR="0" lvl="0" indent="-361950" algn="l">
              <a:lnSpc>
                <a:spcPct val="90000"/>
              </a:lnSpc>
              <a:spcBef>
                <a:spcPts val="1067"/>
              </a:spcBef>
              <a:spcAft>
                <a:spcPts val="0"/>
              </a:spcAft>
              <a:buClr>
                <a:srgbClr val="1F3864"/>
              </a:buClr>
              <a:buSzPts val="2100"/>
              <a:buFont typeface="Raleway"/>
              <a:buChar char="❖"/>
              <a:defRPr sz="2800" i="0" u="none" strike="noStrike" cap="none">
                <a:solidFill>
                  <a:srgbClr val="1F3864"/>
                </a:solidFill>
                <a:latin typeface="Raleway"/>
                <a:ea typeface="Raleway"/>
                <a:cs typeface="Raleway"/>
                <a:sym typeface="Raleway"/>
              </a:defRPr>
            </a:lvl1pPr>
            <a:lvl2pPr marL="914400" marR="0" lvl="1" indent="-342900" algn="l">
              <a:lnSpc>
                <a:spcPct val="90000"/>
              </a:lnSpc>
              <a:spcBef>
                <a:spcPts val="533"/>
              </a:spcBef>
              <a:spcAft>
                <a:spcPts val="0"/>
              </a:spcAft>
              <a:buClr>
                <a:srgbClr val="2F5496"/>
              </a:buClr>
              <a:buSzPts val="1800"/>
              <a:buFont typeface="Noto Sans Symbols"/>
              <a:buChar char="▪"/>
              <a:defRPr sz="2400" i="0" u="none" strike="noStrike" cap="none">
                <a:solidFill>
                  <a:srgbClr val="2F5496"/>
                </a:solidFill>
                <a:latin typeface="Raleway"/>
                <a:ea typeface="Raleway"/>
                <a:cs typeface="Raleway"/>
                <a:sym typeface="Raleway"/>
              </a:defRPr>
            </a:lvl2pPr>
            <a:lvl3pPr marL="1371600" marR="0" lvl="2" indent="-323850" algn="l">
              <a:lnSpc>
                <a:spcPct val="90000"/>
              </a:lnSpc>
              <a:spcBef>
                <a:spcPts val="533"/>
              </a:spcBef>
              <a:spcAft>
                <a:spcPts val="0"/>
              </a:spcAft>
              <a:buClr>
                <a:schemeClr val="accent1"/>
              </a:buClr>
              <a:buSzPts val="1500"/>
              <a:buFont typeface="Raleway"/>
              <a:buChar char="▪"/>
              <a:defRPr sz="2000" i="0" u="none" strike="noStrike" cap="none">
                <a:solidFill>
                  <a:schemeClr val="accent1"/>
                </a:solidFill>
                <a:latin typeface="Raleway"/>
                <a:ea typeface="Raleway"/>
                <a:cs typeface="Raleway"/>
                <a:sym typeface="Raleway"/>
              </a:defRPr>
            </a:lvl3pPr>
            <a:lvl4pPr marL="1828800" marR="0" lvl="3" indent="-317500" algn="l">
              <a:lnSpc>
                <a:spcPct val="90000"/>
              </a:lnSpc>
              <a:spcBef>
                <a:spcPts val="533"/>
              </a:spcBef>
              <a:spcAft>
                <a:spcPts val="0"/>
              </a:spcAft>
              <a:buClr>
                <a:srgbClr val="548135"/>
              </a:buClr>
              <a:buSzPts val="1400"/>
              <a:buFont typeface="Noto Sans Symbols"/>
              <a:buChar char="▪"/>
              <a:defRPr sz="1867" i="0" u="none" strike="noStrike" cap="none">
                <a:solidFill>
                  <a:srgbClr val="548135"/>
                </a:solidFill>
                <a:latin typeface="Raleway"/>
                <a:ea typeface="Raleway"/>
                <a:cs typeface="Raleway"/>
                <a:sym typeface="Raleway"/>
              </a:defRPr>
            </a:lvl4pPr>
            <a:lvl5pPr marL="2286000" marR="0" lvl="4" indent="-317500" algn="l">
              <a:lnSpc>
                <a:spcPct val="90000"/>
              </a:lnSpc>
              <a:spcBef>
                <a:spcPts val="533"/>
              </a:spcBef>
              <a:spcAft>
                <a:spcPts val="0"/>
              </a:spcAft>
              <a:buClr>
                <a:srgbClr val="548135"/>
              </a:buClr>
              <a:buSzPts val="1400"/>
              <a:buFont typeface="Noto Sans Symbols"/>
              <a:buChar char="▪"/>
              <a:defRPr sz="1867" i="0" u="none" strike="noStrike" cap="none">
                <a:solidFill>
                  <a:srgbClr val="548135"/>
                </a:solidFill>
                <a:latin typeface="Raleway"/>
                <a:ea typeface="Raleway"/>
                <a:cs typeface="Raleway"/>
                <a:sym typeface="Raleway"/>
              </a:defRPr>
            </a:lvl5pPr>
            <a:lvl6pPr marL="2743200" marR="0" lvl="5" indent="-317500" algn="l">
              <a:lnSpc>
                <a:spcPct val="90000"/>
              </a:lnSpc>
              <a:spcBef>
                <a:spcPts val="533"/>
              </a:spcBef>
              <a:spcAft>
                <a:spcPts val="0"/>
              </a:spcAft>
              <a:buClr>
                <a:srgbClr val="548135"/>
              </a:buClr>
              <a:buSzPts val="1400"/>
              <a:buFont typeface="Noto Sans Symbols"/>
              <a:buChar char="▪"/>
              <a:defRPr sz="1867" i="0" u="none" strike="noStrike" cap="none">
                <a:solidFill>
                  <a:srgbClr val="548135"/>
                </a:solidFill>
                <a:latin typeface="Raleway"/>
                <a:ea typeface="Raleway"/>
                <a:cs typeface="Raleway"/>
                <a:sym typeface="Raleway"/>
              </a:defRPr>
            </a:lvl6pPr>
            <a:lvl7pPr marL="3200400" marR="0" lvl="6" indent="-317500" algn="l">
              <a:lnSpc>
                <a:spcPct val="90000"/>
              </a:lnSpc>
              <a:spcBef>
                <a:spcPts val="533"/>
              </a:spcBef>
              <a:spcAft>
                <a:spcPts val="0"/>
              </a:spcAft>
              <a:buClr>
                <a:schemeClr val="lt1"/>
              </a:buClr>
              <a:buSzPts val="1400"/>
              <a:buFont typeface="Raleway"/>
              <a:buChar char="•"/>
              <a:defRPr sz="1867" i="0" u="none" strike="noStrike" cap="none">
                <a:solidFill>
                  <a:schemeClr val="lt1"/>
                </a:solidFill>
                <a:latin typeface="Raleway"/>
                <a:ea typeface="Raleway"/>
                <a:cs typeface="Raleway"/>
                <a:sym typeface="Raleway"/>
              </a:defRPr>
            </a:lvl7pPr>
            <a:lvl8pPr marL="3657600" marR="0" lvl="7" indent="-317500" algn="l">
              <a:lnSpc>
                <a:spcPct val="90000"/>
              </a:lnSpc>
              <a:spcBef>
                <a:spcPts val="533"/>
              </a:spcBef>
              <a:spcAft>
                <a:spcPts val="0"/>
              </a:spcAft>
              <a:buClr>
                <a:schemeClr val="lt1"/>
              </a:buClr>
              <a:buSzPts val="1400"/>
              <a:buFont typeface="Raleway"/>
              <a:buChar char="•"/>
              <a:defRPr sz="1867" i="0" u="none" strike="noStrike" cap="none">
                <a:solidFill>
                  <a:schemeClr val="lt1"/>
                </a:solidFill>
                <a:latin typeface="Raleway"/>
                <a:ea typeface="Raleway"/>
                <a:cs typeface="Raleway"/>
                <a:sym typeface="Raleway"/>
              </a:defRPr>
            </a:lvl8pPr>
            <a:lvl9pPr marL="4114800" marR="0" lvl="8" indent="-317500" algn="l">
              <a:lnSpc>
                <a:spcPct val="90000"/>
              </a:lnSpc>
              <a:spcBef>
                <a:spcPts val="533"/>
              </a:spcBef>
              <a:spcAft>
                <a:spcPts val="0"/>
              </a:spcAft>
              <a:buClr>
                <a:schemeClr val="lt1"/>
              </a:buClr>
              <a:buSzPts val="1400"/>
              <a:buFont typeface="Raleway"/>
              <a:buChar char="•"/>
              <a:defRPr sz="1867" i="0" u="none" strike="noStrike" cap="none">
                <a:solidFill>
                  <a:schemeClr val="lt1"/>
                </a:solidFill>
                <a:latin typeface="Raleway"/>
                <a:ea typeface="Raleway"/>
                <a:cs typeface="Raleway"/>
                <a:sym typeface="Raleway"/>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pic>
        <p:nvPicPr>
          <p:cNvPr id="26" name="Google Shape;26;p64"/>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27" name="Google Shape;27;p64"/>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6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pic>
        <p:nvPicPr>
          <p:cNvPr id="30" name="Google Shape;30;p65"/>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31" name="Google Shape;31;p65"/>
          <p:cNvSpPr txBox="1">
            <a:spLocks noGrp="1"/>
          </p:cNvSpPr>
          <p:nvPr>
            <p:ph type="body" idx="1"/>
          </p:nvPr>
        </p:nvSpPr>
        <p:spPr>
          <a:xfrm>
            <a:off x="1090862" y="1507068"/>
            <a:ext cx="3192379"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15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5"/>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39"/>
        <p:cNvGrpSpPr/>
        <p:nvPr/>
      </p:nvGrpSpPr>
      <p:grpSpPr>
        <a:xfrm>
          <a:off x="0" y="0"/>
          <a:ext cx="0" cy="0"/>
          <a:chOff x="0" y="0"/>
          <a:chExt cx="0" cy="0"/>
        </a:xfrm>
      </p:grpSpPr>
      <p:pic>
        <p:nvPicPr>
          <p:cNvPr id="40" name="Google Shape;40;p67"/>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41" name="Google Shape;41;p67"/>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7"/>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Hooman.Salamat@georgebrown.c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ZeniMax_Media"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owlchemylabs.com/games/"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en.wikipedia.org/wiki/List_of_game_engines"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hyperlink" Target="https://www.ogre3d.org/"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www.clickteam.com/" TargetMode="External"/><Relationship Id="rId7" Type="http://schemas.openxmlformats.org/officeDocument/2006/relationships/hyperlink" Target="http://scratch.mit.edu/"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hyperlink" Target="http://gamesalad.com/creator" TargetMode="External"/><Relationship Id="rId5" Type="http://schemas.openxmlformats.org/officeDocument/2006/relationships/hyperlink" Target="http://www.planetbravo.com/" TargetMode="External"/><Relationship Id="rId4" Type="http://schemas.openxmlformats.org/officeDocument/2006/relationships/hyperlink" Target="https://www.clickteam.com/the-games-factory-2"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hyperlink" Target="http://www.ode.org/"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9.png"/><Relationship Id="rId7" Type="http://schemas.openxmlformats.org/officeDocument/2006/relationships/image" Target="../media/image62.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6.png"/><Relationship Id="rId4" Type="http://schemas.openxmlformats.org/officeDocument/2006/relationships/image" Target="../media/image6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9.xml"/><Relationship Id="rId1" Type="http://schemas.openxmlformats.org/officeDocument/2006/relationships/slideLayout" Target="../slideLayouts/slideLayout3.xml"/><Relationship Id="rId5" Type="http://schemas.openxmlformats.org/officeDocument/2006/relationships/image" Target="../media/image72.pn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p>
            <a:pPr marL="0" lvl="0" indent="0" algn="l" rtl="0">
              <a:lnSpc>
                <a:spcPct val="100000"/>
              </a:lnSpc>
              <a:spcBef>
                <a:spcPts val="0"/>
              </a:spcBef>
              <a:spcAft>
                <a:spcPts val="0"/>
              </a:spcAft>
              <a:buClr>
                <a:schemeClr val="lt1"/>
              </a:buClr>
              <a:buSzPts val="4800"/>
              <a:buFont typeface="Quattrocento Sans"/>
              <a:buNone/>
            </a:pPr>
            <a:r>
              <a:rPr lang="en-US"/>
              <a:t>Week1</a:t>
            </a:r>
            <a:br>
              <a:rPr lang="en-US"/>
            </a:br>
            <a:r>
              <a:rPr lang="en-US"/>
              <a:t>Game Engine Development</a:t>
            </a:r>
            <a:br>
              <a:rPr lang="en-US"/>
            </a:br>
            <a:r>
              <a:rPr lang="en-US"/>
              <a:t>GAME3121</a:t>
            </a:r>
            <a:endParaRPr/>
          </a:p>
        </p:txBody>
      </p:sp>
      <p:sp>
        <p:nvSpPr>
          <p:cNvPr id="58" name="Google Shape;58;p1"/>
          <p:cNvSpPr txBox="1"/>
          <p:nvPr/>
        </p:nvSpPr>
        <p:spPr>
          <a:xfrm>
            <a:off x="8077762" y="5255593"/>
            <a:ext cx="2447364" cy="4952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Hooman Salamat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838200" y="0"/>
            <a:ext cx="9850557" cy="1325600"/>
          </a:xfrm>
          <a:prstGeom prst="rect">
            <a:avLst/>
          </a:prstGeom>
          <a:noFill/>
          <a:ln>
            <a:noFill/>
          </a:ln>
          <a:effectLst>
            <a:outerShdw blurRad="50800" dist="25400" dir="2700000" algn="tl" rotWithShape="0">
              <a:srgbClr val="000000">
                <a:alpha val="74901"/>
              </a:srgbClr>
            </a:outerShdw>
          </a:effectLst>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1100"/>
              <a:buFont typeface="Raleway"/>
              <a:buNone/>
            </a:pPr>
            <a:r>
              <a:rPr lang="en-US"/>
              <a:t>Instructor</a:t>
            </a:r>
            <a:endParaRPr/>
          </a:p>
        </p:txBody>
      </p:sp>
      <p:sp>
        <p:nvSpPr>
          <p:cNvPr id="64" name="Google Shape;64;p2"/>
          <p:cNvSpPr txBox="1">
            <a:spLocks noGrp="1"/>
          </p:cNvSpPr>
          <p:nvPr>
            <p:ph type="body" idx="1"/>
          </p:nvPr>
        </p:nvSpPr>
        <p:spPr>
          <a:xfrm>
            <a:off x="838200" y="1325601"/>
            <a:ext cx="9850557" cy="4851225"/>
          </a:xfrm>
          <a:prstGeom prst="rect">
            <a:avLst/>
          </a:prstGeom>
          <a:noFill/>
          <a:ln>
            <a:noFill/>
          </a:ln>
          <a:effectLst>
            <a:outerShdw blurRad="50800" dist="25400" dir="2700000" algn="tl" rotWithShape="0">
              <a:srgbClr val="000000">
                <a:alpha val="64705"/>
              </a:srgbClr>
            </a:outerShdw>
          </a:effectLst>
        </p:spPr>
        <p:txBody>
          <a:bodyPr spcFirstLastPara="1" wrap="square" lIns="91425" tIns="91425" rIns="91425" bIns="91425" anchor="t" anchorCtr="0">
            <a:noAutofit/>
          </a:bodyPr>
          <a:lstStyle/>
          <a:p>
            <a:pPr marL="0" lvl="0" indent="0" algn="l" rtl="0">
              <a:lnSpc>
                <a:spcPct val="90000"/>
              </a:lnSpc>
              <a:spcBef>
                <a:spcPts val="1067"/>
              </a:spcBef>
              <a:spcAft>
                <a:spcPts val="0"/>
              </a:spcAft>
              <a:buSzPts val="2100"/>
              <a:buNone/>
            </a:pPr>
            <a:endParaRPr/>
          </a:p>
          <a:p>
            <a:pPr marL="0" lvl="0" indent="0" algn="l" rtl="0">
              <a:lnSpc>
                <a:spcPct val="90000"/>
              </a:lnSpc>
              <a:spcBef>
                <a:spcPts val="1067"/>
              </a:spcBef>
              <a:spcAft>
                <a:spcPts val="0"/>
              </a:spcAft>
              <a:buSzPts val="2100"/>
              <a:buNone/>
            </a:pPr>
            <a:endParaRPr/>
          </a:p>
          <a:p>
            <a:pPr marL="0" lvl="0" indent="0" algn="l" rtl="0">
              <a:lnSpc>
                <a:spcPct val="90000"/>
              </a:lnSpc>
              <a:spcBef>
                <a:spcPts val="1067"/>
              </a:spcBef>
              <a:spcAft>
                <a:spcPts val="0"/>
              </a:spcAft>
              <a:buSzPts val="2100"/>
              <a:buNone/>
            </a:pPr>
            <a:r>
              <a:rPr lang="en-US"/>
              <a:t>Hooman Salamat (Lectures &amp; Labs)</a:t>
            </a:r>
            <a:endParaRPr/>
          </a:p>
          <a:p>
            <a:pPr marL="457189" lvl="0" indent="-457189" algn="l" rtl="0">
              <a:lnSpc>
                <a:spcPct val="90000"/>
              </a:lnSpc>
              <a:spcBef>
                <a:spcPts val="1067"/>
              </a:spcBef>
              <a:spcAft>
                <a:spcPts val="0"/>
              </a:spcAft>
              <a:buSzPts val="2100"/>
              <a:buChar char="❖"/>
            </a:pPr>
            <a:r>
              <a:rPr lang="en-US" u="sng">
                <a:solidFill>
                  <a:schemeClr val="hlink"/>
                </a:solidFill>
                <a:hlinkClick r:id="rId3"/>
              </a:rPr>
              <a:t>Hooman.Salamat@georgebrown.ca</a:t>
            </a:r>
            <a:endParaRPr/>
          </a:p>
          <a:p>
            <a:pPr marL="457189" lvl="0" indent="-457189" algn="l" rtl="0">
              <a:lnSpc>
                <a:spcPct val="90000"/>
              </a:lnSpc>
              <a:spcBef>
                <a:spcPts val="1067"/>
              </a:spcBef>
              <a:spcAft>
                <a:spcPts val="0"/>
              </a:spcAft>
              <a:buSzPts val="2100"/>
              <a:buChar char="❖"/>
            </a:pPr>
            <a:r>
              <a:rPr lang="en-US"/>
              <a:t>Other contact info on Brightspace</a:t>
            </a:r>
            <a:endParaRPr/>
          </a:p>
          <a:p>
            <a:pPr marL="457189" lvl="0" indent="-323839" algn="l" rtl="0">
              <a:lnSpc>
                <a:spcPct val="90000"/>
              </a:lnSpc>
              <a:spcBef>
                <a:spcPts val="1067"/>
              </a:spcBef>
              <a:spcAft>
                <a:spcPts val="0"/>
              </a:spcAft>
              <a:buSzPts val="2100"/>
              <a:buNone/>
            </a:pPr>
            <a:endParaRPr/>
          </a:p>
        </p:txBody>
      </p:sp>
      <p:sp>
        <p:nvSpPr>
          <p:cNvPr id="65" name="Google Shape;65;p2"/>
          <p:cNvSpPr/>
          <p:nvPr/>
        </p:nvSpPr>
        <p:spPr>
          <a:xfrm>
            <a:off x="8570731" y="2473332"/>
            <a:ext cx="1276863" cy="1277881"/>
          </a:xfrm>
          <a:prstGeom prst="rect">
            <a:avLst/>
          </a:prstGeom>
          <a:solidFill>
            <a:srgbClr val="0065A4"/>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pic>
        <p:nvPicPr>
          <p:cNvPr id="66" name="Google Shape;66;p2" descr="A person wearing glasses posing for the camera&#10;&#10;Description automatically generated"/>
          <p:cNvPicPr preferRelativeResize="0"/>
          <p:nvPr/>
        </p:nvPicPr>
        <p:blipFill rotWithShape="1">
          <a:blip r:embed="rId4">
            <a:alphaModFix/>
          </a:blip>
          <a:srcRect/>
          <a:stretch/>
        </p:blipFill>
        <p:spPr>
          <a:xfrm>
            <a:off x="8580115" y="2481213"/>
            <a:ext cx="1270000" cy="1270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00"/>
              <a:buFont typeface="Quattrocento Sans"/>
              <a:buNone/>
            </a:pP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2x Assignments 20%</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(10) Labs 20%</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1x Midterm Exam 30%</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1x Final Exam 30%</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a:t>
            </a:r>
            <a:endParaRPr dirty="0"/>
          </a:p>
        </p:txBody>
      </p:sp>
      <p:sp>
        <p:nvSpPr>
          <p:cNvPr id="73" name="Google Shape;73;p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Assessment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p>
            <a:pPr marL="0" lvl="0" indent="-28575" algn="l" rtl="0">
              <a:lnSpc>
                <a:spcPct val="90000"/>
              </a:lnSpc>
              <a:spcBef>
                <a:spcPts val="0"/>
              </a:spcBef>
              <a:spcAft>
                <a:spcPts val="0"/>
              </a:spcAft>
              <a:buClr>
                <a:srgbClr val="232673"/>
              </a:buClr>
              <a:buSzPts val="450"/>
              <a:buChar char=" "/>
            </a:pPr>
            <a:r>
              <a:rPr lang="en-US" sz="1800" b="0" i="0" u="none" strike="noStrike">
                <a:solidFill>
                  <a:srgbClr val="232673"/>
                </a:solidFill>
                <a:latin typeface="Verdana"/>
                <a:ea typeface="Verdana"/>
                <a:cs typeface="Verdana"/>
                <a:sym typeface="Verdana"/>
              </a:rPr>
              <a:t>Game Engine Architecture, Third Edition</a:t>
            </a:r>
            <a:endParaRPr/>
          </a:p>
          <a:p>
            <a:pPr marL="0" lvl="0" indent="-28575" algn="l" rtl="0">
              <a:lnSpc>
                <a:spcPct val="90000"/>
              </a:lnSpc>
              <a:spcBef>
                <a:spcPts val="2200"/>
              </a:spcBef>
              <a:spcAft>
                <a:spcPts val="0"/>
              </a:spcAft>
              <a:buClr>
                <a:srgbClr val="232673"/>
              </a:buClr>
              <a:buSzPts val="450"/>
              <a:buChar char=" "/>
            </a:pPr>
            <a:r>
              <a:rPr lang="en-US" sz="1800" b="0" i="0" u="none" strike="noStrike">
                <a:solidFill>
                  <a:srgbClr val="232673"/>
                </a:solidFill>
                <a:latin typeface="Verdana"/>
                <a:ea typeface="Verdana"/>
                <a:cs typeface="Verdana"/>
                <a:sym typeface="Verdana"/>
              </a:rPr>
              <a:t>By: Jason Gregory</a:t>
            </a:r>
            <a:endParaRPr/>
          </a:p>
          <a:p>
            <a:pPr marL="0" lvl="0" indent="-28575" algn="l" rtl="0">
              <a:lnSpc>
                <a:spcPct val="90000"/>
              </a:lnSpc>
              <a:spcBef>
                <a:spcPts val="2200"/>
              </a:spcBef>
              <a:spcAft>
                <a:spcPts val="0"/>
              </a:spcAft>
              <a:buClr>
                <a:srgbClr val="232673"/>
              </a:buClr>
              <a:buSzPts val="450"/>
              <a:buFont typeface="Quattrocento Sans"/>
              <a:buChar char=" "/>
            </a:pPr>
            <a:r>
              <a:rPr lang="en-US" sz="1800" b="0" i="0" u="none" strike="noStrike">
                <a:solidFill>
                  <a:srgbClr val="232673"/>
                </a:solidFill>
                <a:latin typeface="Verdana"/>
                <a:ea typeface="Verdana"/>
                <a:cs typeface="Verdana"/>
                <a:sym typeface="Verdana"/>
              </a:rPr>
              <a:t>ISBN-13: </a:t>
            </a:r>
            <a:r>
              <a:rPr lang="en-US" sz="1800">
                <a:latin typeface="Verdana"/>
                <a:ea typeface="Verdana"/>
                <a:cs typeface="Verdana"/>
                <a:sym typeface="Verdana"/>
              </a:rPr>
              <a:t>978-1-1380-3545-4</a:t>
            </a:r>
            <a:endParaRPr/>
          </a:p>
          <a:p>
            <a:pPr marL="0" lvl="0" indent="-28575" algn="l" rtl="0">
              <a:lnSpc>
                <a:spcPct val="90000"/>
              </a:lnSpc>
              <a:spcBef>
                <a:spcPts val="2200"/>
              </a:spcBef>
              <a:spcAft>
                <a:spcPts val="0"/>
              </a:spcAft>
              <a:buClr>
                <a:srgbClr val="232673"/>
              </a:buClr>
              <a:buSzPts val="450"/>
              <a:buFont typeface="Quattrocento Sans"/>
              <a:buChar char=" "/>
            </a:pPr>
            <a:r>
              <a:rPr lang="en-US" sz="1800" b="0" i="0" u="none" strike="noStrike">
                <a:solidFill>
                  <a:srgbClr val="232673"/>
                </a:solidFill>
                <a:latin typeface="Verdana"/>
                <a:ea typeface="Verdana"/>
                <a:cs typeface="Verdana"/>
                <a:sym typeface="Verdana"/>
              </a:rPr>
              <a:t>Publisher: </a:t>
            </a:r>
            <a:r>
              <a:rPr lang="en-US" sz="1800">
                <a:latin typeface="Verdana"/>
                <a:ea typeface="Verdana"/>
                <a:cs typeface="Verdana"/>
                <a:sym typeface="Verdana"/>
              </a:rPr>
              <a:t>CRC Press</a:t>
            </a:r>
            <a:endParaRPr/>
          </a:p>
        </p:txBody>
      </p:sp>
      <p:sp>
        <p:nvSpPr>
          <p:cNvPr id="80" name="Google Shape;80;p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Textbook</a:t>
            </a:r>
            <a:endParaRPr/>
          </a:p>
        </p:txBody>
      </p:sp>
      <p:pic>
        <p:nvPicPr>
          <p:cNvPr id="81" name="Google Shape;81;p4" descr="A close up of a device&#10;&#10;Description automatically generated"/>
          <p:cNvPicPr preferRelativeResize="0">
            <a:picLocks noGrp="1"/>
          </p:cNvPicPr>
          <p:nvPr>
            <p:ph type="body" idx="1"/>
          </p:nvPr>
        </p:nvPicPr>
        <p:blipFill rotWithShape="1">
          <a:blip r:embed="rId3">
            <a:alphaModFix/>
          </a:blip>
          <a:srcRect/>
          <a:stretch/>
        </p:blipFill>
        <p:spPr>
          <a:xfrm>
            <a:off x="1496219" y="2284413"/>
            <a:ext cx="2381250" cy="3114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Objective &amp; Concept</a:t>
            </a:r>
            <a:endParaRPr/>
          </a:p>
        </p:txBody>
      </p:sp>
      <p:sp>
        <p:nvSpPr>
          <p:cNvPr id="87" name="Google Shape;87;p5"/>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F3F3F"/>
              </a:buClr>
              <a:buSzPts val="1500"/>
              <a:buNone/>
            </a:pPr>
            <a:r>
              <a:rPr lang="en-US" sz="1500" b="1"/>
              <a:t>Objective</a:t>
            </a:r>
            <a:endParaRPr sz="1500"/>
          </a:p>
          <a:p>
            <a:pPr marL="228600" lvl="0" indent="-228600" algn="l" rtl="0">
              <a:lnSpc>
                <a:spcPct val="90000"/>
              </a:lnSpc>
              <a:spcBef>
                <a:spcPts val="1000"/>
              </a:spcBef>
              <a:spcAft>
                <a:spcPts val="0"/>
              </a:spcAft>
              <a:buClr>
                <a:srgbClr val="3F3F3F"/>
              </a:buClr>
              <a:buSzPts val="1500"/>
              <a:buChar char="•"/>
            </a:pPr>
            <a:r>
              <a:rPr lang="en-US" sz="1500"/>
              <a:t>This course provides students with an in-depth exploration of 3D game engine architecture. </a:t>
            </a:r>
            <a:endParaRPr/>
          </a:p>
          <a:p>
            <a:pPr marL="228600" lvl="0" indent="-228600" algn="l" rtl="0">
              <a:lnSpc>
                <a:spcPct val="90000"/>
              </a:lnSpc>
              <a:spcBef>
                <a:spcPts val="1000"/>
              </a:spcBef>
              <a:spcAft>
                <a:spcPts val="0"/>
              </a:spcAft>
              <a:buClr>
                <a:srgbClr val="3F3F3F"/>
              </a:buClr>
              <a:buSzPts val="1500"/>
              <a:buChar char="•"/>
            </a:pPr>
            <a:r>
              <a:rPr lang="en-US" sz="1500"/>
              <a:t>Students will learn state-of-the-art software architecture principles in the context of game engine design, investigate the subsystems typically found in a real production game engine, survey some engine architectures from actual shipping games, and explore how the differences between game genres can affect engine design. </a:t>
            </a:r>
            <a:endParaRPr/>
          </a:p>
          <a:p>
            <a:pPr marL="228600" lvl="0" indent="-228600" algn="l" rtl="0">
              <a:lnSpc>
                <a:spcPct val="90000"/>
              </a:lnSpc>
              <a:spcBef>
                <a:spcPts val="1000"/>
              </a:spcBef>
              <a:spcAft>
                <a:spcPts val="0"/>
              </a:spcAft>
              <a:buClr>
                <a:srgbClr val="3F3F3F"/>
              </a:buClr>
              <a:buSzPts val="1500"/>
              <a:buChar char="•"/>
            </a:pPr>
            <a:r>
              <a:rPr lang="en-US" sz="1500"/>
              <a:t>Students will participate in individual hands-on lab exercises, and also work together like a real game development team to design and build their own functional game engine by designing and implementing engine subsystems and integrating 3rd party components.</a:t>
            </a:r>
            <a:endParaRPr/>
          </a:p>
          <a:p>
            <a:pPr marL="0" lvl="0" indent="0" algn="l" rtl="0">
              <a:lnSpc>
                <a:spcPct val="90000"/>
              </a:lnSpc>
              <a:spcBef>
                <a:spcPts val="1000"/>
              </a:spcBef>
              <a:spcAft>
                <a:spcPts val="0"/>
              </a:spcAft>
              <a:buClr>
                <a:srgbClr val="3F3F3F"/>
              </a:buClr>
              <a:buSzPts val="1500"/>
              <a:buNone/>
            </a:pPr>
            <a:r>
              <a:rPr lang="en-US" sz="1500" b="1"/>
              <a:t>Concepts </a:t>
            </a:r>
            <a:endParaRPr/>
          </a:p>
          <a:p>
            <a:pPr marL="228600" lvl="0" indent="-228600" algn="l" rtl="0">
              <a:lnSpc>
                <a:spcPct val="90000"/>
              </a:lnSpc>
              <a:spcBef>
                <a:spcPts val="1000"/>
              </a:spcBef>
              <a:spcAft>
                <a:spcPts val="0"/>
              </a:spcAft>
              <a:buClr>
                <a:srgbClr val="3F3F3F"/>
              </a:buClr>
              <a:buSzPts val="1500"/>
              <a:buChar char="•"/>
            </a:pPr>
            <a:r>
              <a:rPr lang="en-US" sz="1500"/>
              <a:t>Engine subsystems including rendering, audio, collision, physics and game world models. </a:t>
            </a:r>
            <a:endParaRPr/>
          </a:p>
          <a:p>
            <a:pPr marL="228600" lvl="0" indent="-228600" algn="l" rtl="0">
              <a:lnSpc>
                <a:spcPct val="90000"/>
              </a:lnSpc>
              <a:spcBef>
                <a:spcPts val="1000"/>
              </a:spcBef>
              <a:spcAft>
                <a:spcPts val="0"/>
              </a:spcAft>
              <a:buClr>
                <a:srgbClr val="3F3F3F"/>
              </a:buClr>
              <a:buSzPts val="1500"/>
              <a:buChar char="•"/>
            </a:pPr>
            <a:r>
              <a:rPr lang="en-US" sz="1500"/>
              <a:t>Large-scale C++ software architecture in a games context. </a:t>
            </a:r>
            <a:endParaRPr/>
          </a:p>
          <a:p>
            <a:pPr marL="228600" lvl="0" indent="-228600" algn="l" rtl="0">
              <a:lnSpc>
                <a:spcPct val="90000"/>
              </a:lnSpc>
              <a:spcBef>
                <a:spcPts val="1000"/>
              </a:spcBef>
              <a:spcAft>
                <a:spcPts val="0"/>
              </a:spcAft>
              <a:buClr>
                <a:srgbClr val="3F3F3F"/>
              </a:buClr>
              <a:buSzPts val="1500"/>
              <a:buChar char="•"/>
            </a:pPr>
            <a:r>
              <a:rPr lang="en-US" sz="1500"/>
              <a:t>Tools pipelines for modern games.</a:t>
            </a:r>
            <a:endParaRPr sz="1500"/>
          </a:p>
          <a:p>
            <a:pPr marL="228600" lvl="0" indent="-133350" algn="l" rtl="0">
              <a:lnSpc>
                <a:spcPct val="90000"/>
              </a:lnSpc>
              <a:spcBef>
                <a:spcPts val="1000"/>
              </a:spcBef>
              <a:spcAft>
                <a:spcPts val="0"/>
              </a:spcAft>
              <a:buClr>
                <a:srgbClr val="3F3F3F"/>
              </a:buClr>
              <a:buSzPts val="1500"/>
              <a:buNone/>
            </a:pP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b="1"/>
              <a:t>Week 1 – Introduction</a:t>
            </a:r>
            <a:endParaRPr/>
          </a:p>
        </p:txBody>
      </p:sp>
      <p:sp>
        <p:nvSpPr>
          <p:cNvPr id="101" name="Google Shape;101;p7"/>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F3F3F"/>
              </a:buClr>
              <a:buSzPts val="1500"/>
              <a:buChar char="•"/>
            </a:pPr>
            <a:r>
              <a:rPr lang="en-US" sz="1500" dirty="0"/>
              <a:t>Course overview</a:t>
            </a:r>
            <a:endParaRPr dirty="0"/>
          </a:p>
          <a:p>
            <a:pPr marL="228600" lvl="0" indent="-228600" algn="l" rtl="0">
              <a:lnSpc>
                <a:spcPct val="90000"/>
              </a:lnSpc>
              <a:spcBef>
                <a:spcPts val="1000"/>
              </a:spcBef>
              <a:spcAft>
                <a:spcPts val="0"/>
              </a:spcAft>
              <a:buClr>
                <a:srgbClr val="3F3F3F"/>
              </a:buClr>
              <a:buSzPts val="1500"/>
              <a:buChar char="•"/>
            </a:pPr>
            <a:r>
              <a:rPr lang="en-US" sz="1500" dirty="0"/>
              <a:t>What is a game engine?</a:t>
            </a:r>
            <a:endParaRPr dirty="0"/>
          </a:p>
          <a:p>
            <a:pPr marL="228600" lvl="0" indent="-228600" algn="l" rtl="0">
              <a:lnSpc>
                <a:spcPct val="90000"/>
              </a:lnSpc>
              <a:spcBef>
                <a:spcPts val="1000"/>
              </a:spcBef>
              <a:spcAft>
                <a:spcPts val="0"/>
              </a:spcAft>
              <a:buClr>
                <a:srgbClr val="3F3F3F"/>
              </a:buClr>
              <a:buSzPts val="1500"/>
              <a:buChar char="•"/>
            </a:pPr>
            <a:r>
              <a:rPr lang="en-US" sz="1500" i="1" dirty="0"/>
              <a:t>game engines </a:t>
            </a:r>
            <a:r>
              <a:rPr lang="en-US" sz="1500" dirty="0"/>
              <a:t>like Epic Games’ Unreal Engine, Valve’s Source engine and, Crytek’s CRYENGINE®, Electronic Arts DICE’s Frostbite™ engine, and the Unity game engine—have become fully featured reusable software development kits that can be licensed and used to build almost any game imaginable.</a:t>
            </a:r>
            <a:endParaRPr dirty="0"/>
          </a:p>
          <a:p>
            <a:pPr marL="228600" lvl="0" indent="-228600" algn="l" rtl="0">
              <a:lnSpc>
                <a:spcPct val="90000"/>
              </a:lnSpc>
              <a:spcBef>
                <a:spcPts val="1000"/>
              </a:spcBef>
              <a:spcAft>
                <a:spcPts val="0"/>
              </a:spcAft>
              <a:buClr>
                <a:srgbClr val="3F3F3F"/>
              </a:buClr>
              <a:buSzPts val="1500"/>
              <a:buChar char="•"/>
            </a:pPr>
            <a:r>
              <a:rPr lang="en-US" sz="1500" dirty="0"/>
              <a:t>Engine differences between game genres</a:t>
            </a:r>
            <a:endParaRPr dirty="0"/>
          </a:p>
          <a:p>
            <a:pPr marL="228600" lvl="0" indent="-228600" algn="l" rtl="0">
              <a:lnSpc>
                <a:spcPct val="90000"/>
              </a:lnSpc>
              <a:spcBef>
                <a:spcPts val="1000"/>
              </a:spcBef>
              <a:spcAft>
                <a:spcPts val="0"/>
              </a:spcAft>
              <a:buClr>
                <a:srgbClr val="3F3F3F"/>
              </a:buClr>
              <a:buSzPts val="1500"/>
              <a:buChar char="•"/>
            </a:pPr>
            <a:r>
              <a:rPr lang="en-US" sz="1500" dirty="0"/>
              <a:t>Survey of runtime engine subsystems</a:t>
            </a:r>
            <a:endParaRPr dirty="0"/>
          </a:p>
          <a:p>
            <a:pPr marL="685800" lvl="1" indent="-228600" algn="l" rtl="0">
              <a:lnSpc>
                <a:spcPct val="90000"/>
              </a:lnSpc>
              <a:spcBef>
                <a:spcPts val="500"/>
              </a:spcBef>
              <a:spcAft>
                <a:spcPts val="0"/>
              </a:spcAft>
              <a:buClr>
                <a:srgbClr val="3F3F3F"/>
              </a:buClr>
              <a:buSzPts val="1500"/>
              <a:buChar char="•"/>
            </a:pPr>
            <a:r>
              <a:rPr lang="en-US" sz="1500" dirty="0"/>
              <a:t>Virtually all game engines contain a familiar set of core components, including the rendering engine, the collision and physics engine, the animation system, the audio system, the game world object model, the artificial intelligence system and so on.</a:t>
            </a:r>
            <a:endParaRPr sz="1500" dirty="0"/>
          </a:p>
          <a:p>
            <a:pPr marL="228600" lvl="0" indent="-228600" algn="l" rtl="0">
              <a:lnSpc>
                <a:spcPct val="90000"/>
              </a:lnSpc>
              <a:spcBef>
                <a:spcPts val="1000"/>
              </a:spcBef>
              <a:spcAft>
                <a:spcPts val="0"/>
              </a:spcAft>
              <a:buClr>
                <a:srgbClr val="3F3F3F"/>
              </a:buClr>
              <a:buSzPts val="1500"/>
              <a:buChar char="•"/>
            </a:pPr>
            <a:r>
              <a:rPr lang="en-US" sz="1500" dirty="0"/>
              <a:t>Survey of tools and the asset pipeline</a:t>
            </a:r>
            <a:endParaRPr dirty="0"/>
          </a:p>
          <a:p>
            <a:pPr marL="228600" lvl="0" indent="-228600" algn="l" rtl="0">
              <a:lnSpc>
                <a:spcPct val="90000"/>
              </a:lnSpc>
              <a:spcBef>
                <a:spcPts val="1000"/>
              </a:spcBef>
              <a:spcAft>
                <a:spcPts val="0"/>
              </a:spcAft>
              <a:buClr>
                <a:srgbClr val="3F3F3F"/>
              </a:buClr>
              <a:buSzPts val="1500"/>
              <a:buChar char="•"/>
            </a:pPr>
            <a:r>
              <a:rPr lang="en-US" sz="1500" b="1" dirty="0"/>
              <a:t>Reading:</a:t>
            </a:r>
            <a:endParaRPr dirty="0"/>
          </a:p>
          <a:p>
            <a:pPr marL="228600" lvl="0" indent="-228600" algn="l" rtl="0">
              <a:lnSpc>
                <a:spcPct val="90000"/>
              </a:lnSpc>
              <a:spcBef>
                <a:spcPts val="1000"/>
              </a:spcBef>
              <a:spcAft>
                <a:spcPts val="0"/>
              </a:spcAft>
              <a:buClr>
                <a:srgbClr val="3F3F3F"/>
              </a:buClr>
              <a:buSzPts val="1500"/>
              <a:buChar char="•"/>
            </a:pPr>
            <a:r>
              <a:rPr lang="en-US" sz="1500" dirty="0"/>
              <a:t>Course text: 1.2 – 1.7</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3A3838"/>
              </a:buClr>
              <a:buSzPct val="100000"/>
              <a:buFont typeface="Quattrocento Sans"/>
              <a:buNone/>
            </a:pPr>
            <a:r>
              <a:rPr lang="en-US" sz="4800"/>
              <a:t>Structure of a game team</a:t>
            </a:r>
            <a:endParaRPr/>
          </a:p>
        </p:txBody>
      </p:sp>
      <p:sp>
        <p:nvSpPr>
          <p:cNvPr id="108" name="Google Shape;108;p8"/>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fontScale="92500" lnSpcReduction="10000"/>
          </a:bodyPr>
          <a:lstStyle/>
          <a:p>
            <a:pPr marL="0" lvl="0" indent="-17621" algn="l" rtl="0">
              <a:lnSpc>
                <a:spcPct val="90000"/>
              </a:lnSpc>
              <a:spcBef>
                <a:spcPts val="0"/>
              </a:spcBef>
              <a:spcAft>
                <a:spcPts val="0"/>
              </a:spcAft>
              <a:buClr>
                <a:schemeClr val="dk1"/>
              </a:buClr>
              <a:buSzPts val="278"/>
              <a:buFont typeface="Quattrocento Sans"/>
              <a:buChar char=" "/>
            </a:pPr>
            <a:r>
              <a:rPr lang="en-US" dirty="0"/>
              <a:t>Game studios are usually composed of five basic disciplines:</a:t>
            </a:r>
            <a:endParaRPr dirty="0"/>
          </a:p>
          <a:p>
            <a:pPr marL="573088" lvl="1" indent="-171449" algn="l" rtl="0">
              <a:lnSpc>
                <a:spcPct val="90000"/>
              </a:lnSpc>
              <a:spcBef>
                <a:spcPts val="1800"/>
              </a:spcBef>
              <a:spcAft>
                <a:spcPts val="0"/>
              </a:spcAft>
              <a:buClr>
                <a:schemeClr val="dk1"/>
              </a:buClr>
              <a:buSzPct val="100000"/>
              <a:buFont typeface="Noto Sans Symbols"/>
              <a:buChar char="⮚"/>
            </a:pPr>
            <a:r>
              <a:rPr lang="en-US" dirty="0"/>
              <a:t>Engineers (design and implement the software that makes the game, and the tools, work)</a:t>
            </a:r>
            <a:endParaRPr dirty="0"/>
          </a:p>
          <a:p>
            <a:pPr marL="1485900" lvl="2" indent="-342900" algn="l" rtl="0">
              <a:lnSpc>
                <a:spcPct val="90000"/>
              </a:lnSpc>
              <a:spcBef>
                <a:spcPts val="1700"/>
              </a:spcBef>
              <a:spcAft>
                <a:spcPts val="0"/>
              </a:spcAft>
              <a:buClr>
                <a:schemeClr val="dk1"/>
              </a:buClr>
              <a:buSzPct val="100000"/>
              <a:buFont typeface="Noto Sans Symbols"/>
              <a:buChar char="❖"/>
            </a:pPr>
            <a:r>
              <a:rPr lang="en-US" sz="1200" i="1" dirty="0"/>
              <a:t>Runtime </a:t>
            </a:r>
            <a:r>
              <a:rPr lang="en-US" sz="1200" dirty="0"/>
              <a:t>programmers (who work on the engine and the game itself) </a:t>
            </a:r>
            <a:endParaRPr dirty="0"/>
          </a:p>
          <a:p>
            <a:pPr marL="1485900" lvl="2" indent="-342900" algn="l" rtl="0">
              <a:lnSpc>
                <a:spcPct val="90000"/>
              </a:lnSpc>
              <a:spcBef>
                <a:spcPts val="500"/>
              </a:spcBef>
              <a:spcAft>
                <a:spcPts val="0"/>
              </a:spcAft>
              <a:buClr>
                <a:schemeClr val="dk1"/>
              </a:buClr>
              <a:buSzPct val="100000"/>
              <a:buFont typeface="Noto Sans Symbols"/>
              <a:buChar char="❖"/>
            </a:pPr>
            <a:r>
              <a:rPr lang="en-US" sz="1200" i="1" dirty="0"/>
              <a:t>tools </a:t>
            </a:r>
            <a:r>
              <a:rPr lang="en-US" sz="1200" dirty="0"/>
              <a:t>programmers (who work on the offline tools that allow the rest of the development team to work effectively).</a:t>
            </a:r>
            <a:endParaRPr sz="1200" dirty="0"/>
          </a:p>
          <a:p>
            <a:pPr marL="409576" lvl="1" indent="-7937" algn="l" rtl="0">
              <a:lnSpc>
                <a:spcPct val="90000"/>
              </a:lnSpc>
              <a:spcBef>
                <a:spcPts val="600"/>
              </a:spcBef>
              <a:spcAft>
                <a:spcPts val="0"/>
              </a:spcAft>
              <a:buClr>
                <a:schemeClr val="dk1"/>
              </a:buClr>
              <a:buSzPct val="100000"/>
              <a:buFont typeface="Noto Sans Symbols"/>
              <a:buChar char="⮚"/>
            </a:pPr>
            <a:r>
              <a:rPr lang="en-US" dirty="0"/>
              <a:t>Artists: </a:t>
            </a:r>
            <a:endParaRPr dirty="0"/>
          </a:p>
          <a:p>
            <a:pPr marL="1143000" lvl="2" indent="-228600" algn="l" rtl="0">
              <a:lnSpc>
                <a:spcPct val="90000"/>
              </a:lnSpc>
              <a:spcBef>
                <a:spcPts val="1700"/>
              </a:spcBef>
              <a:spcAft>
                <a:spcPts val="0"/>
              </a:spcAft>
              <a:buClr>
                <a:schemeClr val="dk1"/>
              </a:buClr>
              <a:buSzPct val="100000"/>
              <a:buFont typeface="Noto Sans Symbols"/>
              <a:buChar char="❖"/>
            </a:pPr>
            <a:r>
              <a:rPr lang="en-US" sz="1200" dirty="0"/>
              <a:t>“Content is king.” </a:t>
            </a:r>
            <a:endParaRPr dirty="0"/>
          </a:p>
          <a:p>
            <a:pPr marL="1143000" lvl="2" indent="-228600" algn="l" rtl="0">
              <a:lnSpc>
                <a:spcPct val="90000"/>
              </a:lnSpc>
              <a:spcBef>
                <a:spcPts val="500"/>
              </a:spcBef>
              <a:spcAft>
                <a:spcPts val="0"/>
              </a:spcAft>
              <a:buClr>
                <a:schemeClr val="dk1"/>
              </a:buClr>
              <a:buSzPct val="100000"/>
              <a:buFont typeface="Noto Sans Symbols"/>
              <a:buChar char="❖"/>
            </a:pPr>
            <a:r>
              <a:rPr lang="en-US" sz="1200" dirty="0"/>
              <a:t>The artists produce all of the visual and audio content in the game, and the quality of their work can literally make or break a game.</a:t>
            </a:r>
            <a:endParaRPr dirty="0"/>
          </a:p>
          <a:p>
            <a:pPr marL="1143000" lvl="2" indent="-228600" algn="l" rtl="0">
              <a:lnSpc>
                <a:spcPct val="90000"/>
              </a:lnSpc>
              <a:spcBef>
                <a:spcPts val="500"/>
              </a:spcBef>
              <a:spcAft>
                <a:spcPts val="0"/>
              </a:spcAft>
              <a:buClr>
                <a:schemeClr val="dk1"/>
              </a:buClr>
              <a:buSzPct val="100000"/>
              <a:buFont typeface="Noto Sans Symbols"/>
              <a:buChar char="❖"/>
            </a:pPr>
            <a:r>
              <a:rPr lang="en-US" sz="1200" i="1" dirty="0"/>
              <a:t>Concept artists, 3D modelers, Texture artists, Lighting artists, Animators, Motion capture actors, Sound designers, Voice actors, composers</a:t>
            </a:r>
            <a:endParaRPr sz="1200" dirty="0"/>
          </a:p>
          <a:p>
            <a:pPr marL="573088" lvl="1" indent="-171449" algn="l" rtl="0">
              <a:lnSpc>
                <a:spcPct val="90000"/>
              </a:lnSpc>
              <a:spcBef>
                <a:spcPts val="600"/>
              </a:spcBef>
              <a:spcAft>
                <a:spcPts val="0"/>
              </a:spcAft>
              <a:buClr>
                <a:schemeClr val="dk1"/>
              </a:buClr>
              <a:buSzPct val="100000"/>
              <a:buFont typeface="Noto Sans Symbols"/>
              <a:buChar char="⮚"/>
            </a:pPr>
            <a:r>
              <a:rPr lang="en-US" dirty="0"/>
              <a:t>Game Designers (design the interactive portion of the player’s experience, typically known as </a:t>
            </a:r>
            <a:r>
              <a:rPr lang="en-US" i="1" dirty="0"/>
              <a:t>gameplay)</a:t>
            </a:r>
            <a:endParaRPr dirty="0"/>
          </a:p>
          <a:p>
            <a:pPr marL="1314450" lvl="2" indent="-171450" algn="l" rtl="0">
              <a:lnSpc>
                <a:spcPct val="90000"/>
              </a:lnSpc>
              <a:spcBef>
                <a:spcPts val="1700"/>
              </a:spcBef>
              <a:spcAft>
                <a:spcPts val="0"/>
              </a:spcAft>
              <a:buClr>
                <a:schemeClr val="dk1"/>
              </a:buClr>
              <a:buSzPct val="100000"/>
              <a:buFont typeface="Noto Sans Symbols"/>
              <a:buChar char="❖"/>
            </a:pPr>
            <a:r>
              <a:rPr lang="en-US" sz="1200" dirty="0"/>
              <a:t>Responsible for gameplay(story line, puzzles, levels, weapons)</a:t>
            </a:r>
            <a:endParaRPr dirty="0"/>
          </a:p>
          <a:p>
            <a:pPr marL="1314450" lvl="2" indent="-171450" algn="l" rtl="0">
              <a:lnSpc>
                <a:spcPct val="90000"/>
              </a:lnSpc>
              <a:spcBef>
                <a:spcPts val="500"/>
              </a:spcBef>
              <a:spcAft>
                <a:spcPts val="0"/>
              </a:spcAft>
              <a:buClr>
                <a:schemeClr val="dk1"/>
              </a:buClr>
              <a:buSzPct val="100000"/>
              <a:buFont typeface="Noto Sans Symbols"/>
              <a:buChar char="❖"/>
            </a:pPr>
            <a:r>
              <a:rPr lang="en-US" sz="1200" dirty="0"/>
              <a:t>Employ a game writer whose job can range from collaborating with the senior game designers to construct the story arc of the entire game</a:t>
            </a:r>
            <a:endParaRPr sz="1200" dirty="0"/>
          </a:p>
          <a:p>
            <a:pPr marL="573088" lvl="1" indent="-171449" algn="l" rtl="0">
              <a:lnSpc>
                <a:spcPct val="90000"/>
              </a:lnSpc>
              <a:spcBef>
                <a:spcPts val="600"/>
              </a:spcBef>
              <a:spcAft>
                <a:spcPts val="0"/>
              </a:spcAft>
              <a:buClr>
                <a:schemeClr val="dk1"/>
              </a:buClr>
              <a:buSzPct val="100000"/>
              <a:buFont typeface="Noto Sans Symbols"/>
              <a:buChar char="⮚"/>
            </a:pPr>
            <a:r>
              <a:rPr lang="en-US" dirty="0"/>
              <a:t>Producers (manage the schedule and serve as a human resources manager, liaisons between the development team and the business unit of the company)</a:t>
            </a:r>
            <a:endParaRPr dirty="0"/>
          </a:p>
          <a:p>
            <a:pPr marL="409576" lvl="1" indent="-7937" algn="l" rtl="0">
              <a:lnSpc>
                <a:spcPct val="90000"/>
              </a:lnSpc>
              <a:spcBef>
                <a:spcPts val="1800"/>
              </a:spcBef>
              <a:spcAft>
                <a:spcPts val="0"/>
              </a:spcAft>
              <a:buClr>
                <a:schemeClr val="dk1"/>
              </a:buClr>
              <a:buSzPct val="100000"/>
              <a:buFont typeface="Noto Sans Symbols"/>
              <a:buChar char="⮚"/>
            </a:pPr>
            <a:r>
              <a:rPr lang="en-US" dirty="0"/>
              <a:t>Publisher (The marketing, manufacture and distribution of a game title)</a:t>
            </a:r>
            <a:endParaRPr dirty="0"/>
          </a:p>
          <a:p>
            <a:pPr marL="1314450" lvl="2" indent="-171450" algn="l" rtl="0">
              <a:lnSpc>
                <a:spcPct val="90000"/>
              </a:lnSpc>
              <a:spcBef>
                <a:spcPts val="1700"/>
              </a:spcBef>
              <a:spcAft>
                <a:spcPts val="0"/>
              </a:spcAft>
              <a:buClr>
                <a:schemeClr val="dk1"/>
              </a:buClr>
              <a:buSzPct val="100000"/>
              <a:buFont typeface="Noto Sans Symbols"/>
              <a:buChar char="❖"/>
            </a:pPr>
            <a:r>
              <a:rPr lang="en-US" sz="1200" dirty="0"/>
              <a:t>A publisher is typically a large corporation, like Electronic Arts, THQ, Vivendi, Sony, Nintendo, etc.</a:t>
            </a:r>
            <a:endParaRPr dirty="0"/>
          </a:p>
          <a:p>
            <a:pPr marL="1428750" lvl="2" indent="-285781" algn="l" rtl="0">
              <a:lnSpc>
                <a:spcPct val="90000"/>
              </a:lnSpc>
              <a:spcBef>
                <a:spcPts val="500"/>
              </a:spcBef>
              <a:spcAft>
                <a:spcPts val="0"/>
              </a:spcAft>
              <a:buClr>
                <a:schemeClr val="dk1"/>
              </a:buClr>
              <a:buSzPct val="100000"/>
              <a:buFont typeface="Noto Sans Symbols"/>
              <a:buChar char="❖"/>
            </a:pPr>
            <a:r>
              <a:rPr lang="en-US" sz="1300" dirty="0"/>
              <a:t>Electronic Arts directly manages its studios. </a:t>
            </a:r>
            <a:r>
              <a:rPr lang="en-US" sz="1300" i="1" dirty="0"/>
              <a:t>First-party developers </a:t>
            </a:r>
            <a:r>
              <a:rPr lang="en-US" sz="1300" dirty="0"/>
              <a:t>are game studios owned directly by the console manufacturers (Sony, Nintendo and Microsoft). These studios produce games exclusively for the gaming hardware manufactured by their parent company.</a:t>
            </a:r>
            <a:endParaRPr sz="1300" dirty="0"/>
          </a:p>
          <a:p>
            <a:pPr marL="409576" lvl="1" indent="-7937" algn="l" rtl="0">
              <a:lnSpc>
                <a:spcPct val="90000"/>
              </a:lnSpc>
              <a:spcBef>
                <a:spcPts val="600"/>
              </a:spcBef>
              <a:spcAft>
                <a:spcPts val="0"/>
              </a:spcAft>
              <a:buClr>
                <a:schemeClr val="dk1"/>
              </a:buClr>
              <a:buSzPct val="100000"/>
              <a:buFont typeface="Noto Sans Symbols"/>
              <a:buChar char="⮚"/>
            </a:pPr>
            <a:r>
              <a:rPr lang="en-US" dirty="0"/>
              <a:t>Other Staff (legal, information technology/technical support, administrative, etc.)</a:t>
            </a:r>
            <a:endParaRPr dirty="0"/>
          </a:p>
        </p:txBody>
      </p:sp>
      <p:sp>
        <p:nvSpPr>
          <p:cNvPr id="109" name="Google Shape;109;p8"/>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7</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What is a Game?</a:t>
            </a:r>
            <a:endParaRPr/>
          </a:p>
        </p:txBody>
      </p:sp>
      <p:grpSp>
        <p:nvGrpSpPr>
          <p:cNvPr id="115" name="Google Shape;115;p9"/>
          <p:cNvGrpSpPr/>
          <p:nvPr/>
        </p:nvGrpSpPr>
        <p:grpSpPr>
          <a:xfrm>
            <a:off x="604433" y="1606834"/>
            <a:ext cx="10983131" cy="4567505"/>
            <a:chOff x="0" y="2623"/>
            <a:chExt cx="10983131" cy="4567505"/>
          </a:xfrm>
        </p:grpSpPr>
        <p:sp>
          <p:nvSpPr>
            <p:cNvPr id="116" name="Google Shape;116;p9"/>
            <p:cNvSpPr/>
            <p:nvPr/>
          </p:nvSpPr>
          <p:spPr>
            <a:xfrm>
              <a:off x="0" y="2623"/>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a:off x="157623" y="119863"/>
              <a:ext cx="286868" cy="286588"/>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a:off x="602116" y="2623"/>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txBox="1"/>
            <p:nvPr/>
          </p:nvSpPr>
          <p:spPr>
            <a:xfrm>
              <a:off x="602116" y="2623"/>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none" strike="noStrike" cap="none">
                  <a:solidFill>
                    <a:schemeClr val="dk1"/>
                  </a:solidFill>
                  <a:latin typeface="Quattrocento Sans"/>
                  <a:ea typeface="Quattrocento Sans"/>
                  <a:cs typeface="Quattrocento Sans"/>
                  <a:sym typeface="Quattrocento Sans"/>
                </a:rPr>
                <a:t>Raph Koster is the lead designer of Ultima Online and the creative director behind Star Wars Galaxies</a:t>
              </a:r>
              <a:endParaRPr/>
            </a:p>
          </p:txBody>
        </p:sp>
        <p:sp>
          <p:nvSpPr>
            <p:cNvPr id="120" name="Google Shape;120;p9"/>
            <p:cNvSpPr/>
            <p:nvPr/>
          </p:nvSpPr>
          <p:spPr>
            <a:xfrm>
              <a:off x="0" y="674315"/>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9"/>
            <p:cNvSpPr/>
            <p:nvPr/>
          </p:nvSpPr>
          <p:spPr>
            <a:xfrm>
              <a:off x="157623" y="791555"/>
              <a:ext cx="286868" cy="286588"/>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9"/>
            <p:cNvSpPr/>
            <p:nvPr/>
          </p:nvSpPr>
          <p:spPr>
            <a:xfrm>
              <a:off x="602116" y="674315"/>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9"/>
            <p:cNvSpPr txBox="1"/>
            <p:nvPr/>
          </p:nvSpPr>
          <p:spPr>
            <a:xfrm>
              <a:off x="602116" y="674315"/>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1" u="none" strike="noStrike" cap="none">
                  <a:solidFill>
                    <a:schemeClr val="dk1"/>
                  </a:solidFill>
                  <a:latin typeface="Quattrocento Sans"/>
                  <a:ea typeface="Quattrocento Sans"/>
                  <a:cs typeface="Quattrocento Sans"/>
                  <a:sym typeface="Quattrocento Sans"/>
                </a:rPr>
                <a:t>In his book, “A Theory of Fun for Game Design”</a:t>
              </a:r>
              <a:r>
                <a:rPr lang="en-US" sz="1400" b="0" i="0" u="none" strike="noStrike" cap="none">
                  <a:solidFill>
                    <a:schemeClr val="dk1"/>
                  </a:solidFill>
                  <a:latin typeface="Quattrocento Sans"/>
                  <a:ea typeface="Quattrocento Sans"/>
                  <a:cs typeface="Quattrocento Sans"/>
                  <a:sym typeface="Quattrocento Sans"/>
                </a:rPr>
                <a:t>, Raph Koster defines a game:</a:t>
              </a:r>
              <a:endParaRPr/>
            </a:p>
          </p:txBody>
        </p:sp>
        <p:sp>
          <p:nvSpPr>
            <p:cNvPr id="124" name="Google Shape;124;p9"/>
            <p:cNvSpPr/>
            <p:nvPr/>
          </p:nvSpPr>
          <p:spPr>
            <a:xfrm>
              <a:off x="0" y="1346007"/>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9"/>
            <p:cNvSpPr/>
            <p:nvPr/>
          </p:nvSpPr>
          <p:spPr>
            <a:xfrm>
              <a:off x="157623" y="1463247"/>
              <a:ext cx="286868" cy="286588"/>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9"/>
            <p:cNvSpPr/>
            <p:nvPr/>
          </p:nvSpPr>
          <p:spPr>
            <a:xfrm>
              <a:off x="602116" y="1346007"/>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txBox="1"/>
            <p:nvPr/>
          </p:nvSpPr>
          <p:spPr>
            <a:xfrm>
              <a:off x="602116" y="1346007"/>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none" strike="noStrike" cap="none">
                  <a:solidFill>
                    <a:schemeClr val="dk1"/>
                  </a:solidFill>
                  <a:latin typeface="Quattrocento Sans"/>
                  <a:ea typeface="Quattrocento Sans"/>
                  <a:cs typeface="Quattrocento Sans"/>
                  <a:sym typeface="Quattrocento Sans"/>
                </a:rPr>
                <a:t>Interactive experience that provides the player with an increasingly challenging sequence of patterns which he or she learns and eventually masters</a:t>
              </a:r>
              <a:endParaRPr/>
            </a:p>
          </p:txBody>
        </p:sp>
        <p:sp>
          <p:nvSpPr>
            <p:cNvPr id="128" name="Google Shape;128;p9"/>
            <p:cNvSpPr/>
            <p:nvPr/>
          </p:nvSpPr>
          <p:spPr>
            <a:xfrm>
              <a:off x="0" y="2017699"/>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a:off x="157623" y="2134939"/>
              <a:ext cx="286868" cy="286588"/>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a:off x="602116" y="2017699"/>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9"/>
            <p:cNvSpPr txBox="1"/>
            <p:nvPr/>
          </p:nvSpPr>
          <p:spPr>
            <a:xfrm>
              <a:off x="602116" y="2017699"/>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none" strike="noStrike" cap="none">
                  <a:solidFill>
                    <a:schemeClr val="dk1"/>
                  </a:solidFill>
                  <a:latin typeface="Quattrocento Sans"/>
                  <a:ea typeface="Quattrocento Sans"/>
                  <a:cs typeface="Quattrocento Sans"/>
                  <a:sym typeface="Quattrocento Sans"/>
                </a:rPr>
                <a:t>This includes lots of things, but the core idea is that the “fun” is experience during the eureka moment</a:t>
              </a:r>
              <a:endParaRPr/>
            </a:p>
          </p:txBody>
        </p:sp>
        <p:sp>
          <p:nvSpPr>
            <p:cNvPr id="132" name="Google Shape;132;p9"/>
            <p:cNvSpPr/>
            <p:nvPr/>
          </p:nvSpPr>
          <p:spPr>
            <a:xfrm>
              <a:off x="0" y="2689391"/>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a:off x="157623" y="2806631"/>
              <a:ext cx="286868" cy="286588"/>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a:off x="602116" y="2689391"/>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9"/>
            <p:cNvSpPr txBox="1"/>
            <p:nvPr/>
          </p:nvSpPr>
          <p:spPr>
            <a:xfrm>
              <a:off x="602116" y="2689391"/>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none" strike="noStrike" cap="none">
                  <a:solidFill>
                    <a:schemeClr val="dk1"/>
                  </a:solidFill>
                  <a:latin typeface="Quattrocento Sans"/>
                  <a:ea typeface="Quattrocento Sans"/>
                  <a:cs typeface="Quattrocento Sans"/>
                  <a:sym typeface="Quattrocento Sans"/>
                </a:rPr>
                <a:t>For the purposes of this course, we’ll focus on the subset of games that comprise two- and three-dimensional virtual worlds with a small number of players (between one and 16 or thereabouts). </a:t>
              </a:r>
              <a:endParaRPr/>
            </a:p>
          </p:txBody>
        </p:sp>
        <p:sp>
          <p:nvSpPr>
            <p:cNvPr id="136" name="Google Shape;136;p9"/>
            <p:cNvSpPr/>
            <p:nvPr/>
          </p:nvSpPr>
          <p:spPr>
            <a:xfrm>
              <a:off x="0" y="3361083"/>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a:off x="157623" y="3478324"/>
              <a:ext cx="286868" cy="286588"/>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a:off x="602116" y="3361083"/>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txBox="1"/>
            <p:nvPr/>
          </p:nvSpPr>
          <p:spPr>
            <a:xfrm>
              <a:off x="602116" y="3361083"/>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none" strike="noStrike" cap="none">
                  <a:solidFill>
                    <a:schemeClr val="dk1"/>
                  </a:solidFill>
                  <a:latin typeface="Quattrocento Sans"/>
                  <a:ea typeface="Quattrocento Sans"/>
                  <a:cs typeface="Quattrocento Sans"/>
                  <a:sym typeface="Quattrocento Sans"/>
                </a:rPr>
                <a:t>Much of what we’ll learn can also be applied to HTML5/JavaScript games on the Internet, pure puzzle games like </a:t>
              </a:r>
              <a:r>
                <a:rPr lang="en-US" sz="1400" b="0" i="1" u="none" strike="noStrike" cap="none">
                  <a:solidFill>
                    <a:schemeClr val="dk1"/>
                  </a:solidFill>
                  <a:latin typeface="Quattrocento Sans"/>
                  <a:ea typeface="Quattrocento Sans"/>
                  <a:cs typeface="Quattrocento Sans"/>
                  <a:sym typeface="Quattrocento Sans"/>
                </a:rPr>
                <a:t>Tetris</a:t>
              </a:r>
              <a:r>
                <a:rPr lang="en-US" sz="1400" b="0" i="0" u="none" strike="noStrike" cap="none">
                  <a:solidFill>
                    <a:schemeClr val="dk1"/>
                  </a:solidFill>
                  <a:latin typeface="Quattrocento Sans"/>
                  <a:ea typeface="Quattrocento Sans"/>
                  <a:cs typeface="Quattrocento Sans"/>
                  <a:sym typeface="Quattrocento Sans"/>
                </a:rPr>
                <a:t>, or massively multiplayer online games (MMOG). </a:t>
              </a:r>
              <a:endParaRPr/>
            </a:p>
          </p:txBody>
        </p:sp>
        <p:sp>
          <p:nvSpPr>
            <p:cNvPr id="140" name="Google Shape;140;p9"/>
            <p:cNvSpPr/>
            <p:nvPr/>
          </p:nvSpPr>
          <p:spPr>
            <a:xfrm>
              <a:off x="0" y="4032775"/>
              <a:ext cx="10983131" cy="521070"/>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9"/>
            <p:cNvSpPr/>
            <p:nvPr/>
          </p:nvSpPr>
          <p:spPr>
            <a:xfrm>
              <a:off x="157623" y="4150016"/>
              <a:ext cx="286868" cy="286588"/>
            </a:xfrm>
            <a:prstGeom prst="rect">
              <a:avLst/>
            </a:prstGeom>
            <a:blipFill rotWithShape="1">
              <a:blip r:embed="rId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9"/>
            <p:cNvSpPr/>
            <p:nvPr/>
          </p:nvSpPr>
          <p:spPr>
            <a:xfrm>
              <a:off x="602116" y="4032775"/>
              <a:ext cx="10371742" cy="53735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9"/>
            <p:cNvSpPr txBox="1"/>
            <p:nvPr/>
          </p:nvSpPr>
          <p:spPr>
            <a:xfrm>
              <a:off x="602116" y="4032775"/>
              <a:ext cx="10371742" cy="537353"/>
            </a:xfrm>
            <a:prstGeom prst="rect">
              <a:avLst/>
            </a:prstGeom>
            <a:noFill/>
            <a:ln>
              <a:noFill/>
            </a:ln>
          </p:spPr>
          <p:txBody>
            <a:bodyPr spcFirstLastPara="1" wrap="square" lIns="56850" tIns="56850" rIns="56850" bIns="56850"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0" i="0" u="none" strike="noStrike" cap="none">
                  <a:solidFill>
                    <a:schemeClr val="dk1"/>
                  </a:solidFill>
                  <a:latin typeface="Quattrocento Sans"/>
                  <a:ea typeface="Quattrocento Sans"/>
                  <a:cs typeface="Quattrocento Sans"/>
                  <a:sym typeface="Quattrocento Sans"/>
                </a:rPr>
                <a:t>Our primary focus will be on game engines capable of producing first-person shooters, third-person action/platform games, racing games, fighting games and the like.</a:t>
              </a:r>
              <a:endParaRPr sz="1400" b="0" i="0" u="none" strike="noStrike" cap="none">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Games for us</a:t>
            </a:r>
            <a:endParaRPr/>
          </a:p>
        </p:txBody>
      </p:sp>
      <p:grpSp>
        <p:nvGrpSpPr>
          <p:cNvPr id="150" name="Google Shape;150;p10"/>
          <p:cNvGrpSpPr/>
          <p:nvPr/>
        </p:nvGrpSpPr>
        <p:grpSpPr>
          <a:xfrm>
            <a:off x="1184157" y="1606009"/>
            <a:ext cx="9823682" cy="4569154"/>
            <a:chOff x="579724" y="1798"/>
            <a:chExt cx="9823682" cy="4569154"/>
          </a:xfrm>
        </p:grpSpPr>
        <p:sp>
          <p:nvSpPr>
            <p:cNvPr id="151" name="Google Shape;151;p10"/>
            <p:cNvSpPr/>
            <p:nvPr/>
          </p:nvSpPr>
          <p:spPr>
            <a:xfrm>
              <a:off x="579724" y="1798"/>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0"/>
            <p:cNvSpPr txBox="1"/>
            <p:nvPr/>
          </p:nvSpPr>
          <p:spPr>
            <a:xfrm>
              <a:off x="579724" y="1798"/>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Focus primarily on 2D and 3D virtual worlds. Most of these can be described as </a:t>
              </a:r>
              <a:r>
                <a:rPr lang="en-US" sz="900" b="0" i="1" u="none" strike="noStrike" cap="none">
                  <a:solidFill>
                    <a:schemeClr val="lt1"/>
                  </a:solidFill>
                  <a:latin typeface="Quattrocento Sans"/>
                  <a:ea typeface="Quattrocento Sans"/>
                  <a:cs typeface="Quattrocento Sans"/>
                  <a:sym typeface="Quattrocento Sans"/>
                </a:rPr>
                <a:t>soft real-time agent-based computer simulations.</a:t>
              </a:r>
              <a:endParaRPr sz="900" b="0" i="0" u="none" strike="noStrike" cap="none">
                <a:solidFill>
                  <a:schemeClr val="lt1"/>
                </a:solidFill>
                <a:latin typeface="Quattrocento Sans"/>
                <a:ea typeface="Quattrocento Sans"/>
                <a:cs typeface="Quattrocento Sans"/>
                <a:sym typeface="Quattrocento Sans"/>
              </a:endParaRPr>
            </a:p>
          </p:txBody>
        </p:sp>
        <p:sp>
          <p:nvSpPr>
            <p:cNvPr id="153" name="Google Shape;153;p10"/>
            <p:cNvSpPr/>
            <p:nvPr/>
          </p:nvSpPr>
          <p:spPr>
            <a:xfrm>
              <a:off x="3092759" y="1798"/>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0"/>
            <p:cNvSpPr txBox="1"/>
            <p:nvPr/>
          </p:nvSpPr>
          <p:spPr>
            <a:xfrm>
              <a:off x="3092759" y="1798"/>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1" u="none" strike="noStrike" cap="none">
                  <a:solidFill>
                    <a:schemeClr val="lt1"/>
                  </a:solidFill>
                  <a:latin typeface="Quattrocento Sans"/>
                  <a:ea typeface="Quattrocento Sans"/>
                  <a:cs typeface="Quattrocento Sans"/>
                  <a:sym typeface="Quattrocento Sans"/>
                </a:rPr>
                <a:t>In soft real-time systems</a:t>
              </a:r>
              <a:r>
                <a:rPr lang="en-US" sz="900" b="0" i="0" u="none" strike="noStrike" cap="none">
                  <a:solidFill>
                    <a:schemeClr val="lt1"/>
                  </a:solidFill>
                  <a:latin typeface="Quattrocento Sans"/>
                  <a:ea typeface="Quattrocento Sans"/>
                  <a:cs typeface="Quattrocento Sans"/>
                  <a:sym typeface="Quattrocento Sans"/>
                </a:rPr>
                <a:t>—if the frame rate dies, the human player generally doesn’t! Contrast this with a </a:t>
              </a:r>
              <a:r>
                <a:rPr lang="en-US" sz="900" b="0" i="1" u="none" strike="noStrike" cap="none">
                  <a:solidFill>
                    <a:schemeClr val="lt1"/>
                  </a:solidFill>
                  <a:latin typeface="Quattrocento Sans"/>
                  <a:ea typeface="Quattrocento Sans"/>
                  <a:cs typeface="Quattrocento Sans"/>
                  <a:sym typeface="Quattrocento Sans"/>
                </a:rPr>
                <a:t>hard real-time system</a:t>
              </a:r>
              <a:r>
                <a:rPr lang="en-US" sz="900" b="0" i="0" u="none" strike="noStrike" cap="none">
                  <a:solidFill>
                    <a:schemeClr val="lt1"/>
                  </a:solidFill>
                  <a:latin typeface="Quattrocento Sans"/>
                  <a:ea typeface="Quattrocento Sans"/>
                  <a:cs typeface="Quattrocento Sans"/>
                  <a:sym typeface="Quattrocento Sans"/>
                </a:rPr>
                <a:t>, in which a missed deadline could mean severe injury to or even the death of a human operator. The avionics system in a helicopter or the control-rod system in a nuclear power plant are examples of hard real-time systems.</a:t>
              </a:r>
              <a:endParaRPr/>
            </a:p>
          </p:txBody>
        </p:sp>
        <p:sp>
          <p:nvSpPr>
            <p:cNvPr id="155" name="Google Shape;155;p10"/>
            <p:cNvSpPr/>
            <p:nvPr/>
          </p:nvSpPr>
          <p:spPr>
            <a:xfrm>
              <a:off x="5605794" y="1798"/>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0"/>
            <p:cNvSpPr txBox="1"/>
            <p:nvPr/>
          </p:nvSpPr>
          <p:spPr>
            <a:xfrm>
              <a:off x="5605794" y="1798"/>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In most video games, some subset of the real world—or an imaginary world using a mathematical model so that it can be manipulated by a computer</a:t>
              </a:r>
              <a:endParaRPr/>
            </a:p>
          </p:txBody>
        </p:sp>
        <p:sp>
          <p:nvSpPr>
            <p:cNvPr id="157" name="Google Shape;157;p10"/>
            <p:cNvSpPr/>
            <p:nvPr/>
          </p:nvSpPr>
          <p:spPr>
            <a:xfrm>
              <a:off x="8118829" y="1798"/>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0"/>
            <p:cNvSpPr txBox="1"/>
            <p:nvPr/>
          </p:nvSpPr>
          <p:spPr>
            <a:xfrm>
              <a:off x="8118829" y="1798"/>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The model (</a:t>
              </a:r>
              <a:r>
                <a:rPr lang="en-US" sz="900" b="0" i="1" u="none" strike="noStrike" cap="none">
                  <a:solidFill>
                    <a:schemeClr val="lt1"/>
                  </a:solidFill>
                  <a:latin typeface="Quattrocento Sans"/>
                  <a:ea typeface="Quattrocento Sans"/>
                  <a:cs typeface="Quattrocento Sans"/>
                  <a:sym typeface="Quattrocento Sans"/>
                </a:rPr>
                <a:t>analytic </a:t>
              </a:r>
              <a:r>
                <a:rPr lang="en-US" sz="900" b="0" i="0" u="none" strike="noStrike" cap="none">
                  <a:solidFill>
                    <a:schemeClr val="lt1"/>
                  </a:solidFill>
                  <a:latin typeface="Quattrocento Sans"/>
                  <a:ea typeface="Quattrocento Sans"/>
                  <a:cs typeface="Quattrocento Sans"/>
                  <a:sym typeface="Quattrocento Sans"/>
                </a:rPr>
                <a:t>or </a:t>
              </a:r>
              <a:r>
                <a:rPr lang="en-US" sz="900" b="0" i="1" u="none" strike="noStrike" cap="none">
                  <a:solidFill>
                    <a:schemeClr val="lt1"/>
                  </a:solidFill>
                  <a:latin typeface="Quattrocento Sans"/>
                  <a:ea typeface="Quattrocento Sans"/>
                  <a:cs typeface="Quattrocento Sans"/>
                  <a:sym typeface="Quattrocento Sans"/>
                </a:rPr>
                <a:t>numerical)</a:t>
              </a:r>
              <a:r>
                <a:rPr lang="en-US" sz="900" b="0" i="0" u="none" strike="noStrike" cap="none">
                  <a:solidFill>
                    <a:schemeClr val="lt1"/>
                  </a:solidFill>
                  <a:latin typeface="Quattrocento Sans"/>
                  <a:ea typeface="Quattrocento Sans"/>
                  <a:cs typeface="Quattrocento Sans"/>
                  <a:sym typeface="Quattrocento Sans"/>
                </a:rPr>
                <a:t> is an approximation to and a simplification of reality: a </a:t>
              </a:r>
              <a:r>
                <a:rPr lang="en-US" sz="900" b="0" i="1" u="none" strike="noStrike" cap="none">
                  <a:solidFill>
                    <a:schemeClr val="lt1"/>
                  </a:solidFill>
                  <a:latin typeface="Quattrocento Sans"/>
                  <a:ea typeface="Quattrocento Sans"/>
                  <a:cs typeface="Quattrocento Sans"/>
                  <a:sym typeface="Quattrocento Sans"/>
                </a:rPr>
                <a:t>simulation </a:t>
              </a:r>
              <a:r>
                <a:rPr lang="en-US" sz="900" b="0" i="0" u="none" strike="noStrike" cap="none">
                  <a:solidFill>
                    <a:schemeClr val="lt1"/>
                  </a:solidFill>
                  <a:latin typeface="Quattrocento Sans"/>
                  <a:ea typeface="Quattrocento Sans"/>
                  <a:cs typeface="Quattrocento Sans"/>
                  <a:sym typeface="Quattrocento Sans"/>
                </a:rPr>
                <a:t>of the real or imagined game world.</a:t>
              </a:r>
              <a:endParaRPr/>
            </a:p>
          </p:txBody>
        </p:sp>
        <p:sp>
          <p:nvSpPr>
            <p:cNvPr id="159" name="Google Shape;159;p10"/>
            <p:cNvSpPr/>
            <p:nvPr/>
          </p:nvSpPr>
          <p:spPr>
            <a:xfrm>
              <a:off x="579724" y="1601002"/>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0"/>
            <p:cNvSpPr txBox="1"/>
            <p:nvPr/>
          </p:nvSpPr>
          <p:spPr>
            <a:xfrm>
              <a:off x="579724" y="1601002"/>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Approximation and simplification are two of the game developer’s most powerful tools.</a:t>
              </a:r>
              <a:endParaRPr/>
            </a:p>
          </p:txBody>
        </p:sp>
        <p:sp>
          <p:nvSpPr>
            <p:cNvPr id="161" name="Google Shape;161;p10"/>
            <p:cNvSpPr/>
            <p:nvPr/>
          </p:nvSpPr>
          <p:spPr>
            <a:xfrm>
              <a:off x="3092759" y="1601002"/>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0"/>
            <p:cNvSpPr txBox="1"/>
            <p:nvPr/>
          </p:nvSpPr>
          <p:spPr>
            <a:xfrm>
              <a:off x="3092759" y="1601002"/>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In an </a:t>
              </a:r>
              <a:r>
                <a:rPr lang="en-US" sz="900" b="0" i="1" u="none" strike="noStrike" cap="none">
                  <a:solidFill>
                    <a:schemeClr val="lt1"/>
                  </a:solidFill>
                  <a:latin typeface="Quattrocento Sans"/>
                  <a:ea typeface="Quattrocento Sans"/>
                  <a:cs typeface="Quattrocento Sans"/>
                  <a:sym typeface="Quattrocento Sans"/>
                </a:rPr>
                <a:t>agent-based </a:t>
              </a:r>
              <a:r>
                <a:rPr lang="en-US" sz="900" b="0" i="0" u="none" strike="noStrike" cap="none">
                  <a:solidFill>
                    <a:schemeClr val="lt1"/>
                  </a:solidFill>
                  <a:latin typeface="Quattrocento Sans"/>
                  <a:ea typeface="Quattrocento Sans"/>
                  <a:cs typeface="Quattrocento Sans"/>
                  <a:sym typeface="Quattrocento Sans"/>
                </a:rPr>
                <a:t>simulation, a number of distinct entities known as “agents” interact.</a:t>
              </a:r>
              <a:endParaRPr sz="900" b="0" i="0" u="none" strike="noStrike" cap="none">
                <a:solidFill>
                  <a:schemeClr val="lt1"/>
                </a:solidFill>
                <a:latin typeface="Quattrocento Sans"/>
                <a:ea typeface="Quattrocento Sans"/>
                <a:cs typeface="Quattrocento Sans"/>
                <a:sym typeface="Quattrocento Sans"/>
              </a:endParaRPr>
            </a:p>
          </p:txBody>
        </p:sp>
        <p:sp>
          <p:nvSpPr>
            <p:cNvPr id="163" name="Google Shape;163;p10"/>
            <p:cNvSpPr/>
            <p:nvPr/>
          </p:nvSpPr>
          <p:spPr>
            <a:xfrm>
              <a:off x="5605794" y="1601002"/>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0"/>
            <p:cNvSpPr txBox="1"/>
            <p:nvPr/>
          </p:nvSpPr>
          <p:spPr>
            <a:xfrm>
              <a:off x="5605794" y="1601002"/>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They are interactive so have at least one actor or agent, where the agents are vehicles, characters, fireballs, power dots and so on.</a:t>
              </a:r>
              <a:endParaRPr/>
            </a:p>
          </p:txBody>
        </p:sp>
        <p:sp>
          <p:nvSpPr>
            <p:cNvPr id="165" name="Google Shape;165;p10"/>
            <p:cNvSpPr/>
            <p:nvPr/>
          </p:nvSpPr>
          <p:spPr>
            <a:xfrm>
              <a:off x="8118829" y="1601002"/>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0"/>
            <p:cNvSpPr txBox="1"/>
            <p:nvPr/>
          </p:nvSpPr>
          <p:spPr>
            <a:xfrm>
              <a:off x="8118829" y="1601002"/>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Most games nowadays are implemented in an object oriented programming language</a:t>
              </a:r>
              <a:endParaRPr/>
            </a:p>
          </p:txBody>
        </p:sp>
        <p:sp>
          <p:nvSpPr>
            <p:cNvPr id="167" name="Google Shape;167;p10"/>
            <p:cNvSpPr/>
            <p:nvPr/>
          </p:nvSpPr>
          <p:spPr>
            <a:xfrm>
              <a:off x="1836242" y="3200206"/>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0"/>
            <p:cNvSpPr txBox="1"/>
            <p:nvPr/>
          </p:nvSpPr>
          <p:spPr>
            <a:xfrm>
              <a:off x="1836242" y="3200206"/>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All interactive video games are “</a:t>
              </a:r>
              <a:r>
                <a:rPr lang="en-US" sz="900" b="0" i="1" u="none" strike="noStrike" cap="none">
                  <a:solidFill>
                    <a:schemeClr val="lt1"/>
                  </a:solidFill>
                  <a:latin typeface="Quattrocento Sans"/>
                  <a:ea typeface="Quattrocento Sans"/>
                  <a:cs typeface="Quattrocento Sans"/>
                  <a:sym typeface="Quattrocento Sans"/>
                </a:rPr>
                <a:t>temporal simulations”</a:t>
              </a:r>
              <a:r>
                <a:rPr lang="en-US" sz="900" b="0" i="0" u="none" strike="noStrike" cap="none">
                  <a:solidFill>
                    <a:schemeClr val="lt1"/>
                  </a:solidFill>
                  <a:latin typeface="Quattrocento Sans"/>
                  <a:ea typeface="Quattrocento Sans"/>
                  <a:cs typeface="Quattrocento Sans"/>
                  <a:sym typeface="Quattrocento Sans"/>
                </a:rPr>
                <a:t>, meaning that the virtual game world model is </a:t>
              </a:r>
              <a:r>
                <a:rPr lang="en-US" sz="900" b="0" i="1" u="none" strike="noStrike" cap="none">
                  <a:solidFill>
                    <a:schemeClr val="lt1"/>
                  </a:solidFill>
                  <a:latin typeface="Quattrocento Sans"/>
                  <a:ea typeface="Quattrocento Sans"/>
                  <a:cs typeface="Quattrocento Sans"/>
                  <a:sym typeface="Quattrocento Sans"/>
                </a:rPr>
                <a:t>dynamic</a:t>
              </a:r>
              <a:r>
                <a:rPr lang="en-US" sz="900" b="0" i="0" u="none" strike="noStrike" cap="none">
                  <a:solidFill>
                    <a:schemeClr val="lt1"/>
                  </a:solidFill>
                  <a:latin typeface="Quattrocento Sans"/>
                  <a:ea typeface="Quattrocento Sans"/>
                  <a:cs typeface="Quattrocento Sans"/>
                  <a:sym typeface="Quattrocento Sans"/>
                </a:rPr>
                <a:t>—the state of the game world changes over time as the game’s events and story unfold.</a:t>
              </a:r>
              <a:endParaRPr/>
            </a:p>
          </p:txBody>
        </p:sp>
        <p:sp>
          <p:nvSpPr>
            <p:cNvPr id="169" name="Google Shape;169;p10"/>
            <p:cNvSpPr/>
            <p:nvPr/>
          </p:nvSpPr>
          <p:spPr>
            <a:xfrm>
              <a:off x="4349276" y="3200206"/>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0"/>
            <p:cNvSpPr txBox="1"/>
            <p:nvPr/>
          </p:nvSpPr>
          <p:spPr>
            <a:xfrm>
              <a:off x="4349276" y="3200206"/>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Most video games present their stories and respond to player input in real time, making them </a:t>
              </a:r>
              <a:r>
                <a:rPr lang="en-US" sz="900" b="0" i="1" u="none" strike="noStrike" cap="none">
                  <a:solidFill>
                    <a:schemeClr val="lt1"/>
                  </a:solidFill>
                  <a:latin typeface="Quattrocento Sans"/>
                  <a:ea typeface="Quattrocento Sans"/>
                  <a:cs typeface="Quattrocento Sans"/>
                  <a:sym typeface="Quattrocento Sans"/>
                </a:rPr>
                <a:t>interactive real-time simulations (exception turn-based games like chess)</a:t>
              </a:r>
              <a:r>
                <a:rPr lang="en-US" sz="900" b="0" i="0" u="none" strike="noStrike" cap="none">
                  <a:solidFill>
                    <a:schemeClr val="lt1"/>
                  </a:solidFill>
                  <a:latin typeface="Quattrocento Sans"/>
                  <a:ea typeface="Quattrocento Sans"/>
                  <a:cs typeface="Quattrocento Sans"/>
                  <a:sym typeface="Quattrocento Sans"/>
                </a:rPr>
                <a:t>.</a:t>
              </a:r>
              <a:endParaRPr/>
            </a:p>
          </p:txBody>
        </p:sp>
        <p:sp>
          <p:nvSpPr>
            <p:cNvPr id="171" name="Google Shape;171;p10"/>
            <p:cNvSpPr/>
            <p:nvPr/>
          </p:nvSpPr>
          <p:spPr>
            <a:xfrm>
              <a:off x="6862311" y="3200206"/>
              <a:ext cx="2284577" cy="1370746"/>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0"/>
            <p:cNvSpPr txBox="1"/>
            <p:nvPr/>
          </p:nvSpPr>
          <p:spPr>
            <a:xfrm>
              <a:off x="6862311" y="3200206"/>
              <a:ext cx="2284577" cy="1370746"/>
            </a:xfrm>
            <a:prstGeom prst="rect">
              <a:avLst/>
            </a:prstGeom>
            <a:noFill/>
            <a:ln>
              <a:noFill/>
            </a:ln>
          </p:spPr>
          <p:txBody>
            <a:bodyPr spcFirstLastPara="1" wrap="square" lIns="34275" tIns="34275" rIns="34275" bIns="34275" anchor="ctr" anchorCtr="0">
              <a:noAutofit/>
            </a:bodyPr>
            <a:lstStyle/>
            <a:p>
              <a:pPr marL="0" marR="0" lvl="0" indent="0" algn="ctr" rtl="0">
                <a:lnSpc>
                  <a:spcPct val="90000"/>
                </a:lnSpc>
                <a:spcBef>
                  <a:spcPts val="0"/>
                </a:spcBef>
                <a:spcAft>
                  <a:spcPts val="0"/>
                </a:spcAft>
                <a:buClr>
                  <a:schemeClr val="lt1"/>
                </a:buClr>
                <a:buSzPts val="900"/>
                <a:buFont typeface="Quattrocento Sans"/>
                <a:buNone/>
              </a:pPr>
              <a:r>
                <a:rPr lang="en-US" sz="900" b="0" i="0" u="none" strike="noStrike" cap="none">
                  <a:solidFill>
                    <a:schemeClr val="lt1"/>
                  </a:solidFill>
                  <a:latin typeface="Quattrocento Sans"/>
                  <a:ea typeface="Quattrocento Sans"/>
                  <a:cs typeface="Quattrocento Sans"/>
                  <a:sym typeface="Quattrocento Sans"/>
                </a:rPr>
                <a:t>They have some (loose) real-time constraints.</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1"/>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409576" lvl="1" indent="-7938" algn="l" rtl="0">
              <a:lnSpc>
                <a:spcPct val="90000"/>
              </a:lnSpc>
              <a:spcBef>
                <a:spcPts val="0"/>
              </a:spcBef>
              <a:spcAft>
                <a:spcPts val="0"/>
              </a:spcAft>
              <a:buClr>
                <a:schemeClr val="dk1"/>
              </a:buClr>
              <a:buSzPts val="1200"/>
              <a:buFont typeface="Arial"/>
              <a:buChar char="•"/>
            </a:pPr>
            <a:r>
              <a:rPr lang="en-US" dirty="0"/>
              <a:t>The term game engine arose in the 1990s.</a:t>
            </a:r>
            <a:endParaRPr dirty="0"/>
          </a:p>
          <a:p>
            <a:pPr marL="409576" lvl="1" indent="-7938" algn="l" rtl="0">
              <a:lnSpc>
                <a:spcPct val="90000"/>
              </a:lnSpc>
              <a:spcBef>
                <a:spcPts val="600"/>
              </a:spcBef>
              <a:spcAft>
                <a:spcPts val="0"/>
              </a:spcAft>
              <a:buClr>
                <a:schemeClr val="dk1"/>
              </a:buClr>
              <a:buSzPts val="1200"/>
              <a:buFont typeface="Arial"/>
              <a:buChar char="•"/>
            </a:pPr>
            <a:r>
              <a:rPr lang="en-US" dirty="0"/>
              <a:t>Doom by id Software was at the center (On June 24, 2009, </a:t>
            </a:r>
            <a:r>
              <a:rPr lang="en-US" u="sng" dirty="0">
                <a:solidFill>
                  <a:schemeClr val="hlink"/>
                </a:solidFill>
                <a:hlinkClick r:id="rId3"/>
              </a:rPr>
              <a:t>ZeniMax Media</a:t>
            </a:r>
            <a:r>
              <a:rPr lang="en-US" dirty="0"/>
              <a:t> acquired the company). </a:t>
            </a:r>
            <a:endParaRPr dirty="0"/>
          </a:p>
          <a:p>
            <a:pPr marL="409576" lvl="1" indent="-7938" algn="l" rtl="0">
              <a:lnSpc>
                <a:spcPct val="90000"/>
              </a:lnSpc>
              <a:spcBef>
                <a:spcPts val="600"/>
              </a:spcBef>
              <a:spcAft>
                <a:spcPts val="0"/>
              </a:spcAft>
              <a:buClr>
                <a:schemeClr val="dk1"/>
              </a:buClr>
              <a:buSzPts val="1200"/>
              <a:buFont typeface="Arial"/>
              <a:buChar char="•"/>
            </a:pPr>
            <a:r>
              <a:rPr lang="en-US" dirty="0"/>
              <a:t>The core components were separated from the game content</a:t>
            </a:r>
            <a:endParaRPr dirty="0"/>
          </a:p>
          <a:p>
            <a:pPr marL="409576" lvl="1" indent="-7938" algn="l" rtl="0">
              <a:lnSpc>
                <a:spcPct val="90000"/>
              </a:lnSpc>
              <a:spcBef>
                <a:spcPts val="600"/>
              </a:spcBef>
              <a:spcAft>
                <a:spcPts val="0"/>
              </a:spcAft>
              <a:buClr>
                <a:schemeClr val="dk1"/>
              </a:buClr>
              <a:buSzPts val="1200"/>
              <a:buFont typeface="Arial"/>
              <a:buChar char="•"/>
            </a:pPr>
            <a:r>
              <a:rPr lang="en-US" dirty="0"/>
              <a:t>Quake III and Unreal were designed with the separation in mind</a:t>
            </a:r>
            <a:endParaRPr dirty="0"/>
          </a:p>
          <a:p>
            <a:pPr marL="1143000" lvl="2" indent="-228600" algn="l" rtl="0">
              <a:lnSpc>
                <a:spcPct val="100000"/>
              </a:lnSpc>
              <a:spcBef>
                <a:spcPts val="500"/>
              </a:spcBef>
              <a:spcAft>
                <a:spcPts val="0"/>
              </a:spcAft>
              <a:buClr>
                <a:schemeClr val="dk1"/>
              </a:buClr>
              <a:buSzPts val="1200"/>
              <a:buFont typeface="Noto Sans Symbols"/>
              <a:buChar char="⮚"/>
            </a:pPr>
            <a:r>
              <a:rPr lang="en-US" sz="1200" dirty="0"/>
              <a:t>Sold licenses to their engine and tools</a:t>
            </a:r>
            <a:endParaRPr dirty="0"/>
          </a:p>
          <a:p>
            <a:pPr marL="1143000" lvl="2" indent="-228600" algn="l" rtl="0">
              <a:lnSpc>
                <a:spcPct val="100000"/>
              </a:lnSpc>
              <a:spcBef>
                <a:spcPts val="500"/>
              </a:spcBef>
              <a:spcAft>
                <a:spcPts val="0"/>
              </a:spcAft>
              <a:buClr>
                <a:schemeClr val="dk1"/>
              </a:buClr>
              <a:buSzPts val="1200"/>
              <a:buFont typeface="Noto Sans Symbols"/>
              <a:buChar char="⮚"/>
            </a:pPr>
            <a:r>
              <a:rPr lang="en-US" sz="1200" dirty="0"/>
              <a:t>Engine licensing began to be a viable secondary revenue stream for the developers who created them.</a:t>
            </a:r>
            <a:endParaRPr dirty="0"/>
          </a:p>
          <a:p>
            <a:pPr marL="1143000" lvl="2" indent="-228600" algn="l" rtl="0">
              <a:lnSpc>
                <a:spcPct val="100000"/>
              </a:lnSpc>
              <a:spcBef>
                <a:spcPts val="500"/>
              </a:spcBef>
              <a:spcAft>
                <a:spcPts val="0"/>
              </a:spcAft>
              <a:buClr>
                <a:schemeClr val="dk1"/>
              </a:buClr>
              <a:buSzPts val="1200"/>
              <a:buFont typeface="Noto Sans Symbols"/>
              <a:buChar char="⮚"/>
            </a:pPr>
            <a:r>
              <a:rPr lang="en-US" sz="1200" dirty="0"/>
              <a:t>You can license a game engine and reuse significant portions of its key software components in order to build games.</a:t>
            </a:r>
            <a:endParaRPr sz="1200" dirty="0"/>
          </a:p>
          <a:p>
            <a:pPr marL="1143000" lvl="2" indent="-228600" algn="l" rtl="0">
              <a:lnSpc>
                <a:spcPct val="100000"/>
              </a:lnSpc>
              <a:spcBef>
                <a:spcPts val="500"/>
              </a:spcBef>
              <a:spcAft>
                <a:spcPts val="0"/>
              </a:spcAft>
              <a:buClr>
                <a:schemeClr val="dk1"/>
              </a:buClr>
              <a:buSzPts val="1200"/>
              <a:buFont typeface="Noto Sans Symbols"/>
              <a:buChar char="⮚"/>
            </a:pPr>
            <a:r>
              <a:rPr lang="en-US" sz="1200" dirty="0"/>
              <a:t>Some of you may have done modding using these tools</a:t>
            </a:r>
            <a:endParaRPr dirty="0"/>
          </a:p>
          <a:p>
            <a:pPr marL="409576" lvl="1" indent="-7938" algn="l" rtl="0">
              <a:lnSpc>
                <a:spcPct val="90000"/>
              </a:lnSpc>
              <a:spcBef>
                <a:spcPts val="600"/>
              </a:spcBef>
              <a:spcAft>
                <a:spcPts val="0"/>
              </a:spcAft>
              <a:buClr>
                <a:schemeClr val="dk1"/>
              </a:buClr>
              <a:buSzPts val="1200"/>
              <a:buFont typeface="Arial"/>
              <a:buChar char="•"/>
            </a:pPr>
            <a:r>
              <a:rPr lang="en-US" dirty="0"/>
              <a:t>Game engine are data-driven architectures that are reusable and therefore do not contain game content – mostly true</a:t>
            </a:r>
            <a:endParaRPr dirty="0"/>
          </a:p>
          <a:p>
            <a:pPr marL="409576" lvl="1" indent="-7938" algn="l" rtl="0">
              <a:lnSpc>
                <a:spcPct val="90000"/>
              </a:lnSpc>
              <a:spcBef>
                <a:spcPts val="600"/>
              </a:spcBef>
              <a:spcAft>
                <a:spcPts val="0"/>
              </a:spcAft>
              <a:buClr>
                <a:schemeClr val="dk1"/>
              </a:buClr>
              <a:buSzPts val="1200"/>
              <a:buFont typeface="Arial"/>
              <a:buChar char="•"/>
            </a:pPr>
            <a:r>
              <a:rPr lang="en-US" dirty="0"/>
              <a:t>Game Engine Reusability Gamut</a:t>
            </a:r>
            <a:endParaRPr dirty="0"/>
          </a:p>
          <a:p>
            <a:pPr marL="0" lvl="0" indent="0" algn="l" rtl="0">
              <a:lnSpc>
                <a:spcPct val="90000"/>
              </a:lnSpc>
              <a:spcBef>
                <a:spcPts val="1000"/>
              </a:spcBef>
              <a:spcAft>
                <a:spcPts val="0"/>
              </a:spcAft>
              <a:buClr>
                <a:schemeClr val="dk1"/>
              </a:buClr>
              <a:buSzPts val="300"/>
              <a:buFont typeface="Quattrocento Sans"/>
              <a:buNone/>
            </a:pPr>
            <a:endParaRPr dirty="0"/>
          </a:p>
        </p:txBody>
      </p:sp>
      <p:sp>
        <p:nvSpPr>
          <p:cNvPr id="179" name="Google Shape;179;p1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What is a game engine?</a:t>
            </a:r>
            <a:endParaRPr/>
          </a:p>
        </p:txBody>
      </p:sp>
      <p:pic>
        <p:nvPicPr>
          <p:cNvPr id="180" name="Google Shape;180;p11" descr="A close up of a logo&#10;&#10;Description automatically generated"/>
          <p:cNvPicPr preferRelativeResize="0"/>
          <p:nvPr/>
        </p:nvPicPr>
        <p:blipFill rotWithShape="1">
          <a:blip r:embed="rId4">
            <a:alphaModFix/>
          </a:blip>
          <a:srcRect/>
          <a:stretch/>
        </p:blipFill>
        <p:spPr>
          <a:xfrm>
            <a:off x="9716308" y="2297013"/>
            <a:ext cx="1209998" cy="1389664"/>
          </a:xfrm>
          <a:prstGeom prst="rect">
            <a:avLst/>
          </a:prstGeom>
          <a:noFill/>
          <a:ln>
            <a:noFill/>
          </a:ln>
        </p:spPr>
      </p:pic>
      <p:pic>
        <p:nvPicPr>
          <p:cNvPr id="181" name="Google Shape;181;p11" descr="A screenshot of a cell phone&#10;&#10;Description automatically generated"/>
          <p:cNvPicPr preferRelativeResize="0"/>
          <p:nvPr/>
        </p:nvPicPr>
        <p:blipFill rotWithShape="1">
          <a:blip r:embed="rId5">
            <a:alphaModFix/>
          </a:blip>
          <a:srcRect/>
          <a:stretch/>
        </p:blipFill>
        <p:spPr>
          <a:xfrm>
            <a:off x="1096322" y="4371362"/>
            <a:ext cx="7318392" cy="14949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2"/>
          <p:cNvSpPr txBox="1">
            <a:spLocks noGrp="1"/>
          </p:cNvSpPr>
          <p:nvPr>
            <p:ph type="body" idx="1"/>
          </p:nvPr>
        </p:nvSpPr>
        <p:spPr>
          <a:xfrm>
            <a:off x="604433" y="1326120"/>
            <a:ext cx="10983132" cy="5318840"/>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a </a:t>
            </a:r>
            <a:r>
              <a:rPr lang="en-US" i="1"/>
              <a:t>data-driven architecture </a:t>
            </a:r>
            <a:r>
              <a:rPr lang="en-US"/>
              <a:t>is what differentiates a game engine from a piece of software that is a game but not an engine. </a:t>
            </a:r>
            <a:endParaRPr/>
          </a:p>
          <a:p>
            <a:pPr marL="0" lvl="0" indent="-19050" algn="l" rtl="0">
              <a:lnSpc>
                <a:spcPct val="90000"/>
              </a:lnSpc>
              <a:spcBef>
                <a:spcPts val="2200"/>
              </a:spcBef>
              <a:spcAft>
                <a:spcPts val="0"/>
              </a:spcAft>
              <a:buClr>
                <a:schemeClr val="dk1"/>
              </a:buClr>
              <a:buSzPts val="300"/>
              <a:buFont typeface="Quattrocento Sans"/>
              <a:buChar char=" "/>
            </a:pPr>
            <a:r>
              <a:rPr lang="en-US"/>
              <a:t>When a game contains hard-coded logic or game rules, or employs special-case code to render specific types of game objects, it becomes difficult or impossible to reuse that software to make a different game. </a:t>
            </a:r>
            <a:endParaRPr/>
          </a:p>
          <a:p>
            <a:pPr marL="0" lvl="0" indent="-19050" algn="l" rtl="0">
              <a:lnSpc>
                <a:spcPct val="90000"/>
              </a:lnSpc>
              <a:spcBef>
                <a:spcPts val="2200"/>
              </a:spcBef>
              <a:spcAft>
                <a:spcPts val="0"/>
              </a:spcAft>
              <a:buClr>
                <a:schemeClr val="dk1"/>
              </a:buClr>
              <a:buSzPts val="300"/>
              <a:buFont typeface="Quattrocento Sans"/>
              <a:buChar char=" "/>
            </a:pPr>
            <a:r>
              <a:rPr lang="en-US"/>
              <a:t>“game engine” is a software that is extensible and can be used as the foundation for many different games without major modification.</a:t>
            </a:r>
            <a:endParaRPr/>
          </a:p>
          <a:p>
            <a:pPr marL="0" lvl="0" indent="-19050" algn="l" rtl="0">
              <a:lnSpc>
                <a:spcPct val="90000"/>
              </a:lnSpc>
              <a:spcBef>
                <a:spcPts val="2200"/>
              </a:spcBef>
              <a:spcAft>
                <a:spcPts val="0"/>
              </a:spcAft>
              <a:buClr>
                <a:schemeClr val="dk1"/>
              </a:buClr>
              <a:buSzPts val="300"/>
              <a:buFont typeface="Quattrocento Sans"/>
              <a:buChar char=" "/>
            </a:pPr>
            <a:r>
              <a:rPr lang="en-US"/>
              <a:t>The target hardware on which a game runs.</a:t>
            </a:r>
            <a:endParaRPr/>
          </a:p>
          <a:p>
            <a:pPr marL="0" lvl="0" indent="-19050" algn="l" rtl="0">
              <a:lnSpc>
                <a:spcPct val="90000"/>
              </a:lnSpc>
              <a:spcBef>
                <a:spcPts val="2200"/>
              </a:spcBef>
              <a:spcAft>
                <a:spcPts val="0"/>
              </a:spcAft>
              <a:buClr>
                <a:schemeClr val="dk1"/>
              </a:buClr>
              <a:buSzPts val="300"/>
              <a:buFont typeface="Quattrocento Sans"/>
              <a:buChar char=" "/>
            </a:pPr>
            <a:r>
              <a:rPr lang="en-US"/>
              <a:t>A rendering engine that was designed to handle intimate indoor environments probably won’t be very good at rendering vast outdoor environments.</a:t>
            </a:r>
            <a:endParaRPr/>
          </a:p>
          <a:p>
            <a:pPr marL="0" lvl="0" indent="-19050" algn="l" rtl="0">
              <a:lnSpc>
                <a:spcPct val="90000"/>
              </a:lnSpc>
              <a:spcBef>
                <a:spcPts val="2200"/>
              </a:spcBef>
              <a:spcAft>
                <a:spcPts val="0"/>
              </a:spcAft>
              <a:buClr>
                <a:schemeClr val="dk1"/>
              </a:buClr>
              <a:buSzPts val="300"/>
              <a:buFont typeface="Quattrocento Sans"/>
              <a:buChar char=" "/>
            </a:pPr>
            <a:r>
              <a:rPr lang="en-US"/>
              <a:t>The indoor engine might use a binary space partitioning (BSP) tree or portal system to ensure that no geometry is drawn that is being occluded by walls or objects that are closer to the camera.</a:t>
            </a:r>
            <a:endParaRPr/>
          </a:p>
          <a:p>
            <a:pPr marL="0" lvl="0" indent="-19050" algn="l" rtl="0">
              <a:lnSpc>
                <a:spcPct val="90000"/>
              </a:lnSpc>
              <a:spcBef>
                <a:spcPts val="2200"/>
              </a:spcBef>
              <a:spcAft>
                <a:spcPts val="0"/>
              </a:spcAft>
              <a:buClr>
                <a:schemeClr val="dk1"/>
              </a:buClr>
              <a:buSzPts val="300"/>
              <a:buFont typeface="Quattrocento Sans"/>
              <a:buChar char=" "/>
            </a:pPr>
            <a:r>
              <a:rPr lang="en-US"/>
              <a:t>In 1993, Doom was the first video game to make use of BSP after John Carmack utilized the most efficient 1991 algorithms describing front-to-back rendering with the use of a specialized data structure to record parts of the screen that had been drawn already.</a:t>
            </a:r>
            <a:endParaRPr/>
          </a:p>
          <a:p>
            <a:pPr marL="0" lvl="0" indent="-19050" algn="l" rtl="0">
              <a:lnSpc>
                <a:spcPct val="90000"/>
              </a:lnSpc>
              <a:spcBef>
                <a:spcPts val="2200"/>
              </a:spcBef>
              <a:spcAft>
                <a:spcPts val="0"/>
              </a:spcAft>
              <a:buClr>
                <a:schemeClr val="dk1"/>
              </a:buClr>
              <a:buSzPts val="300"/>
              <a:buFont typeface="Quattrocento Sans"/>
              <a:buChar char=" "/>
            </a:pPr>
            <a:r>
              <a:rPr lang="en-US"/>
              <a:t>The outdoor engine, on the other hand, might use a less-exact occlusion mechanism, or none at all, but it probably makes aggressive use of level-of-detail (LOD) techniques to ensure that distant objects are rendered with a minimum number of triangles, while using high-resolution triangle meshes for geometry that is close to the camera.</a:t>
            </a:r>
            <a:endParaRPr/>
          </a:p>
        </p:txBody>
      </p:sp>
      <p:sp>
        <p:nvSpPr>
          <p:cNvPr id="188" name="Google Shape;188;p12"/>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i="1"/>
              <a:t>data-driven architecture</a:t>
            </a:r>
            <a:endParaRPr/>
          </a:p>
        </p:txBody>
      </p:sp>
      <p:pic>
        <p:nvPicPr>
          <p:cNvPr id="189" name="Google Shape;189;p12"/>
          <p:cNvPicPr preferRelativeResize="0"/>
          <p:nvPr/>
        </p:nvPicPr>
        <p:blipFill rotWithShape="1">
          <a:blip r:embed="rId3">
            <a:alphaModFix/>
          </a:blip>
          <a:srcRect/>
          <a:stretch/>
        </p:blipFill>
        <p:spPr>
          <a:xfrm>
            <a:off x="4552850" y="5493225"/>
            <a:ext cx="2809626" cy="118901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First-person shooters</a:t>
            </a:r>
            <a:endParaRPr/>
          </a:p>
        </p:txBody>
      </p:sp>
      <p:sp>
        <p:nvSpPr>
          <p:cNvPr id="196" name="Google Shape;196;p13"/>
          <p:cNvSpPr txBox="1">
            <a:spLocks noGrp="1"/>
          </p:cNvSpPr>
          <p:nvPr>
            <p:ph type="body" idx="1"/>
          </p:nvPr>
        </p:nvSpPr>
        <p:spPr>
          <a:xfrm>
            <a:off x="604433" y="1373994"/>
            <a:ext cx="10983131" cy="5035378"/>
          </a:xfrm>
          <a:prstGeom prst="rect">
            <a:avLst/>
          </a:prstGeom>
          <a:noFill/>
          <a:ln>
            <a:noFill/>
          </a:ln>
        </p:spPr>
        <p:txBody>
          <a:bodyPr spcFirstLastPara="1" wrap="square" lIns="91425" tIns="45700" rIns="91425" bIns="45700" anchor="t" anchorCtr="0">
            <a:normAutofit fontScale="85000" lnSpcReduction="20000"/>
          </a:bodyPr>
          <a:lstStyle/>
          <a:p>
            <a:pPr marL="0" lvl="0" indent="-16192" algn="l" rtl="0">
              <a:lnSpc>
                <a:spcPct val="90000"/>
              </a:lnSpc>
              <a:spcBef>
                <a:spcPts val="0"/>
              </a:spcBef>
              <a:spcAft>
                <a:spcPts val="0"/>
              </a:spcAft>
              <a:buClr>
                <a:schemeClr val="dk1"/>
              </a:buClr>
              <a:buSzPts val="255"/>
              <a:buFont typeface="Quattrocento Sans"/>
              <a:buChar char=" "/>
            </a:pPr>
            <a:r>
              <a:rPr lang="en-US"/>
              <a:t>The first-person shooter (FPS) genre is typified by games like </a:t>
            </a:r>
            <a:r>
              <a:rPr lang="en-US" i="1"/>
              <a:t>Quake</a:t>
            </a:r>
            <a:r>
              <a:rPr lang="en-US"/>
              <a:t>, </a:t>
            </a:r>
            <a:r>
              <a:rPr lang="en-US" i="1"/>
              <a:t>Unreal Tournament</a:t>
            </a:r>
            <a:r>
              <a:rPr lang="en-US"/>
              <a:t>, </a:t>
            </a:r>
            <a:r>
              <a:rPr lang="en-US" i="1"/>
              <a:t>Half-Life</a:t>
            </a:r>
            <a:r>
              <a:rPr lang="en-US"/>
              <a:t>, </a:t>
            </a:r>
            <a:r>
              <a:rPr lang="en-US" i="1"/>
              <a:t>Battlefield</a:t>
            </a:r>
            <a:r>
              <a:rPr lang="en-US"/>
              <a:t>, </a:t>
            </a:r>
            <a:endParaRPr/>
          </a:p>
          <a:p>
            <a:pPr marL="0" lvl="0" indent="-16192" algn="l" rtl="0">
              <a:lnSpc>
                <a:spcPct val="90000"/>
              </a:lnSpc>
              <a:spcBef>
                <a:spcPts val="2200"/>
              </a:spcBef>
              <a:spcAft>
                <a:spcPts val="0"/>
              </a:spcAft>
              <a:buClr>
                <a:schemeClr val="dk1"/>
              </a:buClr>
              <a:buSzPts val="255"/>
              <a:buFont typeface="Quattrocento Sans"/>
              <a:buChar char=" "/>
            </a:pPr>
            <a:r>
              <a:rPr lang="en-US" i="1"/>
              <a:t>Destiny</a:t>
            </a:r>
            <a:r>
              <a:rPr lang="en-US"/>
              <a:t>, </a:t>
            </a:r>
            <a:r>
              <a:rPr lang="en-US" i="1"/>
              <a:t>Titanfall </a:t>
            </a:r>
            <a:r>
              <a:rPr lang="en-US"/>
              <a:t>and </a:t>
            </a:r>
            <a:r>
              <a:rPr lang="en-US" i="1"/>
              <a:t>Overwatch </a:t>
            </a:r>
            <a:endParaRPr/>
          </a:p>
          <a:p>
            <a:pPr marL="0" lvl="0" indent="-16192" algn="l" rtl="0">
              <a:lnSpc>
                <a:spcPct val="90000"/>
              </a:lnSpc>
              <a:spcBef>
                <a:spcPts val="2200"/>
              </a:spcBef>
              <a:spcAft>
                <a:spcPts val="0"/>
              </a:spcAft>
              <a:buClr>
                <a:schemeClr val="dk1"/>
              </a:buClr>
              <a:buSzPts val="255"/>
              <a:buFont typeface="Quattrocento Sans"/>
              <a:buChar char=" "/>
            </a:pPr>
            <a:r>
              <a:rPr lang="en-US"/>
              <a:t>FPS focuses on:</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On-foot locomotion, rail-confined or free roaming ground vehicles, hovercraft, boats and aircraft.</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Efficient rendering of large 3d worlds</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Responsive camera control</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High-fidelity animations and artificial intelligence for the non-player characters (NPCs)—the player’s enemies and allies</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Cool weapons</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Forgiving physics model</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Small-scale online multiplayer capabilities (between 10 and 100 simultaneous players)</a:t>
            </a:r>
            <a:endParaRPr/>
          </a:p>
          <a:p>
            <a:pPr marL="409576" lvl="1" indent="-7938" algn="l" rtl="0">
              <a:lnSpc>
                <a:spcPct val="90000"/>
              </a:lnSpc>
              <a:spcBef>
                <a:spcPts val="1800"/>
              </a:spcBef>
              <a:spcAft>
                <a:spcPts val="0"/>
              </a:spcAft>
              <a:buClr>
                <a:schemeClr val="dk1"/>
              </a:buClr>
              <a:buSzPct val="100000"/>
              <a:buFont typeface="Noto Sans Symbols"/>
              <a:buChar char="⮚"/>
            </a:pPr>
            <a:r>
              <a:rPr lang="en-US"/>
              <a:t>The ubiquitous “death match” gameplay mode.</a:t>
            </a:r>
            <a:endParaRPr/>
          </a:p>
          <a:p>
            <a:pPr marL="0" lvl="0" indent="-16192" algn="l" rtl="0">
              <a:lnSpc>
                <a:spcPct val="90000"/>
              </a:lnSpc>
              <a:spcBef>
                <a:spcPts val="2200"/>
              </a:spcBef>
              <a:spcAft>
                <a:spcPts val="0"/>
              </a:spcAft>
              <a:buClr>
                <a:schemeClr val="dk1"/>
              </a:buClr>
              <a:buSzPts val="255"/>
              <a:buChar char=" "/>
            </a:pPr>
            <a:r>
              <a:rPr lang="en-US"/>
              <a:t>Rendering technology focuses on optimization for the environment</a:t>
            </a:r>
            <a:endParaRPr/>
          </a:p>
          <a:p>
            <a:pPr marL="0" lvl="0" indent="-16192" algn="l" rtl="0">
              <a:lnSpc>
                <a:spcPct val="90000"/>
              </a:lnSpc>
              <a:spcBef>
                <a:spcPts val="2200"/>
              </a:spcBef>
              <a:spcAft>
                <a:spcPts val="0"/>
              </a:spcAft>
              <a:buClr>
                <a:schemeClr val="dk1"/>
              </a:buClr>
              <a:buSzPts val="255"/>
              <a:buFont typeface="Quattrocento Sans"/>
              <a:buChar char=" "/>
            </a:pPr>
            <a:r>
              <a:rPr lang="en-US"/>
              <a:t>For example, indoor “dungeon crawl” games often employ binary space partitioning trees or portal-based rendering systems. </a:t>
            </a:r>
            <a:endParaRPr/>
          </a:p>
          <a:p>
            <a:pPr marL="0" lvl="0" indent="-16192" algn="l" rtl="0">
              <a:lnSpc>
                <a:spcPct val="90000"/>
              </a:lnSpc>
              <a:spcBef>
                <a:spcPts val="2200"/>
              </a:spcBef>
              <a:spcAft>
                <a:spcPts val="0"/>
              </a:spcAft>
              <a:buClr>
                <a:schemeClr val="dk1"/>
              </a:buClr>
              <a:buSzPts val="255"/>
              <a:buFont typeface="Quattrocento Sans"/>
              <a:buChar char=" "/>
            </a:pPr>
            <a:r>
              <a:rPr lang="en-US"/>
              <a:t>Outdoor FPS games use other kinds of rendering optimizations such as occlusion culling, or an offline sectorization of the game world with manual or automated specification of which target sectors are visible from each source sector.</a:t>
            </a:r>
            <a:endParaRPr/>
          </a:p>
        </p:txBody>
      </p:sp>
      <p:pic>
        <p:nvPicPr>
          <p:cNvPr id="197" name="Google Shape;197;p13" descr="\\condor.ad.utulsa.edu\home\roger-mailler\Teaching\CS4033\GEA2Figures\Chapter1\fig1-2.png"/>
          <p:cNvPicPr preferRelativeResize="0"/>
          <p:nvPr/>
        </p:nvPicPr>
        <p:blipFill rotWithShape="1">
          <a:blip r:embed="rId3">
            <a:alphaModFix/>
          </a:blip>
          <a:srcRect/>
          <a:stretch/>
        </p:blipFill>
        <p:spPr>
          <a:xfrm>
            <a:off x="7928310" y="1283505"/>
            <a:ext cx="3659254" cy="2057400"/>
          </a:xfrm>
          <a:prstGeom prst="rect">
            <a:avLst/>
          </a:prstGeom>
          <a:noFill/>
          <a:ln>
            <a:noFill/>
          </a:ln>
        </p:spPr>
      </p:pic>
      <p:sp>
        <p:nvSpPr>
          <p:cNvPr id="198" name="Google Shape;198;p13"/>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12</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Platformers and the other third-person games</a:t>
            </a:r>
            <a:endParaRPr/>
          </a:p>
        </p:txBody>
      </p:sp>
      <p:sp>
        <p:nvSpPr>
          <p:cNvPr id="204" name="Google Shape;204;p14"/>
          <p:cNvSpPr txBox="1">
            <a:spLocks noGrp="1"/>
          </p:cNvSpPr>
          <p:nvPr>
            <p:ph type="body" idx="1"/>
          </p:nvPr>
        </p:nvSpPr>
        <p:spPr>
          <a:xfrm>
            <a:off x="604433" y="1316545"/>
            <a:ext cx="11327615" cy="5268238"/>
          </a:xfrm>
          <a:prstGeom prst="rect">
            <a:avLst/>
          </a:prstGeom>
          <a:noFill/>
          <a:ln>
            <a:noFill/>
          </a:ln>
        </p:spPr>
        <p:txBody>
          <a:bodyPr spcFirstLastPara="1" wrap="square" lIns="91425" tIns="45700" rIns="91425" bIns="45700" anchor="t" anchorCtr="0">
            <a:normAutofit fontScale="92500" lnSpcReduction="20000"/>
          </a:bodyPr>
          <a:lstStyle/>
          <a:p>
            <a:pPr marL="0" lvl="0" indent="-17621" algn="l" rtl="0">
              <a:lnSpc>
                <a:spcPct val="90000"/>
              </a:lnSpc>
              <a:spcBef>
                <a:spcPts val="0"/>
              </a:spcBef>
              <a:spcAft>
                <a:spcPts val="0"/>
              </a:spcAft>
              <a:buClr>
                <a:schemeClr val="dk1"/>
              </a:buClr>
              <a:buSzPts val="278"/>
              <a:buFont typeface="Quattrocento Sans"/>
              <a:buChar char=" "/>
            </a:pPr>
            <a:r>
              <a:rPr lang="en-US"/>
              <a:t>Third-person shooter(TPS) is a subgenre of 3D shooter games in which the player character is visible on-screen during gaming, and the gameplay consists primarily of shooting.</a:t>
            </a:r>
            <a:endParaRPr/>
          </a:p>
          <a:p>
            <a:pPr marL="0" lvl="0" indent="-17621" algn="l" rtl="0">
              <a:lnSpc>
                <a:spcPct val="90000"/>
              </a:lnSpc>
              <a:spcBef>
                <a:spcPts val="2200"/>
              </a:spcBef>
              <a:spcAft>
                <a:spcPts val="0"/>
              </a:spcAft>
              <a:buClr>
                <a:schemeClr val="dk1"/>
              </a:buClr>
              <a:buSzPts val="278"/>
              <a:buFont typeface="Quattrocento Sans"/>
              <a:buChar char=" "/>
            </a:pPr>
            <a:r>
              <a:rPr lang="en-US"/>
              <a:t>“Platformer” is the term applied to third-person character-based action games where jumping from platform to platform is the primary gameplay mechanic.</a:t>
            </a:r>
            <a:endParaRPr/>
          </a:p>
          <a:p>
            <a:pPr marL="0" lvl="0" indent="-17621" algn="l" rtl="0">
              <a:lnSpc>
                <a:spcPct val="90000"/>
              </a:lnSpc>
              <a:spcBef>
                <a:spcPts val="2200"/>
              </a:spcBef>
              <a:spcAft>
                <a:spcPts val="0"/>
              </a:spcAft>
              <a:buClr>
                <a:schemeClr val="dk1"/>
              </a:buClr>
              <a:buSzPts val="278"/>
              <a:buFont typeface="Quattrocento Sans"/>
              <a:buChar char=" "/>
            </a:pPr>
            <a:r>
              <a:rPr lang="en-US"/>
              <a:t>Typical games from the 2D era include </a:t>
            </a:r>
            <a:r>
              <a:rPr lang="en-US" i="1"/>
              <a:t>Space Panic</a:t>
            </a:r>
            <a:r>
              <a:rPr lang="en-US"/>
              <a:t>, </a:t>
            </a:r>
            <a:r>
              <a:rPr lang="en-US" i="1"/>
              <a:t>Donkey Kong</a:t>
            </a:r>
            <a:r>
              <a:rPr lang="en-US"/>
              <a:t>, </a:t>
            </a:r>
            <a:r>
              <a:rPr lang="en-US" i="1"/>
              <a:t>Pitfall! </a:t>
            </a:r>
            <a:r>
              <a:rPr lang="en-US"/>
              <a:t>And </a:t>
            </a:r>
            <a:r>
              <a:rPr lang="en-US" i="1"/>
              <a:t>Super Mario Brothers</a:t>
            </a:r>
            <a:r>
              <a:rPr lang="en-US"/>
              <a:t>.</a:t>
            </a:r>
            <a:endParaRPr/>
          </a:p>
          <a:p>
            <a:pPr marL="0" lvl="0" indent="-17621" algn="l" rtl="0">
              <a:lnSpc>
                <a:spcPct val="90000"/>
              </a:lnSpc>
              <a:spcBef>
                <a:spcPts val="2200"/>
              </a:spcBef>
              <a:spcAft>
                <a:spcPts val="0"/>
              </a:spcAft>
              <a:buClr>
                <a:schemeClr val="dk1"/>
              </a:buClr>
              <a:buSzPts val="278"/>
              <a:buFont typeface="Quattrocento Sans"/>
              <a:buChar char=" "/>
            </a:pPr>
            <a:r>
              <a:rPr lang="en-US"/>
              <a:t>The 3D era includes platformers like </a:t>
            </a:r>
            <a:r>
              <a:rPr lang="en-US" i="1"/>
              <a:t>Super Mario 64</a:t>
            </a:r>
            <a:r>
              <a:rPr lang="en-US"/>
              <a:t>, </a:t>
            </a:r>
            <a:r>
              <a:rPr lang="en-US" i="1"/>
              <a:t>Crash Bandicoot</a:t>
            </a:r>
            <a:r>
              <a:rPr lang="en-US"/>
              <a:t>, </a:t>
            </a:r>
            <a:r>
              <a:rPr lang="en-US" i="1"/>
              <a:t>Rayman 2</a:t>
            </a:r>
            <a:r>
              <a:rPr lang="en-US"/>
              <a:t>, </a:t>
            </a:r>
            <a:r>
              <a:rPr lang="en-US" i="1"/>
              <a:t>Sonic the Hedgehog</a:t>
            </a:r>
            <a:r>
              <a:rPr lang="en-US"/>
              <a:t>, the </a:t>
            </a:r>
            <a:r>
              <a:rPr lang="en-US" i="1"/>
              <a:t>Jak and Daxter </a:t>
            </a:r>
            <a:r>
              <a:rPr lang="en-US"/>
              <a:t>series, Ratchet and Clank, Gears of War</a:t>
            </a:r>
            <a:endParaRPr/>
          </a:p>
          <a:p>
            <a:pPr marL="0" lvl="0" indent="-17621" algn="l" rtl="0">
              <a:lnSpc>
                <a:spcPct val="90000"/>
              </a:lnSpc>
              <a:spcBef>
                <a:spcPts val="2200"/>
              </a:spcBef>
              <a:spcAft>
                <a:spcPts val="0"/>
              </a:spcAft>
              <a:buClr>
                <a:schemeClr val="dk1"/>
              </a:buClr>
              <a:buSzPts val="278"/>
              <a:buFont typeface="Quattrocento Sans"/>
              <a:buChar char=" "/>
            </a:pPr>
            <a:r>
              <a:rPr lang="en-US"/>
              <a:t>Platformers can usually be lumped together with third-person shooters </a:t>
            </a:r>
            <a:endParaRPr/>
          </a:p>
          <a:p>
            <a:pPr marL="0" lvl="0" indent="-17621" algn="l" rtl="0">
              <a:lnSpc>
                <a:spcPct val="90000"/>
              </a:lnSpc>
              <a:spcBef>
                <a:spcPts val="2200"/>
              </a:spcBef>
              <a:spcAft>
                <a:spcPts val="0"/>
              </a:spcAft>
              <a:buClr>
                <a:schemeClr val="dk1"/>
              </a:buClr>
              <a:buSzPts val="278"/>
              <a:buFont typeface="Quattrocento Sans"/>
              <a:buChar char=" "/>
            </a:pPr>
            <a:r>
              <a:rPr lang="en-US"/>
              <a:t>Third-person action/adventure games like </a:t>
            </a:r>
            <a:r>
              <a:rPr lang="en-US" i="1"/>
              <a:t>Just Cause 2</a:t>
            </a:r>
            <a:r>
              <a:rPr lang="en-US"/>
              <a:t>, </a:t>
            </a:r>
            <a:r>
              <a:rPr lang="en-US" i="1"/>
              <a:t>Gears of War 4, </a:t>
            </a:r>
            <a:r>
              <a:rPr lang="en-US"/>
              <a:t>the </a:t>
            </a:r>
            <a:r>
              <a:rPr lang="en-US" i="1"/>
              <a:t>Uncharted </a:t>
            </a:r>
            <a:r>
              <a:rPr lang="en-US"/>
              <a:t>series, the </a:t>
            </a:r>
            <a:r>
              <a:rPr lang="en-US" i="1"/>
              <a:t>Resident Evil </a:t>
            </a:r>
            <a:r>
              <a:rPr lang="en-US"/>
              <a:t>series, </a:t>
            </a:r>
            <a:r>
              <a:rPr lang="en-US" i="1"/>
              <a:t>The Last of Us </a:t>
            </a:r>
            <a:r>
              <a:rPr lang="en-US"/>
              <a:t>series, </a:t>
            </a:r>
            <a:r>
              <a:rPr lang="en-US" i="1"/>
              <a:t>Red Dead Redemption 2</a:t>
            </a:r>
            <a:r>
              <a:rPr lang="en-US"/>
              <a:t>, and the list goes on.</a:t>
            </a:r>
            <a:endParaRPr/>
          </a:p>
          <a:p>
            <a:pPr marL="0" lvl="0" indent="-17621" algn="l" rtl="0">
              <a:lnSpc>
                <a:spcPct val="90000"/>
              </a:lnSpc>
              <a:spcBef>
                <a:spcPts val="2200"/>
              </a:spcBef>
              <a:spcAft>
                <a:spcPts val="0"/>
              </a:spcAft>
              <a:buClr>
                <a:schemeClr val="dk1"/>
              </a:buClr>
              <a:buSzPts val="278"/>
              <a:buFont typeface="Quattrocento Sans"/>
              <a:buChar char=" "/>
            </a:pPr>
            <a:r>
              <a:rPr lang="en-US"/>
              <a:t>In a platformer, the main character is often cartoon-like and not particularly realistic or high-resolution. </a:t>
            </a:r>
            <a:endParaRPr/>
          </a:p>
          <a:p>
            <a:pPr marL="0" lvl="0" indent="-17621" algn="l" rtl="0">
              <a:lnSpc>
                <a:spcPct val="90000"/>
              </a:lnSpc>
              <a:spcBef>
                <a:spcPts val="2200"/>
              </a:spcBef>
              <a:spcAft>
                <a:spcPts val="0"/>
              </a:spcAft>
              <a:buClr>
                <a:schemeClr val="dk1"/>
              </a:buClr>
              <a:buSzPts val="278"/>
              <a:buFont typeface="Quattrocento Sans"/>
              <a:buChar char=" "/>
            </a:pPr>
            <a:r>
              <a:rPr lang="en-US"/>
              <a:t>Third-person shooters often feature a highly realistic humanoid player character.</a:t>
            </a:r>
            <a:endParaRPr/>
          </a:p>
          <a:p>
            <a:pPr marL="0" lvl="0" indent="-17621" algn="l" rtl="0">
              <a:lnSpc>
                <a:spcPct val="90000"/>
              </a:lnSpc>
              <a:spcBef>
                <a:spcPts val="2200"/>
              </a:spcBef>
              <a:spcAft>
                <a:spcPts val="0"/>
              </a:spcAft>
              <a:buClr>
                <a:schemeClr val="dk1"/>
              </a:buClr>
              <a:buSzPts val="278"/>
              <a:buFont typeface="Quattrocento Sans"/>
              <a:buChar char=" "/>
            </a:pPr>
            <a:r>
              <a:rPr lang="en-US"/>
              <a:t>Focus on</a:t>
            </a:r>
            <a:endParaRPr/>
          </a:p>
          <a:p>
            <a:pPr marL="409576" lvl="1" indent="-7937" algn="l" rtl="0">
              <a:lnSpc>
                <a:spcPct val="90000"/>
              </a:lnSpc>
              <a:spcBef>
                <a:spcPts val="1800"/>
              </a:spcBef>
              <a:spcAft>
                <a:spcPts val="0"/>
              </a:spcAft>
              <a:buClr>
                <a:schemeClr val="dk1"/>
              </a:buClr>
              <a:buSzPct val="100000"/>
              <a:buChar char=" "/>
            </a:pPr>
            <a:r>
              <a:rPr lang="en-US"/>
              <a:t>Puzzle like elements</a:t>
            </a:r>
            <a:endParaRPr/>
          </a:p>
          <a:p>
            <a:pPr marL="409576" lvl="1" indent="-7937" algn="l" rtl="0">
              <a:lnSpc>
                <a:spcPct val="90000"/>
              </a:lnSpc>
              <a:spcBef>
                <a:spcPts val="1800"/>
              </a:spcBef>
              <a:spcAft>
                <a:spcPts val="0"/>
              </a:spcAft>
              <a:buClr>
                <a:schemeClr val="dk1"/>
              </a:buClr>
              <a:buSzPct val="100000"/>
              <a:buChar char=" "/>
            </a:pPr>
            <a:r>
              <a:rPr lang="en-US"/>
              <a:t>Moving environmental objects</a:t>
            </a:r>
            <a:endParaRPr/>
          </a:p>
          <a:p>
            <a:pPr marL="409576" lvl="1" indent="-7937" algn="l" rtl="0">
              <a:lnSpc>
                <a:spcPct val="90000"/>
              </a:lnSpc>
              <a:spcBef>
                <a:spcPts val="1800"/>
              </a:spcBef>
              <a:spcAft>
                <a:spcPts val="0"/>
              </a:spcAft>
              <a:buClr>
                <a:schemeClr val="dk1"/>
              </a:buClr>
              <a:buSzPct val="100000"/>
              <a:buChar char=" "/>
            </a:pPr>
            <a:r>
              <a:rPr lang="en-US"/>
              <a:t>Third person follow camera</a:t>
            </a:r>
            <a:endParaRPr/>
          </a:p>
          <a:p>
            <a:pPr marL="409576" lvl="1" indent="-7937" algn="l" rtl="0">
              <a:lnSpc>
                <a:spcPct val="90000"/>
              </a:lnSpc>
              <a:spcBef>
                <a:spcPts val="1800"/>
              </a:spcBef>
              <a:spcAft>
                <a:spcPts val="0"/>
              </a:spcAft>
              <a:buClr>
                <a:schemeClr val="dk1"/>
              </a:buClr>
              <a:buSzPct val="100000"/>
              <a:buChar char=" "/>
            </a:pPr>
            <a:r>
              <a:rPr lang="en-US"/>
              <a:t>Complex camera collision system</a:t>
            </a:r>
            <a:endParaRPr/>
          </a:p>
          <a:p>
            <a:pPr marL="409576" lvl="1" indent="-7937" algn="l" rtl="0">
              <a:lnSpc>
                <a:spcPct val="90000"/>
              </a:lnSpc>
              <a:spcBef>
                <a:spcPts val="1800"/>
              </a:spcBef>
              <a:spcAft>
                <a:spcPts val="0"/>
              </a:spcAft>
              <a:buClr>
                <a:schemeClr val="dk1"/>
              </a:buClr>
              <a:buSzPct val="100000"/>
              <a:buChar char=" "/>
            </a:pPr>
            <a:r>
              <a:rPr lang="en-US"/>
              <a:t>Main character’s abilities and locomotion modes</a:t>
            </a:r>
            <a:endParaRPr/>
          </a:p>
        </p:txBody>
      </p:sp>
      <p:pic>
        <p:nvPicPr>
          <p:cNvPr id="205" name="Google Shape;205;p14" descr="\\condor.ad.utulsa.edu\home\roger-mailler\Teaching\CS4033\GEA2Figures\Chapter1\fig1-3.png"/>
          <p:cNvPicPr preferRelativeResize="0"/>
          <p:nvPr/>
        </p:nvPicPr>
        <p:blipFill rotWithShape="1">
          <a:blip r:embed="rId3">
            <a:alphaModFix/>
          </a:blip>
          <a:srcRect/>
          <a:stretch/>
        </p:blipFill>
        <p:spPr>
          <a:xfrm>
            <a:off x="8472885" y="3990880"/>
            <a:ext cx="3459163" cy="2593903"/>
          </a:xfrm>
          <a:prstGeom prst="rect">
            <a:avLst/>
          </a:prstGeom>
          <a:noFill/>
          <a:ln>
            <a:noFill/>
          </a:ln>
        </p:spPr>
      </p:pic>
      <p:sp>
        <p:nvSpPr>
          <p:cNvPr id="206" name="Google Shape;206;p14"/>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13</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Fighting games</a:t>
            </a:r>
            <a:endParaRPr/>
          </a:p>
        </p:txBody>
      </p:sp>
      <p:sp>
        <p:nvSpPr>
          <p:cNvPr id="213" name="Google Shape;213;p15"/>
          <p:cNvSpPr txBox="1">
            <a:spLocks noGrp="1"/>
          </p:cNvSpPr>
          <p:nvPr>
            <p:ph type="body" idx="1"/>
          </p:nvPr>
        </p:nvSpPr>
        <p:spPr>
          <a:xfrm>
            <a:off x="604433" y="1604211"/>
            <a:ext cx="10983131" cy="4959362"/>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Games like Tekken (Figure), Fight Night, and Soul Calibur</a:t>
            </a:r>
            <a:endParaRPr/>
          </a:p>
          <a:p>
            <a:pPr marL="0" lvl="0" indent="-19050" algn="l" rtl="0">
              <a:lnSpc>
                <a:spcPct val="90000"/>
              </a:lnSpc>
              <a:spcBef>
                <a:spcPts val="2200"/>
              </a:spcBef>
              <a:spcAft>
                <a:spcPts val="0"/>
              </a:spcAft>
              <a:buClr>
                <a:schemeClr val="dk1"/>
              </a:buClr>
              <a:buSzPts val="300"/>
              <a:buFont typeface="Quattrocento Sans"/>
              <a:buChar char=" "/>
            </a:pPr>
            <a:r>
              <a:rPr lang="en-US"/>
              <a:t>Technology focus on </a:t>
            </a:r>
            <a:endParaRPr/>
          </a:p>
          <a:p>
            <a:pPr marL="409576" lvl="1" indent="-7938" algn="l" rtl="0">
              <a:lnSpc>
                <a:spcPct val="90000"/>
              </a:lnSpc>
              <a:spcBef>
                <a:spcPts val="1800"/>
              </a:spcBef>
              <a:spcAft>
                <a:spcPts val="0"/>
              </a:spcAft>
              <a:buClr>
                <a:schemeClr val="dk1"/>
              </a:buClr>
              <a:buSzPts val="1200"/>
              <a:buFont typeface="Arial"/>
              <a:buChar char="•"/>
            </a:pPr>
            <a:r>
              <a:rPr lang="en-US"/>
              <a:t>Fighting animations</a:t>
            </a:r>
            <a:endParaRPr/>
          </a:p>
          <a:p>
            <a:pPr marL="409576" lvl="1" indent="-7938" algn="l" rtl="0">
              <a:lnSpc>
                <a:spcPct val="90000"/>
              </a:lnSpc>
              <a:spcBef>
                <a:spcPts val="1800"/>
              </a:spcBef>
              <a:spcAft>
                <a:spcPts val="0"/>
              </a:spcAft>
              <a:buClr>
                <a:schemeClr val="dk1"/>
              </a:buClr>
              <a:buSzPts val="1200"/>
              <a:buFont typeface="Arial"/>
              <a:buChar char="•"/>
            </a:pPr>
            <a:r>
              <a:rPr lang="en-US"/>
              <a:t>Hit detection</a:t>
            </a:r>
            <a:endParaRPr/>
          </a:p>
          <a:p>
            <a:pPr marL="409576" lvl="1" indent="-7938" algn="l" rtl="0">
              <a:lnSpc>
                <a:spcPct val="90000"/>
              </a:lnSpc>
              <a:spcBef>
                <a:spcPts val="1800"/>
              </a:spcBef>
              <a:spcAft>
                <a:spcPts val="0"/>
              </a:spcAft>
              <a:buClr>
                <a:schemeClr val="dk1"/>
              </a:buClr>
              <a:buSzPts val="1200"/>
              <a:buFont typeface="Arial"/>
              <a:buChar char="•"/>
            </a:pPr>
            <a:r>
              <a:rPr lang="en-US"/>
              <a:t>User input system capable of detecting complex button and joystick combinations</a:t>
            </a:r>
            <a:endParaRPr/>
          </a:p>
          <a:p>
            <a:pPr marL="409576" lvl="1" indent="-7938" algn="l" rtl="0">
              <a:lnSpc>
                <a:spcPct val="90000"/>
              </a:lnSpc>
              <a:spcBef>
                <a:spcPts val="1800"/>
              </a:spcBef>
              <a:spcAft>
                <a:spcPts val="0"/>
              </a:spcAft>
              <a:buClr>
                <a:schemeClr val="dk1"/>
              </a:buClr>
              <a:buSzPts val="1200"/>
              <a:buFont typeface="Arial"/>
              <a:buChar char="•"/>
            </a:pPr>
            <a:r>
              <a:rPr lang="en-US"/>
              <a:t>Crowds</a:t>
            </a:r>
            <a:endParaRPr/>
          </a:p>
          <a:p>
            <a:pPr marL="0" lvl="0" indent="-19050" algn="l" rtl="0">
              <a:lnSpc>
                <a:spcPct val="90000"/>
              </a:lnSpc>
              <a:spcBef>
                <a:spcPts val="2200"/>
              </a:spcBef>
              <a:spcAft>
                <a:spcPts val="0"/>
              </a:spcAft>
              <a:buClr>
                <a:schemeClr val="dk1"/>
              </a:buClr>
              <a:buSzPts val="300"/>
              <a:buFont typeface="Quattrocento Sans"/>
              <a:buChar char=" "/>
            </a:pPr>
            <a:r>
              <a:rPr lang="en-US"/>
              <a:t>Modern fighting games like EA’s </a:t>
            </a:r>
            <a:r>
              <a:rPr lang="en-US" i="1"/>
              <a:t>Fight Night Round 4 </a:t>
            </a:r>
            <a:r>
              <a:rPr lang="en-US"/>
              <a:t>and NetherRealm Studios’ </a:t>
            </a:r>
            <a:r>
              <a:rPr lang="en-US" i="1"/>
              <a:t>Injustice 2 </a:t>
            </a:r>
            <a:r>
              <a:rPr lang="en-US"/>
              <a:t>have upped the technological ante with features like:</a:t>
            </a:r>
            <a:endParaRPr/>
          </a:p>
          <a:p>
            <a:pPr marL="0" lvl="0" indent="-19050" algn="l" rtl="0">
              <a:lnSpc>
                <a:spcPct val="90000"/>
              </a:lnSpc>
              <a:spcBef>
                <a:spcPts val="2200"/>
              </a:spcBef>
              <a:spcAft>
                <a:spcPts val="0"/>
              </a:spcAft>
              <a:buClr>
                <a:schemeClr val="dk1"/>
              </a:buClr>
              <a:buSzPts val="300"/>
              <a:buFont typeface="Quattrocento Sans"/>
              <a:buChar char=" "/>
            </a:pPr>
            <a:r>
              <a:rPr lang="en-US"/>
              <a:t>• high-definition character graphics;</a:t>
            </a:r>
            <a:endParaRPr/>
          </a:p>
          <a:p>
            <a:pPr marL="0" lvl="0" indent="-19050" algn="l" rtl="0">
              <a:lnSpc>
                <a:spcPct val="90000"/>
              </a:lnSpc>
              <a:spcBef>
                <a:spcPts val="2200"/>
              </a:spcBef>
              <a:spcAft>
                <a:spcPts val="0"/>
              </a:spcAft>
              <a:buClr>
                <a:schemeClr val="dk1"/>
              </a:buClr>
              <a:buSzPts val="300"/>
              <a:buFont typeface="Quattrocento Sans"/>
              <a:buChar char=" "/>
            </a:pPr>
            <a:r>
              <a:rPr lang="en-US"/>
              <a:t>• realistic skin shaders with subsurface scattering and sweat effects;</a:t>
            </a:r>
            <a:endParaRPr/>
          </a:p>
          <a:p>
            <a:pPr marL="0" lvl="0" indent="-19050" algn="l" rtl="0">
              <a:lnSpc>
                <a:spcPct val="90000"/>
              </a:lnSpc>
              <a:spcBef>
                <a:spcPts val="2200"/>
              </a:spcBef>
              <a:spcAft>
                <a:spcPts val="0"/>
              </a:spcAft>
              <a:buClr>
                <a:schemeClr val="dk1"/>
              </a:buClr>
              <a:buSzPts val="300"/>
              <a:buFont typeface="Quattrocento Sans"/>
              <a:buChar char=" "/>
            </a:pPr>
            <a:r>
              <a:rPr lang="en-US"/>
              <a:t>• photo-realistic lighting and particle effects;</a:t>
            </a:r>
            <a:endParaRPr/>
          </a:p>
          <a:p>
            <a:pPr marL="0" lvl="0" indent="-19050" algn="l" rtl="0">
              <a:lnSpc>
                <a:spcPct val="90000"/>
              </a:lnSpc>
              <a:spcBef>
                <a:spcPts val="2200"/>
              </a:spcBef>
              <a:spcAft>
                <a:spcPts val="0"/>
              </a:spcAft>
              <a:buClr>
                <a:schemeClr val="dk1"/>
              </a:buClr>
              <a:buSzPts val="300"/>
              <a:buFont typeface="Quattrocento Sans"/>
              <a:buChar char=" "/>
            </a:pPr>
            <a:r>
              <a:rPr lang="en-US"/>
              <a:t>• high-fidelity character animations; </a:t>
            </a:r>
            <a:endParaRPr/>
          </a:p>
          <a:p>
            <a:pPr marL="0" lvl="0" indent="-19050" algn="l" rtl="0">
              <a:lnSpc>
                <a:spcPct val="90000"/>
              </a:lnSpc>
              <a:spcBef>
                <a:spcPts val="2200"/>
              </a:spcBef>
              <a:spcAft>
                <a:spcPts val="0"/>
              </a:spcAft>
              <a:buClr>
                <a:schemeClr val="dk1"/>
              </a:buClr>
              <a:buSzPts val="300"/>
              <a:buFont typeface="Quattrocento Sans"/>
              <a:buChar char=" "/>
            </a:pPr>
            <a:r>
              <a:rPr lang="en-US"/>
              <a:t>• physics-based cloth and hair simulations for the characters.</a:t>
            </a:r>
            <a:endParaRPr/>
          </a:p>
        </p:txBody>
      </p:sp>
      <p:pic>
        <p:nvPicPr>
          <p:cNvPr id="214" name="Google Shape;214;p15" descr="\\condor.ad.utulsa.edu\home\roger-mailler\Teaching\CS4033\GEA2Figures\Chapter1\fig1-5.png"/>
          <p:cNvPicPr preferRelativeResize="0"/>
          <p:nvPr/>
        </p:nvPicPr>
        <p:blipFill rotWithShape="1">
          <a:blip r:embed="rId3">
            <a:alphaModFix/>
          </a:blip>
          <a:srcRect/>
          <a:stretch/>
        </p:blipFill>
        <p:spPr>
          <a:xfrm>
            <a:off x="9246001" y="1314950"/>
            <a:ext cx="2341563" cy="2193925"/>
          </a:xfrm>
          <a:prstGeom prst="rect">
            <a:avLst/>
          </a:prstGeom>
          <a:noFill/>
          <a:ln>
            <a:noFill/>
          </a:ln>
        </p:spPr>
      </p:pic>
      <p:sp>
        <p:nvSpPr>
          <p:cNvPr id="215" name="Google Shape;215;p15"/>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14</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Racing games</a:t>
            </a:r>
            <a:endParaRPr/>
          </a:p>
        </p:txBody>
      </p:sp>
      <p:sp>
        <p:nvSpPr>
          <p:cNvPr id="222" name="Google Shape;222;p16"/>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The genre has many subcategories:</a:t>
            </a:r>
            <a:endParaRPr/>
          </a:p>
          <a:p>
            <a:pPr marL="0" lvl="0" indent="0" algn="l" rtl="0">
              <a:lnSpc>
                <a:spcPct val="90000"/>
              </a:lnSpc>
              <a:spcBef>
                <a:spcPts val="2200"/>
              </a:spcBef>
              <a:spcAft>
                <a:spcPts val="0"/>
              </a:spcAft>
              <a:buClr>
                <a:schemeClr val="dk1"/>
              </a:buClr>
              <a:buSzPts val="300"/>
              <a:buNone/>
            </a:pPr>
            <a:r>
              <a:rPr lang="en-US"/>
              <a:t>Simulation-focused racing games (“sims”) aim to provide a driving experience that is as realistic as possible (e.g., </a:t>
            </a:r>
            <a:r>
              <a:rPr lang="en-US" i="1"/>
              <a:t>Gran Turismo</a:t>
            </a:r>
            <a:r>
              <a:rPr lang="en-US"/>
              <a:t>).</a:t>
            </a:r>
            <a:endParaRPr/>
          </a:p>
          <a:p>
            <a:pPr marL="0" lvl="0" indent="-19050" algn="l" rtl="0">
              <a:lnSpc>
                <a:spcPct val="90000"/>
              </a:lnSpc>
              <a:spcBef>
                <a:spcPts val="2200"/>
              </a:spcBef>
              <a:spcAft>
                <a:spcPts val="0"/>
              </a:spcAft>
              <a:buClr>
                <a:schemeClr val="dk1"/>
              </a:buClr>
              <a:buSzPts val="300"/>
              <a:buFont typeface="Quattrocento Sans"/>
              <a:buChar char=" "/>
            </a:pPr>
            <a:r>
              <a:rPr lang="en-US"/>
              <a:t>Arcade racers favor over-the-top fun over realism (e.g., </a:t>
            </a:r>
            <a:r>
              <a:rPr lang="en-US" i="1"/>
              <a:t>San Francisco Rush</a:t>
            </a:r>
            <a:r>
              <a:rPr lang="en-US"/>
              <a:t>, </a:t>
            </a:r>
            <a:r>
              <a:rPr lang="en-US" i="1"/>
              <a:t>Cruis’n USA</a:t>
            </a:r>
            <a:r>
              <a:rPr lang="en-US"/>
              <a:t>, </a:t>
            </a:r>
            <a:r>
              <a:rPr lang="en-US" i="1"/>
              <a:t>Hydro Thunder</a:t>
            </a:r>
            <a:r>
              <a:rPr lang="en-US"/>
              <a:t>).</a:t>
            </a:r>
            <a:endParaRPr/>
          </a:p>
          <a:p>
            <a:pPr marL="0" lvl="0" indent="-19050" algn="l" rtl="0">
              <a:lnSpc>
                <a:spcPct val="90000"/>
              </a:lnSpc>
              <a:spcBef>
                <a:spcPts val="2200"/>
              </a:spcBef>
              <a:spcAft>
                <a:spcPts val="0"/>
              </a:spcAft>
              <a:buClr>
                <a:schemeClr val="dk1"/>
              </a:buClr>
              <a:buSzPts val="300"/>
              <a:buFont typeface="Quattrocento Sans"/>
              <a:buChar char=" "/>
            </a:pPr>
            <a:r>
              <a:rPr lang="en-US"/>
              <a:t>Street racing with tricked out consumer vehicles (e.g., </a:t>
            </a:r>
            <a:r>
              <a:rPr lang="en-US" i="1"/>
              <a:t>Need for Speed</a:t>
            </a:r>
            <a:r>
              <a:rPr lang="en-US"/>
              <a:t>, </a:t>
            </a:r>
            <a:r>
              <a:rPr lang="en-US" i="1"/>
              <a:t>Juiced</a:t>
            </a:r>
            <a:r>
              <a:rPr lang="en-US"/>
              <a:t>).</a:t>
            </a:r>
            <a:endParaRPr/>
          </a:p>
          <a:p>
            <a:pPr marL="0" lvl="0" indent="-19050" algn="l" rtl="0">
              <a:lnSpc>
                <a:spcPct val="90000"/>
              </a:lnSpc>
              <a:spcBef>
                <a:spcPts val="2200"/>
              </a:spcBef>
              <a:spcAft>
                <a:spcPts val="0"/>
              </a:spcAft>
              <a:buClr>
                <a:schemeClr val="dk1"/>
              </a:buClr>
              <a:buSzPts val="300"/>
              <a:buFont typeface="Quattrocento Sans"/>
              <a:buChar char=" "/>
            </a:pPr>
            <a:r>
              <a:rPr lang="en-US"/>
              <a:t>Kart racing is a subcategory in which popular characters from platformer games or cartoon characters from TV are re-cast as the drivers of whacky vehicles (e.g., </a:t>
            </a:r>
            <a:r>
              <a:rPr lang="en-US" i="1"/>
              <a:t>Mario Kart</a:t>
            </a:r>
            <a:r>
              <a:rPr lang="en-US"/>
              <a:t>, </a:t>
            </a:r>
            <a:r>
              <a:rPr lang="en-US" i="1"/>
              <a:t>Jak X</a:t>
            </a:r>
            <a:r>
              <a:rPr lang="en-US"/>
              <a:t>, </a:t>
            </a:r>
            <a:r>
              <a:rPr lang="en-US" i="1"/>
              <a:t>Freaky Flyers</a:t>
            </a:r>
            <a:r>
              <a:rPr lang="en-US"/>
              <a:t>).</a:t>
            </a:r>
            <a:endParaRPr/>
          </a:p>
          <a:p>
            <a:pPr marL="0" lvl="0" indent="-19050" algn="l" rtl="0">
              <a:lnSpc>
                <a:spcPct val="90000"/>
              </a:lnSpc>
              <a:spcBef>
                <a:spcPts val="2200"/>
              </a:spcBef>
              <a:spcAft>
                <a:spcPts val="0"/>
              </a:spcAft>
              <a:buClr>
                <a:schemeClr val="dk1"/>
              </a:buClr>
              <a:buSzPts val="300"/>
              <a:buFont typeface="Quattrocento Sans"/>
              <a:buChar char=" "/>
            </a:pPr>
            <a:r>
              <a:rPr lang="en-US"/>
              <a:t>Technology tricks include</a:t>
            </a:r>
            <a:endParaRPr/>
          </a:p>
          <a:p>
            <a:pPr marL="409576" lvl="1" indent="-7938" algn="l" rtl="0">
              <a:lnSpc>
                <a:spcPct val="90000"/>
              </a:lnSpc>
              <a:spcBef>
                <a:spcPts val="1800"/>
              </a:spcBef>
              <a:spcAft>
                <a:spcPts val="0"/>
              </a:spcAft>
              <a:buClr>
                <a:schemeClr val="dk1"/>
              </a:buClr>
              <a:buSzPts val="1200"/>
              <a:buChar char=" "/>
            </a:pPr>
            <a:r>
              <a:rPr lang="en-US"/>
              <a:t>Using simple cards for background objects</a:t>
            </a:r>
            <a:endParaRPr/>
          </a:p>
          <a:p>
            <a:pPr marL="409576" lvl="1" indent="-7938" algn="l" rtl="0">
              <a:lnSpc>
                <a:spcPct val="90000"/>
              </a:lnSpc>
              <a:spcBef>
                <a:spcPts val="1800"/>
              </a:spcBef>
              <a:spcAft>
                <a:spcPts val="0"/>
              </a:spcAft>
              <a:buClr>
                <a:schemeClr val="dk1"/>
              </a:buClr>
              <a:buSzPts val="1200"/>
              <a:buChar char=" "/>
            </a:pPr>
            <a:r>
              <a:rPr lang="en-US"/>
              <a:t>Track is broken down into sectors(2D regions)</a:t>
            </a:r>
            <a:endParaRPr/>
          </a:p>
          <a:p>
            <a:pPr marL="409576" lvl="1" indent="-7938" algn="l" rtl="0">
              <a:lnSpc>
                <a:spcPct val="90000"/>
              </a:lnSpc>
              <a:spcBef>
                <a:spcPts val="1800"/>
              </a:spcBef>
              <a:spcAft>
                <a:spcPts val="0"/>
              </a:spcAft>
              <a:buClr>
                <a:schemeClr val="dk1"/>
              </a:buClr>
              <a:buSzPts val="1200"/>
              <a:buChar char=" "/>
            </a:pPr>
            <a:r>
              <a:rPr lang="en-US"/>
              <a:t>Third-person and first person cameras</a:t>
            </a:r>
            <a:endParaRPr/>
          </a:p>
          <a:p>
            <a:pPr marL="409576" lvl="1" indent="-7938" algn="l" rtl="0">
              <a:lnSpc>
                <a:spcPct val="90000"/>
              </a:lnSpc>
              <a:spcBef>
                <a:spcPts val="1800"/>
              </a:spcBef>
              <a:spcAft>
                <a:spcPts val="0"/>
              </a:spcAft>
              <a:buClr>
                <a:schemeClr val="dk1"/>
              </a:buClr>
              <a:buSzPts val="1200"/>
              <a:buChar char=" "/>
            </a:pPr>
            <a:r>
              <a:rPr lang="en-US"/>
              <a:t>Camera collision with background geometry</a:t>
            </a:r>
            <a:endParaRPr/>
          </a:p>
        </p:txBody>
      </p:sp>
      <p:pic>
        <p:nvPicPr>
          <p:cNvPr id="223" name="Google Shape;223;p16" descr="\\condor.ad.utulsa.edu\home\roger-mailler\Teaching\CS4033\GEA2Figures\Chapter1\fig1-7.jpg"/>
          <p:cNvPicPr preferRelativeResize="0"/>
          <p:nvPr/>
        </p:nvPicPr>
        <p:blipFill rotWithShape="1">
          <a:blip r:embed="rId3">
            <a:alphaModFix/>
          </a:blip>
          <a:srcRect/>
          <a:stretch/>
        </p:blipFill>
        <p:spPr>
          <a:xfrm>
            <a:off x="4953001" y="3886200"/>
            <a:ext cx="4303713" cy="2420938"/>
          </a:xfrm>
          <a:prstGeom prst="rect">
            <a:avLst/>
          </a:prstGeom>
          <a:noFill/>
          <a:ln>
            <a:noFill/>
          </a:ln>
        </p:spPr>
      </p:pic>
      <p:sp>
        <p:nvSpPr>
          <p:cNvPr id="224" name="Google Shape;224;p16"/>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15</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7"/>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Real-time strategy</a:t>
            </a:r>
            <a:endParaRPr/>
          </a:p>
        </p:txBody>
      </p:sp>
      <p:sp>
        <p:nvSpPr>
          <p:cNvPr id="231" name="Google Shape;231;p17"/>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In this genre, the player deploys the battle units in his or her arsenal strategically across a large playing field </a:t>
            </a:r>
            <a:endParaRPr/>
          </a:p>
          <a:p>
            <a:pPr marL="0" lvl="0" indent="-19050" algn="l" rtl="0">
              <a:lnSpc>
                <a:spcPct val="90000"/>
              </a:lnSpc>
              <a:spcBef>
                <a:spcPts val="2200"/>
              </a:spcBef>
              <a:spcAft>
                <a:spcPts val="0"/>
              </a:spcAft>
              <a:buClr>
                <a:schemeClr val="dk1"/>
              </a:buClr>
              <a:buSzPts val="300"/>
              <a:buFont typeface="Quattrocento Sans"/>
              <a:buChar char=" "/>
            </a:pPr>
            <a:r>
              <a:rPr lang="en-US"/>
              <a:t>in an attempt to overwhelm his or her opponent. </a:t>
            </a:r>
            <a:endParaRPr/>
          </a:p>
          <a:p>
            <a:pPr marL="0" lvl="0" indent="-19050" algn="l" rtl="0">
              <a:lnSpc>
                <a:spcPct val="90000"/>
              </a:lnSpc>
              <a:spcBef>
                <a:spcPts val="2200"/>
              </a:spcBef>
              <a:spcAft>
                <a:spcPts val="0"/>
              </a:spcAft>
              <a:buClr>
                <a:schemeClr val="dk1"/>
              </a:buClr>
              <a:buSzPts val="300"/>
              <a:buFont typeface="Quattrocento Sans"/>
              <a:buChar char=" "/>
            </a:pPr>
            <a:r>
              <a:rPr lang="en-US"/>
              <a:t>The modern strategy game genre was arguably defined by </a:t>
            </a:r>
            <a:r>
              <a:rPr lang="en-US" i="1"/>
              <a:t>Dune II: The Building of a Dynasty </a:t>
            </a:r>
            <a:r>
              <a:rPr lang="en-US"/>
              <a:t>(1992). </a:t>
            </a:r>
            <a:endParaRPr/>
          </a:p>
          <a:p>
            <a:pPr marL="0" lvl="0" indent="-19050" algn="l" rtl="0">
              <a:lnSpc>
                <a:spcPct val="90000"/>
              </a:lnSpc>
              <a:spcBef>
                <a:spcPts val="2200"/>
              </a:spcBef>
              <a:spcAft>
                <a:spcPts val="0"/>
              </a:spcAft>
              <a:buClr>
                <a:schemeClr val="dk1"/>
              </a:buClr>
              <a:buSzPts val="300"/>
              <a:buFont typeface="Quattrocento Sans"/>
              <a:buChar char=" "/>
            </a:pPr>
            <a:r>
              <a:rPr lang="en-US"/>
              <a:t>Other games include </a:t>
            </a:r>
            <a:r>
              <a:rPr lang="en-US" i="1"/>
              <a:t>Warcraft</a:t>
            </a:r>
            <a:r>
              <a:rPr lang="en-US"/>
              <a:t>, </a:t>
            </a:r>
            <a:r>
              <a:rPr lang="en-US" i="1"/>
              <a:t>Command &amp; Conquer</a:t>
            </a:r>
            <a:r>
              <a:rPr lang="en-US"/>
              <a:t>, </a:t>
            </a:r>
            <a:r>
              <a:rPr lang="en-US" i="1">
                <a:highlight>
                  <a:srgbClr val="FFFF00"/>
                </a:highlight>
              </a:rPr>
              <a:t>Age of Empires(figure) </a:t>
            </a:r>
            <a:r>
              <a:rPr lang="en-US"/>
              <a:t>and </a:t>
            </a:r>
            <a:r>
              <a:rPr lang="en-US" i="1"/>
              <a:t>Starcraft</a:t>
            </a:r>
            <a:r>
              <a:rPr lang="en-US"/>
              <a:t>.</a:t>
            </a:r>
            <a:endParaRPr/>
          </a:p>
          <a:p>
            <a:pPr marL="0" lvl="0" indent="-19050" algn="l" rtl="0">
              <a:lnSpc>
                <a:spcPct val="90000"/>
              </a:lnSpc>
              <a:spcBef>
                <a:spcPts val="2200"/>
              </a:spcBef>
              <a:spcAft>
                <a:spcPts val="0"/>
              </a:spcAft>
              <a:buClr>
                <a:schemeClr val="dk1"/>
              </a:buClr>
              <a:buSzPts val="300"/>
              <a:buFont typeface="Quattrocento Sans"/>
              <a:buChar char=" "/>
            </a:pPr>
            <a:r>
              <a:rPr lang="en-US"/>
              <a:t>Technology involves</a:t>
            </a:r>
            <a:endParaRPr/>
          </a:p>
          <a:p>
            <a:pPr marL="0" lvl="0" indent="-19050" algn="l" rtl="0">
              <a:lnSpc>
                <a:spcPct val="90000"/>
              </a:lnSpc>
              <a:spcBef>
                <a:spcPts val="2200"/>
              </a:spcBef>
              <a:spcAft>
                <a:spcPts val="0"/>
              </a:spcAft>
              <a:buClr>
                <a:schemeClr val="dk1"/>
              </a:buClr>
              <a:buSzPts val="300"/>
              <a:buFont typeface="Quattrocento Sans"/>
              <a:buChar char=" "/>
            </a:pPr>
            <a:r>
              <a:rPr lang="en-US"/>
              <a:t>• Each unit is relatively low-res, so that the game can support large numbers of them on-screen at once.</a:t>
            </a:r>
            <a:endParaRPr/>
          </a:p>
          <a:p>
            <a:pPr marL="0" lvl="0" indent="-19050" algn="l" rtl="0">
              <a:lnSpc>
                <a:spcPct val="90000"/>
              </a:lnSpc>
              <a:spcBef>
                <a:spcPts val="2200"/>
              </a:spcBef>
              <a:spcAft>
                <a:spcPts val="0"/>
              </a:spcAft>
              <a:buClr>
                <a:schemeClr val="dk1"/>
              </a:buClr>
              <a:buSzPts val="300"/>
              <a:buFont typeface="Quattrocento Sans"/>
              <a:buChar char=" "/>
            </a:pPr>
            <a:r>
              <a:rPr lang="en-US"/>
              <a:t>• Height-field terrain is usually the canvas upon which the game is designed and played.</a:t>
            </a:r>
            <a:endParaRPr/>
          </a:p>
          <a:p>
            <a:pPr marL="0" lvl="0" indent="-19050" algn="l" rtl="0">
              <a:lnSpc>
                <a:spcPct val="90000"/>
              </a:lnSpc>
              <a:spcBef>
                <a:spcPts val="2200"/>
              </a:spcBef>
              <a:spcAft>
                <a:spcPts val="0"/>
              </a:spcAft>
              <a:buClr>
                <a:schemeClr val="dk1"/>
              </a:buClr>
              <a:buSzPts val="300"/>
              <a:buFont typeface="Quattrocento Sans"/>
              <a:buChar char=" "/>
            </a:pPr>
            <a:r>
              <a:rPr lang="en-US"/>
              <a:t>• The player is often allowed to build new structures on the terrain in addition to deploying his or her forces.</a:t>
            </a:r>
            <a:endParaRPr/>
          </a:p>
          <a:p>
            <a:pPr marL="0" lvl="0" indent="-19050" algn="l" rtl="0">
              <a:lnSpc>
                <a:spcPct val="90000"/>
              </a:lnSpc>
              <a:spcBef>
                <a:spcPts val="2200"/>
              </a:spcBef>
              <a:spcAft>
                <a:spcPts val="0"/>
              </a:spcAft>
              <a:buClr>
                <a:schemeClr val="dk1"/>
              </a:buClr>
              <a:buSzPts val="300"/>
              <a:buFont typeface="Quattrocento Sans"/>
              <a:buChar char=" "/>
            </a:pPr>
            <a:r>
              <a:rPr lang="en-US"/>
              <a:t>• User interaction is typically via single-click and area-based selection of units, plus menus or toolbars containing commands, equipment, unit types, building types, etc.</a:t>
            </a:r>
            <a:endParaRPr/>
          </a:p>
        </p:txBody>
      </p:sp>
      <p:pic>
        <p:nvPicPr>
          <p:cNvPr id="232" name="Google Shape;232;p17" descr="\\condor.ad.utulsa.edu\home\roger-mailler\Teaching\CS4033\GEA2Figures\Chapter1\fig1-8.png"/>
          <p:cNvPicPr preferRelativeResize="0"/>
          <p:nvPr/>
        </p:nvPicPr>
        <p:blipFill rotWithShape="1">
          <a:blip r:embed="rId3">
            <a:alphaModFix/>
          </a:blip>
          <a:srcRect/>
          <a:stretch/>
        </p:blipFill>
        <p:spPr>
          <a:xfrm>
            <a:off x="8046615" y="1298131"/>
            <a:ext cx="3505200" cy="2628900"/>
          </a:xfrm>
          <a:prstGeom prst="rect">
            <a:avLst/>
          </a:prstGeom>
          <a:noFill/>
          <a:ln>
            <a:noFill/>
          </a:ln>
        </p:spPr>
      </p:pic>
      <p:sp>
        <p:nvSpPr>
          <p:cNvPr id="233" name="Google Shape;233;p17"/>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16</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Massively Multiplayer Online Games (MMOG)</a:t>
            </a:r>
            <a:endParaRPr/>
          </a:p>
        </p:txBody>
      </p:sp>
      <p:sp>
        <p:nvSpPr>
          <p:cNvPr id="240" name="Google Shape;240;p18"/>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i="1"/>
              <a:t>Guild Wars 2 </a:t>
            </a:r>
            <a:r>
              <a:rPr lang="en-US"/>
              <a:t>(AreaNet/NCsoft), </a:t>
            </a:r>
            <a:r>
              <a:rPr lang="en-US" i="1"/>
              <a:t>EverQuest </a:t>
            </a:r>
            <a:r>
              <a:rPr lang="en-US"/>
              <a:t>(989 Studios/SOE), </a:t>
            </a:r>
            <a:r>
              <a:rPr lang="en-US" i="1"/>
              <a:t>World of Warcraft </a:t>
            </a:r>
            <a:r>
              <a:rPr lang="en-US"/>
              <a:t>(Blizzard) and </a:t>
            </a:r>
            <a:r>
              <a:rPr lang="en-US" i="1"/>
              <a:t>Star Wars Galaxies </a:t>
            </a:r>
            <a:r>
              <a:rPr lang="en-US"/>
              <a:t>(SOE/Lucas Arts)</a:t>
            </a:r>
            <a:endParaRPr/>
          </a:p>
          <a:p>
            <a:pPr marL="0" lvl="0" indent="-19050" algn="l" rtl="0">
              <a:lnSpc>
                <a:spcPct val="90000"/>
              </a:lnSpc>
              <a:spcBef>
                <a:spcPts val="2200"/>
              </a:spcBef>
              <a:spcAft>
                <a:spcPts val="0"/>
              </a:spcAft>
              <a:buClr>
                <a:schemeClr val="dk1"/>
              </a:buClr>
              <a:buSzPts val="300"/>
              <a:buFont typeface="Quattrocento Sans"/>
              <a:buChar char=" "/>
            </a:pPr>
            <a:r>
              <a:rPr lang="en-US"/>
              <a:t>MMOG supports huge numbers of simultaneous players (from thousands to hundreds of thousands), usually all playing in one very large, </a:t>
            </a:r>
            <a:r>
              <a:rPr lang="en-US" i="1"/>
              <a:t>persistent </a:t>
            </a:r>
            <a:r>
              <a:rPr lang="en-US"/>
              <a:t>virtual world</a:t>
            </a:r>
            <a:endParaRPr/>
          </a:p>
          <a:p>
            <a:pPr marL="0" lvl="0" indent="-19050" algn="l" rtl="0">
              <a:lnSpc>
                <a:spcPct val="90000"/>
              </a:lnSpc>
              <a:spcBef>
                <a:spcPts val="2200"/>
              </a:spcBef>
              <a:spcAft>
                <a:spcPts val="0"/>
              </a:spcAft>
              <a:buClr>
                <a:schemeClr val="dk1"/>
              </a:buClr>
              <a:buSzPts val="300"/>
              <a:buFont typeface="Quattrocento Sans"/>
              <a:buChar char=" "/>
            </a:pPr>
            <a:r>
              <a:rPr lang="en-US"/>
              <a:t>Very powerful battery of servers</a:t>
            </a:r>
            <a:endParaRPr/>
          </a:p>
          <a:p>
            <a:pPr marL="0" lvl="0" indent="-19050" algn="l" rtl="0">
              <a:lnSpc>
                <a:spcPct val="90000"/>
              </a:lnSpc>
              <a:spcBef>
                <a:spcPts val="2200"/>
              </a:spcBef>
              <a:spcAft>
                <a:spcPts val="0"/>
              </a:spcAft>
              <a:buClr>
                <a:schemeClr val="dk1"/>
              </a:buClr>
              <a:buSzPts val="300"/>
              <a:buFont typeface="Quattrocento Sans"/>
              <a:buChar char=" "/>
            </a:pPr>
            <a:r>
              <a:rPr lang="en-US"/>
              <a:t>These servers maintain the authoritative state of the game world, manage users signing in and out of the game, provide inter-user chat or voice-over-IP (VoIP) services and more.</a:t>
            </a:r>
            <a:endParaRPr/>
          </a:p>
          <a:p>
            <a:pPr marL="0" lvl="0" indent="-19050" algn="l" rtl="0">
              <a:lnSpc>
                <a:spcPct val="90000"/>
              </a:lnSpc>
              <a:spcBef>
                <a:spcPts val="2200"/>
              </a:spcBef>
              <a:spcAft>
                <a:spcPts val="0"/>
              </a:spcAft>
              <a:buClr>
                <a:schemeClr val="dk1"/>
              </a:buClr>
              <a:buSzPts val="300"/>
              <a:buFont typeface="Quattrocento Sans"/>
              <a:buChar char=" "/>
            </a:pPr>
            <a:r>
              <a:rPr lang="en-US"/>
              <a:t>Graphics fidelity in an MMO is almost always lower than its non-massively multiplayer counterparts</a:t>
            </a:r>
            <a:endParaRPr/>
          </a:p>
          <a:p>
            <a:pPr marL="0" lvl="0" indent="-19050" algn="l" rtl="0">
              <a:lnSpc>
                <a:spcPct val="90000"/>
              </a:lnSpc>
              <a:spcBef>
                <a:spcPts val="2200"/>
              </a:spcBef>
              <a:spcAft>
                <a:spcPts val="0"/>
              </a:spcAft>
              <a:buClr>
                <a:schemeClr val="dk1"/>
              </a:buClr>
              <a:buSzPts val="300"/>
              <a:buFont typeface="Quattrocento Sans"/>
              <a:buChar char=" "/>
            </a:pPr>
            <a:r>
              <a:rPr lang="en-US"/>
              <a:t>Figure shows a screen from Bungie’s FPS game, </a:t>
            </a:r>
            <a:r>
              <a:rPr lang="en-US" i="1"/>
              <a:t>Destiny </a:t>
            </a:r>
            <a:endParaRPr/>
          </a:p>
          <a:p>
            <a:pPr marL="0" lvl="0" indent="-19050" algn="l" rtl="0">
              <a:lnSpc>
                <a:spcPct val="90000"/>
              </a:lnSpc>
              <a:spcBef>
                <a:spcPts val="2200"/>
              </a:spcBef>
              <a:spcAft>
                <a:spcPts val="0"/>
              </a:spcAft>
              <a:buClr>
                <a:schemeClr val="dk1"/>
              </a:buClr>
              <a:buSzPts val="300"/>
              <a:buFont typeface="Quattrocento Sans"/>
              <a:buChar char=" "/>
            </a:pPr>
            <a:r>
              <a:rPr lang="en-US" i="1"/>
              <a:t>Destiny </a:t>
            </a:r>
            <a:r>
              <a:rPr lang="en-US"/>
              <a:t>has been called an MMOFPS because it incorporates some aspects of the MMO genre.</a:t>
            </a:r>
            <a:endParaRPr sz="2000"/>
          </a:p>
        </p:txBody>
      </p:sp>
      <p:pic>
        <p:nvPicPr>
          <p:cNvPr id="241" name="Google Shape;241;p18" descr="\\condor.ad.utulsa.edu\home\roger-mailler\Teaching\CS4033\GEA2Figures\Chapter1\fig1-11.png"/>
          <p:cNvPicPr preferRelativeResize="0"/>
          <p:nvPr/>
        </p:nvPicPr>
        <p:blipFill rotWithShape="1">
          <a:blip r:embed="rId3">
            <a:alphaModFix/>
          </a:blip>
          <a:srcRect/>
          <a:stretch/>
        </p:blipFill>
        <p:spPr>
          <a:xfrm>
            <a:off x="8015011" y="4390858"/>
            <a:ext cx="3902075" cy="2193925"/>
          </a:xfrm>
          <a:prstGeom prst="rect">
            <a:avLst/>
          </a:prstGeom>
          <a:noFill/>
          <a:ln>
            <a:noFill/>
          </a:ln>
        </p:spPr>
      </p:pic>
      <p:sp>
        <p:nvSpPr>
          <p:cNvPr id="242" name="Google Shape;242;p18"/>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17</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Player-authored content</a:t>
            </a:r>
            <a:endParaRPr/>
          </a:p>
        </p:txBody>
      </p:sp>
      <p:sp>
        <p:nvSpPr>
          <p:cNvPr id="248" name="Google Shape;248;p19"/>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As social media takes off, games are becoming more and more collaborative in nature.</a:t>
            </a:r>
            <a:endParaRPr/>
          </a:p>
          <a:p>
            <a:pPr marL="0" lvl="0" indent="-19050" algn="l" rtl="0">
              <a:lnSpc>
                <a:spcPct val="90000"/>
              </a:lnSpc>
              <a:spcBef>
                <a:spcPts val="2200"/>
              </a:spcBef>
              <a:spcAft>
                <a:spcPts val="0"/>
              </a:spcAft>
              <a:buClr>
                <a:schemeClr val="dk1"/>
              </a:buClr>
              <a:buSzPts val="300"/>
              <a:buFont typeface="Quattrocento Sans"/>
              <a:buChar char=" "/>
            </a:pPr>
            <a:r>
              <a:rPr lang="en-US"/>
              <a:t>A recent trend in game design is toward </a:t>
            </a:r>
            <a:r>
              <a:rPr lang="en-US" i="1"/>
              <a:t>player-authored content</a:t>
            </a:r>
            <a:endParaRPr/>
          </a:p>
          <a:p>
            <a:pPr marL="0" lvl="0" indent="-19050" algn="l" rtl="0">
              <a:lnSpc>
                <a:spcPct val="90000"/>
              </a:lnSpc>
              <a:spcBef>
                <a:spcPts val="2200"/>
              </a:spcBef>
              <a:spcAft>
                <a:spcPts val="0"/>
              </a:spcAft>
              <a:buClr>
                <a:schemeClr val="dk1"/>
              </a:buClr>
              <a:buSzPts val="300"/>
              <a:buFont typeface="Quattrocento Sans"/>
              <a:buChar char=" "/>
            </a:pPr>
            <a:r>
              <a:rPr lang="en-US"/>
              <a:t>For example, Media Molecule’s </a:t>
            </a:r>
            <a:r>
              <a:rPr lang="en-US" i="1"/>
              <a:t>LittleBigPlanet™ 3: The Journey Home </a:t>
            </a:r>
            <a:r>
              <a:rPr lang="en-US"/>
              <a:t>are technically </a:t>
            </a:r>
            <a:r>
              <a:rPr lang="en-US" i="1"/>
              <a:t>puzzle platformers</a:t>
            </a:r>
            <a:r>
              <a:rPr lang="en-US"/>
              <a:t>, but they encourage players to create,</a:t>
            </a:r>
            <a:endParaRPr/>
          </a:p>
          <a:p>
            <a:pPr marL="0" lvl="0" indent="-19050" algn="l" rtl="0">
              <a:lnSpc>
                <a:spcPct val="90000"/>
              </a:lnSpc>
              <a:spcBef>
                <a:spcPts val="2200"/>
              </a:spcBef>
              <a:spcAft>
                <a:spcPts val="0"/>
              </a:spcAft>
              <a:buClr>
                <a:schemeClr val="dk1"/>
              </a:buClr>
              <a:buSzPts val="300"/>
              <a:buFont typeface="Quattrocento Sans"/>
              <a:buChar char=" "/>
            </a:pPr>
            <a:r>
              <a:rPr lang="en-US"/>
              <a:t>publish and share their own game worlds. </a:t>
            </a:r>
            <a:endParaRPr/>
          </a:p>
          <a:p>
            <a:pPr marL="0" lvl="0" indent="-19050" algn="l" rtl="0">
              <a:lnSpc>
                <a:spcPct val="90000"/>
              </a:lnSpc>
              <a:spcBef>
                <a:spcPts val="2200"/>
              </a:spcBef>
              <a:spcAft>
                <a:spcPts val="0"/>
              </a:spcAft>
              <a:buClr>
                <a:schemeClr val="dk1"/>
              </a:buClr>
              <a:buSzPts val="300"/>
              <a:buFont typeface="Quattrocento Sans"/>
              <a:buChar char=" "/>
            </a:pPr>
            <a:r>
              <a:rPr lang="en-US"/>
              <a:t>Media Molecule’s latest installment in this engaging genre is </a:t>
            </a:r>
            <a:r>
              <a:rPr lang="en-US" i="1"/>
              <a:t>Dreams </a:t>
            </a:r>
            <a:r>
              <a:rPr lang="en-US"/>
              <a:t>for the PlayStation 4</a:t>
            </a:r>
            <a:endParaRPr/>
          </a:p>
          <a:p>
            <a:pPr marL="0" lvl="0" indent="-19050" algn="l" rtl="0">
              <a:lnSpc>
                <a:spcPct val="90000"/>
              </a:lnSpc>
              <a:spcBef>
                <a:spcPts val="2200"/>
              </a:spcBef>
              <a:spcAft>
                <a:spcPts val="0"/>
              </a:spcAft>
              <a:buClr>
                <a:schemeClr val="dk1"/>
              </a:buClr>
              <a:buSzPts val="300"/>
              <a:buFont typeface="Quattrocento Sans"/>
              <a:buChar char=" "/>
            </a:pPr>
            <a:r>
              <a:rPr lang="en-US"/>
              <a:t>The most popular game today in the player-created content genre is </a:t>
            </a:r>
            <a:r>
              <a:rPr lang="en-US" i="1"/>
              <a:t>Minecraft</a:t>
            </a:r>
            <a:endParaRPr/>
          </a:p>
        </p:txBody>
      </p:sp>
      <p:pic>
        <p:nvPicPr>
          <p:cNvPr id="249" name="Google Shape;249;p19" descr="\\condor.ad.utulsa.edu\home\roger-mailler\Teaching\CS4033\GEA2Figures\Chapter1\fig1-14.png"/>
          <p:cNvPicPr preferRelativeResize="0"/>
          <p:nvPr/>
        </p:nvPicPr>
        <p:blipFill rotWithShape="1">
          <a:blip r:embed="rId3">
            <a:alphaModFix/>
          </a:blip>
          <a:srcRect/>
          <a:stretch/>
        </p:blipFill>
        <p:spPr>
          <a:xfrm>
            <a:off x="5486400" y="4191001"/>
            <a:ext cx="3905250" cy="2193925"/>
          </a:xfrm>
          <a:prstGeom prst="rect">
            <a:avLst/>
          </a:prstGeom>
          <a:noFill/>
          <a:ln>
            <a:noFill/>
          </a:ln>
        </p:spPr>
      </p:pic>
      <p:sp>
        <p:nvSpPr>
          <p:cNvPr id="250" name="Google Shape;250;p19"/>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18</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0"/>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Virtual Reality</a:t>
            </a:r>
            <a:endParaRPr/>
          </a:p>
        </p:txBody>
      </p:sp>
      <p:grpSp>
        <p:nvGrpSpPr>
          <p:cNvPr id="257" name="Google Shape;257;p20"/>
          <p:cNvGrpSpPr/>
          <p:nvPr/>
        </p:nvGrpSpPr>
        <p:grpSpPr>
          <a:xfrm>
            <a:off x="542263" y="3122130"/>
            <a:ext cx="9440217" cy="2854018"/>
            <a:chOff x="2767" y="561810"/>
            <a:chExt cx="9440217" cy="2854018"/>
          </a:xfrm>
        </p:grpSpPr>
        <p:sp>
          <p:nvSpPr>
            <p:cNvPr id="258" name="Google Shape;258;p20"/>
            <p:cNvSpPr/>
            <p:nvPr/>
          </p:nvSpPr>
          <p:spPr>
            <a:xfrm>
              <a:off x="2767" y="561810"/>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0"/>
            <p:cNvSpPr txBox="1"/>
            <p:nvPr/>
          </p:nvSpPr>
          <p:spPr>
            <a:xfrm>
              <a:off x="2767" y="561810"/>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none" strike="noStrike" cap="none">
                  <a:solidFill>
                    <a:schemeClr val="lt1"/>
                  </a:solidFill>
                  <a:latin typeface="Quattrocento Sans"/>
                  <a:ea typeface="Quattrocento Sans"/>
                  <a:cs typeface="Quattrocento Sans"/>
                  <a:sym typeface="Quattrocento Sans"/>
                </a:rPr>
                <a:t>Computer-generated VR (CG VR) is a subset of this VR technology in which the virtual world is exclusively generated via computer graphics.</a:t>
              </a:r>
              <a:endParaRPr sz="1000" b="0" i="0" u="none" strike="noStrike" cap="none">
                <a:solidFill>
                  <a:schemeClr val="lt1"/>
                </a:solidFill>
                <a:latin typeface="Quattrocento Sans"/>
                <a:ea typeface="Quattrocento Sans"/>
                <a:cs typeface="Quattrocento Sans"/>
                <a:sym typeface="Quattrocento Sans"/>
              </a:endParaRPr>
            </a:p>
          </p:txBody>
        </p:sp>
        <p:sp>
          <p:nvSpPr>
            <p:cNvPr id="260" name="Google Shape;260;p20"/>
            <p:cNvSpPr/>
            <p:nvPr/>
          </p:nvSpPr>
          <p:spPr>
            <a:xfrm>
              <a:off x="2417706" y="561810"/>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0"/>
            <p:cNvSpPr txBox="1"/>
            <p:nvPr/>
          </p:nvSpPr>
          <p:spPr>
            <a:xfrm>
              <a:off x="2417706" y="561810"/>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none" strike="noStrike" cap="none">
                  <a:solidFill>
                    <a:schemeClr val="lt1"/>
                  </a:solidFill>
                  <a:latin typeface="Quattrocento Sans"/>
                  <a:ea typeface="Quattrocento Sans"/>
                  <a:cs typeface="Quattrocento Sans"/>
                  <a:sym typeface="Quattrocento Sans"/>
                </a:rPr>
                <a:t>Headsets: HTC Vive, Oculus Rift, Sony PlayStation VR, Samsung Gear VR or Google Daydream View</a:t>
              </a:r>
              <a:endParaRPr/>
            </a:p>
          </p:txBody>
        </p:sp>
        <p:sp>
          <p:nvSpPr>
            <p:cNvPr id="262" name="Google Shape;262;p20"/>
            <p:cNvSpPr/>
            <p:nvPr/>
          </p:nvSpPr>
          <p:spPr>
            <a:xfrm>
              <a:off x="4832645" y="561810"/>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0"/>
            <p:cNvSpPr txBox="1"/>
            <p:nvPr/>
          </p:nvSpPr>
          <p:spPr>
            <a:xfrm>
              <a:off x="4832645" y="561810"/>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1" u="none" strike="noStrike" cap="none">
                  <a:solidFill>
                    <a:schemeClr val="lt1"/>
                  </a:solidFill>
                  <a:latin typeface="Quattrocento Sans"/>
                  <a:ea typeface="Quattrocento Sans"/>
                  <a:cs typeface="Quattrocento Sans"/>
                  <a:sym typeface="Quattrocento Sans"/>
                </a:rPr>
                <a:t>In augmented reality </a:t>
              </a:r>
              <a:r>
                <a:rPr lang="en-US" sz="1000" b="0" i="0" u="none" strike="noStrike" cap="none">
                  <a:solidFill>
                    <a:schemeClr val="lt1"/>
                  </a:solidFill>
                  <a:latin typeface="Quattrocento Sans"/>
                  <a:ea typeface="Quattrocento Sans"/>
                  <a:cs typeface="Quattrocento Sans"/>
                  <a:sym typeface="Quattrocento Sans"/>
                </a:rPr>
                <a:t>(AR) and </a:t>
              </a:r>
              <a:r>
                <a:rPr lang="en-US" sz="1000" b="0" i="1" u="none" strike="noStrike" cap="none">
                  <a:solidFill>
                    <a:schemeClr val="lt1"/>
                  </a:solidFill>
                  <a:latin typeface="Quattrocento Sans"/>
                  <a:ea typeface="Quattrocento Sans"/>
                  <a:cs typeface="Quattrocento Sans"/>
                  <a:sym typeface="Quattrocento Sans"/>
                </a:rPr>
                <a:t>mixed reality </a:t>
              </a:r>
              <a:r>
                <a:rPr lang="en-US" sz="1000" b="0" i="0" u="none" strike="noStrike" cap="none">
                  <a:solidFill>
                    <a:schemeClr val="lt1"/>
                  </a:solidFill>
                  <a:latin typeface="Quattrocento Sans"/>
                  <a:ea typeface="Quattrocento Sans"/>
                  <a:cs typeface="Quattrocento Sans"/>
                  <a:sym typeface="Quattrocento Sans"/>
                </a:rPr>
                <a:t>(MR) a viewing device like a smart phone, tablet or tech-enhanced pair of glasses displays a real-time or static view of a real-world scene, and computer graphics are overlaid on top of this image.</a:t>
              </a:r>
              <a:endParaRPr/>
            </a:p>
          </p:txBody>
        </p:sp>
        <p:sp>
          <p:nvSpPr>
            <p:cNvPr id="264" name="Google Shape;264;p20"/>
            <p:cNvSpPr/>
            <p:nvPr/>
          </p:nvSpPr>
          <p:spPr>
            <a:xfrm>
              <a:off x="7247585" y="561810"/>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0"/>
            <p:cNvSpPr txBox="1"/>
            <p:nvPr/>
          </p:nvSpPr>
          <p:spPr>
            <a:xfrm>
              <a:off x="7247585" y="561810"/>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none" strike="noStrike" cap="none">
                  <a:solidFill>
                    <a:schemeClr val="lt1"/>
                  </a:solidFill>
                  <a:latin typeface="Quattrocento Sans"/>
                  <a:ea typeface="Quattrocento Sans"/>
                  <a:cs typeface="Quattrocento Sans"/>
                  <a:sym typeface="Quattrocento Sans"/>
                </a:rPr>
                <a:t>“augmented reality” describes technologies in which computer graphics are overlaid on a live, direct or indirect view of the real world, but are not anchored to it.</a:t>
              </a:r>
              <a:endParaRPr/>
            </a:p>
          </p:txBody>
        </p:sp>
        <p:sp>
          <p:nvSpPr>
            <p:cNvPr id="266" name="Google Shape;266;p20"/>
            <p:cNvSpPr/>
            <p:nvPr/>
          </p:nvSpPr>
          <p:spPr>
            <a:xfrm>
              <a:off x="2767" y="2098589"/>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0"/>
            <p:cNvSpPr txBox="1"/>
            <p:nvPr/>
          </p:nvSpPr>
          <p:spPr>
            <a:xfrm>
              <a:off x="2767" y="2098589"/>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none" strike="noStrike" cap="none">
                  <a:solidFill>
                    <a:schemeClr val="lt1"/>
                  </a:solidFill>
                  <a:latin typeface="Quattrocento Sans"/>
                  <a:ea typeface="Quattrocento Sans"/>
                  <a:cs typeface="Quattrocento Sans"/>
                  <a:sym typeface="Quattrocento Sans"/>
                </a:rPr>
                <a:t>“mixed reality” describes the use of computer graphics to render imaginary objects which are anchored to the real world and appear to exist within it.</a:t>
              </a:r>
              <a:endParaRPr/>
            </a:p>
          </p:txBody>
        </p:sp>
        <p:sp>
          <p:nvSpPr>
            <p:cNvPr id="268" name="Google Shape;268;p20"/>
            <p:cNvSpPr/>
            <p:nvPr/>
          </p:nvSpPr>
          <p:spPr>
            <a:xfrm>
              <a:off x="2417706" y="2098589"/>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0"/>
            <p:cNvSpPr txBox="1"/>
            <p:nvPr/>
          </p:nvSpPr>
          <p:spPr>
            <a:xfrm>
              <a:off x="2417706" y="2098589"/>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none" strike="noStrike" cap="none">
                  <a:solidFill>
                    <a:schemeClr val="lt1"/>
                  </a:solidFill>
                  <a:latin typeface="Quattrocento Sans"/>
                  <a:ea typeface="Quattrocento Sans"/>
                  <a:cs typeface="Quattrocento Sans"/>
                  <a:sym typeface="Quattrocento Sans"/>
                </a:rPr>
                <a:t>Example of AR:  US Army “tactical augmented reality” (TAR)</a:t>
              </a:r>
              <a:endParaRPr sz="1000" b="0" i="0" u="none" strike="noStrike" cap="none">
                <a:solidFill>
                  <a:schemeClr val="lt1"/>
                </a:solidFill>
                <a:latin typeface="Quattrocento Sans"/>
                <a:ea typeface="Quattrocento Sans"/>
                <a:cs typeface="Quattrocento Sans"/>
                <a:sym typeface="Quattrocento Sans"/>
              </a:endParaRPr>
            </a:p>
          </p:txBody>
        </p:sp>
        <p:sp>
          <p:nvSpPr>
            <p:cNvPr id="270" name="Google Shape;270;p20"/>
            <p:cNvSpPr/>
            <p:nvPr/>
          </p:nvSpPr>
          <p:spPr>
            <a:xfrm>
              <a:off x="4832645" y="2098589"/>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0"/>
            <p:cNvSpPr txBox="1"/>
            <p:nvPr/>
          </p:nvSpPr>
          <p:spPr>
            <a:xfrm>
              <a:off x="4832645" y="2098589"/>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none" strike="noStrike" cap="none">
                  <a:solidFill>
                    <a:schemeClr val="lt1"/>
                  </a:solidFill>
                  <a:latin typeface="Quattrocento Sans"/>
                  <a:ea typeface="Quattrocento Sans"/>
                  <a:cs typeface="Quattrocento Sans"/>
                  <a:sym typeface="Quattrocento Sans"/>
                </a:rPr>
                <a:t>Example of MR: Microsoft’s HoloLens, Android Camera App supports Google Pixel Playground (</a:t>
              </a:r>
              <a:r>
                <a:rPr lang="en-US" sz="1000" b="0" i="1" u="none" strike="noStrike" cap="none">
                  <a:solidFill>
                    <a:schemeClr val="lt1"/>
                  </a:solidFill>
                  <a:latin typeface="Quattrocento Sans"/>
                  <a:ea typeface="Quattrocento Sans"/>
                  <a:cs typeface="Quattrocento Sans"/>
                  <a:sym typeface="Quattrocento Sans"/>
                </a:rPr>
                <a:t>AR Stickers)</a:t>
              </a:r>
              <a:endParaRPr sz="1000" b="0" i="0" u="none" strike="noStrike" cap="none">
                <a:solidFill>
                  <a:schemeClr val="lt1"/>
                </a:solidFill>
                <a:latin typeface="Quattrocento Sans"/>
                <a:ea typeface="Quattrocento Sans"/>
                <a:cs typeface="Quattrocento Sans"/>
                <a:sym typeface="Quattrocento Sans"/>
              </a:endParaRPr>
            </a:p>
          </p:txBody>
        </p:sp>
        <p:sp>
          <p:nvSpPr>
            <p:cNvPr id="272" name="Google Shape;272;p20"/>
            <p:cNvSpPr/>
            <p:nvPr/>
          </p:nvSpPr>
          <p:spPr>
            <a:xfrm>
              <a:off x="7247585" y="2098589"/>
              <a:ext cx="2195399" cy="1317239"/>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0"/>
            <p:cNvSpPr txBox="1"/>
            <p:nvPr/>
          </p:nvSpPr>
          <p:spPr>
            <a:xfrm>
              <a:off x="7247585" y="2098589"/>
              <a:ext cx="2195399" cy="1317239"/>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Quattrocento Sans"/>
                <a:buNone/>
              </a:pPr>
              <a:r>
                <a:rPr lang="en-US" sz="1000" b="0" i="0" u="sng" strike="noStrike" cap="none">
                  <a:solidFill>
                    <a:schemeClr val="lt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https://owlchemylabs.com/games/</a:t>
              </a:r>
              <a:r>
                <a:rPr lang="en-US" sz="1000" b="0" i="0" u="none" strike="noStrike" cap="none">
                  <a:solidFill>
                    <a:schemeClr val="lt1"/>
                  </a:solidFill>
                  <a:latin typeface="Quattrocento Sans"/>
                  <a:ea typeface="Quattrocento Sans"/>
                  <a:cs typeface="Quattrocento Sans"/>
                  <a:sym typeface="Quattrocento Sans"/>
                </a:rPr>
                <a:t> Job simulator, Vacation Simulator</a:t>
              </a:r>
              <a:endParaRPr sz="1000" b="0" i="0" u="none" strike="noStrike" cap="none">
                <a:solidFill>
                  <a:schemeClr val="lt1"/>
                </a:solidFill>
                <a:latin typeface="Quattrocento Sans"/>
                <a:ea typeface="Quattrocento Sans"/>
                <a:cs typeface="Quattrocento Sans"/>
                <a:sym typeface="Quattrocento San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1"/>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VR Game Engines</a:t>
            </a:r>
            <a:endParaRPr/>
          </a:p>
        </p:txBody>
      </p:sp>
      <p:sp>
        <p:nvSpPr>
          <p:cNvPr id="280" name="Google Shape;280;p21"/>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F3F3F"/>
              </a:buClr>
              <a:buSzPts val="1100"/>
              <a:buChar char="•"/>
            </a:pPr>
            <a:r>
              <a:rPr lang="en-US" sz="1100"/>
              <a:t>Similar in many respects to first-person shooter engines</a:t>
            </a:r>
            <a:endParaRPr/>
          </a:p>
          <a:p>
            <a:pPr marL="228600" lvl="0" indent="-228600" algn="l" rtl="0">
              <a:lnSpc>
                <a:spcPct val="90000"/>
              </a:lnSpc>
              <a:spcBef>
                <a:spcPts val="1000"/>
              </a:spcBef>
              <a:spcAft>
                <a:spcPts val="0"/>
              </a:spcAft>
              <a:buClr>
                <a:srgbClr val="3F3F3F"/>
              </a:buClr>
              <a:buSzPts val="1100"/>
              <a:buChar char="•"/>
            </a:pPr>
            <a:r>
              <a:rPr lang="en-US" sz="1100"/>
              <a:t>Many FPS-capable engines such as Unity and Unreal Engine support VR “out of the box.”</a:t>
            </a:r>
            <a:endParaRPr/>
          </a:p>
          <a:p>
            <a:pPr marL="228600" lvl="0" indent="-228600" algn="l" rtl="0">
              <a:lnSpc>
                <a:spcPct val="90000"/>
              </a:lnSpc>
              <a:spcBef>
                <a:spcPts val="1000"/>
              </a:spcBef>
              <a:spcAft>
                <a:spcPts val="0"/>
              </a:spcAft>
              <a:buClr>
                <a:srgbClr val="3F3F3F"/>
              </a:buClr>
              <a:buSzPts val="1100"/>
              <a:buChar char="•"/>
            </a:pPr>
            <a:r>
              <a:rPr lang="en-US" sz="1100"/>
              <a:t>VR games differ from FPS games:</a:t>
            </a:r>
            <a:endParaRPr/>
          </a:p>
          <a:p>
            <a:pPr marL="228600" lvl="0" indent="-228600" algn="l" rtl="0">
              <a:lnSpc>
                <a:spcPct val="90000"/>
              </a:lnSpc>
              <a:spcBef>
                <a:spcPts val="1000"/>
              </a:spcBef>
              <a:spcAft>
                <a:spcPts val="0"/>
              </a:spcAft>
              <a:buClr>
                <a:srgbClr val="3F3F3F"/>
              </a:buClr>
              <a:buSzPts val="1100"/>
              <a:buChar char="•"/>
            </a:pPr>
            <a:r>
              <a:rPr lang="en-US" sz="1100" i="1"/>
              <a:t>Stereoscopic rendering: </a:t>
            </a:r>
            <a:r>
              <a:rPr lang="en-US" sz="1100"/>
              <a:t>A VR game needs to render the scene twice, once for each eye.</a:t>
            </a:r>
            <a:endParaRPr/>
          </a:p>
          <a:p>
            <a:pPr marL="228600" lvl="0" indent="-228600" algn="l" rtl="0">
              <a:lnSpc>
                <a:spcPct val="90000"/>
              </a:lnSpc>
              <a:spcBef>
                <a:spcPts val="1000"/>
              </a:spcBef>
              <a:spcAft>
                <a:spcPts val="0"/>
              </a:spcAft>
              <a:buClr>
                <a:srgbClr val="3F3F3F"/>
              </a:buClr>
              <a:buSzPts val="1100"/>
              <a:buChar char="•"/>
            </a:pPr>
            <a:r>
              <a:rPr lang="en-US" sz="1100" i="1"/>
              <a:t>Very high frame rate</a:t>
            </a:r>
            <a:r>
              <a:rPr lang="en-US" sz="1100"/>
              <a:t>. Studies have shown that VR running at below 90 frames per second is likely to induce disorientation, nausea, etc.</a:t>
            </a:r>
            <a:endParaRPr/>
          </a:p>
          <a:p>
            <a:pPr marL="228600" lvl="0" indent="-228600" algn="l" rtl="0">
              <a:lnSpc>
                <a:spcPct val="90000"/>
              </a:lnSpc>
              <a:spcBef>
                <a:spcPts val="1000"/>
              </a:spcBef>
              <a:spcAft>
                <a:spcPts val="0"/>
              </a:spcAft>
              <a:buClr>
                <a:srgbClr val="3F3F3F"/>
              </a:buClr>
              <a:buSzPts val="1100"/>
              <a:buChar char="•"/>
            </a:pPr>
            <a:r>
              <a:rPr lang="en-US" sz="1100" i="1"/>
              <a:t>Navigation issues: </a:t>
            </a:r>
            <a:r>
              <a:rPr lang="en-US" sz="1100"/>
              <a:t>joypad or the WASD keys vs. the user physically walking around in the real world. Travelling by “flying” tends to induce nausea as well, so most games opt for a point-and click teleportation mechanism to move the virtual player/camera across larger distances.</a:t>
            </a:r>
            <a:endParaRPr/>
          </a:p>
          <a:p>
            <a:pPr marL="228600" lvl="0" indent="-228600" algn="l" rtl="0">
              <a:lnSpc>
                <a:spcPct val="90000"/>
              </a:lnSpc>
              <a:spcBef>
                <a:spcPts val="1000"/>
              </a:spcBef>
              <a:spcAft>
                <a:spcPts val="0"/>
              </a:spcAft>
              <a:buClr>
                <a:srgbClr val="3F3F3F"/>
              </a:buClr>
              <a:buSzPts val="1100"/>
              <a:buChar char="•"/>
            </a:pPr>
            <a:r>
              <a:rPr lang="en-US" sz="1100"/>
              <a:t>VR advantages:</a:t>
            </a:r>
            <a:endParaRPr/>
          </a:p>
          <a:p>
            <a:pPr marL="228600" lvl="0" indent="-228600" algn="l" rtl="0">
              <a:lnSpc>
                <a:spcPct val="90000"/>
              </a:lnSpc>
              <a:spcBef>
                <a:spcPts val="1000"/>
              </a:spcBef>
              <a:spcAft>
                <a:spcPts val="0"/>
              </a:spcAft>
              <a:buClr>
                <a:srgbClr val="3F3F3F"/>
              </a:buClr>
              <a:buSzPts val="1100"/>
              <a:buChar char="•"/>
            </a:pPr>
            <a:r>
              <a:rPr lang="en-US" sz="1100"/>
              <a:t>• users can reach in the real world to touch, pick up and throw objects in the virtual world;</a:t>
            </a:r>
            <a:endParaRPr/>
          </a:p>
          <a:p>
            <a:pPr marL="228600" lvl="0" indent="-228600" algn="l" rtl="0">
              <a:lnSpc>
                <a:spcPct val="90000"/>
              </a:lnSpc>
              <a:spcBef>
                <a:spcPts val="1000"/>
              </a:spcBef>
              <a:spcAft>
                <a:spcPts val="0"/>
              </a:spcAft>
              <a:buClr>
                <a:srgbClr val="3F3F3F"/>
              </a:buClr>
              <a:buSzPts val="1100"/>
              <a:buChar char="•"/>
            </a:pPr>
            <a:r>
              <a:rPr lang="en-US" sz="1100"/>
              <a:t>• a player can dodge an attack in the virtual world by dodging physically in the real world;</a:t>
            </a:r>
            <a:endParaRPr/>
          </a:p>
          <a:p>
            <a:pPr marL="228600" lvl="0" indent="-228600" algn="l" rtl="0">
              <a:lnSpc>
                <a:spcPct val="90000"/>
              </a:lnSpc>
              <a:spcBef>
                <a:spcPts val="1000"/>
              </a:spcBef>
              <a:spcAft>
                <a:spcPts val="0"/>
              </a:spcAft>
              <a:buClr>
                <a:srgbClr val="3F3F3F"/>
              </a:buClr>
              <a:buSzPts val="1100"/>
              <a:buChar char="•"/>
            </a:pPr>
            <a:r>
              <a:rPr lang="en-US" sz="1100"/>
              <a:t>• new user interface opportunities are possible, such as having floating menus attached to one’s virtual hands, or seeing a game’s credits written on a whiteboard in the virtual world;</a:t>
            </a:r>
            <a:endParaRPr/>
          </a:p>
          <a:p>
            <a:pPr marL="228600" lvl="0" indent="-228600" algn="l" rtl="0">
              <a:lnSpc>
                <a:spcPct val="90000"/>
              </a:lnSpc>
              <a:spcBef>
                <a:spcPts val="1000"/>
              </a:spcBef>
              <a:spcAft>
                <a:spcPts val="0"/>
              </a:spcAft>
              <a:buClr>
                <a:srgbClr val="3F3F3F"/>
              </a:buClr>
              <a:buSzPts val="1100"/>
              <a:buChar char="•"/>
            </a:pPr>
            <a:r>
              <a:rPr lang="en-US" sz="1100"/>
              <a:t>• a player can even pick up a pair of virtual VR goggles and place them onto his or her head, thereby transporting them into a “nested” VR world “VR-ception.”</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2"/>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Location-Based Entertainment</a:t>
            </a:r>
            <a:endParaRPr/>
          </a:p>
        </p:txBody>
      </p:sp>
      <p:grpSp>
        <p:nvGrpSpPr>
          <p:cNvPr id="286" name="Google Shape;286;p22"/>
          <p:cNvGrpSpPr/>
          <p:nvPr/>
        </p:nvGrpSpPr>
        <p:grpSpPr>
          <a:xfrm>
            <a:off x="965998" y="2574337"/>
            <a:ext cx="10260000" cy="2632500"/>
            <a:chOff x="361565" y="970126"/>
            <a:chExt cx="10260000" cy="2632500"/>
          </a:xfrm>
        </p:grpSpPr>
        <p:sp>
          <p:nvSpPr>
            <p:cNvPr id="287" name="Google Shape;287;p22"/>
            <p:cNvSpPr/>
            <p:nvPr/>
          </p:nvSpPr>
          <p:spPr>
            <a:xfrm>
              <a:off x="712565" y="970126"/>
              <a:ext cx="1098000" cy="1098000"/>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2"/>
            <p:cNvSpPr/>
            <p:nvPr/>
          </p:nvSpPr>
          <p:spPr>
            <a:xfrm>
              <a:off x="946565" y="1204126"/>
              <a:ext cx="630000" cy="6300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2"/>
            <p:cNvSpPr/>
            <p:nvPr/>
          </p:nvSpPr>
          <p:spPr>
            <a:xfrm>
              <a:off x="361565" y="2410126"/>
              <a:ext cx="1800000" cy="119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2"/>
            <p:cNvSpPr txBox="1"/>
            <p:nvPr/>
          </p:nvSpPr>
          <p:spPr>
            <a:xfrm>
              <a:off x="361565" y="2410126"/>
              <a:ext cx="1800000" cy="1192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GAMES LIKE </a:t>
              </a:r>
              <a:r>
                <a:rPr lang="en-US" sz="1100" b="0" i="1" u="none" strike="noStrike" cap="none">
                  <a:solidFill>
                    <a:schemeClr val="dk1"/>
                  </a:solidFill>
                  <a:latin typeface="Quattrocento Sans"/>
                  <a:ea typeface="Quattrocento Sans"/>
                  <a:cs typeface="Quattrocento Sans"/>
                  <a:sym typeface="Quattrocento Sans"/>
                </a:rPr>
                <a:t>POKÉMON GO </a:t>
              </a:r>
              <a:r>
                <a:rPr lang="en-US" sz="1100" b="0" i="0" u="none" strike="noStrike" cap="none">
                  <a:solidFill>
                    <a:schemeClr val="dk1"/>
                  </a:solidFill>
                  <a:latin typeface="Quattrocento Sans"/>
                  <a:ea typeface="Quattrocento Sans"/>
                  <a:cs typeface="Quattrocento Sans"/>
                  <a:sym typeface="Quattrocento Sans"/>
                </a:rPr>
                <a:t>NEITHER OVERLAY GRAPHICS ONTO AN IMAGE OF THE REAL WORLD, NOR DO THEY GENERATE A COMPLETELY IMMERSIVE VIRTUAL WORLD.</a:t>
              </a:r>
              <a:endParaRPr/>
            </a:p>
          </p:txBody>
        </p:sp>
        <p:sp>
          <p:nvSpPr>
            <p:cNvPr id="291" name="Google Shape;291;p22"/>
            <p:cNvSpPr/>
            <p:nvPr/>
          </p:nvSpPr>
          <p:spPr>
            <a:xfrm>
              <a:off x="2827565" y="970126"/>
              <a:ext cx="1098000" cy="1098000"/>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2"/>
            <p:cNvSpPr/>
            <p:nvPr/>
          </p:nvSpPr>
          <p:spPr>
            <a:xfrm>
              <a:off x="3061565" y="1204126"/>
              <a:ext cx="630000" cy="63000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2"/>
            <p:cNvSpPr/>
            <p:nvPr/>
          </p:nvSpPr>
          <p:spPr>
            <a:xfrm>
              <a:off x="2476565" y="2410126"/>
              <a:ext cx="1800000" cy="119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2"/>
            <p:cNvSpPr txBox="1"/>
            <p:nvPr/>
          </p:nvSpPr>
          <p:spPr>
            <a:xfrm>
              <a:off x="2476565" y="2410126"/>
              <a:ext cx="1800000" cy="1192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THE GAME IS AWARE OF YOUR ACTUAL LOCATION IN THE REAL WORLD</a:t>
              </a:r>
              <a:endParaRPr/>
            </a:p>
          </p:txBody>
        </p:sp>
        <p:sp>
          <p:nvSpPr>
            <p:cNvPr id="295" name="Google Shape;295;p22"/>
            <p:cNvSpPr/>
            <p:nvPr/>
          </p:nvSpPr>
          <p:spPr>
            <a:xfrm>
              <a:off x="4942565" y="970126"/>
              <a:ext cx="1098000" cy="1098000"/>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2"/>
            <p:cNvSpPr/>
            <p:nvPr/>
          </p:nvSpPr>
          <p:spPr>
            <a:xfrm>
              <a:off x="5176565" y="1204126"/>
              <a:ext cx="630000" cy="63000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2"/>
            <p:cNvSpPr/>
            <p:nvPr/>
          </p:nvSpPr>
          <p:spPr>
            <a:xfrm>
              <a:off x="4591565" y="2410126"/>
              <a:ext cx="1800000" cy="119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2"/>
            <p:cNvSpPr txBox="1"/>
            <p:nvPr/>
          </p:nvSpPr>
          <p:spPr>
            <a:xfrm>
              <a:off x="4591565" y="2410126"/>
              <a:ext cx="1800000" cy="1192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PROMPTING YOU TO GO SEARCHING FOR POKÉMON IN NEARBY PARKS, MALLS AND RESTAURANTS</a:t>
              </a:r>
              <a:endParaRPr/>
            </a:p>
          </p:txBody>
        </p:sp>
        <p:sp>
          <p:nvSpPr>
            <p:cNvPr id="299" name="Google Shape;299;p22"/>
            <p:cNvSpPr/>
            <p:nvPr/>
          </p:nvSpPr>
          <p:spPr>
            <a:xfrm>
              <a:off x="7057565" y="970126"/>
              <a:ext cx="1098000" cy="1098000"/>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2"/>
            <p:cNvSpPr/>
            <p:nvPr/>
          </p:nvSpPr>
          <p:spPr>
            <a:xfrm>
              <a:off x="7291565" y="1204126"/>
              <a:ext cx="630000" cy="63000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2"/>
            <p:cNvSpPr/>
            <p:nvPr/>
          </p:nvSpPr>
          <p:spPr>
            <a:xfrm>
              <a:off x="6706565" y="2410126"/>
              <a:ext cx="1800000" cy="119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2"/>
            <p:cNvSpPr txBox="1"/>
            <p:nvPr/>
          </p:nvSpPr>
          <p:spPr>
            <a:xfrm>
              <a:off x="6706565" y="2410126"/>
              <a:ext cx="1800000" cy="1192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THIS KIND OF GAME CAN’T REALLY BE CALLED AR/MR/VR</a:t>
              </a:r>
              <a:endParaRPr/>
            </a:p>
          </p:txBody>
        </p:sp>
        <p:sp>
          <p:nvSpPr>
            <p:cNvPr id="303" name="Google Shape;303;p22"/>
            <p:cNvSpPr/>
            <p:nvPr/>
          </p:nvSpPr>
          <p:spPr>
            <a:xfrm>
              <a:off x="9172565" y="970126"/>
              <a:ext cx="1098000" cy="1098000"/>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2"/>
            <p:cNvSpPr/>
            <p:nvPr/>
          </p:nvSpPr>
          <p:spPr>
            <a:xfrm>
              <a:off x="9406565" y="1204126"/>
              <a:ext cx="630000" cy="63000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2"/>
            <p:cNvSpPr/>
            <p:nvPr/>
          </p:nvSpPr>
          <p:spPr>
            <a:xfrm>
              <a:off x="8821565" y="2410126"/>
              <a:ext cx="1800000" cy="119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2"/>
            <p:cNvSpPr txBox="1"/>
            <p:nvPr/>
          </p:nvSpPr>
          <p:spPr>
            <a:xfrm>
              <a:off x="8821565" y="2410126"/>
              <a:ext cx="1800000" cy="1192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SOME PEOPLE DESCRIBE IT AS LOCATION-BASED ENTERTAINMENT AND SOME AS AR</a:t>
              </a:r>
              <a:endParaRPr sz="1100" b="0" i="0" u="none" strike="noStrike" cap="none">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Other Genres</a:t>
            </a:r>
            <a:endParaRPr/>
          </a:p>
        </p:txBody>
      </p:sp>
      <p:grpSp>
        <p:nvGrpSpPr>
          <p:cNvPr id="312" name="Google Shape;312;p23"/>
          <p:cNvGrpSpPr/>
          <p:nvPr/>
        </p:nvGrpSpPr>
        <p:grpSpPr>
          <a:xfrm>
            <a:off x="1181418" y="1605738"/>
            <a:ext cx="9829160" cy="4569697"/>
            <a:chOff x="576985" y="1527"/>
            <a:chExt cx="9829160" cy="4569697"/>
          </a:xfrm>
        </p:grpSpPr>
        <p:sp>
          <p:nvSpPr>
            <p:cNvPr id="313" name="Google Shape;313;p23"/>
            <p:cNvSpPr/>
            <p:nvPr/>
          </p:nvSpPr>
          <p:spPr>
            <a:xfrm>
              <a:off x="913246" y="15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a:off x="1137419" y="225701"/>
              <a:ext cx="603544" cy="60354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3"/>
            <p:cNvSpPr/>
            <p:nvPr/>
          </p:nvSpPr>
          <p:spPr>
            <a:xfrm>
              <a:off x="576985" y="1381058"/>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3"/>
            <p:cNvSpPr txBox="1"/>
            <p:nvPr/>
          </p:nvSpPr>
          <p:spPr>
            <a:xfrm>
              <a:off x="576985" y="1381058"/>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SPORTS, WITH SUBGENRES FOR EACH MAJOR SPORT (FOOTBALL, BASEBALL, SOCCER, GOLF, ETC.);</a:t>
              </a:r>
              <a:endParaRPr sz="1100" b="0" i="0" u="none" strike="noStrike" cap="none">
                <a:solidFill>
                  <a:schemeClr val="dk1"/>
                </a:solidFill>
                <a:latin typeface="Quattrocento Sans"/>
                <a:ea typeface="Quattrocento Sans"/>
                <a:cs typeface="Quattrocento Sans"/>
                <a:sym typeface="Quattrocento Sans"/>
              </a:endParaRPr>
            </a:p>
          </p:txBody>
        </p:sp>
        <p:sp>
          <p:nvSpPr>
            <p:cNvPr id="317" name="Google Shape;317;p23"/>
            <p:cNvSpPr/>
            <p:nvPr/>
          </p:nvSpPr>
          <p:spPr>
            <a:xfrm>
              <a:off x="2939432" y="15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3"/>
            <p:cNvSpPr/>
            <p:nvPr/>
          </p:nvSpPr>
          <p:spPr>
            <a:xfrm>
              <a:off x="3163606" y="225701"/>
              <a:ext cx="603544" cy="60354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3"/>
            <p:cNvSpPr/>
            <p:nvPr/>
          </p:nvSpPr>
          <p:spPr>
            <a:xfrm>
              <a:off x="2603171" y="1381058"/>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3"/>
            <p:cNvSpPr txBox="1"/>
            <p:nvPr/>
          </p:nvSpPr>
          <p:spPr>
            <a:xfrm>
              <a:off x="2603171" y="1381058"/>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ROLE-PLAYING GAMES (RPG);</a:t>
              </a:r>
              <a:endParaRPr sz="1100" b="0" i="0" u="none" strike="noStrike" cap="none">
                <a:solidFill>
                  <a:schemeClr val="dk1"/>
                </a:solidFill>
                <a:latin typeface="Quattrocento Sans"/>
                <a:ea typeface="Quattrocento Sans"/>
                <a:cs typeface="Quattrocento Sans"/>
                <a:sym typeface="Quattrocento Sans"/>
              </a:endParaRPr>
            </a:p>
          </p:txBody>
        </p:sp>
        <p:sp>
          <p:nvSpPr>
            <p:cNvPr id="321" name="Google Shape;321;p23"/>
            <p:cNvSpPr/>
            <p:nvPr/>
          </p:nvSpPr>
          <p:spPr>
            <a:xfrm>
              <a:off x="4965619" y="15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3"/>
            <p:cNvSpPr/>
            <p:nvPr/>
          </p:nvSpPr>
          <p:spPr>
            <a:xfrm>
              <a:off x="5189793" y="225701"/>
              <a:ext cx="603544" cy="60354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3"/>
            <p:cNvSpPr/>
            <p:nvPr/>
          </p:nvSpPr>
          <p:spPr>
            <a:xfrm>
              <a:off x="4629358" y="1381058"/>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3"/>
            <p:cNvSpPr txBox="1"/>
            <p:nvPr/>
          </p:nvSpPr>
          <p:spPr>
            <a:xfrm>
              <a:off x="4629358" y="1381058"/>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GOD GAMES, LIKE </a:t>
              </a:r>
              <a:r>
                <a:rPr lang="en-US" sz="1100" b="0" i="1" u="none" strike="noStrike" cap="none">
                  <a:solidFill>
                    <a:schemeClr val="dk1"/>
                  </a:solidFill>
                  <a:latin typeface="Quattrocento Sans"/>
                  <a:ea typeface="Quattrocento Sans"/>
                  <a:cs typeface="Quattrocento Sans"/>
                  <a:sym typeface="Quattrocento Sans"/>
                </a:rPr>
                <a:t>POPULOUS </a:t>
              </a:r>
              <a:r>
                <a:rPr lang="en-US" sz="1100" b="0" i="0" u="none" strike="noStrike" cap="none">
                  <a:solidFill>
                    <a:schemeClr val="dk1"/>
                  </a:solidFill>
                  <a:latin typeface="Quattrocento Sans"/>
                  <a:ea typeface="Quattrocento Sans"/>
                  <a:cs typeface="Quattrocento Sans"/>
                  <a:sym typeface="Quattrocento Sans"/>
                </a:rPr>
                <a:t>AND </a:t>
              </a:r>
              <a:r>
                <a:rPr lang="en-US" sz="1100" b="0" i="1" u="none" strike="noStrike" cap="none">
                  <a:solidFill>
                    <a:schemeClr val="dk1"/>
                  </a:solidFill>
                  <a:latin typeface="Quattrocento Sans"/>
                  <a:ea typeface="Quattrocento Sans"/>
                  <a:cs typeface="Quattrocento Sans"/>
                  <a:sym typeface="Quattrocento Sans"/>
                </a:rPr>
                <a:t>BLACK &amp; WHITE</a:t>
              </a:r>
              <a:r>
                <a:rPr lang="en-US" sz="1100" b="0" i="0" u="none" strike="noStrike" cap="none">
                  <a:solidFill>
                    <a:schemeClr val="dk1"/>
                  </a:solidFill>
                  <a:latin typeface="Quattrocento Sans"/>
                  <a:ea typeface="Quattrocento Sans"/>
                  <a:cs typeface="Quattrocento Sans"/>
                  <a:sym typeface="Quattrocento Sans"/>
                </a:rPr>
                <a:t>;</a:t>
              </a:r>
              <a:endParaRPr/>
            </a:p>
          </p:txBody>
        </p:sp>
        <p:sp>
          <p:nvSpPr>
            <p:cNvPr id="325" name="Google Shape;325;p23"/>
            <p:cNvSpPr/>
            <p:nvPr/>
          </p:nvSpPr>
          <p:spPr>
            <a:xfrm>
              <a:off x="6991805" y="15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3"/>
            <p:cNvSpPr/>
            <p:nvPr/>
          </p:nvSpPr>
          <p:spPr>
            <a:xfrm>
              <a:off x="7215979" y="225701"/>
              <a:ext cx="603544" cy="603544"/>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3"/>
            <p:cNvSpPr/>
            <p:nvPr/>
          </p:nvSpPr>
          <p:spPr>
            <a:xfrm>
              <a:off x="6655544" y="1381058"/>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3"/>
            <p:cNvSpPr txBox="1"/>
            <p:nvPr/>
          </p:nvSpPr>
          <p:spPr>
            <a:xfrm>
              <a:off x="6655544" y="1381058"/>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ENVIRONMENTAL/SOCIAL SIMULATION GAMES, LIKE </a:t>
              </a:r>
              <a:r>
                <a:rPr lang="en-US" sz="1100" b="0" i="1" u="none" strike="noStrike" cap="none">
                  <a:solidFill>
                    <a:schemeClr val="dk1"/>
                  </a:solidFill>
                  <a:latin typeface="Quattrocento Sans"/>
                  <a:ea typeface="Quattrocento Sans"/>
                  <a:cs typeface="Quattrocento Sans"/>
                  <a:sym typeface="Quattrocento Sans"/>
                </a:rPr>
                <a:t>SIMCITY </a:t>
              </a:r>
              <a:r>
                <a:rPr lang="en-US" sz="1100" b="0" i="0" u="none" strike="noStrike" cap="none">
                  <a:solidFill>
                    <a:schemeClr val="dk1"/>
                  </a:solidFill>
                  <a:latin typeface="Quattrocento Sans"/>
                  <a:ea typeface="Quattrocento Sans"/>
                  <a:cs typeface="Quattrocento Sans"/>
                  <a:sym typeface="Quattrocento Sans"/>
                </a:rPr>
                <a:t>OR </a:t>
              </a:r>
              <a:r>
                <a:rPr lang="en-US" sz="1100" b="0" i="1" u="none" strike="noStrike" cap="none">
                  <a:solidFill>
                    <a:schemeClr val="dk1"/>
                  </a:solidFill>
                  <a:latin typeface="Quattrocento Sans"/>
                  <a:ea typeface="Quattrocento Sans"/>
                  <a:cs typeface="Quattrocento Sans"/>
                  <a:sym typeface="Quattrocento Sans"/>
                </a:rPr>
                <a:t>THE SIMS</a:t>
              </a:r>
              <a:r>
                <a:rPr lang="en-US" sz="1100" b="0" i="0" u="none" strike="noStrike" cap="none">
                  <a:solidFill>
                    <a:schemeClr val="dk1"/>
                  </a:solidFill>
                  <a:latin typeface="Quattrocento Sans"/>
                  <a:ea typeface="Quattrocento Sans"/>
                  <a:cs typeface="Quattrocento Sans"/>
                  <a:sym typeface="Quattrocento Sans"/>
                </a:rPr>
                <a:t>;</a:t>
              </a:r>
              <a:endParaRPr/>
            </a:p>
          </p:txBody>
        </p:sp>
        <p:sp>
          <p:nvSpPr>
            <p:cNvPr id="329" name="Google Shape;329;p23"/>
            <p:cNvSpPr/>
            <p:nvPr/>
          </p:nvSpPr>
          <p:spPr>
            <a:xfrm>
              <a:off x="9017992" y="15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3"/>
            <p:cNvSpPr/>
            <p:nvPr/>
          </p:nvSpPr>
          <p:spPr>
            <a:xfrm>
              <a:off x="9242166" y="225701"/>
              <a:ext cx="603544" cy="603544"/>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3"/>
            <p:cNvSpPr/>
            <p:nvPr/>
          </p:nvSpPr>
          <p:spPr>
            <a:xfrm>
              <a:off x="8681731" y="1381058"/>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3"/>
            <p:cNvSpPr txBox="1"/>
            <p:nvPr/>
          </p:nvSpPr>
          <p:spPr>
            <a:xfrm>
              <a:off x="8681731" y="1381058"/>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PUZZLE GAMES LIKE </a:t>
              </a:r>
              <a:r>
                <a:rPr lang="en-US" sz="1100" b="0" i="1" u="none" strike="noStrike" cap="none">
                  <a:solidFill>
                    <a:schemeClr val="dk1"/>
                  </a:solidFill>
                  <a:latin typeface="Quattrocento Sans"/>
                  <a:ea typeface="Quattrocento Sans"/>
                  <a:cs typeface="Quattrocento Sans"/>
                  <a:sym typeface="Quattrocento Sans"/>
                </a:rPr>
                <a:t>TETRIS</a:t>
              </a:r>
              <a:r>
                <a:rPr lang="en-US" sz="1100" b="0" i="0" u="none" strike="noStrike" cap="none">
                  <a:solidFill>
                    <a:schemeClr val="dk1"/>
                  </a:solidFill>
                  <a:latin typeface="Quattrocento Sans"/>
                  <a:ea typeface="Quattrocento Sans"/>
                  <a:cs typeface="Quattrocento Sans"/>
                  <a:sym typeface="Quattrocento Sans"/>
                </a:rPr>
                <a:t>;</a:t>
              </a:r>
              <a:endParaRPr sz="1100" b="0" i="0" u="none" strike="noStrike" cap="none">
                <a:solidFill>
                  <a:schemeClr val="dk1"/>
                </a:solidFill>
                <a:latin typeface="Quattrocento Sans"/>
                <a:ea typeface="Quattrocento Sans"/>
                <a:cs typeface="Quattrocento Sans"/>
                <a:sym typeface="Quattrocento Sans"/>
              </a:endParaRPr>
            </a:p>
          </p:txBody>
        </p:sp>
        <p:sp>
          <p:nvSpPr>
            <p:cNvPr id="333" name="Google Shape;333;p23"/>
            <p:cNvSpPr/>
            <p:nvPr/>
          </p:nvSpPr>
          <p:spPr>
            <a:xfrm>
              <a:off x="3952525" y="25019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3"/>
            <p:cNvSpPr/>
            <p:nvPr/>
          </p:nvSpPr>
          <p:spPr>
            <a:xfrm>
              <a:off x="4176699" y="2726101"/>
              <a:ext cx="603544" cy="603544"/>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3"/>
            <p:cNvSpPr/>
            <p:nvPr/>
          </p:nvSpPr>
          <p:spPr>
            <a:xfrm>
              <a:off x="3616265" y="3881459"/>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3"/>
            <p:cNvSpPr txBox="1"/>
            <p:nvPr/>
          </p:nvSpPr>
          <p:spPr>
            <a:xfrm>
              <a:off x="3616265" y="3881459"/>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CONVERSIONS OF NON-ELECTRONIC GAMES, LIKE CHESS, CARD GAMES, GO, ETC.;</a:t>
              </a:r>
              <a:endParaRPr/>
            </a:p>
          </p:txBody>
        </p:sp>
        <p:sp>
          <p:nvSpPr>
            <p:cNvPr id="337" name="Google Shape;337;p23"/>
            <p:cNvSpPr/>
            <p:nvPr/>
          </p:nvSpPr>
          <p:spPr>
            <a:xfrm>
              <a:off x="5978712" y="2501927"/>
              <a:ext cx="1051892" cy="1051892"/>
            </a:xfrm>
            <a:prstGeom prst="ellipse">
              <a:avLst/>
            </a:pr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3"/>
            <p:cNvSpPr/>
            <p:nvPr/>
          </p:nvSpPr>
          <p:spPr>
            <a:xfrm>
              <a:off x="6202886" y="2726101"/>
              <a:ext cx="603544" cy="603544"/>
            </a:xfrm>
            <a:prstGeom prst="rect">
              <a:avLst/>
            </a:prstGeom>
            <a:blipFill rotWithShape="1">
              <a:blip r:embed="rId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3"/>
            <p:cNvSpPr/>
            <p:nvPr/>
          </p:nvSpPr>
          <p:spPr>
            <a:xfrm>
              <a:off x="5642451" y="3881459"/>
              <a:ext cx="1724414" cy="6897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3"/>
            <p:cNvSpPr txBox="1"/>
            <p:nvPr/>
          </p:nvSpPr>
          <p:spPr>
            <a:xfrm>
              <a:off x="5642451" y="3881459"/>
              <a:ext cx="1724414" cy="68976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 WEB-BASED GAMES, SUCH AS THOSE OFFERED AT ELECTRONIC ARTS’ POGO SITE;</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6"/>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lvl="0">
              <a:buSzPts val="2800"/>
            </a:pPr>
            <a:r>
              <a:rPr lang="en-US" dirty="0"/>
              <a:t>Some current engines</a:t>
            </a:r>
            <a:endParaRPr dirty="0"/>
          </a:p>
        </p:txBody>
      </p:sp>
      <p:grpSp>
        <p:nvGrpSpPr>
          <p:cNvPr id="384" name="Google Shape;384;p26"/>
          <p:cNvGrpSpPr/>
          <p:nvPr/>
        </p:nvGrpSpPr>
        <p:grpSpPr>
          <a:xfrm>
            <a:off x="607865" y="1812331"/>
            <a:ext cx="10976266" cy="4156510"/>
            <a:chOff x="3432" y="208120"/>
            <a:chExt cx="10976266" cy="4156510"/>
          </a:xfrm>
        </p:grpSpPr>
        <p:sp>
          <p:nvSpPr>
            <p:cNvPr id="385" name="Google Shape;385;p26"/>
            <p:cNvSpPr/>
            <p:nvPr/>
          </p:nvSpPr>
          <p:spPr>
            <a:xfrm>
              <a:off x="3432" y="208120"/>
              <a:ext cx="3346422" cy="697811"/>
            </a:xfrm>
            <a:prstGeom prst="rect">
              <a:avLst/>
            </a:prstGeom>
            <a:gradFill>
              <a:gsLst>
                <a:gs pos="0">
                  <a:srgbClr val="5E81C9"/>
                </a:gs>
                <a:gs pos="50000">
                  <a:srgbClr val="3B70C9"/>
                </a:gs>
                <a:gs pos="100000">
                  <a:srgbClr val="2E60B8"/>
                </a:gs>
              </a:gsLst>
              <a:lin ang="5400000" scaled="0"/>
            </a:gradFill>
            <a:ln w="9525"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p:cNvSpPr txBox="1"/>
            <p:nvPr/>
          </p:nvSpPr>
          <p:spPr>
            <a:xfrm>
              <a:off x="3432" y="208120"/>
              <a:ext cx="3346422" cy="697811"/>
            </a:xfrm>
            <a:prstGeom prst="rect">
              <a:avLst/>
            </a:prstGeom>
            <a:noFill/>
            <a:ln>
              <a:noFill/>
            </a:ln>
          </p:spPr>
          <p:txBody>
            <a:bodyPr spcFirstLastPara="1" wrap="square" lIns="128000" tIns="73150" rIns="128000" bIns="73150" anchor="ctr" anchorCtr="0">
              <a:noAutofit/>
            </a:bodyPr>
            <a:lstStyle/>
            <a:p>
              <a:pPr lvl="0" algn="ctr">
                <a:lnSpc>
                  <a:spcPct val="90000"/>
                </a:lnSpc>
                <a:buClr>
                  <a:schemeClr val="lt1"/>
                </a:buClr>
                <a:buSzPts val="1600"/>
              </a:pPr>
              <a:r>
                <a:rPr lang="en-US" sz="1800" dirty="0">
                  <a:solidFill>
                    <a:schemeClr val="lt1"/>
                  </a:solidFill>
                  <a:latin typeface="Quattrocento Sans"/>
                  <a:ea typeface="Quattrocento Sans"/>
                  <a:cs typeface="Quattrocento Sans"/>
                  <a:sym typeface="Quattrocento Sans"/>
                </a:rPr>
                <a:t>The Quake Family of Engines</a:t>
              </a:r>
              <a:endParaRPr lang="en-US" sz="1800" dirty="0"/>
            </a:p>
          </p:txBody>
        </p:sp>
        <p:sp>
          <p:nvSpPr>
            <p:cNvPr id="387" name="Google Shape;387;p26"/>
            <p:cNvSpPr/>
            <p:nvPr/>
          </p:nvSpPr>
          <p:spPr>
            <a:xfrm>
              <a:off x="3432" y="905931"/>
              <a:ext cx="3346422" cy="3458699"/>
            </a:xfrm>
            <a:prstGeom prst="rect">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p:cNvSpPr txBox="1"/>
            <p:nvPr/>
          </p:nvSpPr>
          <p:spPr>
            <a:xfrm>
              <a:off x="3432" y="905931"/>
              <a:ext cx="3346422" cy="3458699"/>
            </a:xfrm>
            <a:prstGeom prst="rect">
              <a:avLst/>
            </a:prstGeom>
            <a:noFill/>
            <a:ln>
              <a:noFill/>
            </a:ln>
          </p:spPr>
          <p:txBody>
            <a:bodyPr spcFirstLastPara="1" wrap="square" lIns="96000" tIns="96000" rIns="128000" bIns="144000" anchor="t" anchorCtr="0">
              <a:noAutofit/>
            </a:bodyPr>
            <a:lstStyle/>
            <a:p>
              <a:pPr marL="171450" lvl="1" indent="-171450">
                <a:lnSpc>
                  <a:spcPct val="90000"/>
                </a:lnSpc>
                <a:buClr>
                  <a:schemeClr val="dk1"/>
                </a:buClr>
                <a:buSzPts val="1600"/>
                <a:buFont typeface="Quattrocento Sans"/>
                <a:buChar char="•"/>
              </a:pPr>
              <a:r>
                <a:rPr lang="en-US" sz="1600" dirty="0">
                  <a:solidFill>
                    <a:schemeClr val="dk1"/>
                  </a:solidFill>
                  <a:latin typeface="Quattrocento Sans"/>
                  <a:ea typeface="Quattrocento Sans"/>
                  <a:cs typeface="Quattrocento Sans"/>
                  <a:sym typeface="Quattrocento Sans"/>
                </a:rPr>
                <a:t>The first 3D FPS game </a:t>
              </a:r>
              <a:r>
                <a:rPr lang="en-US" sz="1600" i="1" dirty="0">
                  <a:solidFill>
                    <a:schemeClr val="dk1"/>
                  </a:solidFill>
                  <a:latin typeface="Quattrocento Sans"/>
                  <a:ea typeface="Quattrocento Sans"/>
                  <a:cs typeface="Quattrocento Sans"/>
                  <a:sym typeface="Quattrocento Sans"/>
                </a:rPr>
                <a:t>Castle Wolfenstein 3D </a:t>
              </a:r>
              <a:r>
                <a:rPr lang="en-US" sz="1600" dirty="0">
                  <a:solidFill>
                    <a:schemeClr val="dk1"/>
                  </a:solidFill>
                  <a:latin typeface="Quattrocento Sans"/>
                  <a:ea typeface="Quattrocento Sans"/>
                  <a:cs typeface="Quattrocento Sans"/>
                  <a:sym typeface="Quattrocento Sans"/>
                </a:rPr>
                <a:t>(1992)</a:t>
              </a:r>
            </a:p>
            <a:p>
              <a:pPr marL="171450" lvl="1" indent="-171450">
                <a:lnSpc>
                  <a:spcPct val="90000"/>
                </a:lnSpc>
                <a:spcBef>
                  <a:spcPts val="240"/>
                </a:spcBef>
                <a:buClr>
                  <a:schemeClr val="dk1"/>
                </a:buClr>
                <a:buSzPts val="1600"/>
                <a:buFont typeface="Quattrocento Sans"/>
                <a:buChar char="•"/>
              </a:pPr>
              <a:r>
                <a:rPr lang="en-US" sz="1600" i="1" dirty="0">
                  <a:solidFill>
                    <a:schemeClr val="dk1"/>
                  </a:solidFill>
                  <a:latin typeface="Quattrocento Sans"/>
                  <a:ea typeface="Quattrocento Sans"/>
                  <a:cs typeface="Quattrocento Sans"/>
                  <a:sym typeface="Quattrocento Sans"/>
                </a:rPr>
                <a:t>Doom</a:t>
              </a:r>
              <a:r>
                <a:rPr lang="en-US" sz="1600" dirty="0">
                  <a:solidFill>
                    <a:schemeClr val="dk1"/>
                  </a:solidFill>
                  <a:latin typeface="Quattrocento Sans"/>
                  <a:ea typeface="Quattrocento Sans"/>
                  <a:cs typeface="Quattrocento Sans"/>
                  <a:sym typeface="Quattrocento Sans"/>
                </a:rPr>
                <a:t>, </a:t>
              </a:r>
              <a:r>
                <a:rPr lang="en-US" sz="1600" i="1" dirty="0">
                  <a:solidFill>
                    <a:schemeClr val="dk1"/>
                  </a:solidFill>
                  <a:latin typeface="Quattrocento Sans"/>
                  <a:ea typeface="Quattrocento Sans"/>
                  <a:cs typeface="Quattrocento Sans"/>
                  <a:sym typeface="Quattrocento Sans"/>
                </a:rPr>
                <a:t>Quake</a:t>
              </a:r>
              <a:r>
                <a:rPr lang="en-US" sz="1600" dirty="0">
                  <a:solidFill>
                    <a:schemeClr val="dk1"/>
                  </a:solidFill>
                  <a:latin typeface="Quattrocento Sans"/>
                  <a:ea typeface="Quattrocento Sans"/>
                  <a:cs typeface="Quattrocento Sans"/>
                  <a:sym typeface="Quattrocento Sans"/>
                </a:rPr>
                <a:t>, </a:t>
              </a:r>
              <a:r>
                <a:rPr lang="en-US" sz="1600" i="1" dirty="0">
                  <a:solidFill>
                    <a:schemeClr val="dk1"/>
                  </a:solidFill>
                  <a:latin typeface="Quattrocento Sans"/>
                  <a:ea typeface="Quattrocento Sans"/>
                  <a:cs typeface="Quattrocento Sans"/>
                  <a:sym typeface="Quattrocento Sans"/>
                </a:rPr>
                <a:t>Quake II </a:t>
              </a:r>
              <a:r>
                <a:rPr lang="en-US" sz="1600" dirty="0">
                  <a:solidFill>
                    <a:schemeClr val="dk1"/>
                  </a:solidFill>
                  <a:latin typeface="Quattrocento Sans"/>
                  <a:ea typeface="Quattrocento Sans"/>
                  <a:cs typeface="Quattrocento Sans"/>
                  <a:sym typeface="Quattrocento Sans"/>
                </a:rPr>
                <a:t>and </a:t>
              </a:r>
              <a:r>
                <a:rPr lang="en-US" sz="1600" i="1" dirty="0">
                  <a:solidFill>
                    <a:schemeClr val="dk1"/>
                  </a:solidFill>
                  <a:latin typeface="Quattrocento Sans"/>
                  <a:ea typeface="Quattrocento Sans"/>
                  <a:cs typeface="Quattrocento Sans"/>
                  <a:sym typeface="Quattrocento Sans"/>
                </a:rPr>
                <a:t>Quake III</a:t>
              </a:r>
              <a:endParaRPr lang="en-US" sz="1600" dirty="0">
                <a:solidFill>
                  <a:schemeClr val="dk1"/>
                </a:solidFill>
                <a:latin typeface="Quattrocento Sans"/>
                <a:ea typeface="Quattrocento Sans"/>
                <a:cs typeface="Quattrocento Sans"/>
                <a:sym typeface="Quattrocento Sans"/>
              </a:endParaRPr>
            </a:p>
            <a:p>
              <a:pPr marL="171450" lvl="1" indent="-171450">
                <a:lnSpc>
                  <a:spcPct val="90000"/>
                </a:lnSpc>
                <a:spcBef>
                  <a:spcPts val="240"/>
                </a:spcBef>
                <a:buClr>
                  <a:schemeClr val="dk1"/>
                </a:buClr>
                <a:buSzPts val="1600"/>
                <a:buFont typeface="Quattrocento Sans"/>
                <a:buChar char="•"/>
              </a:pPr>
              <a:r>
                <a:rPr lang="en-US" sz="1600" dirty="0">
                  <a:solidFill>
                    <a:schemeClr val="dk1"/>
                  </a:solidFill>
                  <a:latin typeface="Quattrocento Sans"/>
                  <a:ea typeface="Quattrocento Sans"/>
                  <a:cs typeface="Quattrocento Sans"/>
                  <a:sym typeface="Quattrocento Sans"/>
                </a:rPr>
                <a:t>All of these engines are very similar in architecture</a:t>
              </a:r>
            </a:p>
            <a:p>
              <a:pPr marL="171450" lvl="1" indent="-171450">
                <a:lnSpc>
                  <a:spcPct val="90000"/>
                </a:lnSpc>
                <a:spcBef>
                  <a:spcPts val="240"/>
                </a:spcBef>
                <a:buClr>
                  <a:schemeClr val="dk1"/>
                </a:buClr>
                <a:buSzPts val="1600"/>
                <a:buFont typeface="Quattrocento Sans"/>
                <a:buChar char="•"/>
              </a:pPr>
              <a:r>
                <a:rPr lang="en-US" sz="1600" dirty="0">
                  <a:solidFill>
                    <a:schemeClr val="dk1"/>
                  </a:solidFill>
                  <a:latin typeface="Quattrocento Sans"/>
                  <a:ea typeface="Quattrocento Sans"/>
                  <a:cs typeface="Quattrocento Sans"/>
                  <a:sym typeface="Quattrocento Sans"/>
                </a:rPr>
                <a:t>Has lineage that extends to modern games like </a:t>
              </a:r>
              <a:r>
                <a:rPr lang="en-US" sz="1600" i="1" dirty="0">
                  <a:solidFill>
                    <a:schemeClr val="dk1"/>
                  </a:solidFill>
                  <a:latin typeface="Quattrocento Sans"/>
                  <a:ea typeface="Quattrocento Sans"/>
                  <a:cs typeface="Quattrocento Sans"/>
                  <a:sym typeface="Quattrocento Sans"/>
                </a:rPr>
                <a:t>Medal of Honor</a:t>
              </a:r>
              <a:endParaRPr lang="en-US" sz="1600" dirty="0">
                <a:solidFill>
                  <a:schemeClr val="dk1"/>
                </a:solidFill>
                <a:latin typeface="Quattrocento Sans"/>
                <a:ea typeface="Quattrocento Sans"/>
                <a:cs typeface="Quattrocento Sans"/>
                <a:sym typeface="Quattrocento Sans"/>
              </a:endParaRPr>
            </a:p>
            <a:p>
              <a:pPr marL="171450" lvl="1" indent="-171450">
                <a:lnSpc>
                  <a:spcPct val="90000"/>
                </a:lnSpc>
                <a:spcBef>
                  <a:spcPts val="240"/>
                </a:spcBef>
                <a:buClr>
                  <a:schemeClr val="dk1"/>
                </a:buClr>
                <a:buSzPts val="1600"/>
                <a:buFont typeface="Quattrocento Sans"/>
                <a:buChar char="•"/>
              </a:pPr>
              <a:r>
                <a:rPr lang="en-US" sz="1600" i="1" dirty="0">
                  <a:solidFill>
                    <a:schemeClr val="dk1"/>
                  </a:solidFill>
                  <a:latin typeface="Quattrocento Sans"/>
                  <a:ea typeface="Quattrocento Sans"/>
                  <a:cs typeface="Quattrocento Sans"/>
                  <a:sym typeface="Quattrocento Sans"/>
                </a:rPr>
                <a:t>Quake</a:t>
              </a:r>
              <a:r>
                <a:rPr lang="en-US" sz="1600" dirty="0">
                  <a:solidFill>
                    <a:schemeClr val="dk1"/>
                  </a:solidFill>
                  <a:latin typeface="Quattrocento Sans"/>
                  <a:ea typeface="Quattrocento Sans"/>
                  <a:cs typeface="Quattrocento Sans"/>
                  <a:sym typeface="Quattrocento Sans"/>
                </a:rPr>
                <a:t> and </a:t>
              </a:r>
              <a:r>
                <a:rPr lang="en-US" sz="1600" i="1" dirty="0">
                  <a:solidFill>
                    <a:schemeClr val="dk1"/>
                  </a:solidFill>
                  <a:latin typeface="Quattrocento Sans"/>
                  <a:ea typeface="Quattrocento Sans"/>
                  <a:cs typeface="Quattrocento Sans"/>
                  <a:sym typeface="Quattrocento Sans"/>
                </a:rPr>
                <a:t>Quake II</a:t>
              </a:r>
              <a:r>
                <a:rPr lang="en-US" sz="1600" dirty="0">
                  <a:solidFill>
                    <a:schemeClr val="dk1"/>
                  </a:solidFill>
                  <a:latin typeface="Quattrocento Sans"/>
                  <a:ea typeface="Quattrocento Sans"/>
                  <a:cs typeface="Quattrocento Sans"/>
                  <a:sym typeface="Quattrocento Sans"/>
                </a:rPr>
                <a:t> engines source code are freely available (https://github.com/id-Software/Quake-2)</a:t>
              </a:r>
            </a:p>
          </p:txBody>
        </p:sp>
        <p:sp>
          <p:nvSpPr>
            <p:cNvPr id="389" name="Google Shape;389;p26"/>
            <p:cNvSpPr/>
            <p:nvPr/>
          </p:nvSpPr>
          <p:spPr>
            <a:xfrm>
              <a:off x="3818354" y="208120"/>
              <a:ext cx="3346422" cy="697811"/>
            </a:xfrm>
            <a:prstGeom prst="rect">
              <a:avLst/>
            </a:prstGeom>
            <a:gradFill>
              <a:gsLst>
                <a:gs pos="0">
                  <a:srgbClr val="5E81C9"/>
                </a:gs>
                <a:gs pos="50000">
                  <a:srgbClr val="3B70C9"/>
                </a:gs>
                <a:gs pos="100000">
                  <a:srgbClr val="2E60B8"/>
                </a:gs>
              </a:gsLst>
              <a:lin ang="5400000" scaled="0"/>
            </a:gradFill>
            <a:ln w="9525"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6"/>
            <p:cNvSpPr txBox="1"/>
            <p:nvPr/>
          </p:nvSpPr>
          <p:spPr>
            <a:xfrm>
              <a:off x="3818354" y="208120"/>
              <a:ext cx="3346422" cy="697811"/>
            </a:xfrm>
            <a:prstGeom prst="rect">
              <a:avLst/>
            </a:prstGeom>
            <a:noFill/>
            <a:ln>
              <a:noFill/>
            </a:ln>
          </p:spPr>
          <p:txBody>
            <a:bodyPr spcFirstLastPara="1" wrap="square" lIns="128000" tIns="73150" rIns="128000" bIns="73150" anchor="ctr" anchorCtr="0">
              <a:noAutofit/>
            </a:bodyPr>
            <a:lstStyle/>
            <a:p>
              <a:pPr lvl="0" algn="ctr">
                <a:lnSpc>
                  <a:spcPct val="90000"/>
                </a:lnSpc>
                <a:buClr>
                  <a:schemeClr val="lt1"/>
                </a:buClr>
                <a:buSzPts val="1600"/>
              </a:pPr>
              <a:r>
                <a:rPr lang="en-US" sz="1800" dirty="0">
                  <a:solidFill>
                    <a:schemeClr val="lt1"/>
                  </a:solidFill>
                  <a:latin typeface="Quattrocento Sans"/>
                  <a:ea typeface="Quattrocento Sans"/>
                  <a:cs typeface="Quattrocento Sans"/>
                  <a:sym typeface="Quattrocento Sans"/>
                </a:rPr>
                <a:t>Unreal Engine</a:t>
              </a:r>
              <a:endParaRPr lang="en-US" sz="1800" dirty="0"/>
            </a:p>
          </p:txBody>
        </p:sp>
        <p:sp>
          <p:nvSpPr>
            <p:cNvPr id="391" name="Google Shape;391;p26"/>
            <p:cNvSpPr/>
            <p:nvPr/>
          </p:nvSpPr>
          <p:spPr>
            <a:xfrm>
              <a:off x="3818354" y="905931"/>
              <a:ext cx="3346422" cy="3458699"/>
            </a:xfrm>
            <a:prstGeom prst="rect">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6"/>
            <p:cNvSpPr txBox="1"/>
            <p:nvPr/>
          </p:nvSpPr>
          <p:spPr>
            <a:xfrm>
              <a:off x="3818354" y="905931"/>
              <a:ext cx="3346422" cy="3458699"/>
            </a:xfrm>
            <a:prstGeom prst="rect">
              <a:avLst/>
            </a:prstGeom>
            <a:noFill/>
            <a:ln>
              <a:noFill/>
            </a:ln>
          </p:spPr>
          <p:txBody>
            <a:bodyPr spcFirstLastPara="1" wrap="square" lIns="96000" tIns="96000" rIns="128000" bIns="144000" anchor="t" anchorCtr="0">
              <a:noAutofit/>
            </a:bodyPr>
            <a:lstStyle/>
            <a:p>
              <a:pPr marL="171450" lvl="1" indent="-171450">
                <a:lnSpc>
                  <a:spcPct val="90000"/>
                </a:lnSpc>
                <a:buClr>
                  <a:schemeClr val="dk1"/>
                </a:buClr>
                <a:buSzPts val="1600"/>
                <a:buFont typeface="Quattrocento Sans"/>
                <a:buChar char="•"/>
              </a:pPr>
              <a:r>
                <a:rPr lang="en-US" dirty="0">
                  <a:solidFill>
                    <a:schemeClr val="dk1"/>
                  </a:solidFill>
                  <a:latin typeface="Quattrocento Sans" panose="020B0502050000020003" pitchFamily="34" charset="0"/>
                  <a:ea typeface="Quattrocento Sans"/>
                  <a:cs typeface="Quattrocento Sans"/>
                  <a:sym typeface="Quattrocento Sans"/>
                </a:rPr>
                <a:t>Epic Games, Inc. burst onto the FPS</a:t>
              </a:r>
            </a:p>
            <a:p>
              <a:pPr marL="171450" lvl="1" indent="-171450">
                <a:lnSpc>
                  <a:spcPct val="90000"/>
                </a:lnSpc>
                <a:buClr>
                  <a:schemeClr val="dk1"/>
                </a:buClr>
                <a:buSzPts val="1600"/>
                <a:buFont typeface="Quattrocento Sans"/>
                <a:buChar char="•"/>
              </a:pPr>
              <a:r>
                <a:rPr lang="en-US" dirty="0" err="1">
                  <a:latin typeface="Quattrocento Sans" panose="020B0502050000020003" pitchFamily="34" charset="0"/>
                </a:rPr>
                <a:t>Pros:Industry</a:t>
              </a:r>
              <a:r>
                <a:rPr lang="en-US" dirty="0">
                  <a:latin typeface="Quattrocento Sans" panose="020B0502050000020003" pitchFamily="34" charset="0"/>
                </a:rPr>
                <a:t> leader for photorealism (Nanite virtualized geometry, Lumen global illumination).Massive ecosystem, AAA support, free until revenue </a:t>
              </a:r>
              <a:r>
                <a:rPr lang="en-US" dirty="0" err="1">
                  <a:latin typeface="Quattrocento Sans" panose="020B0502050000020003" pitchFamily="34" charset="0"/>
                </a:rPr>
                <a:t>threshold.Widely</a:t>
              </a:r>
              <a:r>
                <a:rPr lang="en-US" dirty="0">
                  <a:latin typeface="Quattrocento Sans" panose="020B0502050000020003" pitchFamily="34" charset="0"/>
                </a:rPr>
                <a:t> used for games, film, architectural visualization, VR.</a:t>
              </a:r>
            </a:p>
            <a:p>
              <a:pPr marL="171450" lvl="1" indent="-171450">
                <a:lnSpc>
                  <a:spcPct val="90000"/>
                </a:lnSpc>
                <a:buClr>
                  <a:schemeClr val="dk1"/>
                </a:buClr>
                <a:buSzPts val="1600"/>
                <a:buFont typeface="Quattrocento Sans"/>
                <a:buChar char="•"/>
              </a:pPr>
              <a:r>
                <a:rPr lang="en-US" dirty="0" err="1">
                  <a:latin typeface="Quattrocento Sans" panose="020B0502050000020003" pitchFamily="34" charset="0"/>
                </a:rPr>
                <a:t>Cons:Heavy</a:t>
              </a:r>
              <a:r>
                <a:rPr lang="en-US" dirty="0">
                  <a:latin typeface="Quattrocento Sans" panose="020B0502050000020003" pitchFamily="34" charset="0"/>
                </a:rPr>
                <a:t> system </a:t>
              </a:r>
              <a:r>
                <a:rPr lang="en-US" dirty="0" err="1">
                  <a:latin typeface="Quattrocento Sans" panose="020B0502050000020003" pitchFamily="34" charset="0"/>
                </a:rPr>
                <a:t>requirements.Steeper</a:t>
              </a:r>
              <a:r>
                <a:rPr lang="en-US" dirty="0">
                  <a:latin typeface="Quattrocento Sans" panose="020B0502050000020003" pitchFamily="34" charset="0"/>
                </a:rPr>
                <a:t> learning curve for beginners.</a:t>
              </a:r>
            </a:p>
            <a:p>
              <a:pPr marL="171450" lvl="1" indent="-171450">
                <a:lnSpc>
                  <a:spcPct val="90000"/>
                </a:lnSpc>
                <a:buClr>
                  <a:schemeClr val="dk1"/>
                </a:buClr>
                <a:buSzPts val="1600"/>
                <a:buFont typeface="Quattrocento Sans"/>
                <a:buChar char="•"/>
              </a:pPr>
              <a:r>
                <a:rPr lang="en-US" dirty="0">
                  <a:latin typeface="Quattrocento Sans" panose="020B0502050000020003" pitchFamily="34" charset="0"/>
                </a:rPr>
                <a:t>Examples: Fortnite, The Matrix Awakens demo, </a:t>
              </a:r>
              <a:r>
                <a:rPr lang="en-US" dirty="0" err="1">
                  <a:latin typeface="Quattrocento Sans" panose="020B0502050000020003" pitchFamily="34" charset="0"/>
                </a:rPr>
                <a:t>Hellblade</a:t>
              </a:r>
              <a:r>
                <a:rPr lang="en-US" dirty="0">
                  <a:latin typeface="Quattrocento Sans" panose="020B0502050000020003" pitchFamily="34" charset="0"/>
                </a:rPr>
                <a:t> II.</a:t>
              </a:r>
            </a:p>
            <a:p>
              <a:pPr marL="171450" lvl="1" indent="-171450">
                <a:lnSpc>
                  <a:spcPct val="90000"/>
                </a:lnSpc>
                <a:buClr>
                  <a:schemeClr val="dk1"/>
                </a:buClr>
                <a:buSzPts val="1600"/>
                <a:buFont typeface="Quattrocento Sans"/>
                <a:buChar char="•"/>
              </a:pPr>
              <a:r>
                <a:rPr lang="en-US" dirty="0">
                  <a:latin typeface="Quattrocento Sans" panose="020B0502050000020003" pitchFamily="34" charset="0"/>
                </a:rPr>
                <a:t>Best for: AAA games, cinematic visuals, virtual production.</a:t>
              </a:r>
            </a:p>
          </p:txBody>
        </p:sp>
        <p:sp>
          <p:nvSpPr>
            <p:cNvPr id="393" name="Google Shape;393;p26"/>
            <p:cNvSpPr/>
            <p:nvPr/>
          </p:nvSpPr>
          <p:spPr>
            <a:xfrm>
              <a:off x="7633276" y="208120"/>
              <a:ext cx="3346422" cy="697811"/>
            </a:xfrm>
            <a:prstGeom prst="rect">
              <a:avLst/>
            </a:prstGeom>
            <a:gradFill>
              <a:gsLst>
                <a:gs pos="0">
                  <a:srgbClr val="5E81C9"/>
                </a:gs>
                <a:gs pos="50000">
                  <a:srgbClr val="3B70C9"/>
                </a:gs>
                <a:gs pos="100000">
                  <a:srgbClr val="2E60B8"/>
                </a:gs>
              </a:gsLst>
              <a:lin ang="5400000" scaled="0"/>
            </a:gradFill>
            <a:ln w="9525"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6"/>
            <p:cNvSpPr txBox="1"/>
            <p:nvPr/>
          </p:nvSpPr>
          <p:spPr>
            <a:xfrm>
              <a:off x="7633276" y="208120"/>
              <a:ext cx="3346422" cy="697811"/>
            </a:xfrm>
            <a:prstGeom prst="rect">
              <a:avLst/>
            </a:prstGeom>
            <a:noFill/>
            <a:ln>
              <a:noFill/>
            </a:ln>
          </p:spPr>
          <p:txBody>
            <a:bodyPr spcFirstLastPara="1" wrap="square" lIns="128000" tIns="73150" rIns="128000" bIns="73150" anchor="ctr" anchorCtr="0">
              <a:noAutofit/>
            </a:bodyPr>
            <a:lstStyle/>
            <a:p>
              <a:pPr marL="0" marR="0" lvl="0" indent="0" algn="ctr" rtl="0">
                <a:lnSpc>
                  <a:spcPct val="90000"/>
                </a:lnSpc>
                <a:spcBef>
                  <a:spcPts val="0"/>
                </a:spcBef>
                <a:spcAft>
                  <a:spcPts val="0"/>
                </a:spcAft>
                <a:buClr>
                  <a:schemeClr val="lt1"/>
                </a:buClr>
                <a:buSzPts val="1800"/>
                <a:buFont typeface="Quattrocento Sans"/>
                <a:buNone/>
              </a:pPr>
              <a:r>
                <a:rPr lang="en-US" sz="1800" b="0" i="0" u="none" strike="noStrike" cap="none" dirty="0">
                  <a:solidFill>
                    <a:schemeClr val="lt1"/>
                  </a:solidFill>
                  <a:latin typeface="Quattrocento Sans"/>
                  <a:ea typeface="Quattrocento Sans"/>
                  <a:cs typeface="Quattrocento Sans"/>
                  <a:sym typeface="Quattrocento Sans"/>
                </a:rPr>
                <a:t>Unity</a:t>
              </a:r>
              <a:endParaRPr dirty="0"/>
            </a:p>
          </p:txBody>
        </p:sp>
        <p:sp>
          <p:nvSpPr>
            <p:cNvPr id="395" name="Google Shape;395;p26"/>
            <p:cNvSpPr/>
            <p:nvPr/>
          </p:nvSpPr>
          <p:spPr>
            <a:xfrm>
              <a:off x="7633276" y="905931"/>
              <a:ext cx="3346422" cy="3458699"/>
            </a:xfrm>
            <a:prstGeom prst="rect">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p:cNvSpPr txBox="1"/>
            <p:nvPr/>
          </p:nvSpPr>
          <p:spPr>
            <a:xfrm>
              <a:off x="7633276" y="905931"/>
              <a:ext cx="3346422" cy="3458699"/>
            </a:xfrm>
            <a:prstGeom prst="rect">
              <a:avLst/>
            </a:prstGeom>
            <a:noFill/>
            <a:ln>
              <a:noFill/>
            </a:ln>
          </p:spPr>
          <p:txBody>
            <a:bodyPr spcFirstLastPara="1" wrap="square" lIns="96000" tIns="96000" rIns="128000" bIns="144000" anchor="t" anchorCtr="0">
              <a:noAutofit/>
            </a:bodyPr>
            <a:lstStyle/>
            <a:p>
              <a:pPr marL="114300" lvl="1" indent="-114300">
                <a:lnSpc>
                  <a:spcPct val="90000"/>
                </a:lnSpc>
                <a:buClr>
                  <a:schemeClr val="dk1"/>
                </a:buClr>
                <a:buSzPts val="1400"/>
                <a:buFont typeface="Quattrocento Sans"/>
                <a:buChar char="•"/>
              </a:pPr>
              <a:r>
                <a:rPr lang="en-US" dirty="0" err="1">
                  <a:latin typeface="Quattrocento Sans" panose="020B0502050000020003" pitchFamily="34" charset="0"/>
                </a:rPr>
                <a:t>Pros:Extremely</a:t>
              </a:r>
              <a:r>
                <a:rPr lang="en-US" dirty="0">
                  <a:latin typeface="Quattrocento Sans" panose="020B0502050000020003" pitchFamily="34" charset="0"/>
                </a:rPr>
                <a:t> versatile (2D, 3D, VR, mobile, indie).HDRP (High-Definition Render Pipeline) for high-end </a:t>
              </a:r>
              <a:r>
                <a:rPr lang="en-US" dirty="0" err="1">
                  <a:latin typeface="Quattrocento Sans" panose="020B0502050000020003" pitchFamily="34" charset="0"/>
                </a:rPr>
                <a:t>graphics.URP</a:t>
              </a:r>
              <a:r>
                <a:rPr lang="en-US" dirty="0">
                  <a:latin typeface="Quattrocento Sans" panose="020B0502050000020003" pitchFamily="34" charset="0"/>
                </a:rPr>
                <a:t> (Universal Render Pipeline) for cross-platform </a:t>
              </a:r>
              <a:r>
                <a:rPr lang="en-US" dirty="0" err="1">
                  <a:latin typeface="Quattrocento Sans" panose="020B0502050000020003" pitchFamily="34" charset="0"/>
                </a:rPr>
                <a:t>performance.Large</a:t>
              </a:r>
              <a:r>
                <a:rPr lang="en-US" dirty="0">
                  <a:latin typeface="Quattrocento Sans" panose="020B0502050000020003" pitchFamily="34" charset="0"/>
                </a:rPr>
                <a:t> asset store, strong developer community.</a:t>
              </a:r>
            </a:p>
            <a:p>
              <a:pPr marL="114300" lvl="1" indent="-114300">
                <a:lnSpc>
                  <a:spcPct val="90000"/>
                </a:lnSpc>
                <a:buClr>
                  <a:schemeClr val="dk1"/>
                </a:buClr>
                <a:buSzPts val="1400"/>
                <a:buFont typeface="Quattrocento Sans"/>
                <a:buChar char="•"/>
              </a:pPr>
              <a:r>
                <a:rPr lang="en-US" dirty="0" err="1">
                  <a:latin typeface="Quattrocento Sans" panose="020B0502050000020003" pitchFamily="34" charset="0"/>
                </a:rPr>
                <a:t>Cons:HDRP</a:t>
              </a:r>
              <a:r>
                <a:rPr lang="en-US" dirty="0">
                  <a:latin typeface="Quattrocento Sans" panose="020B0502050000020003" pitchFamily="34" charset="0"/>
                </a:rPr>
                <a:t> visuals not as cutting-edge as Unreal 5.Complex pipeline setup for advanced graphics.</a:t>
              </a:r>
            </a:p>
            <a:p>
              <a:pPr marL="114300" lvl="1" indent="-114300">
                <a:lnSpc>
                  <a:spcPct val="90000"/>
                </a:lnSpc>
                <a:buClr>
                  <a:schemeClr val="dk1"/>
                </a:buClr>
                <a:buSzPts val="1400"/>
                <a:buFont typeface="Quattrocento Sans"/>
                <a:buChar char="•"/>
              </a:pPr>
              <a:r>
                <a:rPr lang="en-US" dirty="0">
                  <a:latin typeface="Quattrocento Sans" panose="020B0502050000020003" pitchFamily="34" charset="0"/>
                </a:rPr>
                <a:t>Examples: Genshin Impact, Hollow Knight: </a:t>
              </a:r>
              <a:r>
                <a:rPr lang="en-US" dirty="0" err="1">
                  <a:latin typeface="Quattrocento Sans" panose="020B0502050000020003" pitchFamily="34" charset="0"/>
                </a:rPr>
                <a:t>Silksong</a:t>
              </a:r>
              <a:r>
                <a:rPr lang="en-US" dirty="0">
                  <a:latin typeface="Quattrocento Sans" panose="020B0502050000020003" pitchFamily="34" charset="0"/>
                </a:rPr>
                <a:t>, Cities: Skylines II.</a:t>
              </a:r>
            </a:p>
            <a:p>
              <a:pPr marL="114300" lvl="1" indent="-114300">
                <a:lnSpc>
                  <a:spcPct val="90000"/>
                </a:lnSpc>
                <a:buClr>
                  <a:schemeClr val="dk1"/>
                </a:buClr>
                <a:buSzPts val="1400"/>
                <a:buFont typeface="Quattrocento Sans"/>
                <a:buChar char="•"/>
              </a:pPr>
              <a:r>
                <a:rPr lang="en-US" dirty="0">
                  <a:latin typeface="Quattrocento Sans" panose="020B0502050000020003" pitchFamily="34" charset="0"/>
                </a:rPr>
                <a:t>Best for: Indie games, mobile/VR, cross-platform development.</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More engines</a:t>
            </a:r>
            <a:endParaRPr/>
          </a:p>
        </p:txBody>
      </p:sp>
      <p:grpSp>
        <p:nvGrpSpPr>
          <p:cNvPr id="361" name="Google Shape;361;p25"/>
          <p:cNvGrpSpPr/>
          <p:nvPr/>
        </p:nvGrpSpPr>
        <p:grpSpPr>
          <a:xfrm>
            <a:off x="608562" y="1693736"/>
            <a:ext cx="10974871" cy="4393700"/>
            <a:chOff x="4129" y="89525"/>
            <a:chExt cx="10974871" cy="4393700"/>
          </a:xfrm>
        </p:grpSpPr>
        <p:sp>
          <p:nvSpPr>
            <p:cNvPr id="362" name="Google Shape;362;p25"/>
            <p:cNvSpPr/>
            <p:nvPr/>
          </p:nvSpPr>
          <p:spPr>
            <a:xfrm>
              <a:off x="4129" y="89525"/>
              <a:ext cx="2483002" cy="550700"/>
            </a:xfrm>
            <a:prstGeom prst="rect">
              <a:avLst/>
            </a:prstGeom>
            <a:gradFill>
              <a:gsLst>
                <a:gs pos="0">
                  <a:srgbClr val="F08B54"/>
                </a:gs>
                <a:gs pos="50000">
                  <a:srgbClr val="F67A26"/>
                </a:gs>
                <a:gs pos="100000">
                  <a:srgbClr val="E36A18"/>
                </a:gs>
              </a:gsLst>
              <a:lin ang="5400000" scaled="0"/>
            </a:gradFill>
            <a:ln w="9525"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5"/>
            <p:cNvSpPr txBox="1"/>
            <p:nvPr/>
          </p:nvSpPr>
          <p:spPr>
            <a:xfrm>
              <a:off x="4129" y="89525"/>
              <a:ext cx="2483002" cy="550700"/>
            </a:xfrm>
            <a:prstGeom prst="rect">
              <a:avLst/>
            </a:prstGeom>
            <a:noFill/>
            <a:ln>
              <a:noFill/>
            </a:ln>
          </p:spPr>
          <p:txBody>
            <a:bodyPr spcFirstLastPara="1" wrap="square" lIns="99550" tIns="56875" rIns="99550" bIns="56875" anchor="ctr" anchorCtr="0">
              <a:noAutofit/>
            </a:bodyPr>
            <a:lstStyle/>
            <a:p>
              <a:pPr marL="0" marR="0" lvl="0" indent="0" algn="ctr" rtl="0">
                <a:lnSpc>
                  <a:spcPct val="90000"/>
                </a:lnSpc>
                <a:spcBef>
                  <a:spcPts val="0"/>
                </a:spcBef>
                <a:spcAft>
                  <a:spcPts val="0"/>
                </a:spcAft>
                <a:buClr>
                  <a:schemeClr val="lt1"/>
                </a:buClr>
                <a:buSzPts val="1400"/>
                <a:buFont typeface="Quattrocento Sans"/>
                <a:buNone/>
              </a:pPr>
              <a:r>
                <a:rPr lang="en-US" sz="1400" b="0" i="0" u="none" strike="noStrike" cap="none" dirty="0">
                  <a:solidFill>
                    <a:schemeClr val="lt1"/>
                  </a:solidFill>
                  <a:latin typeface="Quattrocento Sans"/>
                  <a:ea typeface="Quattrocento Sans"/>
                  <a:cs typeface="Quattrocento Sans"/>
                  <a:sym typeface="Quattrocento Sans"/>
                </a:rPr>
                <a:t>Godot Engine</a:t>
              </a:r>
              <a:endParaRPr lang="en-US" dirty="0"/>
            </a:p>
          </p:txBody>
        </p:sp>
        <p:sp>
          <p:nvSpPr>
            <p:cNvPr id="364" name="Google Shape;364;p25"/>
            <p:cNvSpPr/>
            <p:nvPr/>
          </p:nvSpPr>
          <p:spPr>
            <a:xfrm>
              <a:off x="4129" y="640226"/>
              <a:ext cx="2483002" cy="3842999"/>
            </a:xfrm>
            <a:prstGeom prst="rect">
              <a:avLst/>
            </a:prstGeom>
            <a:solidFill>
              <a:srgbClr val="F7D5CB">
                <a:alpha val="89803"/>
              </a:srgbClr>
            </a:solidFill>
            <a:ln w="9525"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5"/>
            <p:cNvSpPr txBox="1"/>
            <p:nvPr/>
          </p:nvSpPr>
          <p:spPr>
            <a:xfrm>
              <a:off x="4129" y="640226"/>
              <a:ext cx="2483002" cy="3842999"/>
            </a:xfrm>
            <a:prstGeom prst="rect">
              <a:avLst/>
            </a:prstGeom>
            <a:noFill/>
            <a:ln>
              <a:noFill/>
            </a:ln>
          </p:spPr>
          <p:txBody>
            <a:bodyPr spcFirstLastPara="1" wrap="square" lIns="74675" tIns="74675" rIns="99550" bIns="112000" anchor="t" anchorCtr="0">
              <a:noAutofit/>
            </a:bodyPr>
            <a:lstStyle/>
            <a:p>
              <a:pPr marL="114300" marR="0" lvl="1" indent="-114300" algn="l" rtl="0">
                <a:lnSpc>
                  <a:spcPct val="90000"/>
                </a:lnSpc>
                <a:spcBef>
                  <a:spcPts val="210"/>
                </a:spcBef>
                <a:spcAft>
                  <a:spcPts val="0"/>
                </a:spcAft>
                <a:buClr>
                  <a:schemeClr val="dk1"/>
                </a:buClr>
                <a:buSzPts val="1400"/>
                <a:buFont typeface="Quattrocento Sans"/>
                <a:buChar char="•"/>
              </a:pPr>
              <a:r>
                <a:rPr lang="en-US" dirty="0" err="1">
                  <a:latin typeface="Quattrocento Sans" panose="020B0502050000020003" pitchFamily="34" charset="0"/>
                </a:rPr>
                <a:t>Pros:Open-source</a:t>
              </a:r>
              <a:r>
                <a:rPr lang="en-US" dirty="0">
                  <a:latin typeface="Quattrocento Sans" panose="020B0502050000020003" pitchFamily="34" charset="0"/>
                </a:rPr>
                <a:t>, completely free (MIT license).Lightweight, great for 2D and mid-tier 3D.Active development, growing community.</a:t>
              </a:r>
            </a:p>
            <a:p>
              <a:pPr marL="114300" marR="0" lvl="1" indent="-114300" algn="l" rtl="0">
                <a:lnSpc>
                  <a:spcPct val="90000"/>
                </a:lnSpc>
                <a:spcBef>
                  <a:spcPts val="210"/>
                </a:spcBef>
                <a:spcAft>
                  <a:spcPts val="0"/>
                </a:spcAft>
                <a:buClr>
                  <a:schemeClr val="dk1"/>
                </a:buClr>
                <a:buSzPts val="1400"/>
                <a:buFont typeface="Quattrocento Sans"/>
                <a:buChar char="•"/>
              </a:pPr>
              <a:r>
                <a:rPr lang="en-US" dirty="0">
                  <a:latin typeface="Quattrocento Sans" panose="020B0502050000020003" pitchFamily="34" charset="0"/>
                </a:rPr>
                <a:t>Cons:3D rendering still catching up with Unreal/</a:t>
              </a:r>
              <a:r>
                <a:rPr lang="en-US" dirty="0" err="1">
                  <a:latin typeface="Quattrocento Sans" panose="020B0502050000020003" pitchFamily="34" charset="0"/>
                </a:rPr>
                <a:t>Unity.Fewer</a:t>
              </a:r>
              <a:r>
                <a:rPr lang="en-US" dirty="0">
                  <a:latin typeface="Quattrocento Sans" panose="020B0502050000020003" pitchFamily="34" charset="0"/>
                </a:rPr>
                <a:t> AAA titles made with it.</a:t>
              </a:r>
            </a:p>
            <a:p>
              <a:pPr marL="114300" marR="0" lvl="1" indent="-114300" algn="l" rtl="0">
                <a:lnSpc>
                  <a:spcPct val="90000"/>
                </a:lnSpc>
                <a:spcBef>
                  <a:spcPts val="210"/>
                </a:spcBef>
                <a:spcAft>
                  <a:spcPts val="0"/>
                </a:spcAft>
                <a:buClr>
                  <a:schemeClr val="dk1"/>
                </a:buClr>
                <a:buSzPts val="1400"/>
                <a:buFont typeface="Quattrocento Sans"/>
                <a:buChar char="•"/>
              </a:pPr>
              <a:r>
                <a:rPr lang="en-US" dirty="0">
                  <a:latin typeface="Quattrocento Sans" panose="020B0502050000020003" pitchFamily="34" charset="0"/>
                </a:rPr>
                <a:t>Examples: Cassette Beasts, Deep Rock Galactic: Survivor.</a:t>
              </a:r>
            </a:p>
            <a:p>
              <a:pPr marL="114300" marR="0" lvl="1" indent="-114300" algn="l" rtl="0">
                <a:lnSpc>
                  <a:spcPct val="90000"/>
                </a:lnSpc>
                <a:spcBef>
                  <a:spcPts val="210"/>
                </a:spcBef>
                <a:spcAft>
                  <a:spcPts val="0"/>
                </a:spcAft>
                <a:buClr>
                  <a:schemeClr val="dk1"/>
                </a:buClr>
                <a:buSzPts val="1400"/>
                <a:buFont typeface="Quattrocento Sans"/>
                <a:buChar char="•"/>
              </a:pPr>
              <a:r>
                <a:rPr lang="en-US" dirty="0">
                  <a:latin typeface="Quattrocento Sans" panose="020B0502050000020003" pitchFamily="34" charset="0"/>
                </a:rPr>
                <a:t>Best for: Indies, 2D/3D hybrid projects, developers who want full control.</a:t>
              </a:r>
            </a:p>
          </p:txBody>
        </p:sp>
        <p:sp>
          <p:nvSpPr>
            <p:cNvPr id="366" name="Google Shape;366;p25"/>
            <p:cNvSpPr/>
            <p:nvPr/>
          </p:nvSpPr>
          <p:spPr>
            <a:xfrm>
              <a:off x="2834752" y="89525"/>
              <a:ext cx="2483002" cy="550700"/>
            </a:xfrm>
            <a:prstGeom prst="rect">
              <a:avLst/>
            </a:prstGeom>
            <a:gradFill>
              <a:gsLst>
                <a:gs pos="0">
                  <a:srgbClr val="F08B54"/>
                </a:gs>
                <a:gs pos="50000">
                  <a:srgbClr val="F67A26"/>
                </a:gs>
                <a:gs pos="100000">
                  <a:srgbClr val="E36A18"/>
                </a:gs>
              </a:gsLst>
              <a:lin ang="5400000" scaled="0"/>
            </a:gradFill>
            <a:ln w="9525"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5"/>
            <p:cNvSpPr txBox="1"/>
            <p:nvPr/>
          </p:nvSpPr>
          <p:spPr>
            <a:xfrm>
              <a:off x="2834752" y="89525"/>
              <a:ext cx="2483002" cy="550700"/>
            </a:xfrm>
            <a:prstGeom prst="rect">
              <a:avLst/>
            </a:prstGeom>
            <a:noFill/>
            <a:ln>
              <a:noFill/>
            </a:ln>
          </p:spPr>
          <p:txBody>
            <a:bodyPr spcFirstLastPara="1" wrap="square" lIns="99550" tIns="56875" rIns="99550" bIns="56875" anchor="ctr" anchorCtr="0">
              <a:noAutofit/>
            </a:bodyPr>
            <a:lstStyle/>
            <a:p>
              <a:pPr marL="0" marR="0" lvl="0" indent="0" algn="ctr" rtl="0">
                <a:lnSpc>
                  <a:spcPct val="90000"/>
                </a:lnSpc>
                <a:spcBef>
                  <a:spcPts val="0"/>
                </a:spcBef>
                <a:spcAft>
                  <a:spcPts val="0"/>
                </a:spcAft>
                <a:buClr>
                  <a:schemeClr val="lt1"/>
                </a:buClr>
                <a:buSzPts val="1400"/>
                <a:buFont typeface="Quattrocento Sans"/>
                <a:buNone/>
              </a:pPr>
              <a:r>
                <a:rPr lang="en-US" sz="1400" b="0" i="0" u="none" strike="noStrike" cap="none">
                  <a:solidFill>
                    <a:schemeClr val="lt1"/>
                  </a:solidFill>
                  <a:latin typeface="Quattrocento Sans"/>
                  <a:ea typeface="Quattrocento Sans"/>
                  <a:cs typeface="Quattrocento Sans"/>
                  <a:sym typeface="Quattrocento Sans"/>
                </a:rPr>
                <a:t>Source Engine</a:t>
              </a:r>
              <a:endParaRPr/>
            </a:p>
          </p:txBody>
        </p:sp>
        <p:sp>
          <p:nvSpPr>
            <p:cNvPr id="368" name="Google Shape;368;p25"/>
            <p:cNvSpPr/>
            <p:nvPr/>
          </p:nvSpPr>
          <p:spPr>
            <a:xfrm>
              <a:off x="2834752" y="640226"/>
              <a:ext cx="2483002" cy="3842999"/>
            </a:xfrm>
            <a:prstGeom prst="rect">
              <a:avLst/>
            </a:prstGeom>
            <a:solidFill>
              <a:srgbClr val="F7D5CB">
                <a:alpha val="89803"/>
              </a:srgbClr>
            </a:solidFill>
            <a:ln w="9525"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5"/>
            <p:cNvSpPr txBox="1"/>
            <p:nvPr/>
          </p:nvSpPr>
          <p:spPr>
            <a:xfrm>
              <a:off x="2834752" y="640226"/>
              <a:ext cx="2483002" cy="3842999"/>
            </a:xfrm>
            <a:prstGeom prst="rect">
              <a:avLst/>
            </a:prstGeom>
            <a:noFill/>
            <a:ln>
              <a:noFill/>
            </a:ln>
          </p:spPr>
          <p:txBody>
            <a:bodyPr spcFirstLastPara="1" wrap="square" lIns="74675" tIns="74675" rIns="99550" bIns="112000" anchor="t" anchorCtr="0">
              <a:noAutofit/>
            </a:bodyPr>
            <a:lstStyle/>
            <a:p>
              <a:pPr marL="114300" marR="0" lvl="1" indent="-114300" algn="l" rtl="0">
                <a:lnSpc>
                  <a:spcPct val="90000"/>
                </a:lnSpc>
                <a:spcBef>
                  <a:spcPts val="0"/>
                </a:spcBef>
                <a:spcAft>
                  <a:spcPts val="0"/>
                </a:spcAft>
                <a:buClr>
                  <a:schemeClr val="dk1"/>
                </a:buClr>
                <a:buSzPts val="1400"/>
                <a:buFont typeface="Quattrocento Sans"/>
                <a:buChar char="•"/>
              </a:pPr>
              <a:r>
                <a:rPr lang="en-US" sz="1400" b="0" i="0" u="none" strike="noStrike" cap="none" dirty="0">
                  <a:solidFill>
                    <a:schemeClr val="dk1"/>
                  </a:solidFill>
                  <a:latin typeface="Quattrocento Sans"/>
                  <a:ea typeface="Quattrocento Sans"/>
                  <a:cs typeface="Quattrocento Sans"/>
                  <a:sym typeface="Quattrocento Sans"/>
                </a:rPr>
                <a:t>Games like </a:t>
              </a:r>
              <a:r>
                <a:rPr lang="en-US" sz="1400" b="0" i="1" u="none" strike="noStrike" cap="none" dirty="0">
                  <a:solidFill>
                    <a:schemeClr val="dk1"/>
                  </a:solidFill>
                  <a:latin typeface="Quattrocento Sans"/>
                  <a:ea typeface="Quattrocento Sans"/>
                  <a:cs typeface="Quattrocento Sans"/>
                  <a:sym typeface="Quattrocento Sans"/>
                </a:rPr>
                <a:t>Half-life 2 </a:t>
              </a:r>
              <a:r>
                <a:rPr lang="en-US" sz="1400" b="0" i="0" u="none" strike="noStrike" cap="none" dirty="0">
                  <a:solidFill>
                    <a:schemeClr val="dk1"/>
                  </a:solidFill>
                  <a:latin typeface="Quattrocento Sans"/>
                  <a:ea typeface="Quattrocento Sans"/>
                  <a:cs typeface="Quattrocento Sans"/>
                  <a:sym typeface="Quattrocento Sans"/>
                </a:rPr>
                <a:t>and its sequels, </a:t>
              </a:r>
              <a:r>
                <a:rPr lang="en-US" sz="1400" b="0" i="1" u="none" strike="noStrike" cap="none" dirty="0">
                  <a:solidFill>
                    <a:schemeClr val="dk1"/>
                  </a:solidFill>
                  <a:latin typeface="Quattrocento Sans"/>
                  <a:ea typeface="Quattrocento Sans"/>
                  <a:cs typeface="Quattrocento Sans"/>
                  <a:sym typeface="Quattrocento Sans"/>
                </a:rPr>
                <a:t>Team Fortress 2,</a:t>
              </a:r>
              <a:r>
                <a:rPr lang="en-US" sz="1400" b="0" i="0" u="none" strike="noStrike" cap="none" dirty="0">
                  <a:solidFill>
                    <a:schemeClr val="dk1"/>
                  </a:solidFill>
                  <a:latin typeface="Quattrocento Sans"/>
                  <a:ea typeface="Quattrocento Sans"/>
                  <a:cs typeface="Quattrocento Sans"/>
                  <a:sym typeface="Quattrocento Sans"/>
                </a:rPr>
                <a:t> and </a:t>
              </a:r>
              <a:r>
                <a:rPr lang="en-US" sz="1400" b="0" i="1" u="none" strike="noStrike" cap="none" dirty="0">
                  <a:solidFill>
                    <a:schemeClr val="dk1"/>
                  </a:solidFill>
                  <a:latin typeface="Quattrocento Sans"/>
                  <a:ea typeface="Quattrocento Sans"/>
                  <a:cs typeface="Quattrocento Sans"/>
                  <a:sym typeface="Quattrocento Sans"/>
                </a:rPr>
                <a:t>Portal</a:t>
              </a:r>
              <a:endParaRPr sz="1400" b="0" i="0" u="none" strike="noStrike" cap="none" dirty="0">
                <a:solidFill>
                  <a:schemeClr val="dk1"/>
                </a:solidFill>
                <a:latin typeface="Quattrocento Sans"/>
                <a:ea typeface="Quattrocento Sans"/>
                <a:cs typeface="Quattrocento Sans"/>
                <a:sym typeface="Quattrocento Sans"/>
              </a:endParaRPr>
            </a:p>
            <a:p>
              <a:pPr marL="114300" marR="0" lvl="1" indent="-114300" algn="l" rtl="0">
                <a:lnSpc>
                  <a:spcPct val="90000"/>
                </a:lnSpc>
                <a:spcBef>
                  <a:spcPts val="210"/>
                </a:spcBef>
                <a:spcAft>
                  <a:spcPts val="0"/>
                </a:spcAft>
                <a:buClr>
                  <a:schemeClr val="dk1"/>
                </a:buClr>
                <a:buSzPts val="1400"/>
                <a:buFont typeface="Quattrocento Sans"/>
                <a:buChar char="•"/>
              </a:pPr>
              <a:r>
                <a:rPr lang="en-US" sz="1400" b="0" i="0" u="none" strike="noStrike" cap="none" dirty="0">
                  <a:solidFill>
                    <a:schemeClr val="dk1"/>
                  </a:solidFill>
                  <a:latin typeface="Quattrocento Sans"/>
                  <a:ea typeface="Quattrocento Sans"/>
                  <a:cs typeface="Quattrocento Sans"/>
                  <a:sym typeface="Quattrocento Sans"/>
                </a:rPr>
                <a:t>Very powerful with good graphics capabilities and a good toolset</a:t>
              </a:r>
              <a:endParaRPr dirty="0"/>
            </a:p>
          </p:txBody>
        </p:sp>
        <p:sp>
          <p:nvSpPr>
            <p:cNvPr id="370" name="Google Shape;370;p25"/>
            <p:cNvSpPr/>
            <p:nvPr/>
          </p:nvSpPr>
          <p:spPr>
            <a:xfrm>
              <a:off x="5665375" y="89525"/>
              <a:ext cx="2483002" cy="550700"/>
            </a:xfrm>
            <a:prstGeom prst="rect">
              <a:avLst/>
            </a:prstGeom>
            <a:gradFill>
              <a:gsLst>
                <a:gs pos="0">
                  <a:srgbClr val="F08B54"/>
                </a:gs>
                <a:gs pos="50000">
                  <a:srgbClr val="F67A26"/>
                </a:gs>
                <a:gs pos="100000">
                  <a:srgbClr val="E36A18"/>
                </a:gs>
              </a:gsLst>
              <a:lin ang="5400000" scaled="0"/>
            </a:gradFill>
            <a:ln w="9525"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5"/>
            <p:cNvSpPr txBox="1"/>
            <p:nvPr/>
          </p:nvSpPr>
          <p:spPr>
            <a:xfrm>
              <a:off x="5665375" y="89525"/>
              <a:ext cx="2483002" cy="550700"/>
            </a:xfrm>
            <a:prstGeom prst="rect">
              <a:avLst/>
            </a:prstGeom>
            <a:noFill/>
            <a:ln>
              <a:noFill/>
            </a:ln>
          </p:spPr>
          <p:txBody>
            <a:bodyPr spcFirstLastPara="1" wrap="square" lIns="99550" tIns="56875" rIns="99550" bIns="56875" anchor="ctr" anchorCtr="0">
              <a:noAutofit/>
            </a:bodyPr>
            <a:lstStyle/>
            <a:p>
              <a:pPr marL="0" marR="0" lvl="0" indent="0" algn="ctr" rtl="0">
                <a:lnSpc>
                  <a:spcPct val="90000"/>
                </a:lnSpc>
                <a:spcBef>
                  <a:spcPts val="0"/>
                </a:spcBef>
                <a:spcAft>
                  <a:spcPts val="0"/>
                </a:spcAft>
                <a:buClr>
                  <a:schemeClr val="lt1"/>
                </a:buClr>
                <a:buSzPts val="1400"/>
                <a:buFont typeface="Quattrocento Sans"/>
                <a:buNone/>
              </a:pPr>
              <a:r>
                <a:rPr lang="en-US" sz="1400" b="0" i="0" u="none" strike="noStrike" cap="none">
                  <a:solidFill>
                    <a:schemeClr val="lt1"/>
                  </a:solidFill>
                  <a:latin typeface="Quattrocento Sans"/>
                  <a:ea typeface="Quattrocento Sans"/>
                  <a:cs typeface="Quattrocento Sans"/>
                  <a:sym typeface="Quattrocento Sans"/>
                </a:rPr>
                <a:t>DICE’s Frostbite by EA</a:t>
              </a:r>
              <a:endParaRPr/>
            </a:p>
          </p:txBody>
        </p:sp>
        <p:sp>
          <p:nvSpPr>
            <p:cNvPr id="372" name="Google Shape;372;p25"/>
            <p:cNvSpPr/>
            <p:nvPr/>
          </p:nvSpPr>
          <p:spPr>
            <a:xfrm>
              <a:off x="5665375" y="640226"/>
              <a:ext cx="2483002" cy="3842999"/>
            </a:xfrm>
            <a:prstGeom prst="rect">
              <a:avLst/>
            </a:prstGeom>
            <a:solidFill>
              <a:srgbClr val="F7D5CB">
                <a:alpha val="89803"/>
              </a:srgbClr>
            </a:solidFill>
            <a:ln w="9525"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5"/>
            <p:cNvSpPr txBox="1"/>
            <p:nvPr/>
          </p:nvSpPr>
          <p:spPr>
            <a:xfrm>
              <a:off x="5665375" y="640226"/>
              <a:ext cx="2483002" cy="3842999"/>
            </a:xfrm>
            <a:prstGeom prst="rect">
              <a:avLst/>
            </a:prstGeom>
            <a:noFill/>
            <a:ln>
              <a:noFill/>
            </a:ln>
          </p:spPr>
          <p:txBody>
            <a:bodyPr spcFirstLastPara="1" wrap="square" lIns="74675" tIns="74675" rIns="99550" bIns="112000" anchor="t" anchorCtr="0">
              <a:noAutofit/>
            </a:bodyPr>
            <a:lstStyle/>
            <a:p>
              <a:pPr marL="114300" marR="0" lvl="1" indent="-114300" algn="l" rtl="0">
                <a:lnSpc>
                  <a:spcPct val="90000"/>
                </a:lnSpc>
                <a:spcBef>
                  <a:spcPts val="210"/>
                </a:spcBef>
                <a:spcAft>
                  <a:spcPts val="0"/>
                </a:spcAft>
                <a:buClr>
                  <a:schemeClr val="dk1"/>
                </a:buClr>
                <a:buSzPts val="1400"/>
                <a:buFont typeface="Quattrocento Sans"/>
                <a:buChar char="•"/>
              </a:pPr>
              <a:r>
                <a:rPr lang="en-CA" dirty="0" err="1">
                  <a:latin typeface="Quattrocento Sans" panose="020B0502050000020003" pitchFamily="34" charset="0"/>
                </a:rPr>
                <a:t>Pros:Proprietary</a:t>
              </a:r>
              <a:r>
                <a:rPr lang="en-CA" dirty="0">
                  <a:latin typeface="Quattrocento Sans" panose="020B0502050000020003" pitchFamily="34" charset="0"/>
                </a:rPr>
                <a:t> engine with strong graphics (used in Battlefield).Optimized for realism and large-scale environments.</a:t>
              </a:r>
            </a:p>
            <a:p>
              <a:pPr marL="114300" marR="0" lvl="1" indent="-114300" algn="l" rtl="0">
                <a:lnSpc>
                  <a:spcPct val="90000"/>
                </a:lnSpc>
                <a:spcBef>
                  <a:spcPts val="210"/>
                </a:spcBef>
                <a:spcAft>
                  <a:spcPts val="0"/>
                </a:spcAft>
                <a:buClr>
                  <a:schemeClr val="dk1"/>
                </a:buClr>
                <a:buSzPts val="1400"/>
                <a:buFont typeface="Quattrocento Sans"/>
                <a:buChar char="•"/>
              </a:pPr>
              <a:r>
                <a:rPr lang="en-CA" dirty="0" err="1">
                  <a:latin typeface="Quattrocento Sans" panose="020B0502050000020003" pitchFamily="34" charset="0"/>
                </a:rPr>
                <a:t>Cons:Not</a:t>
              </a:r>
              <a:r>
                <a:rPr lang="en-CA" dirty="0">
                  <a:latin typeface="Quattrocento Sans" panose="020B0502050000020003" pitchFamily="34" charset="0"/>
                </a:rPr>
                <a:t> publicly available—only EA studios use it.</a:t>
              </a:r>
            </a:p>
            <a:p>
              <a:pPr marL="114300" marR="0" lvl="1" indent="-114300" algn="l" rtl="0">
                <a:lnSpc>
                  <a:spcPct val="90000"/>
                </a:lnSpc>
                <a:spcBef>
                  <a:spcPts val="210"/>
                </a:spcBef>
                <a:spcAft>
                  <a:spcPts val="0"/>
                </a:spcAft>
                <a:buClr>
                  <a:schemeClr val="dk1"/>
                </a:buClr>
                <a:buSzPts val="1400"/>
                <a:buFont typeface="Quattrocento Sans"/>
                <a:buChar char="•"/>
              </a:pPr>
              <a:r>
                <a:rPr lang="en-CA" dirty="0">
                  <a:latin typeface="Quattrocento Sans" panose="020B0502050000020003" pitchFamily="34" charset="0"/>
                </a:rPr>
                <a:t>Examples: Battlefield series, FIFA / EA Sports FC, Mass Effect Andromeda.</a:t>
              </a:r>
            </a:p>
            <a:p>
              <a:pPr marL="114300" marR="0" lvl="1" indent="-114300" algn="l" rtl="0">
                <a:lnSpc>
                  <a:spcPct val="90000"/>
                </a:lnSpc>
                <a:spcBef>
                  <a:spcPts val="210"/>
                </a:spcBef>
                <a:spcAft>
                  <a:spcPts val="0"/>
                </a:spcAft>
                <a:buClr>
                  <a:schemeClr val="dk1"/>
                </a:buClr>
                <a:buSzPts val="1400"/>
                <a:buFont typeface="Quattrocento Sans"/>
                <a:buChar char="•"/>
              </a:pPr>
              <a:r>
                <a:rPr lang="en-CA" dirty="0">
                  <a:latin typeface="Quattrocento Sans" panose="020B0502050000020003" pitchFamily="34" charset="0"/>
                </a:rPr>
                <a:t>Best for: AAA realism (internal EA projects).</a:t>
              </a:r>
              <a:endParaRPr dirty="0">
                <a:latin typeface="Quattrocento Sans" panose="020B0502050000020003" pitchFamily="34" charset="0"/>
              </a:endParaRPr>
            </a:p>
          </p:txBody>
        </p:sp>
        <p:sp>
          <p:nvSpPr>
            <p:cNvPr id="374" name="Google Shape;374;p25"/>
            <p:cNvSpPr/>
            <p:nvPr/>
          </p:nvSpPr>
          <p:spPr>
            <a:xfrm>
              <a:off x="8495998" y="89525"/>
              <a:ext cx="2483002" cy="550700"/>
            </a:xfrm>
            <a:prstGeom prst="rect">
              <a:avLst/>
            </a:prstGeom>
            <a:gradFill>
              <a:gsLst>
                <a:gs pos="0">
                  <a:srgbClr val="F08B54"/>
                </a:gs>
                <a:gs pos="50000">
                  <a:srgbClr val="F67A26"/>
                </a:gs>
                <a:gs pos="100000">
                  <a:srgbClr val="E36A18"/>
                </a:gs>
              </a:gsLst>
              <a:lin ang="5400000" scaled="0"/>
            </a:gradFill>
            <a:ln w="9525"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5"/>
            <p:cNvSpPr txBox="1"/>
            <p:nvPr/>
          </p:nvSpPr>
          <p:spPr>
            <a:xfrm>
              <a:off x="8495998" y="89525"/>
              <a:ext cx="2483002" cy="550700"/>
            </a:xfrm>
            <a:prstGeom prst="rect">
              <a:avLst/>
            </a:prstGeom>
            <a:noFill/>
            <a:ln>
              <a:noFill/>
            </a:ln>
          </p:spPr>
          <p:txBody>
            <a:bodyPr spcFirstLastPara="1" wrap="square" lIns="99550" tIns="56875" rIns="99550" bIns="56875" anchor="ctr" anchorCtr="0">
              <a:noAutofit/>
            </a:bodyPr>
            <a:lstStyle/>
            <a:p>
              <a:pPr marL="0" marR="0" lvl="0" indent="0" algn="ctr" rtl="0">
                <a:lnSpc>
                  <a:spcPct val="90000"/>
                </a:lnSpc>
                <a:spcBef>
                  <a:spcPts val="0"/>
                </a:spcBef>
                <a:spcAft>
                  <a:spcPts val="0"/>
                </a:spcAft>
                <a:buClr>
                  <a:schemeClr val="lt1"/>
                </a:buClr>
                <a:buSzPts val="1400"/>
                <a:buFont typeface="Quattrocento Sans"/>
                <a:buNone/>
              </a:pPr>
              <a:r>
                <a:rPr lang="en-US" sz="1400" b="0" i="0" u="none" strike="noStrike" cap="none">
                  <a:solidFill>
                    <a:schemeClr val="lt1"/>
                  </a:solidFill>
                  <a:latin typeface="Quattrocento Sans"/>
                  <a:ea typeface="Quattrocento Sans"/>
                  <a:cs typeface="Quattrocento Sans"/>
                  <a:sym typeface="Quattrocento Sans"/>
                </a:rPr>
                <a:t>Rockstar Advanced Game Engine (RAGE)</a:t>
              </a:r>
              <a:endParaRPr/>
            </a:p>
          </p:txBody>
        </p:sp>
        <p:sp>
          <p:nvSpPr>
            <p:cNvPr id="376" name="Google Shape;376;p25"/>
            <p:cNvSpPr/>
            <p:nvPr/>
          </p:nvSpPr>
          <p:spPr>
            <a:xfrm>
              <a:off x="8495998" y="640226"/>
              <a:ext cx="2483002" cy="3842999"/>
            </a:xfrm>
            <a:prstGeom prst="rect">
              <a:avLst/>
            </a:prstGeom>
            <a:solidFill>
              <a:srgbClr val="F7D5CB">
                <a:alpha val="89803"/>
              </a:srgbClr>
            </a:solidFill>
            <a:ln w="9525"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5"/>
            <p:cNvSpPr txBox="1"/>
            <p:nvPr/>
          </p:nvSpPr>
          <p:spPr>
            <a:xfrm>
              <a:off x="8495998" y="640226"/>
              <a:ext cx="2483002" cy="3842999"/>
            </a:xfrm>
            <a:prstGeom prst="rect">
              <a:avLst/>
            </a:prstGeom>
            <a:noFill/>
            <a:ln>
              <a:noFill/>
            </a:ln>
          </p:spPr>
          <p:txBody>
            <a:bodyPr spcFirstLastPara="1" wrap="square" lIns="74675" tIns="74675" rIns="99550" bIns="112000" anchor="t" anchorCtr="0">
              <a:noAutofit/>
            </a:bodyPr>
            <a:lstStyle/>
            <a:p>
              <a:pPr marR="0" lvl="1" algn="l" rtl="0">
                <a:lnSpc>
                  <a:spcPct val="90000"/>
                </a:lnSpc>
                <a:spcBef>
                  <a:spcPts val="0"/>
                </a:spcBef>
                <a:spcAft>
                  <a:spcPts val="0"/>
                </a:spcAft>
                <a:buClr>
                  <a:schemeClr val="dk1"/>
                </a:buClr>
                <a:buSzPts val="1400"/>
              </a:pPr>
              <a:endParaRPr lang="en-US" sz="1400" b="0" i="0" u="none" strike="noStrike" cap="none" dirty="0">
                <a:solidFill>
                  <a:schemeClr val="dk1"/>
                </a:solidFill>
                <a:latin typeface="Quattrocento Sans"/>
                <a:ea typeface="Quattrocento Sans"/>
                <a:cs typeface="Quattrocento Sans"/>
                <a:sym typeface="Quattrocento Sans"/>
              </a:endParaRPr>
            </a:p>
            <a:p>
              <a:pPr marL="114300" marR="0" lvl="1" indent="-114300" algn="l" rtl="0">
                <a:lnSpc>
                  <a:spcPct val="90000"/>
                </a:lnSpc>
                <a:spcBef>
                  <a:spcPts val="0"/>
                </a:spcBef>
                <a:spcAft>
                  <a:spcPts val="0"/>
                </a:spcAft>
                <a:buClr>
                  <a:schemeClr val="dk1"/>
                </a:buClr>
                <a:buSzPts val="1400"/>
                <a:buFont typeface="Quattrocento Sans"/>
                <a:buChar char="•"/>
              </a:pPr>
              <a:r>
                <a:rPr lang="en-US" sz="1400" b="0" i="0" u="none" strike="noStrike" cap="none" dirty="0" err="1">
                  <a:solidFill>
                    <a:schemeClr val="dk1"/>
                  </a:solidFill>
                  <a:latin typeface="Quattrocento Sans"/>
                  <a:ea typeface="Quattrocento Sans"/>
                  <a:cs typeface="Quattrocento Sans"/>
                  <a:sym typeface="Quattrocento Sans"/>
                </a:rPr>
                <a:t>Pros:Highly</a:t>
              </a:r>
              <a:r>
                <a:rPr lang="en-US" dirty="0">
                  <a:solidFill>
                    <a:schemeClr val="dk1"/>
                  </a:solidFill>
                  <a:latin typeface="Quattrocento Sans"/>
                  <a:ea typeface="Quattrocento Sans"/>
                  <a:cs typeface="Quattrocento Sans"/>
                  <a:sym typeface="Quattrocento Sans"/>
                </a:rPr>
                <a:t> </a:t>
              </a:r>
              <a:r>
                <a:rPr lang="en-US" sz="1400" b="0" i="0" u="none" strike="noStrike" cap="none" dirty="0">
                  <a:solidFill>
                    <a:schemeClr val="dk1"/>
                  </a:solidFill>
                  <a:latin typeface="Quattrocento Sans"/>
                  <a:ea typeface="Quattrocento Sans"/>
                  <a:cs typeface="Quattrocento Sans"/>
                  <a:sym typeface="Quattrocento Sans"/>
                </a:rPr>
                <a:t>optimized for open-world </a:t>
              </a:r>
              <a:r>
                <a:rPr lang="en-US" sz="1400" b="0" i="0" u="none" strike="noStrike" cap="none" dirty="0" err="1">
                  <a:solidFill>
                    <a:schemeClr val="dk1"/>
                  </a:solidFill>
                  <a:latin typeface="Quattrocento Sans"/>
                  <a:ea typeface="Quattrocento Sans"/>
                  <a:cs typeface="Quattrocento Sans"/>
                  <a:sym typeface="Quattrocento Sans"/>
                </a:rPr>
                <a:t>realism.Used</a:t>
              </a:r>
              <a:r>
                <a:rPr lang="en-US" sz="1400" b="0" i="0" u="none" strike="noStrike" cap="none" dirty="0">
                  <a:solidFill>
                    <a:schemeClr val="dk1"/>
                  </a:solidFill>
                  <a:latin typeface="Quattrocento Sans"/>
                  <a:ea typeface="Quattrocento Sans"/>
                  <a:cs typeface="Quattrocento Sans"/>
                  <a:sym typeface="Quattrocento Sans"/>
                </a:rPr>
                <a:t> in some of the most visually stunning </a:t>
              </a:r>
              <a:r>
                <a:rPr lang="en-US" sz="1400" b="0" i="0" u="none" strike="noStrike" cap="none" dirty="0" err="1">
                  <a:solidFill>
                    <a:schemeClr val="dk1"/>
                  </a:solidFill>
                  <a:latin typeface="Quattrocento Sans"/>
                  <a:ea typeface="Quattrocento Sans"/>
                  <a:cs typeface="Quattrocento Sans"/>
                  <a:sym typeface="Quattrocento Sans"/>
                </a:rPr>
                <a:t>games.Cons:Proprietary</a:t>
              </a:r>
              <a:r>
                <a:rPr lang="en-US" sz="1400" b="0" i="0" u="none" strike="noStrike" cap="none" dirty="0">
                  <a:solidFill>
                    <a:schemeClr val="dk1"/>
                  </a:solidFill>
                  <a:latin typeface="Quattrocento Sans"/>
                  <a:ea typeface="Quattrocento Sans"/>
                  <a:cs typeface="Quattrocento Sans"/>
                  <a:sym typeface="Quattrocento Sans"/>
                </a:rPr>
                <a:t>, not available outside Rockstar.</a:t>
              </a:r>
            </a:p>
            <a:p>
              <a:pPr marL="114300" marR="0" lvl="1" indent="-114300" algn="l" rtl="0">
                <a:lnSpc>
                  <a:spcPct val="90000"/>
                </a:lnSpc>
                <a:spcBef>
                  <a:spcPts val="0"/>
                </a:spcBef>
                <a:spcAft>
                  <a:spcPts val="0"/>
                </a:spcAft>
                <a:buClr>
                  <a:schemeClr val="dk1"/>
                </a:buClr>
                <a:buSzPts val="1400"/>
                <a:buFont typeface="Quattrocento Sans"/>
                <a:buChar char="•"/>
              </a:pPr>
              <a:r>
                <a:rPr lang="en-US" sz="1400" b="0" i="0" u="none" strike="noStrike" cap="none" dirty="0">
                  <a:solidFill>
                    <a:schemeClr val="dk1"/>
                  </a:solidFill>
                  <a:latin typeface="Quattrocento Sans"/>
                  <a:ea typeface="Quattrocento Sans"/>
                  <a:cs typeface="Quattrocento Sans"/>
                  <a:sym typeface="Quattrocento Sans"/>
                </a:rPr>
                <a:t>Examples: GTA V, Red Dead Redemption 2.</a:t>
              </a:r>
            </a:p>
            <a:p>
              <a:pPr marL="114300" marR="0" lvl="1" indent="-114300" algn="l" rtl="0">
                <a:lnSpc>
                  <a:spcPct val="90000"/>
                </a:lnSpc>
                <a:spcBef>
                  <a:spcPts val="0"/>
                </a:spcBef>
                <a:spcAft>
                  <a:spcPts val="0"/>
                </a:spcAft>
                <a:buClr>
                  <a:schemeClr val="dk1"/>
                </a:buClr>
                <a:buSzPts val="1400"/>
                <a:buFont typeface="Quattrocento Sans"/>
                <a:buChar char="•"/>
              </a:pPr>
              <a:r>
                <a:rPr lang="en-US" sz="1400" b="0" i="0" u="none" strike="noStrike" cap="none" dirty="0">
                  <a:solidFill>
                    <a:schemeClr val="dk1"/>
                  </a:solidFill>
                  <a:latin typeface="Quattrocento Sans"/>
                  <a:ea typeface="Quattrocento Sans"/>
                  <a:cs typeface="Quattrocento Sans"/>
                  <a:sym typeface="Quattrocento Sans"/>
                </a:rPr>
                <a:t>Best for: Open-world AAA realism (internal Rockstar).</a:t>
              </a:r>
              <a:endParaRPr sz="1400" b="0" i="0" u="none" strike="noStrike" cap="none" dirty="0">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2">
          <a:extLst>
            <a:ext uri="{FF2B5EF4-FFF2-40B4-BE49-F238E27FC236}">
              <a16:creationId xmlns:a16="http://schemas.microsoft.com/office/drawing/2014/main" id="{7EDD0A4D-360F-F29E-B9CF-D29A89E7429D}"/>
            </a:ext>
          </a:extLst>
        </p:cNvPr>
        <p:cNvGrpSpPr/>
        <p:nvPr/>
      </p:nvGrpSpPr>
      <p:grpSpPr>
        <a:xfrm>
          <a:off x="0" y="0"/>
          <a:ext cx="0" cy="0"/>
          <a:chOff x="0" y="0"/>
          <a:chExt cx="0" cy="0"/>
        </a:xfrm>
      </p:grpSpPr>
      <p:sp>
        <p:nvSpPr>
          <p:cNvPr id="383" name="Google Shape;383;p26">
            <a:extLst>
              <a:ext uri="{FF2B5EF4-FFF2-40B4-BE49-F238E27FC236}">
                <a16:creationId xmlns:a16="http://schemas.microsoft.com/office/drawing/2014/main" id="{0D951240-FFCB-17CF-317A-B7A6F73BA3EA}"/>
              </a:ext>
            </a:extLst>
          </p:cNvPr>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dirty="0"/>
              <a:t>Even more engines</a:t>
            </a:r>
            <a:endParaRPr dirty="0"/>
          </a:p>
        </p:txBody>
      </p:sp>
      <p:grpSp>
        <p:nvGrpSpPr>
          <p:cNvPr id="384" name="Google Shape;384;p26">
            <a:extLst>
              <a:ext uri="{FF2B5EF4-FFF2-40B4-BE49-F238E27FC236}">
                <a16:creationId xmlns:a16="http://schemas.microsoft.com/office/drawing/2014/main" id="{06A4F8B7-4353-0958-599E-2C08F7884142}"/>
              </a:ext>
            </a:extLst>
          </p:cNvPr>
          <p:cNvGrpSpPr/>
          <p:nvPr/>
        </p:nvGrpSpPr>
        <p:grpSpPr>
          <a:xfrm>
            <a:off x="607865" y="1812331"/>
            <a:ext cx="10976266" cy="4156510"/>
            <a:chOff x="3432" y="208120"/>
            <a:chExt cx="10976266" cy="4156510"/>
          </a:xfrm>
        </p:grpSpPr>
        <p:sp>
          <p:nvSpPr>
            <p:cNvPr id="385" name="Google Shape;385;p26">
              <a:extLst>
                <a:ext uri="{FF2B5EF4-FFF2-40B4-BE49-F238E27FC236}">
                  <a16:creationId xmlns:a16="http://schemas.microsoft.com/office/drawing/2014/main" id="{42CB2EAA-90EB-8343-2C7A-88B4AB2F056F}"/>
                </a:ext>
              </a:extLst>
            </p:cNvPr>
            <p:cNvSpPr/>
            <p:nvPr/>
          </p:nvSpPr>
          <p:spPr>
            <a:xfrm>
              <a:off x="3432" y="208120"/>
              <a:ext cx="3346422" cy="697811"/>
            </a:xfrm>
            <a:prstGeom prst="rect">
              <a:avLst/>
            </a:prstGeom>
            <a:gradFill>
              <a:gsLst>
                <a:gs pos="0">
                  <a:srgbClr val="5E81C9"/>
                </a:gs>
                <a:gs pos="50000">
                  <a:srgbClr val="3B70C9"/>
                </a:gs>
                <a:gs pos="100000">
                  <a:srgbClr val="2E60B8"/>
                </a:gs>
              </a:gsLst>
              <a:lin ang="5400000" scaled="0"/>
            </a:gradFill>
            <a:ln w="9525"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a:extLst>
                <a:ext uri="{FF2B5EF4-FFF2-40B4-BE49-F238E27FC236}">
                  <a16:creationId xmlns:a16="http://schemas.microsoft.com/office/drawing/2014/main" id="{66D8F5A6-6BB5-A795-10BC-29F1F82F18E3}"/>
                </a:ext>
              </a:extLst>
            </p:cNvPr>
            <p:cNvSpPr txBox="1"/>
            <p:nvPr/>
          </p:nvSpPr>
          <p:spPr>
            <a:xfrm>
              <a:off x="3432" y="208120"/>
              <a:ext cx="3346422" cy="697811"/>
            </a:xfrm>
            <a:prstGeom prst="rect">
              <a:avLst/>
            </a:prstGeom>
            <a:noFill/>
            <a:ln>
              <a:noFill/>
            </a:ln>
          </p:spPr>
          <p:txBody>
            <a:bodyPr spcFirstLastPara="1" wrap="square" lIns="128000" tIns="73150" rIns="128000" bIns="73150" anchor="ctr" anchorCtr="0">
              <a:noAutofit/>
            </a:bodyPr>
            <a:lstStyle/>
            <a:p>
              <a:pPr marL="0" marR="0" lvl="0" indent="0" algn="ctr" rtl="0">
                <a:lnSpc>
                  <a:spcPct val="90000"/>
                </a:lnSpc>
                <a:spcBef>
                  <a:spcPts val="0"/>
                </a:spcBef>
                <a:spcAft>
                  <a:spcPts val="0"/>
                </a:spcAft>
                <a:buClr>
                  <a:schemeClr val="lt1"/>
                </a:buClr>
                <a:buSzPts val="1800"/>
                <a:buFont typeface="Quattrocento Sans"/>
                <a:buNone/>
              </a:pPr>
              <a:r>
                <a:rPr lang="en-US" sz="1800" b="0" i="0" u="none" strike="noStrike" cap="none" dirty="0">
                  <a:solidFill>
                    <a:schemeClr val="lt1"/>
                  </a:solidFill>
                  <a:latin typeface="Quattrocento Sans"/>
                  <a:ea typeface="Quattrocento Sans"/>
                  <a:cs typeface="Quattrocento Sans"/>
                  <a:sym typeface="Quattrocento Sans"/>
                </a:rPr>
                <a:t>CryEngine by Crytek</a:t>
              </a:r>
              <a:endParaRPr dirty="0"/>
            </a:p>
          </p:txBody>
        </p:sp>
        <p:sp>
          <p:nvSpPr>
            <p:cNvPr id="387" name="Google Shape;387;p26">
              <a:extLst>
                <a:ext uri="{FF2B5EF4-FFF2-40B4-BE49-F238E27FC236}">
                  <a16:creationId xmlns:a16="http://schemas.microsoft.com/office/drawing/2014/main" id="{456A2E26-AE39-F078-C6A8-00B69FF2C3E9}"/>
                </a:ext>
              </a:extLst>
            </p:cNvPr>
            <p:cNvSpPr/>
            <p:nvPr/>
          </p:nvSpPr>
          <p:spPr>
            <a:xfrm>
              <a:off x="3432" y="905931"/>
              <a:ext cx="3346422" cy="3458699"/>
            </a:xfrm>
            <a:prstGeom prst="rect">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6">
              <a:extLst>
                <a:ext uri="{FF2B5EF4-FFF2-40B4-BE49-F238E27FC236}">
                  <a16:creationId xmlns:a16="http://schemas.microsoft.com/office/drawing/2014/main" id="{02A633B4-CEF6-7E2F-CC13-B6B30A30D238}"/>
                </a:ext>
              </a:extLst>
            </p:cNvPr>
            <p:cNvSpPr txBox="1"/>
            <p:nvPr/>
          </p:nvSpPr>
          <p:spPr>
            <a:xfrm>
              <a:off x="3432" y="905931"/>
              <a:ext cx="3346422" cy="3458699"/>
            </a:xfrm>
            <a:prstGeom prst="rect">
              <a:avLst/>
            </a:prstGeom>
            <a:noFill/>
            <a:ln>
              <a:noFill/>
            </a:ln>
          </p:spPr>
          <p:txBody>
            <a:bodyPr spcFirstLastPara="1" wrap="square" lIns="96000" tIns="96000" rIns="128000" bIns="144000" anchor="t" anchorCtr="0">
              <a:noAutofit/>
            </a:bodyPr>
            <a:lstStyle/>
            <a:p>
              <a:pPr marL="171450" marR="0" lvl="1" indent="-171450" algn="l" rtl="0">
                <a:lnSpc>
                  <a:spcPct val="90000"/>
                </a:lnSpc>
                <a:spcBef>
                  <a:spcPts val="0"/>
                </a:spcBef>
                <a:spcAft>
                  <a:spcPts val="0"/>
                </a:spcAft>
                <a:buClr>
                  <a:schemeClr val="dk1"/>
                </a:buClr>
                <a:buSzPts val="1800"/>
                <a:buFont typeface="Quattrocento Sans"/>
                <a:buChar char="•"/>
              </a:pPr>
              <a:r>
                <a:rPr lang="en-CA" sz="1800" b="0" i="0" u="none" strike="noStrike" cap="none" dirty="0" err="1">
                  <a:solidFill>
                    <a:schemeClr val="dk1"/>
                  </a:solidFill>
                  <a:latin typeface="Quattrocento Sans"/>
                  <a:ea typeface="Quattrocento Sans"/>
                  <a:cs typeface="Quattrocento Sans"/>
                  <a:sym typeface="Quattrocento Sans"/>
                </a:rPr>
                <a:t>Pros:Known</a:t>
              </a:r>
              <a:r>
                <a:rPr lang="en-CA" sz="1800" b="0" i="0" u="none" strike="noStrike" cap="none" dirty="0">
                  <a:solidFill>
                    <a:schemeClr val="dk1"/>
                  </a:solidFill>
                  <a:latin typeface="Quattrocento Sans"/>
                  <a:ea typeface="Quattrocento Sans"/>
                  <a:cs typeface="Quattrocento Sans"/>
                  <a:sym typeface="Quattrocento Sans"/>
                </a:rPr>
                <a:t> for realistic lighting and vegetation </a:t>
              </a:r>
              <a:r>
                <a:rPr lang="en-CA" sz="1800" b="0" i="0" u="none" strike="noStrike" cap="none" dirty="0" err="1">
                  <a:solidFill>
                    <a:schemeClr val="dk1"/>
                  </a:solidFill>
                  <a:latin typeface="Quattrocento Sans"/>
                  <a:ea typeface="Quattrocento Sans"/>
                  <a:cs typeface="Quattrocento Sans"/>
                  <a:sym typeface="Quattrocento Sans"/>
                </a:rPr>
                <a:t>rendering.Powerful</a:t>
              </a:r>
              <a:r>
                <a:rPr lang="en-CA" sz="1800" b="0" i="0" u="none" strike="noStrike" cap="none" dirty="0">
                  <a:solidFill>
                    <a:schemeClr val="dk1"/>
                  </a:solidFill>
                  <a:latin typeface="Quattrocento Sans"/>
                  <a:ea typeface="Quattrocento Sans"/>
                  <a:cs typeface="Quattrocento Sans"/>
                  <a:sym typeface="Quattrocento Sans"/>
                </a:rPr>
                <a:t> out-of-the-box </a:t>
              </a:r>
              <a:r>
                <a:rPr lang="en-CA" sz="1800" b="0" i="0" u="none" strike="noStrike" cap="none" dirty="0" err="1">
                  <a:solidFill>
                    <a:schemeClr val="dk1"/>
                  </a:solidFill>
                  <a:latin typeface="Quattrocento Sans"/>
                  <a:ea typeface="Quattrocento Sans"/>
                  <a:cs typeface="Quattrocento Sans"/>
                  <a:sym typeface="Quattrocento Sans"/>
                </a:rPr>
                <a:t>visuals.Royalty</a:t>
              </a:r>
              <a:r>
                <a:rPr lang="en-CA" sz="1800" b="0" i="0" u="none" strike="noStrike" cap="none" dirty="0">
                  <a:solidFill>
                    <a:schemeClr val="dk1"/>
                  </a:solidFill>
                  <a:latin typeface="Quattrocento Sans"/>
                  <a:ea typeface="Quattrocento Sans"/>
                  <a:cs typeface="Quattrocento Sans"/>
                  <a:sym typeface="Quattrocento Sans"/>
                </a:rPr>
                <a:t>-based model.</a:t>
              </a:r>
            </a:p>
            <a:p>
              <a:pPr marL="171450" marR="0" lvl="1" indent="-171450" algn="l" rtl="0">
                <a:lnSpc>
                  <a:spcPct val="90000"/>
                </a:lnSpc>
                <a:spcBef>
                  <a:spcPts val="0"/>
                </a:spcBef>
                <a:spcAft>
                  <a:spcPts val="0"/>
                </a:spcAft>
                <a:buClr>
                  <a:schemeClr val="dk1"/>
                </a:buClr>
                <a:buSzPts val="1800"/>
                <a:buFont typeface="Quattrocento Sans"/>
                <a:buChar char="•"/>
              </a:pPr>
              <a:r>
                <a:rPr lang="en-CA" sz="1800" b="0" i="0" u="none" strike="noStrike" cap="none" dirty="0" err="1">
                  <a:solidFill>
                    <a:schemeClr val="dk1"/>
                  </a:solidFill>
                  <a:latin typeface="Quattrocento Sans"/>
                  <a:ea typeface="Quattrocento Sans"/>
                  <a:cs typeface="Quattrocento Sans"/>
                  <a:sym typeface="Quattrocento Sans"/>
                </a:rPr>
                <a:t>Cons:Smaller</a:t>
              </a:r>
              <a:r>
                <a:rPr lang="en-CA" sz="1800" b="0" i="0" u="none" strike="noStrike" cap="none" dirty="0">
                  <a:solidFill>
                    <a:schemeClr val="dk1"/>
                  </a:solidFill>
                  <a:latin typeface="Quattrocento Sans"/>
                  <a:ea typeface="Quattrocento Sans"/>
                  <a:cs typeface="Quattrocento Sans"/>
                  <a:sym typeface="Quattrocento Sans"/>
                </a:rPr>
                <a:t> ecosystem than Unreal/</a:t>
              </a:r>
              <a:r>
                <a:rPr lang="en-CA" sz="1800" b="0" i="0" u="none" strike="noStrike" cap="none" dirty="0" err="1">
                  <a:solidFill>
                    <a:schemeClr val="dk1"/>
                  </a:solidFill>
                  <a:latin typeface="Quattrocento Sans"/>
                  <a:ea typeface="Quattrocento Sans"/>
                  <a:cs typeface="Quattrocento Sans"/>
                  <a:sym typeface="Quattrocento Sans"/>
                </a:rPr>
                <a:t>Unity.Steep</a:t>
              </a:r>
              <a:r>
                <a:rPr lang="en-CA" sz="1800" b="0" i="0" u="none" strike="noStrike" cap="none" dirty="0">
                  <a:solidFill>
                    <a:schemeClr val="dk1"/>
                  </a:solidFill>
                  <a:latin typeface="Quattrocento Sans"/>
                  <a:ea typeface="Quattrocento Sans"/>
                  <a:cs typeface="Quattrocento Sans"/>
                  <a:sym typeface="Quattrocento Sans"/>
                </a:rPr>
                <a:t> learning curve, limited tutorials.</a:t>
              </a:r>
            </a:p>
            <a:p>
              <a:pPr marL="171450" marR="0" lvl="1" indent="-171450" algn="l" rtl="0">
                <a:lnSpc>
                  <a:spcPct val="90000"/>
                </a:lnSpc>
                <a:spcBef>
                  <a:spcPts val="0"/>
                </a:spcBef>
                <a:spcAft>
                  <a:spcPts val="0"/>
                </a:spcAft>
                <a:buClr>
                  <a:schemeClr val="dk1"/>
                </a:buClr>
                <a:buSzPts val="1800"/>
                <a:buFont typeface="Quattrocento Sans"/>
                <a:buChar char="•"/>
              </a:pPr>
              <a:r>
                <a:rPr lang="en-CA" sz="1800" b="0" i="0" u="none" strike="noStrike" cap="none" dirty="0">
                  <a:solidFill>
                    <a:schemeClr val="dk1"/>
                  </a:solidFill>
                  <a:latin typeface="Quattrocento Sans"/>
                  <a:ea typeface="Quattrocento Sans"/>
                  <a:cs typeface="Quattrocento Sans"/>
                  <a:sym typeface="Quattrocento Sans"/>
                </a:rPr>
                <a:t>Examples: Crysis series, Hunt: Showdown.</a:t>
              </a:r>
            </a:p>
            <a:p>
              <a:pPr marL="171450" marR="0" lvl="1" indent="-171450" algn="l" rtl="0">
                <a:lnSpc>
                  <a:spcPct val="90000"/>
                </a:lnSpc>
                <a:spcBef>
                  <a:spcPts val="0"/>
                </a:spcBef>
                <a:spcAft>
                  <a:spcPts val="0"/>
                </a:spcAft>
                <a:buClr>
                  <a:schemeClr val="dk1"/>
                </a:buClr>
                <a:buSzPts val="1800"/>
                <a:buFont typeface="Quattrocento Sans"/>
                <a:buChar char="•"/>
              </a:pPr>
              <a:r>
                <a:rPr lang="en-CA" sz="1800" b="0" i="0" u="none" strike="noStrike" cap="none" dirty="0">
                  <a:solidFill>
                    <a:schemeClr val="dk1"/>
                  </a:solidFill>
                  <a:latin typeface="Quattrocento Sans"/>
                  <a:ea typeface="Quattrocento Sans"/>
                  <a:cs typeface="Quattrocento Sans"/>
                  <a:sym typeface="Quattrocento Sans"/>
                </a:rPr>
                <a:t>Best for: Realistic shooters, open-world games.</a:t>
              </a:r>
              <a:endParaRPr sz="1800" b="0" i="0" u="none" strike="noStrike" cap="none" dirty="0">
                <a:solidFill>
                  <a:schemeClr val="dk1"/>
                </a:solidFill>
                <a:latin typeface="Quattrocento Sans"/>
                <a:ea typeface="Quattrocento Sans"/>
                <a:cs typeface="Quattrocento Sans"/>
                <a:sym typeface="Quattrocento Sans"/>
              </a:endParaRPr>
            </a:p>
          </p:txBody>
        </p:sp>
        <p:sp>
          <p:nvSpPr>
            <p:cNvPr id="389" name="Google Shape;389;p26">
              <a:extLst>
                <a:ext uri="{FF2B5EF4-FFF2-40B4-BE49-F238E27FC236}">
                  <a16:creationId xmlns:a16="http://schemas.microsoft.com/office/drawing/2014/main" id="{FF06B037-CE4C-C406-E8A1-334B8F9917A3}"/>
                </a:ext>
              </a:extLst>
            </p:cNvPr>
            <p:cNvSpPr/>
            <p:nvPr/>
          </p:nvSpPr>
          <p:spPr>
            <a:xfrm>
              <a:off x="3818354" y="208120"/>
              <a:ext cx="3346422" cy="697811"/>
            </a:xfrm>
            <a:prstGeom prst="rect">
              <a:avLst/>
            </a:prstGeom>
            <a:gradFill>
              <a:gsLst>
                <a:gs pos="0">
                  <a:srgbClr val="5E81C9"/>
                </a:gs>
                <a:gs pos="50000">
                  <a:srgbClr val="3B70C9"/>
                </a:gs>
                <a:gs pos="100000">
                  <a:srgbClr val="2E60B8"/>
                </a:gs>
              </a:gsLst>
              <a:lin ang="5400000" scaled="0"/>
            </a:gradFill>
            <a:ln w="9525"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6">
              <a:extLst>
                <a:ext uri="{FF2B5EF4-FFF2-40B4-BE49-F238E27FC236}">
                  <a16:creationId xmlns:a16="http://schemas.microsoft.com/office/drawing/2014/main" id="{B4C507CD-F353-A928-D568-AB3F862FA28A}"/>
                </a:ext>
              </a:extLst>
            </p:cNvPr>
            <p:cNvSpPr txBox="1"/>
            <p:nvPr/>
          </p:nvSpPr>
          <p:spPr>
            <a:xfrm>
              <a:off x="3818354" y="208120"/>
              <a:ext cx="3346422" cy="697811"/>
            </a:xfrm>
            <a:prstGeom prst="rect">
              <a:avLst/>
            </a:prstGeom>
            <a:noFill/>
            <a:ln>
              <a:noFill/>
            </a:ln>
          </p:spPr>
          <p:txBody>
            <a:bodyPr spcFirstLastPara="1" wrap="square" lIns="128000" tIns="73150" rIns="128000" bIns="73150" anchor="ctr" anchorCtr="0">
              <a:noAutofit/>
            </a:bodyPr>
            <a:lstStyle/>
            <a:p>
              <a:pPr marL="0" marR="0" lvl="0" indent="0" algn="ctr" rtl="0">
                <a:lnSpc>
                  <a:spcPct val="9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Sony’s PhyreEngine</a:t>
              </a:r>
              <a:endParaRPr/>
            </a:p>
          </p:txBody>
        </p:sp>
        <p:sp>
          <p:nvSpPr>
            <p:cNvPr id="391" name="Google Shape;391;p26">
              <a:extLst>
                <a:ext uri="{FF2B5EF4-FFF2-40B4-BE49-F238E27FC236}">
                  <a16:creationId xmlns:a16="http://schemas.microsoft.com/office/drawing/2014/main" id="{A4021102-2080-91F0-C129-4D8D423B8F53}"/>
                </a:ext>
              </a:extLst>
            </p:cNvPr>
            <p:cNvSpPr/>
            <p:nvPr/>
          </p:nvSpPr>
          <p:spPr>
            <a:xfrm>
              <a:off x="3818354" y="905931"/>
              <a:ext cx="3346422" cy="3458699"/>
            </a:xfrm>
            <a:prstGeom prst="rect">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6">
              <a:extLst>
                <a:ext uri="{FF2B5EF4-FFF2-40B4-BE49-F238E27FC236}">
                  <a16:creationId xmlns:a16="http://schemas.microsoft.com/office/drawing/2014/main" id="{3D1C1C07-FFBA-CA6A-BC22-3B0FC9093735}"/>
                </a:ext>
              </a:extLst>
            </p:cNvPr>
            <p:cNvSpPr txBox="1"/>
            <p:nvPr/>
          </p:nvSpPr>
          <p:spPr>
            <a:xfrm>
              <a:off x="3818354" y="905931"/>
              <a:ext cx="3346422" cy="3458699"/>
            </a:xfrm>
            <a:prstGeom prst="rect">
              <a:avLst/>
            </a:prstGeom>
            <a:noFill/>
            <a:ln>
              <a:noFill/>
            </a:ln>
          </p:spPr>
          <p:txBody>
            <a:bodyPr spcFirstLastPara="1" wrap="square" lIns="96000" tIns="96000" rIns="128000" bIns="144000" anchor="t" anchorCtr="0">
              <a:noAutofit/>
            </a:bodyPr>
            <a:lstStyle/>
            <a:p>
              <a:pPr marL="171450" marR="0" lvl="1" indent="-171450" algn="l" rtl="0">
                <a:lnSpc>
                  <a:spcPct val="90000"/>
                </a:lnSpc>
                <a:spcBef>
                  <a:spcPts val="0"/>
                </a:spcBef>
                <a:spcAft>
                  <a:spcPts val="0"/>
                </a:spcAft>
                <a:buClr>
                  <a:schemeClr val="dk1"/>
                </a:buClr>
                <a:buSzPts val="1800"/>
                <a:buFont typeface="Quattrocento Sans"/>
                <a:buChar char="•"/>
              </a:pPr>
              <a:r>
                <a:rPr lang="en-US" sz="1800" b="0" i="0" u="none" strike="noStrike" cap="none">
                  <a:solidFill>
                    <a:schemeClr val="dk1"/>
                  </a:solidFill>
                  <a:latin typeface="Quattrocento Sans"/>
                  <a:ea typeface="Quattrocento Sans"/>
                  <a:cs typeface="Quattrocento Sans"/>
                  <a:sym typeface="Quattrocento Sans"/>
                </a:rPr>
                <a:t>Uses to create games for the Sony platforms</a:t>
              </a:r>
              <a:endParaRPr/>
            </a:p>
            <a:p>
              <a:pPr marL="171450" marR="0" lvl="1" indent="-171450" algn="l" rtl="0">
                <a:lnSpc>
                  <a:spcPct val="90000"/>
                </a:lnSpc>
                <a:spcBef>
                  <a:spcPts val="270"/>
                </a:spcBef>
                <a:spcAft>
                  <a:spcPts val="0"/>
                </a:spcAft>
                <a:buClr>
                  <a:schemeClr val="dk1"/>
                </a:buClr>
                <a:buSzPts val="1800"/>
                <a:buFont typeface="Quattrocento Sans"/>
                <a:buChar char="•"/>
              </a:pPr>
              <a:r>
                <a:rPr lang="en-US" sz="1800" b="0" i="0" u="none" strike="noStrike" cap="none">
                  <a:solidFill>
                    <a:schemeClr val="dk1"/>
                  </a:solidFill>
                  <a:latin typeface="Quattrocento Sans"/>
                  <a:ea typeface="Quattrocento Sans"/>
                  <a:cs typeface="Quattrocento Sans"/>
                  <a:sym typeface="Quattrocento Sans"/>
                </a:rPr>
                <a:t>Numerous titles have been written with this engine: </a:t>
              </a:r>
              <a:r>
                <a:rPr lang="en-US" sz="1800" b="0" i="1" u="none" strike="noStrike" cap="none">
                  <a:solidFill>
                    <a:schemeClr val="dk1"/>
                  </a:solidFill>
                  <a:latin typeface="Quattrocento Sans"/>
                  <a:ea typeface="Quattrocento Sans"/>
                  <a:cs typeface="Quattrocento Sans"/>
                  <a:sym typeface="Quattrocento Sans"/>
                </a:rPr>
                <a:t>flOw</a:t>
              </a:r>
              <a:r>
                <a:rPr lang="en-US" sz="1800" b="0" i="0" u="none" strike="noStrike" cap="none">
                  <a:solidFill>
                    <a:schemeClr val="dk1"/>
                  </a:solidFill>
                  <a:latin typeface="Quattrocento Sans"/>
                  <a:ea typeface="Quattrocento Sans"/>
                  <a:cs typeface="Quattrocento Sans"/>
                  <a:sym typeface="Quattrocento Sans"/>
                </a:rPr>
                <a:t>, </a:t>
              </a:r>
              <a:r>
                <a:rPr lang="en-US" sz="1800" b="0" i="1" u="none" strike="noStrike" cap="none">
                  <a:solidFill>
                    <a:schemeClr val="dk1"/>
                  </a:solidFill>
                  <a:latin typeface="Quattrocento Sans"/>
                  <a:ea typeface="Quattrocento Sans"/>
                  <a:cs typeface="Quattrocento Sans"/>
                  <a:sym typeface="Quattrocento Sans"/>
                </a:rPr>
                <a:t>Flower </a:t>
              </a:r>
              <a:r>
                <a:rPr lang="en-US" sz="1800" b="0" i="0" u="none" strike="noStrike" cap="none">
                  <a:solidFill>
                    <a:schemeClr val="dk1"/>
                  </a:solidFill>
                  <a:latin typeface="Quattrocento Sans"/>
                  <a:ea typeface="Quattrocento Sans"/>
                  <a:cs typeface="Quattrocento Sans"/>
                  <a:sym typeface="Quattrocento Sans"/>
                </a:rPr>
                <a:t>and </a:t>
              </a:r>
              <a:r>
                <a:rPr lang="en-US" sz="1800" b="0" i="1" u="none" strike="noStrike" cap="none">
                  <a:solidFill>
                    <a:schemeClr val="dk1"/>
                  </a:solidFill>
                  <a:latin typeface="Quattrocento Sans"/>
                  <a:ea typeface="Quattrocento Sans"/>
                  <a:cs typeface="Quattrocento Sans"/>
                  <a:sym typeface="Quattrocento Sans"/>
                </a:rPr>
                <a:t>Journey</a:t>
              </a:r>
              <a:r>
                <a:rPr lang="en-US" sz="1800" b="0" i="0" u="none" strike="noStrike" cap="none">
                  <a:solidFill>
                    <a:schemeClr val="dk1"/>
                  </a:solidFill>
                  <a:latin typeface="Quattrocento Sans"/>
                  <a:ea typeface="Quattrocento Sans"/>
                  <a:cs typeface="Quattrocento Sans"/>
                  <a:sym typeface="Quattrocento Sans"/>
                </a:rPr>
                <a:t>, and Coldwood Interactive’s </a:t>
              </a:r>
              <a:r>
                <a:rPr lang="en-US" sz="1800" b="0" i="1" u="none" strike="noStrike" cap="none">
                  <a:solidFill>
                    <a:schemeClr val="dk1"/>
                  </a:solidFill>
                  <a:latin typeface="Quattrocento Sans"/>
                  <a:ea typeface="Quattrocento Sans"/>
                  <a:cs typeface="Quattrocento Sans"/>
                  <a:sym typeface="Quattrocento Sans"/>
                </a:rPr>
                <a:t>Unravel</a:t>
              </a:r>
              <a:endParaRPr sz="1800" b="0" i="0" u="none" strike="noStrike" cap="none">
                <a:solidFill>
                  <a:schemeClr val="dk1"/>
                </a:solidFill>
                <a:latin typeface="Quattrocento Sans"/>
                <a:ea typeface="Quattrocento Sans"/>
                <a:cs typeface="Quattrocento Sans"/>
                <a:sym typeface="Quattrocento Sans"/>
              </a:endParaRPr>
            </a:p>
            <a:p>
              <a:pPr marL="171450" marR="0" lvl="1" indent="-171450" algn="l" rtl="0">
                <a:lnSpc>
                  <a:spcPct val="90000"/>
                </a:lnSpc>
                <a:spcBef>
                  <a:spcPts val="270"/>
                </a:spcBef>
                <a:spcAft>
                  <a:spcPts val="0"/>
                </a:spcAft>
                <a:buClr>
                  <a:schemeClr val="dk1"/>
                </a:buClr>
                <a:buSzPts val="1800"/>
                <a:buFont typeface="Quattrocento Sans"/>
                <a:buChar char="•"/>
              </a:pPr>
              <a:r>
                <a:rPr lang="en-US" sz="1800" b="0" i="0" u="none" strike="noStrike" cap="none">
                  <a:solidFill>
                    <a:schemeClr val="dk1"/>
                  </a:solidFill>
                  <a:latin typeface="Quattrocento Sans"/>
                  <a:ea typeface="Quattrocento Sans"/>
                  <a:cs typeface="Quattrocento Sans"/>
                  <a:sym typeface="Quattrocento Sans"/>
                </a:rPr>
                <a:t>It is available free of charge to any licensed Sony developer as part of the PlayStation SDK</a:t>
              </a:r>
              <a:endParaRPr/>
            </a:p>
          </p:txBody>
        </p:sp>
        <p:sp>
          <p:nvSpPr>
            <p:cNvPr id="393" name="Google Shape;393;p26">
              <a:extLst>
                <a:ext uri="{FF2B5EF4-FFF2-40B4-BE49-F238E27FC236}">
                  <a16:creationId xmlns:a16="http://schemas.microsoft.com/office/drawing/2014/main" id="{3C41D32A-987E-FCC0-4004-A89F897C22E5}"/>
                </a:ext>
              </a:extLst>
            </p:cNvPr>
            <p:cNvSpPr/>
            <p:nvPr/>
          </p:nvSpPr>
          <p:spPr>
            <a:xfrm>
              <a:off x="7633276" y="208120"/>
              <a:ext cx="3346422" cy="697811"/>
            </a:xfrm>
            <a:prstGeom prst="rect">
              <a:avLst/>
            </a:prstGeom>
            <a:gradFill>
              <a:gsLst>
                <a:gs pos="0">
                  <a:srgbClr val="5E81C9"/>
                </a:gs>
                <a:gs pos="50000">
                  <a:srgbClr val="3B70C9"/>
                </a:gs>
                <a:gs pos="100000">
                  <a:srgbClr val="2E60B8"/>
                </a:gs>
              </a:gsLst>
              <a:lin ang="5400000" scaled="0"/>
            </a:gradFill>
            <a:ln w="9525" cap="flat" cmpd="sng">
              <a:solidFill>
                <a:srgbClr val="4372C3"/>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6">
              <a:extLst>
                <a:ext uri="{FF2B5EF4-FFF2-40B4-BE49-F238E27FC236}">
                  <a16:creationId xmlns:a16="http://schemas.microsoft.com/office/drawing/2014/main" id="{D5FCCBE6-8FEF-2F13-877F-D884D4198E1D}"/>
                </a:ext>
              </a:extLst>
            </p:cNvPr>
            <p:cNvSpPr txBox="1"/>
            <p:nvPr/>
          </p:nvSpPr>
          <p:spPr>
            <a:xfrm>
              <a:off x="7633276" y="208120"/>
              <a:ext cx="3346422" cy="697811"/>
            </a:xfrm>
            <a:prstGeom prst="rect">
              <a:avLst/>
            </a:prstGeom>
            <a:noFill/>
            <a:ln>
              <a:noFill/>
            </a:ln>
          </p:spPr>
          <p:txBody>
            <a:bodyPr spcFirstLastPara="1" wrap="square" lIns="128000" tIns="73150" rIns="128000" bIns="73150" anchor="ctr" anchorCtr="0">
              <a:noAutofit/>
            </a:bodyPr>
            <a:lstStyle/>
            <a:p>
              <a:pPr marL="0" marR="0" lvl="0" indent="0" algn="ctr" rtl="0">
                <a:lnSpc>
                  <a:spcPct val="90000"/>
                </a:lnSpc>
                <a:spcBef>
                  <a:spcPts val="0"/>
                </a:spcBef>
                <a:spcAft>
                  <a:spcPts val="0"/>
                </a:spcAft>
                <a:buClr>
                  <a:schemeClr val="lt1"/>
                </a:buClr>
                <a:buSzPts val="1800"/>
                <a:buFont typeface="Quattrocento Sans"/>
                <a:buNone/>
              </a:pPr>
              <a:r>
                <a:rPr lang="en-US" sz="1800" b="0" i="0" u="none" strike="noStrike" cap="none" dirty="0">
                  <a:solidFill>
                    <a:schemeClr val="lt1"/>
                  </a:solidFill>
                  <a:latin typeface="Quattrocento Sans"/>
                  <a:ea typeface="Quattrocento Sans"/>
                  <a:cs typeface="Quattrocento Sans"/>
                  <a:sym typeface="Quattrocento Sans"/>
                </a:rPr>
                <a:t>Amazon Lumberyard / Open 3D Engine (O3DE)</a:t>
              </a:r>
              <a:endParaRPr dirty="0"/>
            </a:p>
          </p:txBody>
        </p:sp>
        <p:sp>
          <p:nvSpPr>
            <p:cNvPr id="395" name="Google Shape;395;p26">
              <a:extLst>
                <a:ext uri="{FF2B5EF4-FFF2-40B4-BE49-F238E27FC236}">
                  <a16:creationId xmlns:a16="http://schemas.microsoft.com/office/drawing/2014/main" id="{423FEF80-0FC6-9FEF-5314-95BA28B68C59}"/>
                </a:ext>
              </a:extLst>
            </p:cNvPr>
            <p:cNvSpPr/>
            <p:nvPr/>
          </p:nvSpPr>
          <p:spPr>
            <a:xfrm>
              <a:off x="7633276" y="905931"/>
              <a:ext cx="3346422" cy="3458699"/>
            </a:xfrm>
            <a:prstGeom prst="rect">
              <a:avLst/>
            </a:prstGeom>
            <a:solidFill>
              <a:srgbClr val="CCD3EA">
                <a:alpha val="89803"/>
              </a:srgbClr>
            </a:solidFill>
            <a:ln w="9525"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6">
              <a:extLst>
                <a:ext uri="{FF2B5EF4-FFF2-40B4-BE49-F238E27FC236}">
                  <a16:creationId xmlns:a16="http://schemas.microsoft.com/office/drawing/2014/main" id="{ACDEAAFB-41EC-D3CD-FD57-89A6BA577C0A}"/>
                </a:ext>
              </a:extLst>
            </p:cNvPr>
            <p:cNvSpPr txBox="1"/>
            <p:nvPr/>
          </p:nvSpPr>
          <p:spPr>
            <a:xfrm>
              <a:off x="7633276" y="905931"/>
              <a:ext cx="3346422" cy="3458699"/>
            </a:xfrm>
            <a:prstGeom prst="rect">
              <a:avLst/>
            </a:prstGeom>
            <a:noFill/>
            <a:ln>
              <a:noFill/>
            </a:ln>
          </p:spPr>
          <p:txBody>
            <a:bodyPr spcFirstLastPara="1" wrap="square" lIns="96000" tIns="96000" rIns="128000" bIns="144000" anchor="t" anchorCtr="0">
              <a:noAutofit/>
            </a:bodyPr>
            <a:lstStyle/>
            <a:p>
              <a:pPr marL="171450" marR="0" lvl="1" indent="-171450" algn="l" rtl="0">
                <a:lnSpc>
                  <a:spcPct val="90000"/>
                </a:lnSpc>
                <a:spcBef>
                  <a:spcPts val="0"/>
                </a:spcBef>
                <a:spcAft>
                  <a:spcPts val="0"/>
                </a:spcAft>
                <a:buClr>
                  <a:schemeClr val="dk1"/>
                </a:buClr>
                <a:buSzPts val="1800"/>
                <a:buFont typeface="Quattrocento Sans"/>
                <a:buChar char="•"/>
              </a:pPr>
              <a:r>
                <a:rPr lang="en-CA" dirty="0" err="1">
                  <a:latin typeface="Quattrocento Sans" panose="020B0502050000020003" pitchFamily="34" charset="0"/>
                </a:rPr>
                <a:t>Pros:Open-source</a:t>
              </a:r>
              <a:r>
                <a:rPr lang="en-CA" dirty="0">
                  <a:latin typeface="Quattrocento Sans" panose="020B0502050000020003" pitchFamily="34" charset="0"/>
                </a:rPr>
                <a:t> (Apache 2.0).Based on CryEngine, but </a:t>
              </a:r>
              <a:r>
                <a:rPr lang="en-CA" dirty="0" err="1">
                  <a:latin typeface="Quattrocento Sans" panose="020B0502050000020003" pitchFamily="34" charset="0"/>
                </a:rPr>
                <a:t>expanded.Backed</a:t>
              </a:r>
              <a:r>
                <a:rPr lang="en-CA" dirty="0">
                  <a:latin typeface="Quattrocento Sans" panose="020B0502050000020003" pitchFamily="34" charset="0"/>
                </a:rPr>
                <a:t> by AWS integration (cloud, multiplayer).</a:t>
              </a:r>
            </a:p>
            <a:p>
              <a:pPr marL="171450" marR="0" lvl="1" indent="-171450" algn="l" rtl="0">
                <a:lnSpc>
                  <a:spcPct val="90000"/>
                </a:lnSpc>
                <a:spcBef>
                  <a:spcPts val="0"/>
                </a:spcBef>
                <a:spcAft>
                  <a:spcPts val="0"/>
                </a:spcAft>
                <a:buClr>
                  <a:schemeClr val="dk1"/>
                </a:buClr>
                <a:buSzPts val="1800"/>
                <a:buFont typeface="Quattrocento Sans"/>
                <a:buChar char="•"/>
              </a:pPr>
              <a:r>
                <a:rPr lang="en-CA" dirty="0" err="1">
                  <a:latin typeface="Quattrocento Sans" panose="020B0502050000020003" pitchFamily="34" charset="0"/>
                </a:rPr>
                <a:t>Cons:Still</a:t>
              </a:r>
              <a:r>
                <a:rPr lang="en-CA" dirty="0">
                  <a:latin typeface="Quattrocento Sans" panose="020B0502050000020003" pitchFamily="34" charset="0"/>
                </a:rPr>
                <a:t> maturing, less polished than Unreal/</a:t>
              </a:r>
              <a:r>
                <a:rPr lang="en-CA" dirty="0" err="1">
                  <a:latin typeface="Quattrocento Sans" panose="020B0502050000020003" pitchFamily="34" charset="0"/>
                </a:rPr>
                <a:t>Unity.Smaller</a:t>
              </a:r>
              <a:r>
                <a:rPr lang="en-CA" dirty="0">
                  <a:latin typeface="Quattrocento Sans" panose="020B0502050000020003" pitchFamily="34" charset="0"/>
                </a:rPr>
                <a:t> adoption.</a:t>
              </a:r>
            </a:p>
            <a:p>
              <a:pPr marL="171450" marR="0" lvl="1" indent="-171450" algn="l" rtl="0">
                <a:lnSpc>
                  <a:spcPct val="90000"/>
                </a:lnSpc>
                <a:spcBef>
                  <a:spcPts val="0"/>
                </a:spcBef>
                <a:spcAft>
                  <a:spcPts val="0"/>
                </a:spcAft>
                <a:buClr>
                  <a:schemeClr val="dk1"/>
                </a:buClr>
                <a:buSzPts val="1800"/>
                <a:buFont typeface="Quattrocento Sans"/>
                <a:buChar char="•"/>
              </a:pPr>
              <a:r>
                <a:rPr lang="en-CA" dirty="0">
                  <a:latin typeface="Quattrocento Sans" panose="020B0502050000020003" pitchFamily="34" charset="0"/>
                </a:rPr>
                <a:t>Examples: Star Citizen (heavily customized Lumberyard).</a:t>
              </a:r>
            </a:p>
            <a:p>
              <a:pPr marL="171450" marR="0" lvl="1" indent="-171450" algn="l" rtl="0">
                <a:lnSpc>
                  <a:spcPct val="90000"/>
                </a:lnSpc>
                <a:spcBef>
                  <a:spcPts val="0"/>
                </a:spcBef>
                <a:spcAft>
                  <a:spcPts val="0"/>
                </a:spcAft>
                <a:buClr>
                  <a:schemeClr val="dk1"/>
                </a:buClr>
                <a:buSzPts val="1800"/>
                <a:buFont typeface="Quattrocento Sans"/>
                <a:buChar char="•"/>
              </a:pPr>
              <a:r>
                <a:rPr lang="en-CA" dirty="0">
                  <a:latin typeface="Quattrocento Sans" panose="020B0502050000020003" pitchFamily="34" charset="0"/>
                </a:rPr>
                <a:t>Best for: Studios wanting open-source flexibility + cloud integration</a:t>
              </a:r>
              <a:r>
                <a:rPr lang="en-CA" dirty="0"/>
                <a:t>.</a:t>
              </a:r>
              <a:endParaRPr dirty="0"/>
            </a:p>
          </p:txBody>
        </p:sp>
      </p:grpSp>
    </p:spTree>
    <p:extLst>
      <p:ext uri="{BB962C8B-B14F-4D97-AF65-F5344CB8AC3E}">
        <p14:creationId xmlns:p14="http://schemas.microsoft.com/office/powerpoint/2010/main" val="713580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27"/>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Open Source Engines</a:t>
            </a:r>
            <a:endParaRPr/>
          </a:p>
        </p:txBody>
      </p:sp>
      <p:grpSp>
        <p:nvGrpSpPr>
          <p:cNvPr id="403" name="Google Shape;403;p27"/>
          <p:cNvGrpSpPr/>
          <p:nvPr/>
        </p:nvGrpSpPr>
        <p:grpSpPr>
          <a:xfrm>
            <a:off x="604433" y="1682138"/>
            <a:ext cx="10983131" cy="4416896"/>
            <a:chOff x="0" y="77927"/>
            <a:chExt cx="10983131" cy="4416896"/>
          </a:xfrm>
        </p:grpSpPr>
        <p:sp>
          <p:nvSpPr>
            <p:cNvPr id="404" name="Google Shape;404;p27"/>
            <p:cNvSpPr/>
            <p:nvPr/>
          </p:nvSpPr>
          <p:spPr>
            <a:xfrm>
              <a:off x="0" y="77927"/>
              <a:ext cx="10983131" cy="554214"/>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7"/>
            <p:cNvSpPr txBox="1"/>
            <p:nvPr/>
          </p:nvSpPr>
          <p:spPr>
            <a:xfrm>
              <a:off x="27054" y="104981"/>
              <a:ext cx="10929023" cy="500106"/>
            </a:xfrm>
            <a:prstGeom prst="rect">
              <a:avLst/>
            </a:prstGeom>
            <a:noFill/>
            <a:ln>
              <a:noFill/>
            </a:ln>
          </p:spPr>
          <p:txBody>
            <a:bodyPr spcFirstLastPara="1" wrap="square" lIns="49525" tIns="49525" rIns="49525" bIns="49525" anchor="ctr" anchorCtr="0">
              <a:noAutofit/>
            </a:bodyPr>
            <a:lstStyle/>
            <a:p>
              <a:pPr marL="0" marR="0" lvl="0" indent="0" algn="l"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Gnu Public License (GPL) : code to be freely used by anyone, as long as their code is also freely available</a:t>
              </a:r>
              <a:endParaRPr/>
            </a:p>
          </p:txBody>
        </p:sp>
        <p:sp>
          <p:nvSpPr>
            <p:cNvPr id="406" name="Google Shape;406;p27"/>
            <p:cNvSpPr/>
            <p:nvPr/>
          </p:nvSpPr>
          <p:spPr>
            <a:xfrm>
              <a:off x="0" y="669582"/>
              <a:ext cx="10983131" cy="554214"/>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7"/>
            <p:cNvSpPr txBox="1"/>
            <p:nvPr/>
          </p:nvSpPr>
          <p:spPr>
            <a:xfrm>
              <a:off x="27054" y="696636"/>
              <a:ext cx="10929023" cy="500106"/>
            </a:xfrm>
            <a:prstGeom prst="rect">
              <a:avLst/>
            </a:prstGeom>
            <a:noFill/>
            <a:ln>
              <a:noFill/>
            </a:ln>
          </p:spPr>
          <p:txBody>
            <a:bodyPr spcFirstLastPara="1" wrap="square" lIns="49525" tIns="49525" rIns="49525" bIns="49525" anchor="ctr" anchorCtr="0">
              <a:noAutofit/>
            </a:bodyPr>
            <a:lstStyle/>
            <a:p>
              <a:pPr marL="0" marR="0" lvl="0" indent="0" algn="l"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Lesser Gnu Public License (LGPL): code to be used even in proprietary for-profit applications</a:t>
              </a:r>
              <a:endParaRPr/>
            </a:p>
          </p:txBody>
        </p:sp>
        <p:sp>
          <p:nvSpPr>
            <p:cNvPr id="408" name="Google Shape;408;p27"/>
            <p:cNvSpPr/>
            <p:nvPr/>
          </p:nvSpPr>
          <p:spPr>
            <a:xfrm>
              <a:off x="0" y="1261236"/>
              <a:ext cx="10983131" cy="554214"/>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7"/>
            <p:cNvSpPr txBox="1"/>
            <p:nvPr/>
          </p:nvSpPr>
          <p:spPr>
            <a:xfrm>
              <a:off x="27054" y="1288290"/>
              <a:ext cx="10929023" cy="500106"/>
            </a:xfrm>
            <a:prstGeom prst="rect">
              <a:avLst/>
            </a:prstGeom>
            <a:noFill/>
            <a:ln>
              <a:noFill/>
            </a:ln>
          </p:spPr>
          <p:txBody>
            <a:bodyPr spcFirstLastPara="1" wrap="square" lIns="49525" tIns="49525" rIns="49525" bIns="49525" anchor="ctr" anchorCtr="0">
              <a:noAutofit/>
            </a:bodyPr>
            <a:lstStyle/>
            <a:p>
              <a:pPr marL="0" marR="0" lvl="0" indent="0" algn="l" rtl="0">
                <a:lnSpc>
                  <a:spcPct val="90000"/>
                </a:lnSpc>
                <a:spcBef>
                  <a:spcPts val="0"/>
                </a:spcBef>
                <a:spcAft>
                  <a:spcPts val="0"/>
                </a:spcAft>
                <a:buClr>
                  <a:schemeClr val="lt1"/>
                </a:buClr>
                <a:buSzPts val="1300"/>
                <a:buFont typeface="Quattrocento Sans"/>
                <a:buNone/>
              </a:pPr>
              <a:r>
                <a:rPr lang="en-US" sz="1300" b="0" i="0" u="sng" strike="noStrike" cap="none">
                  <a:solidFill>
                    <a:schemeClr val="lt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http://en.wikipedia.org/wiki/List_of_game_engines</a:t>
              </a:r>
              <a:endParaRPr sz="1300" b="0" i="0" u="none" strike="noStrike" cap="none">
                <a:solidFill>
                  <a:schemeClr val="lt1"/>
                </a:solidFill>
                <a:latin typeface="Quattrocento Sans"/>
                <a:ea typeface="Quattrocento Sans"/>
                <a:cs typeface="Quattrocento Sans"/>
                <a:sym typeface="Quattrocento Sans"/>
              </a:endParaRPr>
            </a:p>
          </p:txBody>
        </p:sp>
        <p:sp>
          <p:nvSpPr>
            <p:cNvPr id="410" name="Google Shape;410;p27"/>
            <p:cNvSpPr/>
            <p:nvPr/>
          </p:nvSpPr>
          <p:spPr>
            <a:xfrm>
              <a:off x="0" y="1852891"/>
              <a:ext cx="10983131" cy="554214"/>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7"/>
            <p:cNvSpPr txBox="1"/>
            <p:nvPr/>
          </p:nvSpPr>
          <p:spPr>
            <a:xfrm>
              <a:off x="27054" y="1879945"/>
              <a:ext cx="10929023" cy="500106"/>
            </a:xfrm>
            <a:prstGeom prst="rect">
              <a:avLst/>
            </a:prstGeom>
            <a:noFill/>
            <a:ln>
              <a:noFill/>
            </a:ln>
          </p:spPr>
          <p:txBody>
            <a:bodyPr spcFirstLastPara="1" wrap="square" lIns="49525" tIns="49525" rIns="49525" bIns="49525" anchor="ctr" anchorCtr="0">
              <a:noAutofit/>
            </a:bodyPr>
            <a:lstStyle/>
            <a:p>
              <a:pPr marL="0" marR="0" lvl="0" indent="0" algn="l"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OGRE is a well-architected, easy-to-learn and easy-to-use 3D rendering engine.</a:t>
              </a:r>
              <a:endParaRPr sz="1300" b="0" i="0" u="none" strike="noStrike" cap="none">
                <a:solidFill>
                  <a:schemeClr val="lt1"/>
                </a:solidFill>
                <a:latin typeface="Quattrocento Sans"/>
                <a:ea typeface="Quattrocento Sans"/>
                <a:cs typeface="Quattrocento Sans"/>
                <a:sym typeface="Quattrocento Sans"/>
              </a:endParaRPr>
            </a:p>
          </p:txBody>
        </p:sp>
        <p:sp>
          <p:nvSpPr>
            <p:cNvPr id="412" name="Google Shape;412;p27"/>
            <p:cNvSpPr/>
            <p:nvPr/>
          </p:nvSpPr>
          <p:spPr>
            <a:xfrm>
              <a:off x="0" y="2407105"/>
              <a:ext cx="10983131" cy="94185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7"/>
            <p:cNvSpPr txBox="1"/>
            <p:nvPr/>
          </p:nvSpPr>
          <p:spPr>
            <a:xfrm>
              <a:off x="0" y="2407105"/>
              <a:ext cx="10983131" cy="941850"/>
            </a:xfrm>
            <a:prstGeom prst="rect">
              <a:avLst/>
            </a:prstGeom>
            <a:noFill/>
            <a:ln>
              <a:noFill/>
            </a:ln>
          </p:spPr>
          <p:txBody>
            <a:bodyPr spcFirstLastPara="1" wrap="square" lIns="348700" tIns="16500" rIns="92450" bIns="16500" anchor="t" anchorCtr="0">
              <a:noAutofit/>
            </a:bodyPr>
            <a:lstStyle/>
            <a:p>
              <a:pPr marL="57150" marR="0" lvl="1" indent="-63500" algn="l" rtl="0">
                <a:lnSpc>
                  <a:spcPct val="90000"/>
                </a:lnSpc>
                <a:spcBef>
                  <a:spcPts val="0"/>
                </a:spcBef>
                <a:spcAft>
                  <a:spcPts val="0"/>
                </a:spcAft>
                <a:buClr>
                  <a:schemeClr val="dk1"/>
                </a:buClr>
                <a:buSzPts val="1000"/>
                <a:buFont typeface="Quattrocento Sans"/>
                <a:buChar char="•"/>
              </a:pPr>
              <a:r>
                <a:rPr lang="en-US" sz="1000" b="0" i="0" u="sng" strike="noStrike" cap="none">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https://www.ogre3d.org/</a:t>
              </a:r>
              <a:endParaRPr sz="1000" b="0" i="0" u="none" strike="noStrike" cap="none">
                <a:solidFill>
                  <a:schemeClr val="dk1"/>
                </a:solidFill>
                <a:latin typeface="Quattrocento Sans"/>
                <a:ea typeface="Quattrocento Sans"/>
                <a:cs typeface="Quattrocento Sans"/>
                <a:sym typeface="Quattrocento Sans"/>
              </a:endParaRPr>
            </a:p>
            <a:p>
              <a:pPr marL="57150" marR="0" lvl="1" indent="-63500" algn="l" rtl="0">
                <a:lnSpc>
                  <a:spcPct val="90000"/>
                </a:lnSpc>
                <a:spcBef>
                  <a:spcPts val="200"/>
                </a:spcBef>
                <a:spcAft>
                  <a:spcPts val="0"/>
                </a:spcAft>
                <a:buClr>
                  <a:schemeClr val="dk1"/>
                </a:buClr>
                <a:buSzPts val="1000"/>
                <a:buFont typeface="Quattrocento Sans"/>
                <a:buChar char="•"/>
              </a:pPr>
              <a:r>
                <a:rPr lang="en-US" sz="1000" b="0" i="0" u="none" strike="noStrike" cap="none">
                  <a:solidFill>
                    <a:schemeClr val="dk1"/>
                  </a:solidFill>
                  <a:latin typeface="Quattrocento Sans"/>
                  <a:ea typeface="Quattrocento Sans"/>
                  <a:cs typeface="Quattrocento Sans"/>
                  <a:sym typeface="Quattrocento Sans"/>
                </a:rPr>
                <a:t>advanced lighting and shadows </a:t>
              </a:r>
              <a:endParaRPr/>
            </a:p>
            <a:p>
              <a:pPr marL="57150" marR="0" lvl="1" indent="-63500" algn="l" rtl="0">
                <a:lnSpc>
                  <a:spcPct val="90000"/>
                </a:lnSpc>
                <a:spcBef>
                  <a:spcPts val="200"/>
                </a:spcBef>
                <a:spcAft>
                  <a:spcPts val="0"/>
                </a:spcAft>
                <a:buClr>
                  <a:schemeClr val="dk1"/>
                </a:buClr>
                <a:buSzPts val="1000"/>
                <a:buFont typeface="Quattrocento Sans"/>
                <a:buChar char="•"/>
              </a:pPr>
              <a:r>
                <a:rPr lang="en-US" sz="1000" b="0" i="0" u="none" strike="noStrike" cap="none">
                  <a:solidFill>
                    <a:schemeClr val="dk1"/>
                  </a:solidFill>
                  <a:latin typeface="Quattrocento Sans"/>
                  <a:ea typeface="Quattrocento Sans"/>
                  <a:cs typeface="Quattrocento Sans"/>
                  <a:sym typeface="Quattrocento Sans"/>
                </a:rPr>
                <a:t>a good skeletal character animation system</a:t>
              </a:r>
              <a:endParaRPr/>
            </a:p>
            <a:p>
              <a:pPr marL="57150" marR="0" lvl="1" indent="-63500" algn="l" rtl="0">
                <a:lnSpc>
                  <a:spcPct val="90000"/>
                </a:lnSpc>
                <a:spcBef>
                  <a:spcPts val="200"/>
                </a:spcBef>
                <a:spcAft>
                  <a:spcPts val="0"/>
                </a:spcAft>
                <a:buClr>
                  <a:schemeClr val="dk1"/>
                </a:buClr>
                <a:buSzPts val="1000"/>
                <a:buFont typeface="Quattrocento Sans"/>
                <a:buChar char="•"/>
              </a:pPr>
              <a:r>
                <a:rPr lang="en-US" sz="1000" b="0" i="0" u="none" strike="noStrike" cap="none">
                  <a:solidFill>
                    <a:schemeClr val="dk1"/>
                  </a:solidFill>
                  <a:latin typeface="Quattrocento Sans"/>
                  <a:ea typeface="Quattrocento Sans"/>
                  <a:cs typeface="Quattrocento Sans"/>
                  <a:sym typeface="Quattrocento Sans"/>
                </a:rPr>
                <a:t>a two-dimensional overlay system for heads-up displays and graphical user interfaces</a:t>
              </a:r>
              <a:endParaRPr/>
            </a:p>
            <a:p>
              <a:pPr marL="57150" marR="0" lvl="1" indent="-63500" algn="l" rtl="0">
                <a:lnSpc>
                  <a:spcPct val="90000"/>
                </a:lnSpc>
                <a:spcBef>
                  <a:spcPts val="200"/>
                </a:spcBef>
                <a:spcAft>
                  <a:spcPts val="0"/>
                </a:spcAft>
                <a:buClr>
                  <a:schemeClr val="dk1"/>
                </a:buClr>
                <a:buSzPts val="1000"/>
                <a:buFont typeface="Quattrocento Sans"/>
                <a:buChar char="•"/>
              </a:pPr>
              <a:r>
                <a:rPr lang="en-US" sz="1000" b="0" i="0" u="none" strike="noStrike" cap="none">
                  <a:solidFill>
                    <a:schemeClr val="dk1"/>
                  </a:solidFill>
                  <a:latin typeface="Quattrocento Sans"/>
                  <a:ea typeface="Quattrocento Sans"/>
                  <a:cs typeface="Quattrocento Sans"/>
                  <a:sym typeface="Quattrocento Sans"/>
                </a:rPr>
                <a:t>A post-processing system for full-screen effects like bloom</a:t>
              </a:r>
              <a:endParaRPr/>
            </a:p>
          </p:txBody>
        </p:sp>
        <p:sp>
          <p:nvSpPr>
            <p:cNvPr id="414" name="Google Shape;414;p27"/>
            <p:cNvSpPr/>
            <p:nvPr/>
          </p:nvSpPr>
          <p:spPr>
            <a:xfrm>
              <a:off x="0" y="3348955"/>
              <a:ext cx="10983131" cy="554214"/>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7"/>
            <p:cNvSpPr txBox="1"/>
            <p:nvPr/>
          </p:nvSpPr>
          <p:spPr>
            <a:xfrm>
              <a:off x="27054" y="3376009"/>
              <a:ext cx="10929023" cy="500106"/>
            </a:xfrm>
            <a:prstGeom prst="rect">
              <a:avLst/>
            </a:prstGeom>
            <a:noFill/>
            <a:ln>
              <a:noFill/>
            </a:ln>
          </p:spPr>
          <p:txBody>
            <a:bodyPr spcFirstLastPara="1" wrap="square" lIns="49525" tIns="49525" rIns="49525" bIns="49525" anchor="ctr" anchorCtr="0">
              <a:noAutofit/>
            </a:bodyPr>
            <a:lstStyle/>
            <a:p>
              <a:pPr marL="0" marR="0" lvl="0" indent="0" algn="l"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Some other well-known open source engines: Panda3D, Yake, Crystal Space, Torque and Irrlicht</a:t>
              </a:r>
              <a:endParaRPr sz="1300" b="0" i="0" u="none" strike="noStrike" cap="none">
                <a:solidFill>
                  <a:schemeClr val="lt1"/>
                </a:solidFill>
                <a:latin typeface="Quattrocento Sans"/>
                <a:ea typeface="Quattrocento Sans"/>
                <a:cs typeface="Quattrocento Sans"/>
                <a:sym typeface="Quattrocento Sans"/>
              </a:endParaRPr>
            </a:p>
          </p:txBody>
        </p:sp>
        <p:sp>
          <p:nvSpPr>
            <p:cNvPr id="416" name="Google Shape;416;p27"/>
            <p:cNvSpPr/>
            <p:nvPr/>
          </p:nvSpPr>
          <p:spPr>
            <a:xfrm>
              <a:off x="0" y="3940609"/>
              <a:ext cx="10983131" cy="554214"/>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7"/>
            <p:cNvSpPr txBox="1"/>
            <p:nvPr/>
          </p:nvSpPr>
          <p:spPr>
            <a:xfrm>
              <a:off x="27054" y="3967663"/>
              <a:ext cx="10929023" cy="500106"/>
            </a:xfrm>
            <a:prstGeom prst="rect">
              <a:avLst/>
            </a:prstGeom>
            <a:noFill/>
            <a:ln>
              <a:noFill/>
            </a:ln>
          </p:spPr>
          <p:txBody>
            <a:bodyPr spcFirstLastPara="1" wrap="square" lIns="49525" tIns="49525" rIns="49525" bIns="49525" anchor="ctr" anchorCtr="0">
              <a:noAutofit/>
            </a:bodyPr>
            <a:lstStyle/>
            <a:p>
              <a:pPr marL="0" marR="0" lvl="0" indent="0" algn="l" rtl="0">
                <a:lnSpc>
                  <a:spcPct val="90000"/>
                </a:lnSpc>
                <a:spcBef>
                  <a:spcPts val="0"/>
                </a:spcBef>
                <a:spcAft>
                  <a:spcPts val="0"/>
                </a:spcAft>
                <a:buClr>
                  <a:schemeClr val="lt1"/>
                </a:buClr>
                <a:buSzPts val="1300"/>
                <a:buFont typeface="Quattrocento Sans"/>
                <a:buNone/>
              </a:pPr>
              <a:r>
                <a:rPr lang="en-US" sz="1300" b="0" i="0" u="none" strike="noStrike" cap="none" dirty="0">
                  <a:solidFill>
                    <a:schemeClr val="lt1"/>
                  </a:solidFill>
                  <a:latin typeface="Quattrocento Sans"/>
                  <a:ea typeface="Quattrocento Sans"/>
                  <a:cs typeface="Quattrocento Sans"/>
                  <a:sym typeface="Quattrocento Sans"/>
                </a:rPr>
                <a:t>The Amazon Lumberyard / Open 3D Engine (O3DE) engine does provide source code to its developers. It is a free cross-platform engine developed by Amazon, and based on the CRYENGINE architecture.</a:t>
              </a:r>
              <a:endParaRPr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DA083C-A67D-3F1E-E002-C75606479FA8}"/>
              </a:ext>
            </a:extLst>
          </p:cNvPr>
          <p:cNvSpPr>
            <a:spLocks noGrp="1"/>
          </p:cNvSpPr>
          <p:nvPr>
            <p:ph type="body" idx="1"/>
          </p:nvPr>
        </p:nvSpPr>
        <p:spPr/>
        <p:txBody>
          <a:bodyPr/>
          <a:lstStyle/>
          <a:p>
            <a:r>
              <a:rPr lang="en-CA" dirty="0"/>
              <a:t>Photorealistic AAA → Unreal Engine 5.</a:t>
            </a:r>
          </a:p>
          <a:p>
            <a:r>
              <a:rPr lang="en-CA" dirty="0"/>
              <a:t>Indie / Mobile / Cross-platform → Unity or Godot.</a:t>
            </a:r>
          </a:p>
          <a:p>
            <a:r>
              <a:rPr lang="en-CA" dirty="0"/>
              <a:t>Realistic FPS / Open-world → CryEngine or O3DE.</a:t>
            </a:r>
          </a:p>
          <a:p>
            <a:r>
              <a:rPr lang="en-CA" dirty="0"/>
              <a:t>Custom AAA studios → Frostbite (EA), RAGE (Rockstar).</a:t>
            </a:r>
          </a:p>
        </p:txBody>
      </p:sp>
      <p:sp>
        <p:nvSpPr>
          <p:cNvPr id="3" name="Title 2">
            <a:extLst>
              <a:ext uri="{FF2B5EF4-FFF2-40B4-BE49-F238E27FC236}">
                <a16:creationId xmlns:a16="http://schemas.microsoft.com/office/drawing/2014/main" id="{5C284DDB-CAAF-D3F0-80A4-16CE1D67B6C9}"/>
              </a:ext>
            </a:extLst>
          </p:cNvPr>
          <p:cNvSpPr>
            <a:spLocks noGrp="1"/>
          </p:cNvSpPr>
          <p:nvPr>
            <p:ph type="title"/>
          </p:nvPr>
        </p:nvSpPr>
        <p:spPr/>
        <p:txBody>
          <a:bodyPr/>
          <a:lstStyle/>
          <a:p>
            <a:r>
              <a:rPr lang="en-US" dirty="0"/>
              <a:t>Recommendations</a:t>
            </a:r>
            <a:endParaRPr lang="en-CA" dirty="0"/>
          </a:p>
        </p:txBody>
      </p:sp>
    </p:spTree>
    <p:extLst>
      <p:ext uri="{BB962C8B-B14F-4D97-AF65-F5344CB8AC3E}">
        <p14:creationId xmlns:p14="http://schemas.microsoft.com/office/powerpoint/2010/main" val="2042528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8"/>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2D Engines</a:t>
            </a:r>
            <a:endParaRPr/>
          </a:p>
        </p:txBody>
      </p:sp>
      <p:grpSp>
        <p:nvGrpSpPr>
          <p:cNvPr id="424" name="Google Shape;424;p28"/>
          <p:cNvGrpSpPr/>
          <p:nvPr/>
        </p:nvGrpSpPr>
        <p:grpSpPr>
          <a:xfrm>
            <a:off x="540303" y="3570766"/>
            <a:ext cx="9444136" cy="1956747"/>
            <a:chOff x="807" y="1010446"/>
            <a:chExt cx="9444136" cy="1956747"/>
          </a:xfrm>
        </p:grpSpPr>
        <p:sp>
          <p:nvSpPr>
            <p:cNvPr id="425" name="Google Shape;425;p28"/>
            <p:cNvSpPr/>
            <p:nvPr/>
          </p:nvSpPr>
          <p:spPr>
            <a:xfrm>
              <a:off x="4722876" y="1819019"/>
              <a:ext cx="978373" cy="3396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426" name="Google Shape;426;p28"/>
            <p:cNvSpPr/>
            <p:nvPr/>
          </p:nvSpPr>
          <p:spPr>
            <a:xfrm>
              <a:off x="3744502" y="1819019"/>
              <a:ext cx="978373" cy="3396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427" name="Google Shape;427;p28"/>
            <p:cNvSpPr/>
            <p:nvPr/>
          </p:nvSpPr>
          <p:spPr>
            <a:xfrm>
              <a:off x="807" y="1010446"/>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txBox="1"/>
            <p:nvPr/>
          </p:nvSpPr>
          <p:spPr>
            <a:xfrm>
              <a:off x="807" y="1010446"/>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0" u="none" strike="noStrike" cap="none">
                  <a:solidFill>
                    <a:schemeClr val="lt1"/>
                  </a:solidFill>
                  <a:latin typeface="Quattrocento Sans"/>
                  <a:ea typeface="Quattrocento Sans"/>
                  <a:cs typeface="Quattrocento Sans"/>
                  <a:sym typeface="Quattrocento Sans"/>
                </a:rPr>
                <a:t>Designed for non-programmers to build apps for Android and iPhone</a:t>
              </a:r>
              <a:endParaRPr/>
            </a:p>
          </p:txBody>
        </p:sp>
        <p:sp>
          <p:nvSpPr>
            <p:cNvPr id="429" name="Google Shape;429;p28"/>
            <p:cNvSpPr/>
            <p:nvPr/>
          </p:nvSpPr>
          <p:spPr>
            <a:xfrm>
              <a:off x="1957554" y="1010446"/>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txBox="1"/>
            <p:nvPr/>
          </p:nvSpPr>
          <p:spPr>
            <a:xfrm>
              <a:off x="1957554" y="1010446"/>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1" u="none" strike="noStrike" cap="none">
                  <a:solidFill>
                    <a:schemeClr val="lt1"/>
                  </a:solidFill>
                  <a:latin typeface="Quattrocento Sans"/>
                  <a:ea typeface="Quattrocento Sans"/>
                  <a:cs typeface="Quattrocento Sans"/>
                  <a:sym typeface="Quattrocento Sans"/>
                </a:rPr>
                <a:t>Multimedia Fusion 2 </a:t>
              </a:r>
              <a:r>
                <a:rPr lang="en-US" sz="800" b="0" i="0" u="none" strike="noStrike" cap="none">
                  <a:solidFill>
                    <a:schemeClr val="lt1"/>
                  </a:solidFill>
                  <a:latin typeface="Quattrocento Sans"/>
                  <a:ea typeface="Quattrocento Sans"/>
                  <a:cs typeface="Quattrocento Sans"/>
                  <a:sym typeface="Quattrocento Sans"/>
                </a:rPr>
                <a:t>(</a:t>
              </a:r>
              <a:r>
                <a:rPr lang="en-US" sz="800" b="0" i="0" u="sng" strike="noStrike" cap="none">
                  <a:solidFill>
                    <a:schemeClr val="lt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http://www.clickteam.com</a:t>
              </a:r>
              <a:r>
                <a:rPr lang="en-US" sz="800" b="0" i="0" u="none" strike="noStrike" cap="none">
                  <a:solidFill>
                    <a:schemeClr val="lt1"/>
                  </a:solidFill>
                  <a:latin typeface="Quattrocento Sans"/>
                  <a:ea typeface="Quattrocento Sans"/>
                  <a:cs typeface="Quattrocento Sans"/>
                  <a:sym typeface="Quattrocento Sans"/>
                </a:rPr>
                <a:t>) is a 2D game/multimedia authoring toolkit developed by ClickteamGame </a:t>
              </a:r>
              <a:endParaRPr/>
            </a:p>
          </p:txBody>
        </p:sp>
        <p:sp>
          <p:nvSpPr>
            <p:cNvPr id="431" name="Google Shape;431;p28"/>
            <p:cNvSpPr/>
            <p:nvPr/>
          </p:nvSpPr>
          <p:spPr>
            <a:xfrm>
              <a:off x="3914302" y="1010446"/>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txBox="1"/>
            <p:nvPr/>
          </p:nvSpPr>
          <p:spPr>
            <a:xfrm>
              <a:off x="3914302" y="1010446"/>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0" u="none" strike="noStrike" cap="none">
                  <a:solidFill>
                    <a:schemeClr val="lt1"/>
                  </a:solidFill>
                  <a:latin typeface="Quattrocento Sans"/>
                  <a:ea typeface="Quattrocento Sans"/>
                  <a:cs typeface="Quattrocento Sans"/>
                  <a:sym typeface="Quattrocento Sans"/>
                </a:rPr>
                <a:t>The Games Factory 2 (</a:t>
              </a:r>
              <a:r>
                <a:rPr lang="en-US" sz="800" b="0" i="0" u="sng" strike="noStrike" cap="none">
                  <a:solidFill>
                    <a:schemeClr val="lt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https://www.clickteam.com/the-games-factory-2</a:t>
              </a:r>
              <a:r>
                <a:rPr lang="en-US" sz="800" b="0" i="0" u="none" strike="noStrike" cap="none">
                  <a:solidFill>
                    <a:schemeClr val="lt1"/>
                  </a:solidFill>
                  <a:latin typeface="Quattrocento Sans"/>
                  <a:ea typeface="Quattrocento Sans"/>
                  <a:cs typeface="Quattrocento Sans"/>
                  <a:sym typeface="Quattrocento Sans"/>
                </a:rPr>
                <a:t>), are also used by educational camps like PlanetBravo (</a:t>
              </a:r>
              <a:r>
                <a:rPr lang="en-US" sz="800" b="0" i="0" u="sng" strike="noStrike" cap="none">
                  <a:solidFill>
                    <a:schemeClr val="lt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http://www.planetbravo.com</a:t>
              </a:r>
              <a:r>
                <a:rPr lang="en-US" sz="800" b="0" i="0" u="none" strike="noStrike" cap="none">
                  <a:solidFill>
                    <a:schemeClr val="lt1"/>
                  </a:solidFill>
                  <a:latin typeface="Quattrocento Sans"/>
                  <a:ea typeface="Quattrocento Sans"/>
                  <a:cs typeface="Quattrocento Sans"/>
                  <a:sym typeface="Quattrocento Sans"/>
                </a:rPr>
                <a:t>)</a:t>
              </a:r>
              <a:endParaRPr sz="800" b="0" i="0" u="none" strike="noStrike" cap="none">
                <a:solidFill>
                  <a:schemeClr val="lt1"/>
                </a:solidFill>
                <a:latin typeface="Quattrocento Sans"/>
                <a:ea typeface="Quattrocento Sans"/>
                <a:cs typeface="Quattrocento Sans"/>
                <a:sym typeface="Quattrocento Sans"/>
              </a:endParaRPr>
            </a:p>
          </p:txBody>
        </p:sp>
        <p:sp>
          <p:nvSpPr>
            <p:cNvPr id="433" name="Google Shape;433;p28"/>
            <p:cNvSpPr/>
            <p:nvPr/>
          </p:nvSpPr>
          <p:spPr>
            <a:xfrm>
              <a:off x="2935928" y="2158620"/>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txBox="1"/>
            <p:nvPr/>
          </p:nvSpPr>
          <p:spPr>
            <a:xfrm>
              <a:off x="2935928" y="2158620"/>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0" u="none" strike="noStrike" cap="none">
                  <a:solidFill>
                    <a:schemeClr val="lt1"/>
                  </a:solidFill>
                  <a:latin typeface="Quattrocento Sans"/>
                  <a:ea typeface="Quattrocento Sans"/>
                  <a:cs typeface="Quattrocento Sans"/>
                  <a:sym typeface="Quattrocento Sans"/>
                </a:rPr>
                <a:t>to teach kids about game development and programming/logic concepts</a:t>
              </a:r>
              <a:endParaRPr/>
            </a:p>
          </p:txBody>
        </p:sp>
        <p:sp>
          <p:nvSpPr>
            <p:cNvPr id="435" name="Google Shape;435;p28"/>
            <p:cNvSpPr/>
            <p:nvPr/>
          </p:nvSpPr>
          <p:spPr>
            <a:xfrm>
              <a:off x="4892676" y="2158620"/>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8"/>
            <p:cNvSpPr txBox="1"/>
            <p:nvPr/>
          </p:nvSpPr>
          <p:spPr>
            <a:xfrm>
              <a:off x="4892676" y="2158620"/>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0" u="none" strike="noStrike" cap="none">
                  <a:solidFill>
                    <a:schemeClr val="lt1"/>
                  </a:solidFill>
                  <a:latin typeface="Quattrocento Sans"/>
                  <a:ea typeface="Quattrocento Sans"/>
                  <a:cs typeface="Quattrocento Sans"/>
                  <a:sym typeface="Quattrocento Sans"/>
                </a:rPr>
                <a:t>Fusion supports the iOS, Android, Flash, and Java platforms.</a:t>
              </a:r>
              <a:endParaRPr sz="800" b="0" i="0" u="none" strike="noStrike" cap="none">
                <a:solidFill>
                  <a:schemeClr val="lt1"/>
                </a:solidFill>
                <a:latin typeface="Quattrocento Sans"/>
                <a:ea typeface="Quattrocento Sans"/>
                <a:cs typeface="Quattrocento Sans"/>
                <a:sym typeface="Quattrocento Sans"/>
              </a:endParaRPr>
            </a:p>
          </p:txBody>
        </p:sp>
        <p:sp>
          <p:nvSpPr>
            <p:cNvPr id="437" name="Google Shape;437;p28"/>
            <p:cNvSpPr/>
            <p:nvPr/>
          </p:nvSpPr>
          <p:spPr>
            <a:xfrm>
              <a:off x="5871050" y="1010446"/>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txBox="1"/>
            <p:nvPr/>
          </p:nvSpPr>
          <p:spPr>
            <a:xfrm>
              <a:off x="5871050" y="1010446"/>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1" u="none" strike="noStrike" cap="none">
                  <a:solidFill>
                    <a:schemeClr val="lt1"/>
                  </a:solidFill>
                  <a:latin typeface="Quattrocento Sans"/>
                  <a:ea typeface="Quattrocento Sans"/>
                  <a:cs typeface="Quattrocento Sans"/>
                  <a:sym typeface="Quattrocento Sans"/>
                </a:rPr>
                <a:t>Game Salad Creator </a:t>
              </a:r>
              <a:r>
                <a:rPr lang="en-US" sz="800" b="0" i="0" u="none" strike="noStrike" cap="none">
                  <a:solidFill>
                    <a:schemeClr val="lt1"/>
                  </a:solidFill>
                  <a:latin typeface="Quattrocento Sans"/>
                  <a:ea typeface="Quattrocento Sans"/>
                  <a:cs typeface="Quattrocento Sans"/>
                  <a:sym typeface="Quattrocento Sans"/>
                </a:rPr>
                <a:t>(</a:t>
              </a:r>
              <a:r>
                <a:rPr lang="en-US" sz="800" b="0" i="0" u="sng" strike="noStrike" cap="none">
                  <a:solidFill>
                    <a:schemeClr val="lt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http://gamesalad.com/creator</a:t>
              </a:r>
              <a:r>
                <a:rPr lang="en-US" sz="800" b="0" i="0" u="none" strike="noStrike" cap="none">
                  <a:solidFill>
                    <a:schemeClr val="lt1"/>
                  </a:solidFill>
                  <a:latin typeface="Quattrocento Sans"/>
                  <a:ea typeface="Quattrocento Sans"/>
                  <a:cs typeface="Quattrocento Sans"/>
                  <a:sym typeface="Quattrocento Sans"/>
                </a:rPr>
                <a:t>)  is another graphical game/multimedia authoring toolkit aimed at non-programmers</a:t>
              </a:r>
              <a:endParaRPr/>
            </a:p>
          </p:txBody>
        </p:sp>
        <p:sp>
          <p:nvSpPr>
            <p:cNvPr id="439" name="Google Shape;439;p28"/>
            <p:cNvSpPr/>
            <p:nvPr/>
          </p:nvSpPr>
          <p:spPr>
            <a:xfrm>
              <a:off x="7827797" y="1010446"/>
              <a:ext cx="1617146" cy="808573"/>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8"/>
            <p:cNvSpPr txBox="1"/>
            <p:nvPr/>
          </p:nvSpPr>
          <p:spPr>
            <a:xfrm>
              <a:off x="7827797" y="1010446"/>
              <a:ext cx="1617146" cy="808573"/>
            </a:xfrm>
            <a:prstGeom prst="rect">
              <a:avLst/>
            </a:prstGeom>
            <a:noFill/>
            <a:ln>
              <a:noFill/>
            </a:ln>
          </p:spPr>
          <p:txBody>
            <a:bodyPr spcFirstLastPara="1" wrap="square" lIns="5075" tIns="5075" rIns="5075" bIns="5075" anchor="ctr" anchorCtr="0">
              <a:noAutofit/>
            </a:bodyPr>
            <a:lstStyle/>
            <a:p>
              <a:pPr marL="0" marR="0" lvl="0" indent="0" algn="ctr" rtl="0">
                <a:lnSpc>
                  <a:spcPct val="90000"/>
                </a:lnSpc>
                <a:spcBef>
                  <a:spcPts val="0"/>
                </a:spcBef>
                <a:spcAft>
                  <a:spcPts val="0"/>
                </a:spcAft>
                <a:buClr>
                  <a:schemeClr val="lt1"/>
                </a:buClr>
                <a:buSzPts val="800"/>
                <a:buFont typeface="Quattrocento Sans"/>
                <a:buNone/>
              </a:pPr>
              <a:r>
                <a:rPr lang="en-US" sz="800" b="0" i="1" u="none" strike="noStrike" cap="none">
                  <a:solidFill>
                    <a:schemeClr val="lt1"/>
                  </a:solidFill>
                  <a:latin typeface="Quattrocento Sans"/>
                  <a:ea typeface="Quattrocento Sans"/>
                  <a:cs typeface="Quattrocento Sans"/>
                  <a:sym typeface="Quattrocento Sans"/>
                </a:rPr>
                <a:t>Scratch </a:t>
              </a:r>
              <a:r>
                <a:rPr lang="en-US" sz="800" b="0" i="0" u="none" strike="noStrike" cap="none">
                  <a:solidFill>
                    <a:schemeClr val="lt1"/>
                  </a:solidFill>
                  <a:latin typeface="Quattrocento Sans"/>
                  <a:ea typeface="Quattrocento Sans"/>
                  <a:cs typeface="Quattrocento Sans"/>
                  <a:sym typeface="Quattrocento Sans"/>
                </a:rPr>
                <a:t>(</a:t>
              </a:r>
              <a:r>
                <a:rPr lang="en-US" sz="800" b="0" i="0" u="sng" strike="noStrike" cap="none">
                  <a:solidFill>
                    <a:schemeClr val="lt1"/>
                  </a:solidFill>
                  <a:latin typeface="Quattrocento Sans"/>
                  <a:ea typeface="Quattrocento Sans"/>
                  <a:cs typeface="Quattrocento Sans"/>
                  <a:sym typeface="Quattrocento Sans"/>
                  <a:hlinkClick r:id="rId7">
                    <a:extLst>
                      <a:ext uri="{A12FA001-AC4F-418D-AE19-62706E023703}">
                        <ahyp:hlinkClr xmlns:ahyp="http://schemas.microsoft.com/office/drawing/2018/hyperlinkcolor" val="tx"/>
                      </a:ext>
                    </a:extLst>
                  </a:hlinkClick>
                </a:rPr>
                <a:t>http://scratch.mit.edu</a:t>
              </a:r>
              <a:r>
                <a:rPr lang="en-US" sz="800" b="0" i="0" u="none" strike="noStrike" cap="none">
                  <a:solidFill>
                    <a:schemeClr val="lt1"/>
                  </a:solidFill>
                  <a:latin typeface="Quattrocento Sans"/>
                  <a:ea typeface="Quattrocento Sans"/>
                  <a:cs typeface="Quattrocento Sans"/>
                  <a:sym typeface="Quattrocento Sans"/>
                </a:rPr>
                <a:t>)  is an authoring toolkit and graphical programming language that can be used to create interactive demos and simple games.</a:t>
              </a:r>
              <a:endParaRPr sz="800" b="0" i="0" u="none" strike="noStrike" cap="none">
                <a:solidFill>
                  <a:schemeClr val="lt1"/>
                </a:solidFill>
                <a:latin typeface="Quattrocento Sans"/>
                <a:ea typeface="Quattrocento Sans"/>
                <a:cs typeface="Quattrocento Sans"/>
                <a:sym typeface="Quattrocento Sans"/>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29"/>
          <p:cNvSpPr txBox="1">
            <a:spLocks noGrp="1"/>
          </p:cNvSpPr>
          <p:nvPr>
            <p:ph type="body" idx="1"/>
          </p:nvPr>
        </p:nvSpPr>
        <p:spPr>
          <a:xfrm>
            <a:off x="604434" y="1507068"/>
            <a:ext cx="5207843" cy="4669896"/>
          </a:xfrm>
          <a:prstGeom prst="rect">
            <a:avLst/>
          </a:prstGeom>
          <a:noFill/>
          <a:ln>
            <a:noFill/>
          </a:ln>
        </p:spPr>
        <p:txBody>
          <a:bodyPr spcFirstLastPara="1" wrap="square" lIns="91425" tIns="45700" rIns="91425" bIns="45700" anchor="ctr" anchorCtr="0">
            <a:normAutofit/>
          </a:bodyPr>
          <a:lstStyle/>
          <a:p>
            <a:pPr marL="0" lvl="0" indent="-19050" algn="l" rtl="0">
              <a:lnSpc>
                <a:spcPct val="150000"/>
              </a:lnSpc>
              <a:spcBef>
                <a:spcPts val="0"/>
              </a:spcBef>
              <a:spcAft>
                <a:spcPts val="0"/>
              </a:spcAft>
              <a:buClr>
                <a:schemeClr val="dk1"/>
              </a:buClr>
              <a:buSzPts val="300"/>
              <a:buFont typeface="Quattrocento Sans"/>
              <a:buChar char=" "/>
            </a:pPr>
            <a:r>
              <a:rPr lang="en-US"/>
              <a:t>Consists of the tools suite and runtime components</a:t>
            </a:r>
            <a:endParaRPr/>
          </a:p>
          <a:p>
            <a:pPr marL="0" lvl="0" indent="-19050" algn="l" rtl="0">
              <a:lnSpc>
                <a:spcPct val="150000"/>
              </a:lnSpc>
              <a:spcBef>
                <a:spcPts val="2200"/>
              </a:spcBef>
              <a:spcAft>
                <a:spcPts val="0"/>
              </a:spcAft>
              <a:buClr>
                <a:schemeClr val="dk1"/>
              </a:buClr>
              <a:buSzPts val="300"/>
              <a:buFont typeface="Quattrocento Sans"/>
              <a:buChar char=" "/>
            </a:pPr>
            <a:r>
              <a:rPr lang="en-US"/>
              <a:t>Figure shows all of the major runtime components that make up a typical 3D game engine</a:t>
            </a:r>
            <a:endParaRPr/>
          </a:p>
          <a:p>
            <a:pPr marL="0" lvl="0" indent="-19050" algn="l" rtl="0">
              <a:lnSpc>
                <a:spcPct val="150000"/>
              </a:lnSpc>
              <a:spcBef>
                <a:spcPts val="2200"/>
              </a:spcBef>
              <a:spcAft>
                <a:spcPts val="0"/>
              </a:spcAft>
              <a:buClr>
                <a:schemeClr val="dk1"/>
              </a:buClr>
              <a:buSzPts val="300"/>
              <a:buFont typeface="Quattrocento Sans"/>
              <a:buChar char=" "/>
            </a:pPr>
            <a:r>
              <a:rPr lang="en-US"/>
              <a:t>Game engines are definitely large software systems</a:t>
            </a:r>
            <a:endParaRPr/>
          </a:p>
          <a:p>
            <a:pPr marL="0" lvl="0" indent="-19050" algn="l" rtl="0">
              <a:lnSpc>
                <a:spcPct val="150000"/>
              </a:lnSpc>
              <a:spcBef>
                <a:spcPts val="2200"/>
              </a:spcBef>
              <a:spcAft>
                <a:spcPts val="0"/>
              </a:spcAft>
              <a:buClr>
                <a:schemeClr val="dk1"/>
              </a:buClr>
              <a:buSzPts val="300"/>
              <a:buFont typeface="Quattrocento Sans"/>
              <a:buChar char=" "/>
            </a:pPr>
            <a:r>
              <a:rPr lang="en-US"/>
              <a:t>This diagram doesn’t even account for all the tools.</a:t>
            </a:r>
            <a:endParaRPr/>
          </a:p>
          <a:p>
            <a:pPr marL="0" lvl="0" indent="-19050" algn="l" rtl="0">
              <a:lnSpc>
                <a:spcPct val="150000"/>
              </a:lnSpc>
              <a:spcBef>
                <a:spcPts val="2200"/>
              </a:spcBef>
              <a:spcAft>
                <a:spcPts val="0"/>
              </a:spcAft>
              <a:buClr>
                <a:schemeClr val="dk1"/>
              </a:buClr>
              <a:buSzPts val="300"/>
              <a:buFont typeface="Quattrocento Sans"/>
              <a:buChar char=" "/>
            </a:pPr>
            <a:r>
              <a:rPr lang="en-US"/>
              <a:t>Game engines are built in </a:t>
            </a:r>
            <a:r>
              <a:rPr lang="en-US" i="1"/>
              <a:t>layers</a:t>
            </a:r>
            <a:r>
              <a:rPr lang="en-US"/>
              <a:t>.</a:t>
            </a:r>
            <a:endParaRPr/>
          </a:p>
          <a:p>
            <a:pPr marL="0" lvl="0" indent="-19050" algn="l" rtl="0">
              <a:lnSpc>
                <a:spcPct val="150000"/>
              </a:lnSpc>
              <a:spcBef>
                <a:spcPts val="2200"/>
              </a:spcBef>
              <a:spcAft>
                <a:spcPts val="0"/>
              </a:spcAft>
              <a:buClr>
                <a:schemeClr val="dk1"/>
              </a:buClr>
              <a:buSzPts val="300"/>
              <a:buFont typeface="Quattrocento Sans"/>
              <a:buChar char=" "/>
            </a:pPr>
            <a:r>
              <a:rPr lang="en-US"/>
              <a:t>Upper layers depend on lower layers</a:t>
            </a:r>
            <a:endParaRPr/>
          </a:p>
          <a:p>
            <a:pPr marL="0" lvl="0" indent="-19050" algn="l" rtl="0">
              <a:lnSpc>
                <a:spcPct val="150000"/>
              </a:lnSpc>
              <a:spcBef>
                <a:spcPts val="2200"/>
              </a:spcBef>
              <a:spcAft>
                <a:spcPts val="0"/>
              </a:spcAft>
              <a:buClr>
                <a:schemeClr val="dk1"/>
              </a:buClr>
              <a:buSzPts val="300"/>
              <a:buFont typeface="Quattrocento Sans"/>
              <a:buChar char=" "/>
            </a:pPr>
            <a:r>
              <a:rPr lang="en-US"/>
              <a:t>When a lower layer depends upon a higher layer, we call this a </a:t>
            </a:r>
            <a:r>
              <a:rPr lang="en-US" i="1"/>
              <a:t>circular dependency</a:t>
            </a:r>
            <a:r>
              <a:rPr lang="en-US"/>
              <a:t>.</a:t>
            </a:r>
            <a:endParaRPr/>
          </a:p>
          <a:p>
            <a:pPr marL="409576" lvl="1" indent="-7938" algn="l" rtl="0">
              <a:lnSpc>
                <a:spcPct val="90000"/>
              </a:lnSpc>
              <a:spcBef>
                <a:spcPts val="1800"/>
              </a:spcBef>
              <a:spcAft>
                <a:spcPts val="0"/>
              </a:spcAft>
              <a:buClr>
                <a:schemeClr val="dk1"/>
              </a:buClr>
              <a:buSzPts val="1200"/>
              <a:buChar char=" "/>
            </a:pPr>
            <a:r>
              <a:rPr lang="en-US"/>
              <a:t>Avoids circular dependencies to maximize reuse and testability</a:t>
            </a:r>
            <a:endParaRPr/>
          </a:p>
          <a:p>
            <a:pPr marL="0" lvl="0" indent="0" algn="l" rtl="0">
              <a:lnSpc>
                <a:spcPct val="150000"/>
              </a:lnSpc>
              <a:spcBef>
                <a:spcPts val="2200"/>
              </a:spcBef>
              <a:spcAft>
                <a:spcPts val="0"/>
              </a:spcAft>
              <a:buClr>
                <a:schemeClr val="dk1"/>
              </a:buClr>
              <a:buSzPts val="300"/>
              <a:buFont typeface="Quattrocento Sans"/>
              <a:buNone/>
            </a:pPr>
            <a:endParaRPr/>
          </a:p>
        </p:txBody>
      </p:sp>
      <p:sp>
        <p:nvSpPr>
          <p:cNvPr id="446" name="Google Shape;446;p2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Runtime Engine Architecture</a:t>
            </a:r>
            <a:endParaRPr/>
          </a:p>
        </p:txBody>
      </p:sp>
      <p:sp>
        <p:nvSpPr>
          <p:cNvPr id="447" name="Google Shape;447;p29"/>
          <p:cNvSpPr txBox="1">
            <a:spLocks noGrp="1"/>
          </p:cNvSpPr>
          <p:nvPr>
            <p:ph type="sldNum" idx="4294967295"/>
          </p:nvPr>
        </p:nvSpPr>
        <p:spPr>
          <a:xfrm>
            <a:off x="116300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29</a:t>
            </a:fld>
            <a:endParaRPr sz="1200" b="0" i="0" u="none" strike="noStrike" cap="none">
              <a:solidFill>
                <a:srgbClr val="595959"/>
              </a:solidFill>
              <a:latin typeface="Century Gothic"/>
              <a:ea typeface="Century Gothic"/>
              <a:cs typeface="Century Gothic"/>
              <a:sym typeface="Century Gothic"/>
            </a:endParaRPr>
          </a:p>
        </p:txBody>
      </p:sp>
      <p:pic>
        <p:nvPicPr>
          <p:cNvPr id="448" name="Google Shape;448;p29"/>
          <p:cNvPicPr preferRelativeResize="0">
            <a:picLocks noGrp="1"/>
          </p:cNvPicPr>
          <p:nvPr>
            <p:ph type="body" idx="2"/>
          </p:nvPr>
        </p:nvPicPr>
        <p:blipFill rotWithShape="1">
          <a:blip r:embed="rId3">
            <a:alphaModFix/>
          </a:blip>
          <a:srcRect/>
          <a:stretch/>
        </p:blipFill>
        <p:spPr>
          <a:xfrm>
            <a:off x="5987374" y="1214988"/>
            <a:ext cx="4051571" cy="53742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30"/>
          <p:cNvSpPr txBox="1">
            <a:spLocks noGrp="1"/>
          </p:cNvSpPr>
          <p:nvPr>
            <p:ph type="body" idx="1"/>
          </p:nvPr>
        </p:nvSpPr>
        <p:spPr>
          <a:xfrm>
            <a:off x="1090862" y="1507068"/>
            <a:ext cx="3783355" cy="4669896"/>
          </a:xfrm>
          <a:prstGeom prst="rect">
            <a:avLst/>
          </a:prstGeom>
          <a:noFill/>
          <a:ln>
            <a:noFill/>
          </a:ln>
        </p:spPr>
        <p:txBody>
          <a:bodyPr spcFirstLastPara="1" wrap="square" lIns="91425" tIns="45700" rIns="91425" bIns="45700" anchor="ctr" anchorCtr="0">
            <a:noAutofit/>
          </a:bodyPr>
          <a:lstStyle/>
          <a:p>
            <a:pPr marL="0" lvl="0" indent="-31750" algn="l" rtl="0">
              <a:lnSpc>
                <a:spcPct val="150000"/>
              </a:lnSpc>
              <a:spcBef>
                <a:spcPts val="0"/>
              </a:spcBef>
              <a:spcAft>
                <a:spcPts val="0"/>
              </a:spcAft>
              <a:buClr>
                <a:schemeClr val="dk1"/>
              </a:buClr>
              <a:buSzPts val="500"/>
              <a:buChar char=" "/>
            </a:pPr>
            <a:r>
              <a:rPr lang="en-US" sz="2000"/>
              <a:t>Low level components</a:t>
            </a:r>
            <a:endParaRPr/>
          </a:p>
          <a:p>
            <a:pPr marL="0" lvl="0" indent="-31750" algn="l" rtl="0">
              <a:lnSpc>
                <a:spcPct val="150000"/>
              </a:lnSpc>
              <a:spcBef>
                <a:spcPts val="2200"/>
              </a:spcBef>
              <a:spcAft>
                <a:spcPts val="0"/>
              </a:spcAft>
              <a:buClr>
                <a:schemeClr val="dk1"/>
              </a:buClr>
              <a:buSzPts val="500"/>
              <a:buChar char=" "/>
            </a:pPr>
            <a:r>
              <a:rPr lang="en-US" sz="2000"/>
              <a:t>3</a:t>
            </a:r>
            <a:r>
              <a:rPr lang="en-US" sz="2000" baseline="30000"/>
              <a:t>rd</a:t>
            </a:r>
            <a:r>
              <a:rPr lang="en-US" sz="2000"/>
              <a:t> Party SDKs</a:t>
            </a:r>
            <a:endParaRPr/>
          </a:p>
          <a:p>
            <a:pPr marL="0" lvl="0" indent="-31750" algn="l" rtl="0">
              <a:lnSpc>
                <a:spcPct val="150000"/>
              </a:lnSpc>
              <a:spcBef>
                <a:spcPts val="2200"/>
              </a:spcBef>
              <a:spcAft>
                <a:spcPts val="0"/>
              </a:spcAft>
              <a:buClr>
                <a:schemeClr val="dk1"/>
              </a:buClr>
              <a:buSzPts val="500"/>
              <a:buChar char=" "/>
            </a:pPr>
            <a:r>
              <a:rPr lang="en-US" sz="2000"/>
              <a:t>Platform independence layer</a:t>
            </a:r>
            <a:endParaRPr/>
          </a:p>
          <a:p>
            <a:pPr marL="0" lvl="0" indent="-31750" algn="l" rtl="0">
              <a:lnSpc>
                <a:spcPct val="150000"/>
              </a:lnSpc>
              <a:spcBef>
                <a:spcPts val="2200"/>
              </a:spcBef>
              <a:spcAft>
                <a:spcPts val="0"/>
              </a:spcAft>
              <a:buClr>
                <a:schemeClr val="dk1"/>
              </a:buClr>
              <a:buSzPts val="500"/>
              <a:buChar char=" "/>
            </a:pPr>
            <a:r>
              <a:rPr lang="en-US" sz="2000"/>
              <a:t>Core systems</a:t>
            </a:r>
            <a:endParaRPr/>
          </a:p>
          <a:p>
            <a:pPr marL="0" lvl="0" indent="-31750" algn="l" rtl="0">
              <a:lnSpc>
                <a:spcPct val="150000"/>
              </a:lnSpc>
              <a:spcBef>
                <a:spcPts val="2200"/>
              </a:spcBef>
              <a:spcAft>
                <a:spcPts val="0"/>
              </a:spcAft>
              <a:buClr>
                <a:schemeClr val="dk1"/>
              </a:buClr>
              <a:buSzPts val="500"/>
              <a:buChar char=" "/>
            </a:pPr>
            <a:r>
              <a:rPr lang="en-US" sz="2000"/>
              <a:t>Resources manager</a:t>
            </a:r>
            <a:endParaRPr/>
          </a:p>
          <a:p>
            <a:pPr marL="0" lvl="0" indent="-31750" algn="l" rtl="0">
              <a:lnSpc>
                <a:spcPct val="150000"/>
              </a:lnSpc>
              <a:spcBef>
                <a:spcPts val="2200"/>
              </a:spcBef>
              <a:spcAft>
                <a:spcPts val="0"/>
              </a:spcAft>
              <a:buClr>
                <a:schemeClr val="dk1"/>
              </a:buClr>
              <a:buSzPts val="500"/>
              <a:buChar char=" "/>
            </a:pPr>
            <a:r>
              <a:rPr lang="en-US" sz="2000"/>
              <a:t>Rendering engine</a:t>
            </a:r>
            <a:endParaRPr/>
          </a:p>
        </p:txBody>
      </p:sp>
      <p:sp>
        <p:nvSpPr>
          <p:cNvPr id="454" name="Google Shape;454;p30"/>
          <p:cNvSpPr txBox="1">
            <a:spLocks noGrp="1"/>
          </p:cNvSpPr>
          <p:nvPr>
            <p:ph type="body" idx="2"/>
          </p:nvPr>
        </p:nvSpPr>
        <p:spPr>
          <a:xfrm>
            <a:off x="5308169" y="1507068"/>
            <a:ext cx="6231273" cy="4669896"/>
          </a:xfrm>
          <a:prstGeom prst="rect">
            <a:avLst/>
          </a:prstGeom>
          <a:noFill/>
          <a:ln>
            <a:noFill/>
          </a:ln>
        </p:spPr>
        <p:txBody>
          <a:bodyPr spcFirstLastPara="1" wrap="square" lIns="91425" tIns="45700" rIns="91425" bIns="45700" anchor="ctr" anchorCtr="0">
            <a:normAutofit/>
          </a:bodyPr>
          <a:lstStyle/>
          <a:p>
            <a:pPr marL="0" lvl="0" indent="-31750" algn="l" rtl="0">
              <a:lnSpc>
                <a:spcPct val="90000"/>
              </a:lnSpc>
              <a:spcBef>
                <a:spcPts val="0"/>
              </a:spcBef>
              <a:spcAft>
                <a:spcPts val="0"/>
              </a:spcAft>
              <a:buClr>
                <a:schemeClr val="dk1"/>
              </a:buClr>
              <a:buSzPts val="500"/>
              <a:buChar char=" "/>
            </a:pPr>
            <a:r>
              <a:rPr lang="en-US" sz="2000" dirty="0"/>
              <a:t>Profiling/Debugging</a:t>
            </a:r>
            <a:endParaRPr dirty="0"/>
          </a:p>
          <a:p>
            <a:pPr marL="0" lvl="0" indent="-31750" algn="l" rtl="0">
              <a:lnSpc>
                <a:spcPct val="90000"/>
              </a:lnSpc>
              <a:spcBef>
                <a:spcPts val="2200"/>
              </a:spcBef>
              <a:spcAft>
                <a:spcPts val="0"/>
              </a:spcAft>
              <a:buClr>
                <a:schemeClr val="dk1"/>
              </a:buClr>
              <a:buSzPts val="500"/>
              <a:buChar char=" "/>
            </a:pPr>
            <a:r>
              <a:rPr lang="en-US" sz="2000" dirty="0"/>
              <a:t>Collisions and Physics</a:t>
            </a:r>
            <a:endParaRPr dirty="0"/>
          </a:p>
          <a:p>
            <a:pPr marL="0" lvl="0" indent="-31750" algn="l" rtl="0">
              <a:lnSpc>
                <a:spcPct val="90000"/>
              </a:lnSpc>
              <a:spcBef>
                <a:spcPts val="2200"/>
              </a:spcBef>
              <a:spcAft>
                <a:spcPts val="0"/>
              </a:spcAft>
              <a:buClr>
                <a:schemeClr val="dk1"/>
              </a:buClr>
              <a:buSzPts val="500"/>
              <a:buChar char=" "/>
            </a:pPr>
            <a:r>
              <a:rPr lang="en-US" sz="2000" dirty="0"/>
              <a:t>Animation</a:t>
            </a:r>
            <a:endParaRPr dirty="0"/>
          </a:p>
          <a:p>
            <a:pPr marL="0" lvl="0" indent="-31750" algn="l" rtl="0">
              <a:lnSpc>
                <a:spcPct val="90000"/>
              </a:lnSpc>
              <a:spcBef>
                <a:spcPts val="2200"/>
              </a:spcBef>
              <a:spcAft>
                <a:spcPts val="0"/>
              </a:spcAft>
              <a:buClr>
                <a:schemeClr val="dk1"/>
              </a:buClr>
              <a:buSzPts val="500"/>
              <a:buChar char=" "/>
            </a:pPr>
            <a:r>
              <a:rPr lang="en-US" sz="2000" dirty="0"/>
              <a:t>Human Interface Devices</a:t>
            </a:r>
            <a:endParaRPr dirty="0"/>
          </a:p>
          <a:p>
            <a:pPr marL="0" lvl="0" indent="-31750" algn="l" rtl="0">
              <a:lnSpc>
                <a:spcPct val="90000"/>
              </a:lnSpc>
              <a:spcBef>
                <a:spcPts val="2200"/>
              </a:spcBef>
              <a:spcAft>
                <a:spcPts val="0"/>
              </a:spcAft>
              <a:buClr>
                <a:schemeClr val="dk1"/>
              </a:buClr>
              <a:buSzPts val="500"/>
              <a:buChar char=" "/>
            </a:pPr>
            <a:r>
              <a:rPr lang="en-US" sz="2000" dirty="0"/>
              <a:t>Audio</a:t>
            </a:r>
            <a:endParaRPr dirty="0"/>
          </a:p>
          <a:p>
            <a:pPr marL="0" lvl="0" indent="-31750" algn="l" rtl="0">
              <a:lnSpc>
                <a:spcPct val="90000"/>
              </a:lnSpc>
              <a:spcBef>
                <a:spcPts val="2200"/>
              </a:spcBef>
              <a:spcAft>
                <a:spcPts val="0"/>
              </a:spcAft>
              <a:buClr>
                <a:schemeClr val="dk1"/>
              </a:buClr>
              <a:buSzPts val="500"/>
              <a:buChar char=" "/>
            </a:pPr>
            <a:r>
              <a:rPr lang="en-US" sz="2000" dirty="0"/>
              <a:t>Gameplay foundation system</a:t>
            </a:r>
            <a:endParaRPr dirty="0"/>
          </a:p>
          <a:p>
            <a:pPr marL="0" lvl="0" indent="0" algn="l" rtl="0">
              <a:lnSpc>
                <a:spcPct val="90000"/>
              </a:lnSpc>
              <a:spcBef>
                <a:spcPts val="2200"/>
              </a:spcBef>
              <a:spcAft>
                <a:spcPts val="0"/>
              </a:spcAft>
              <a:buClr>
                <a:schemeClr val="dk1"/>
              </a:buClr>
              <a:buSzPts val="300"/>
              <a:buFont typeface="Quattrocento Sans"/>
              <a:buNone/>
            </a:pPr>
            <a:r>
              <a:rPr lang="en-US" sz="2000" dirty="0"/>
              <a:t>AI</a:t>
            </a:r>
            <a:endParaRPr sz="2000" dirty="0"/>
          </a:p>
        </p:txBody>
      </p:sp>
      <p:sp>
        <p:nvSpPr>
          <p:cNvPr id="455" name="Google Shape;455;p30"/>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Runtime Engine</a:t>
            </a:r>
            <a:endParaRPr/>
          </a:p>
        </p:txBody>
      </p:sp>
      <p:sp>
        <p:nvSpPr>
          <p:cNvPr id="456" name="Google Shape;456;p30"/>
          <p:cNvSpPr txBox="1">
            <a:spLocks noGrp="1"/>
          </p:cNvSpPr>
          <p:nvPr>
            <p:ph type="sldNum" idx="4294967295"/>
          </p:nvPr>
        </p:nvSpPr>
        <p:spPr>
          <a:xfrm>
            <a:off x="116300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30</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Low level components</a:t>
            </a:r>
            <a:endParaRPr/>
          </a:p>
        </p:txBody>
      </p:sp>
      <p:sp>
        <p:nvSpPr>
          <p:cNvPr id="463" name="Google Shape;463;p31"/>
          <p:cNvSpPr txBox="1">
            <a:spLocks noGrp="1"/>
          </p:cNvSpPr>
          <p:nvPr>
            <p:ph type="body" idx="1"/>
          </p:nvPr>
        </p:nvSpPr>
        <p:spPr>
          <a:xfrm>
            <a:off x="604434" y="1241406"/>
            <a:ext cx="10983132" cy="535037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00"/>
              <a:buFont typeface="Quattrocento Sans"/>
              <a:buNone/>
            </a:pP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Target Hardware</a:t>
            </a:r>
            <a:endParaRPr dirty="0"/>
          </a:p>
          <a:p>
            <a:pPr marL="409576" lvl="1" indent="-7938" algn="l" rtl="0">
              <a:lnSpc>
                <a:spcPct val="90000"/>
              </a:lnSpc>
              <a:spcBef>
                <a:spcPts val="1800"/>
              </a:spcBef>
              <a:spcAft>
                <a:spcPts val="0"/>
              </a:spcAft>
              <a:buClr>
                <a:schemeClr val="dk1"/>
              </a:buClr>
              <a:buSzPts val="1200"/>
              <a:buChar char=" "/>
            </a:pPr>
            <a:r>
              <a:rPr lang="en-US" dirty="0"/>
              <a:t>This is the system (or platforms) or console that the game is to run on</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Device Drivers</a:t>
            </a:r>
            <a:endParaRPr dirty="0"/>
          </a:p>
          <a:p>
            <a:pPr marL="409576" lvl="1" indent="-7938" algn="l" rtl="0">
              <a:lnSpc>
                <a:spcPct val="90000"/>
              </a:lnSpc>
              <a:spcBef>
                <a:spcPts val="1800"/>
              </a:spcBef>
              <a:spcAft>
                <a:spcPts val="0"/>
              </a:spcAft>
              <a:buClr>
                <a:schemeClr val="dk1"/>
              </a:buClr>
              <a:buSzPts val="1200"/>
              <a:buChar char=" "/>
            </a:pPr>
            <a:r>
              <a:rPr lang="en-US" dirty="0"/>
              <a:t>Device drivers are low-level software components provided by the operating system or hardware vendor</a:t>
            </a:r>
            <a:endParaRPr dirty="0"/>
          </a:p>
          <a:p>
            <a:pPr marL="409576" lvl="1" indent="-7938" algn="l" rtl="0">
              <a:lnSpc>
                <a:spcPct val="90000"/>
              </a:lnSpc>
              <a:spcBef>
                <a:spcPts val="1800"/>
              </a:spcBef>
              <a:spcAft>
                <a:spcPts val="0"/>
              </a:spcAft>
              <a:buClr>
                <a:schemeClr val="dk1"/>
              </a:buClr>
              <a:buSzPts val="1200"/>
              <a:buChar char=" "/>
            </a:pPr>
            <a:r>
              <a:rPr lang="en-US" dirty="0"/>
              <a:t>Shield the OS and upper layers from low level device communications details</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Operating System</a:t>
            </a:r>
            <a:endParaRPr dirty="0"/>
          </a:p>
          <a:p>
            <a:pPr marL="409576" lvl="1" indent="-7938" algn="l" rtl="0">
              <a:lnSpc>
                <a:spcPct val="90000"/>
              </a:lnSpc>
              <a:spcBef>
                <a:spcPts val="1800"/>
              </a:spcBef>
              <a:spcAft>
                <a:spcPts val="0"/>
              </a:spcAft>
              <a:buClr>
                <a:schemeClr val="dk1"/>
              </a:buClr>
              <a:buSzPts val="1200"/>
              <a:buChar char=" "/>
            </a:pPr>
            <a:r>
              <a:rPr lang="en-US" dirty="0"/>
              <a:t>Handles the execution and interruption of multiple programs on a single machine (preemptive multitasking)</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          A PC game can never assume it has full control of the hardware</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Very thin OS on an early consoles. </a:t>
            </a:r>
            <a:endParaRPr dirty="0"/>
          </a:p>
          <a:p>
            <a:pPr marL="0" lvl="0" indent="-19050" algn="l" rtl="0">
              <a:lnSpc>
                <a:spcPct val="90000"/>
              </a:lnSpc>
              <a:spcBef>
                <a:spcPts val="2200"/>
              </a:spcBef>
              <a:spcAft>
                <a:spcPts val="0"/>
              </a:spcAft>
              <a:buClr>
                <a:schemeClr val="dk1"/>
              </a:buClr>
              <a:buSzPts val="300"/>
              <a:buFont typeface="Quattrocento Sans"/>
              <a:buChar char=" "/>
            </a:pPr>
            <a:r>
              <a:rPr lang="en-US" dirty="0"/>
              <a:t>On Modern Consoles, The operating systems on the Xbox and PlayStation can interrupt the execution of your game, or take over certain system resources, in order to display online messages, or to allow the player to pause the game and bring up the PS4’s “XMB” user interface or the Xbox One’s dashboard, for example.</a:t>
            </a:r>
            <a:endParaRPr dirty="0"/>
          </a:p>
        </p:txBody>
      </p:sp>
      <p:pic>
        <p:nvPicPr>
          <p:cNvPr id="464" name="Google Shape;464;p31" descr="Fig-RuntimeArch.jpg"/>
          <p:cNvPicPr preferRelativeResize="0"/>
          <p:nvPr/>
        </p:nvPicPr>
        <p:blipFill rotWithShape="1">
          <a:blip r:embed="rId3">
            <a:alphaModFix/>
          </a:blip>
          <a:srcRect t="90709"/>
          <a:stretch/>
        </p:blipFill>
        <p:spPr>
          <a:xfrm>
            <a:off x="5294346" y="1241406"/>
            <a:ext cx="6293220" cy="775158"/>
          </a:xfrm>
          <a:prstGeom prst="rect">
            <a:avLst/>
          </a:prstGeom>
          <a:noFill/>
          <a:ln>
            <a:noFill/>
          </a:ln>
        </p:spPr>
      </p:pic>
      <p:sp>
        <p:nvSpPr>
          <p:cNvPr id="465" name="Google Shape;465;p31"/>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31</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2"/>
          <p:cNvSpPr txBox="1">
            <a:spLocks noGrp="1"/>
          </p:cNvSpPr>
          <p:nvPr>
            <p:ph type="title"/>
          </p:nvPr>
        </p:nvSpPr>
        <p:spPr>
          <a:xfrm>
            <a:off x="1981200" y="0"/>
            <a:ext cx="8229600"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3</a:t>
            </a:r>
            <a:r>
              <a:rPr lang="en-US" baseline="30000"/>
              <a:t>rd</a:t>
            </a:r>
            <a:r>
              <a:rPr lang="en-US"/>
              <a:t> Party SDKs</a:t>
            </a:r>
            <a:endParaRPr/>
          </a:p>
        </p:txBody>
      </p:sp>
      <p:sp>
        <p:nvSpPr>
          <p:cNvPr id="472" name="Google Shape;472;p32"/>
          <p:cNvSpPr txBox="1">
            <a:spLocks noGrp="1"/>
          </p:cNvSpPr>
          <p:nvPr>
            <p:ph type="body" idx="1"/>
          </p:nvPr>
        </p:nvSpPr>
        <p:spPr>
          <a:xfrm>
            <a:off x="657529" y="1306963"/>
            <a:ext cx="10942233" cy="5296394"/>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None/>
            </a:pPr>
            <a:r>
              <a:rPr lang="en-US" sz="900" dirty="0"/>
              <a:t>Data Structure and Algorithms</a:t>
            </a:r>
            <a:endParaRPr sz="900" dirty="0"/>
          </a:p>
          <a:p>
            <a:pPr marL="0" indent="0">
              <a:lnSpc>
                <a:spcPct val="100000"/>
              </a:lnSpc>
              <a:spcBef>
                <a:spcPts val="2200"/>
              </a:spcBef>
              <a:buNone/>
            </a:pPr>
            <a:r>
              <a:rPr lang="en-US" sz="900" dirty="0"/>
              <a:t>Games depend heavily on </a:t>
            </a:r>
            <a:r>
              <a:rPr lang="en-US" sz="900" i="1" dirty="0"/>
              <a:t>container </a:t>
            </a:r>
            <a:r>
              <a:rPr lang="en-US" sz="900" dirty="0"/>
              <a:t>data structures and algorithms to manipulate them:</a:t>
            </a:r>
            <a:endParaRPr sz="900" dirty="0"/>
          </a:p>
          <a:p>
            <a:pPr marL="401638" lvl="1" indent="0">
              <a:lnSpc>
                <a:spcPct val="100000"/>
              </a:lnSpc>
              <a:spcBef>
                <a:spcPts val="1800"/>
              </a:spcBef>
              <a:buNone/>
            </a:pPr>
            <a:r>
              <a:rPr lang="en-US" sz="900" dirty="0"/>
              <a:t>Boost: a powerful data structures and algorithms library, designed in the style of the standard C++ library, Folly: library used at Facebook, and Loki: a powerful generic programming template library</a:t>
            </a:r>
            <a:endParaRPr sz="900" dirty="0"/>
          </a:p>
          <a:p>
            <a:pPr marL="457200" lvl="1" indent="0">
              <a:lnSpc>
                <a:spcPct val="100000"/>
              </a:lnSpc>
              <a:spcBef>
                <a:spcPts val="2200"/>
              </a:spcBef>
              <a:buNone/>
            </a:pPr>
            <a:r>
              <a:rPr lang="en-US" sz="900" dirty="0"/>
              <a:t>STL – C++ standard template library data structures, strings, stream-based I/O (ex: generic container classes such as std::vector and std::list)</a:t>
            </a:r>
            <a:endParaRPr sz="900" dirty="0"/>
          </a:p>
          <a:p>
            <a:pPr marL="0" indent="0">
              <a:lnSpc>
                <a:spcPct val="100000"/>
              </a:lnSpc>
              <a:spcBef>
                <a:spcPts val="2200"/>
              </a:spcBef>
              <a:buNone/>
            </a:pPr>
            <a:r>
              <a:rPr lang="en-US" sz="900" dirty="0"/>
              <a:t>Graphics</a:t>
            </a:r>
            <a:endParaRPr sz="900" dirty="0"/>
          </a:p>
          <a:p>
            <a:pPr marL="401638" lvl="1" indent="0">
              <a:lnSpc>
                <a:spcPct val="100000"/>
              </a:lnSpc>
              <a:spcBef>
                <a:spcPts val="1800"/>
              </a:spcBef>
              <a:buNone/>
            </a:pPr>
            <a:r>
              <a:rPr lang="en-US" sz="900" dirty="0"/>
              <a:t>Glide, </a:t>
            </a:r>
            <a:r>
              <a:rPr lang="en-US" sz="900" i="1" dirty="0" err="1"/>
              <a:t>libgcm</a:t>
            </a:r>
            <a:r>
              <a:rPr lang="en-US" sz="900" i="1" dirty="0"/>
              <a:t>, </a:t>
            </a:r>
            <a:r>
              <a:rPr lang="en-US" sz="900" dirty="0"/>
              <a:t>OpenGL, DirectX, </a:t>
            </a:r>
            <a:r>
              <a:rPr lang="en-US" sz="900" i="1" dirty="0"/>
              <a:t>Edge, Vulkan, Metal</a:t>
            </a:r>
            <a:endParaRPr sz="900" dirty="0"/>
          </a:p>
          <a:p>
            <a:pPr marL="0" indent="0">
              <a:lnSpc>
                <a:spcPct val="100000"/>
              </a:lnSpc>
              <a:spcBef>
                <a:spcPts val="2200"/>
              </a:spcBef>
              <a:buNone/>
            </a:pPr>
            <a:r>
              <a:rPr lang="en-US" sz="900" dirty="0"/>
              <a:t>Collisions and Physics</a:t>
            </a:r>
            <a:endParaRPr sz="900" dirty="0"/>
          </a:p>
          <a:p>
            <a:pPr marL="401638" lvl="1" indent="0">
              <a:lnSpc>
                <a:spcPct val="100000"/>
              </a:lnSpc>
              <a:spcBef>
                <a:spcPts val="1800"/>
              </a:spcBef>
              <a:buNone/>
            </a:pPr>
            <a:r>
              <a:rPr lang="en-US" sz="900" dirty="0"/>
              <a:t>SDK for collision detection and rigid body dynamics: Havok, PhysX(NVIDIA), Open Dynamic Engine(ODE)</a:t>
            </a:r>
            <a:endParaRPr sz="900" dirty="0"/>
          </a:p>
          <a:p>
            <a:pPr marL="0" indent="0">
              <a:lnSpc>
                <a:spcPct val="100000"/>
              </a:lnSpc>
              <a:spcBef>
                <a:spcPts val="2200"/>
              </a:spcBef>
              <a:buNone/>
            </a:pPr>
            <a:r>
              <a:rPr lang="en-US" sz="900" dirty="0"/>
              <a:t>Character Animation</a:t>
            </a:r>
            <a:endParaRPr sz="900" dirty="0"/>
          </a:p>
          <a:p>
            <a:pPr marL="401638" lvl="1" indent="0">
              <a:lnSpc>
                <a:spcPct val="100000"/>
              </a:lnSpc>
              <a:spcBef>
                <a:spcPts val="1800"/>
              </a:spcBef>
              <a:buNone/>
            </a:pPr>
            <a:r>
              <a:rPr lang="en-US" sz="900" dirty="0"/>
              <a:t>Granny from Rad Game Tools, Havoc Animation, </a:t>
            </a:r>
            <a:r>
              <a:rPr lang="en-US" sz="900" dirty="0" err="1"/>
              <a:t>OrbisAnim</a:t>
            </a:r>
            <a:r>
              <a:rPr lang="en-US" sz="900" dirty="0"/>
              <a:t> by SN Systems</a:t>
            </a:r>
            <a:endParaRPr sz="900" dirty="0"/>
          </a:p>
          <a:p>
            <a:pPr marL="0" indent="0">
              <a:lnSpc>
                <a:spcPct val="100000"/>
              </a:lnSpc>
              <a:spcBef>
                <a:spcPts val="2200"/>
              </a:spcBef>
              <a:buNone/>
            </a:pPr>
            <a:r>
              <a:rPr lang="en-US" sz="900" dirty="0"/>
              <a:t>Artificial Intelligence</a:t>
            </a:r>
          </a:p>
          <a:p>
            <a:pPr marL="438150" lvl="1" indent="0">
              <a:lnSpc>
                <a:spcPct val="100000"/>
              </a:lnSpc>
              <a:spcBef>
                <a:spcPts val="2200"/>
              </a:spcBef>
              <a:buSzPts val="300"/>
              <a:buNone/>
            </a:pPr>
            <a:r>
              <a:rPr lang="en-US" sz="900" dirty="0"/>
              <a:t>Kythera AI, Havoc AI, RAIN AI, OpenAI Gym / Petting Zoo, TensorFlow/</a:t>
            </a:r>
            <a:r>
              <a:rPr lang="en-US" sz="900" dirty="0" err="1"/>
              <a:t>PyTorch</a:t>
            </a:r>
            <a:r>
              <a:rPr lang="en-US" sz="900" dirty="0"/>
              <a:t>, Recast &amp; Detour</a:t>
            </a:r>
            <a:endParaRPr sz="900" dirty="0"/>
          </a:p>
          <a:p>
            <a:pPr marL="0" indent="0">
              <a:lnSpc>
                <a:spcPct val="100000"/>
              </a:lnSpc>
              <a:spcBef>
                <a:spcPts val="2200"/>
              </a:spcBef>
              <a:buNone/>
            </a:pPr>
            <a:r>
              <a:rPr lang="en-US" sz="900" dirty="0"/>
              <a:t>Biomechanical Character Models: </a:t>
            </a:r>
            <a:r>
              <a:rPr lang="en-US" sz="900" i="1" dirty="0"/>
              <a:t>Endorphin and Euphoria (</a:t>
            </a:r>
            <a:r>
              <a:rPr lang="en-US" sz="900" dirty="0"/>
              <a:t>produce character motion using advanced biomechanical models) </a:t>
            </a:r>
            <a:r>
              <a:rPr lang="en-US" sz="900" i="1" dirty="0"/>
              <a:t> </a:t>
            </a:r>
            <a:r>
              <a:rPr lang="en-US" sz="900" dirty="0"/>
              <a:t>produce character motion using advanced biomechanical models</a:t>
            </a:r>
            <a:endParaRPr sz="900" dirty="0"/>
          </a:p>
          <a:p>
            <a:pPr marL="409576" lvl="1" indent="119061" algn="l" rtl="0">
              <a:lnSpc>
                <a:spcPct val="90000"/>
              </a:lnSpc>
              <a:spcBef>
                <a:spcPts val="1800"/>
              </a:spcBef>
              <a:spcAft>
                <a:spcPts val="0"/>
              </a:spcAft>
              <a:buClr>
                <a:schemeClr val="dk1"/>
              </a:buClr>
              <a:buSzPts val="2000"/>
              <a:buNone/>
            </a:pPr>
            <a:endParaRPr sz="2000" dirty="0"/>
          </a:p>
        </p:txBody>
      </p:sp>
      <p:pic>
        <p:nvPicPr>
          <p:cNvPr id="473" name="Google Shape;473;p32" descr="Fig-RuntimeArch.jpg"/>
          <p:cNvPicPr preferRelativeResize="0"/>
          <p:nvPr/>
        </p:nvPicPr>
        <p:blipFill rotWithShape="1">
          <a:blip r:embed="rId3">
            <a:alphaModFix/>
          </a:blip>
          <a:srcRect t="84661" b="9827"/>
          <a:stretch/>
        </p:blipFill>
        <p:spPr>
          <a:xfrm>
            <a:off x="3774850" y="1219200"/>
            <a:ext cx="6547025" cy="478433"/>
          </a:xfrm>
          <a:prstGeom prst="rect">
            <a:avLst/>
          </a:prstGeom>
          <a:noFill/>
          <a:ln>
            <a:noFill/>
          </a:ln>
        </p:spPr>
      </p:pic>
      <p:sp>
        <p:nvSpPr>
          <p:cNvPr id="474" name="Google Shape;474;p32"/>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32</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3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Platform independence layer</a:t>
            </a:r>
            <a:endParaRPr/>
          </a:p>
        </p:txBody>
      </p:sp>
      <p:sp>
        <p:nvSpPr>
          <p:cNvPr id="480" name="Google Shape;480;p33"/>
          <p:cNvSpPr txBox="1">
            <a:spLocks noGrp="1"/>
          </p:cNvSpPr>
          <p:nvPr>
            <p:ph type="body" idx="1"/>
          </p:nvPr>
        </p:nvSpPr>
        <p:spPr>
          <a:xfrm>
            <a:off x="604433" y="1353274"/>
            <a:ext cx="10983131" cy="5197997"/>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Allows the engine to be developed without the concern of the underlying platform</a:t>
            </a:r>
            <a:endParaRPr/>
          </a:p>
          <a:p>
            <a:pPr marL="0" lvl="0" indent="-19050" algn="l" rtl="0">
              <a:lnSpc>
                <a:spcPct val="90000"/>
              </a:lnSpc>
              <a:spcBef>
                <a:spcPts val="2200"/>
              </a:spcBef>
              <a:spcAft>
                <a:spcPts val="0"/>
              </a:spcAft>
              <a:buClr>
                <a:schemeClr val="dk1"/>
              </a:buClr>
              <a:buSzPts val="300"/>
              <a:buFont typeface="Quattrocento Sans"/>
              <a:buChar char=" "/>
            </a:pPr>
            <a:r>
              <a:rPr lang="en-US"/>
              <a:t>Provides wrappers to common target specific operations</a:t>
            </a:r>
            <a:endParaRPr/>
          </a:p>
          <a:p>
            <a:pPr marL="0" lvl="0" indent="-19050" algn="l" rtl="0">
              <a:lnSpc>
                <a:spcPct val="90000"/>
              </a:lnSpc>
              <a:spcBef>
                <a:spcPts val="2200"/>
              </a:spcBef>
              <a:spcAft>
                <a:spcPts val="0"/>
              </a:spcAft>
              <a:buClr>
                <a:schemeClr val="dk1"/>
              </a:buClr>
              <a:buSzPts val="300"/>
              <a:buFont typeface="Quattrocento Sans"/>
              <a:buChar char=" "/>
            </a:pPr>
            <a:r>
              <a:rPr lang="en-US"/>
              <a:t>Include things like primitive types, network, file systems, etc.</a:t>
            </a:r>
            <a:endParaRPr/>
          </a:p>
          <a:p>
            <a:pPr marL="0" lvl="0" indent="-19050" algn="l" rtl="0">
              <a:lnSpc>
                <a:spcPct val="90000"/>
              </a:lnSpc>
              <a:spcBef>
                <a:spcPts val="2200"/>
              </a:spcBef>
              <a:spcAft>
                <a:spcPts val="0"/>
              </a:spcAft>
              <a:buClr>
                <a:schemeClr val="dk1"/>
              </a:buClr>
              <a:buSzPts val="300"/>
              <a:buFont typeface="Quattrocento Sans"/>
              <a:buChar char=" "/>
            </a:pPr>
            <a:r>
              <a:rPr lang="en-US"/>
              <a:t>Companies like Electronic Arts and Activision Blizzard target their games at a wide variety of platforms</a:t>
            </a:r>
            <a:endParaRPr/>
          </a:p>
          <a:p>
            <a:pPr marL="0" lvl="0" indent="-19050" algn="l" rtl="0">
              <a:lnSpc>
                <a:spcPct val="90000"/>
              </a:lnSpc>
              <a:spcBef>
                <a:spcPts val="2200"/>
              </a:spcBef>
              <a:spcAft>
                <a:spcPts val="0"/>
              </a:spcAft>
              <a:buClr>
                <a:schemeClr val="dk1"/>
              </a:buClr>
              <a:buSzPts val="300"/>
              <a:buFont typeface="Quattrocento Sans"/>
              <a:buChar char=" "/>
            </a:pPr>
            <a:r>
              <a:rPr lang="en-US"/>
              <a:t>This layer sits atop the hardware, drivers, operating system and other third-party software</a:t>
            </a:r>
            <a:endParaRPr/>
          </a:p>
          <a:p>
            <a:pPr marL="0" lvl="0" indent="-19050" algn="l" rtl="0">
              <a:lnSpc>
                <a:spcPct val="90000"/>
              </a:lnSpc>
              <a:spcBef>
                <a:spcPts val="2200"/>
              </a:spcBef>
              <a:spcAft>
                <a:spcPts val="0"/>
              </a:spcAft>
              <a:buClr>
                <a:schemeClr val="dk1"/>
              </a:buClr>
              <a:buSzPts val="300"/>
              <a:buFont typeface="Quattrocento Sans"/>
              <a:buChar char=" "/>
            </a:pPr>
            <a:r>
              <a:rPr lang="en-US"/>
              <a:t>There are two primary reasons to “wrap” functions as part of your game engine’s platform independence layer</a:t>
            </a:r>
            <a:endParaRPr/>
          </a:p>
          <a:p>
            <a:pPr marL="0" lvl="0" indent="-19050" algn="l" rtl="0">
              <a:lnSpc>
                <a:spcPct val="90000"/>
              </a:lnSpc>
              <a:spcBef>
                <a:spcPts val="2200"/>
              </a:spcBef>
              <a:spcAft>
                <a:spcPts val="0"/>
              </a:spcAft>
              <a:buClr>
                <a:schemeClr val="dk1"/>
              </a:buClr>
              <a:buSzPts val="300"/>
              <a:buFont typeface="Quattrocento Sans"/>
              <a:buChar char=" "/>
            </a:pPr>
            <a:r>
              <a:rPr lang="en-US"/>
              <a:t>1. Some APIs like those provided by the operating system, or even some functions in older “standard” libraries like the C standard library differ significantly from platform to platform; wrapping these functions provides the rest of your engine with a consistent API across all of your targeted platforms. </a:t>
            </a:r>
            <a:endParaRPr/>
          </a:p>
          <a:p>
            <a:pPr marL="0" lvl="0" indent="-19050" algn="l" rtl="0">
              <a:lnSpc>
                <a:spcPct val="90000"/>
              </a:lnSpc>
              <a:spcBef>
                <a:spcPts val="2200"/>
              </a:spcBef>
              <a:spcAft>
                <a:spcPts val="0"/>
              </a:spcAft>
              <a:buClr>
                <a:schemeClr val="dk1"/>
              </a:buClr>
              <a:buSzPts val="300"/>
              <a:buFont typeface="Quattrocento Sans"/>
              <a:buChar char=" "/>
            </a:pPr>
            <a:r>
              <a:rPr lang="en-US"/>
              <a:t>2. Even when using a fully cross-platform library such as Havok, you might want to insulate yourself from future changes, such as transitioning your engine to a different collision/physics library in the future.</a:t>
            </a:r>
            <a:endParaRPr/>
          </a:p>
        </p:txBody>
      </p:sp>
      <p:pic>
        <p:nvPicPr>
          <p:cNvPr id="481" name="Google Shape;481;p33" descr="Fig-RuntimeArch.jpg"/>
          <p:cNvPicPr preferRelativeResize="0"/>
          <p:nvPr/>
        </p:nvPicPr>
        <p:blipFill rotWithShape="1">
          <a:blip r:embed="rId3">
            <a:alphaModFix/>
          </a:blip>
          <a:srcRect t="77102" b="15873"/>
          <a:stretch/>
        </p:blipFill>
        <p:spPr>
          <a:xfrm>
            <a:off x="5040040" y="1645534"/>
            <a:ext cx="6547524" cy="609600"/>
          </a:xfrm>
          <a:prstGeom prst="rect">
            <a:avLst/>
          </a:prstGeom>
          <a:noFill/>
          <a:ln>
            <a:noFill/>
          </a:ln>
        </p:spPr>
      </p:pic>
      <p:sp>
        <p:nvSpPr>
          <p:cNvPr id="482" name="Google Shape;482;p33"/>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33</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3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Core systems</a:t>
            </a:r>
            <a:endParaRPr/>
          </a:p>
        </p:txBody>
      </p:sp>
      <p:sp>
        <p:nvSpPr>
          <p:cNvPr id="488" name="Google Shape;488;p34"/>
          <p:cNvSpPr txBox="1">
            <a:spLocks noGrp="1"/>
          </p:cNvSpPr>
          <p:nvPr>
            <p:ph type="body" idx="1"/>
          </p:nvPr>
        </p:nvSpPr>
        <p:spPr>
          <a:xfrm>
            <a:off x="604433" y="1319514"/>
            <a:ext cx="10983131" cy="4624085"/>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Every game engine requires a grab bag of useful software utilities.</a:t>
            </a:r>
            <a:endParaRPr/>
          </a:p>
          <a:p>
            <a:pPr marL="0" lvl="0" indent="-19050" algn="l" rtl="0">
              <a:lnSpc>
                <a:spcPct val="90000"/>
              </a:lnSpc>
              <a:spcBef>
                <a:spcPts val="2200"/>
              </a:spcBef>
              <a:spcAft>
                <a:spcPts val="0"/>
              </a:spcAft>
              <a:buClr>
                <a:schemeClr val="dk1"/>
              </a:buClr>
              <a:buSzPts val="300"/>
              <a:buFont typeface="Quattrocento Sans"/>
              <a:buChar char=" "/>
            </a:pPr>
            <a:r>
              <a:rPr lang="en-US"/>
              <a:t>We’ll categorize these under the label “core systems.”</a:t>
            </a:r>
            <a:endParaRPr/>
          </a:p>
          <a:p>
            <a:pPr marL="0" lvl="0" indent="-19050" algn="l" rtl="0">
              <a:lnSpc>
                <a:spcPct val="90000"/>
              </a:lnSpc>
              <a:spcBef>
                <a:spcPts val="2200"/>
              </a:spcBef>
              <a:spcAft>
                <a:spcPts val="0"/>
              </a:spcAft>
              <a:buClr>
                <a:schemeClr val="dk1"/>
              </a:buClr>
              <a:buSzPts val="300"/>
              <a:buFont typeface="Quattrocento Sans"/>
              <a:buChar char=" "/>
            </a:pPr>
            <a:r>
              <a:rPr lang="en-US" i="1"/>
              <a:t>Assertions: </a:t>
            </a:r>
            <a:r>
              <a:rPr lang="en-US"/>
              <a:t>lines of error-checking code that are inserted to catch logical mistakes(stripped out of the final production build of the game)</a:t>
            </a:r>
            <a:endParaRPr/>
          </a:p>
          <a:p>
            <a:pPr marL="0" lvl="0" indent="-19050" algn="l" rtl="0">
              <a:lnSpc>
                <a:spcPct val="90000"/>
              </a:lnSpc>
              <a:spcBef>
                <a:spcPts val="2200"/>
              </a:spcBef>
              <a:spcAft>
                <a:spcPts val="0"/>
              </a:spcAft>
              <a:buClr>
                <a:schemeClr val="dk1"/>
              </a:buClr>
              <a:buSzPts val="300"/>
              <a:buFont typeface="Quattrocento Sans"/>
              <a:buChar char=" "/>
            </a:pPr>
            <a:r>
              <a:rPr lang="en-US"/>
              <a:t>Memory Management: every game engine implements its own custom memory allocation system</a:t>
            </a:r>
            <a:endParaRPr/>
          </a:p>
          <a:p>
            <a:pPr marL="0" lvl="0" indent="-19050" algn="l" rtl="0">
              <a:lnSpc>
                <a:spcPct val="90000"/>
              </a:lnSpc>
              <a:spcBef>
                <a:spcPts val="2200"/>
              </a:spcBef>
              <a:spcAft>
                <a:spcPts val="0"/>
              </a:spcAft>
              <a:buClr>
                <a:schemeClr val="dk1"/>
              </a:buClr>
              <a:buSzPts val="300"/>
              <a:buFont typeface="Quattrocento Sans"/>
              <a:buChar char=" "/>
            </a:pPr>
            <a:r>
              <a:rPr lang="en-US"/>
              <a:t>Math library: These libraries provide facilities for vector and matrix math, quaternion rotations, trigonometry, geometric operations, etc.</a:t>
            </a:r>
            <a:endParaRPr/>
          </a:p>
          <a:p>
            <a:pPr marL="0" lvl="0" indent="-19050" algn="l" rtl="0">
              <a:lnSpc>
                <a:spcPct val="90000"/>
              </a:lnSpc>
              <a:spcBef>
                <a:spcPts val="2200"/>
              </a:spcBef>
              <a:spcAft>
                <a:spcPts val="0"/>
              </a:spcAft>
              <a:buClr>
                <a:schemeClr val="dk1"/>
              </a:buClr>
              <a:buSzPts val="300"/>
              <a:buFont typeface="Quattrocento Sans"/>
              <a:buChar char=" "/>
            </a:pPr>
            <a:r>
              <a:rPr lang="en-US"/>
              <a:t>Custom data structures: any other data structures for managing fundamental data structures (linked lists, dynamic arrays, binary trees, hash maps, etc.) and algorithms (search, sort, etc.)  -- data structures and algorithms other than Boost and Folly </a:t>
            </a:r>
            <a:endParaRPr/>
          </a:p>
        </p:txBody>
      </p:sp>
      <p:pic>
        <p:nvPicPr>
          <p:cNvPr id="489" name="Google Shape;489;p34" descr="Fig-RuntimeArch.jpg"/>
          <p:cNvPicPr preferRelativeResize="0"/>
          <p:nvPr/>
        </p:nvPicPr>
        <p:blipFill rotWithShape="1">
          <a:blip r:embed="rId3">
            <a:alphaModFix/>
          </a:blip>
          <a:srcRect t="66520" b="23433"/>
          <a:stretch/>
        </p:blipFill>
        <p:spPr>
          <a:xfrm>
            <a:off x="5294653" y="1319514"/>
            <a:ext cx="6292911" cy="838200"/>
          </a:xfrm>
          <a:prstGeom prst="rect">
            <a:avLst/>
          </a:prstGeom>
          <a:noFill/>
          <a:ln>
            <a:noFill/>
          </a:ln>
        </p:spPr>
      </p:pic>
      <p:sp>
        <p:nvSpPr>
          <p:cNvPr id="490" name="Google Shape;490;p34"/>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34</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Resource manager</a:t>
            </a:r>
            <a:endParaRPr/>
          </a:p>
        </p:txBody>
      </p:sp>
      <p:sp>
        <p:nvSpPr>
          <p:cNvPr id="496" name="Google Shape;496;p35"/>
          <p:cNvSpPr txBox="1">
            <a:spLocks noGrp="1"/>
          </p:cNvSpPr>
          <p:nvPr>
            <p:ph type="body" idx="1"/>
          </p:nvPr>
        </p:nvSpPr>
        <p:spPr>
          <a:xfrm>
            <a:off x="604434" y="1309869"/>
            <a:ext cx="10983132" cy="5264551"/>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Provides a unified interface for accessing assets</a:t>
            </a:r>
            <a:endParaRPr/>
          </a:p>
          <a:p>
            <a:pPr marL="0" lvl="0" indent="-19050" algn="l" rtl="0">
              <a:lnSpc>
                <a:spcPct val="90000"/>
              </a:lnSpc>
              <a:spcBef>
                <a:spcPts val="2200"/>
              </a:spcBef>
              <a:spcAft>
                <a:spcPts val="0"/>
              </a:spcAft>
              <a:buClr>
                <a:schemeClr val="dk1"/>
              </a:buClr>
              <a:buSzPts val="300"/>
              <a:buFont typeface="Quattrocento Sans"/>
              <a:buChar char=" "/>
            </a:pPr>
            <a:r>
              <a:rPr lang="en-US"/>
              <a:t>The level of complexity is dictated by need</a:t>
            </a:r>
            <a:endParaRPr/>
          </a:p>
          <a:p>
            <a:pPr marL="0" lvl="0" indent="-19050" algn="l" rtl="0">
              <a:lnSpc>
                <a:spcPct val="90000"/>
              </a:lnSpc>
              <a:spcBef>
                <a:spcPts val="2200"/>
              </a:spcBef>
              <a:spcAft>
                <a:spcPts val="0"/>
              </a:spcAft>
              <a:buClr>
                <a:schemeClr val="dk1"/>
              </a:buClr>
              <a:buSzPts val="300"/>
              <a:buFont typeface="Quattrocento Sans"/>
              <a:buChar char=" "/>
            </a:pPr>
            <a:r>
              <a:rPr lang="en-US"/>
              <a:t>Some engines do this in a highly centralized and consistent manner (e.g., Unreal’s packages, OGRE’s Resource-Manager class).</a:t>
            </a:r>
            <a:endParaRPr/>
          </a:p>
          <a:p>
            <a:pPr marL="0" lvl="0" indent="-19050" algn="l" rtl="0">
              <a:lnSpc>
                <a:spcPct val="90000"/>
              </a:lnSpc>
              <a:spcBef>
                <a:spcPts val="2200"/>
              </a:spcBef>
              <a:spcAft>
                <a:spcPts val="0"/>
              </a:spcAft>
              <a:buClr>
                <a:schemeClr val="dk1"/>
              </a:buClr>
              <a:buSzPts val="300"/>
              <a:buFont typeface="Quattrocento Sans"/>
              <a:buChar char=" "/>
            </a:pPr>
            <a:r>
              <a:rPr lang="en-US"/>
              <a:t>Other engines take an ad hoc approach, often leaving it up to the game programmer to directly access raw files on disk or within compressed archives such as Quake’s PAK files.</a:t>
            </a:r>
            <a:endParaRPr/>
          </a:p>
        </p:txBody>
      </p:sp>
      <p:pic>
        <p:nvPicPr>
          <p:cNvPr id="497" name="Google Shape;497;p35" descr="Fig-RuntimeArch.jpg"/>
          <p:cNvPicPr preferRelativeResize="0"/>
          <p:nvPr/>
        </p:nvPicPr>
        <p:blipFill rotWithShape="1">
          <a:blip r:embed="rId3">
            <a:alphaModFix/>
          </a:blip>
          <a:srcRect t="55936" b="34016"/>
          <a:stretch/>
        </p:blipFill>
        <p:spPr>
          <a:xfrm>
            <a:off x="5294454" y="1309869"/>
            <a:ext cx="6293112" cy="838200"/>
          </a:xfrm>
          <a:prstGeom prst="rect">
            <a:avLst/>
          </a:prstGeom>
          <a:noFill/>
          <a:ln>
            <a:noFill/>
          </a:ln>
        </p:spPr>
      </p:pic>
      <p:sp>
        <p:nvSpPr>
          <p:cNvPr id="498" name="Google Shape;498;p35"/>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35</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36"/>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Rendering engine</a:t>
            </a:r>
            <a:endParaRPr/>
          </a:p>
        </p:txBody>
      </p:sp>
      <p:sp>
        <p:nvSpPr>
          <p:cNvPr id="504" name="Google Shape;504;p36"/>
          <p:cNvSpPr txBox="1">
            <a:spLocks noGrp="1"/>
          </p:cNvSpPr>
          <p:nvPr>
            <p:ph type="body" idx="1"/>
          </p:nvPr>
        </p:nvSpPr>
        <p:spPr>
          <a:xfrm>
            <a:off x="604433" y="1458411"/>
            <a:ext cx="10983131" cy="4705108"/>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The rendering engine is one of the largest and most complex components of any game engine.</a:t>
            </a:r>
            <a:endParaRPr/>
          </a:p>
          <a:p>
            <a:pPr marL="0" lvl="0" indent="-19050" algn="l" rtl="0">
              <a:lnSpc>
                <a:spcPct val="90000"/>
              </a:lnSpc>
              <a:spcBef>
                <a:spcPts val="2200"/>
              </a:spcBef>
              <a:spcAft>
                <a:spcPts val="0"/>
              </a:spcAft>
              <a:buClr>
                <a:schemeClr val="dk1"/>
              </a:buClr>
              <a:buSzPts val="300"/>
              <a:buFont typeface="Quattrocento Sans"/>
              <a:buChar char=" "/>
            </a:pPr>
            <a:r>
              <a:rPr lang="en-US"/>
              <a:t>Most modern rendering engines share some fundamental design philosophies, driven in large part by the design of the 3D graphics hardware upon which they depend.</a:t>
            </a:r>
            <a:endParaRPr/>
          </a:p>
          <a:p>
            <a:pPr marL="0" lvl="0" indent="-19050" algn="l" rtl="0">
              <a:lnSpc>
                <a:spcPct val="90000"/>
              </a:lnSpc>
              <a:spcBef>
                <a:spcPts val="2200"/>
              </a:spcBef>
              <a:spcAft>
                <a:spcPts val="0"/>
              </a:spcAft>
              <a:buClr>
                <a:schemeClr val="dk1"/>
              </a:buClr>
              <a:buSzPts val="300"/>
              <a:buFont typeface="Quattrocento Sans"/>
              <a:buChar char=" "/>
            </a:pPr>
            <a:r>
              <a:rPr lang="en-US"/>
              <a:t>One common approach to rendering engine design is to employ a layered architecture</a:t>
            </a:r>
            <a:endParaRPr/>
          </a:p>
          <a:p>
            <a:pPr marL="573088" lvl="1" indent="-171450" algn="l" rtl="0">
              <a:lnSpc>
                <a:spcPct val="90000"/>
              </a:lnSpc>
              <a:spcBef>
                <a:spcPts val="1800"/>
              </a:spcBef>
              <a:spcAft>
                <a:spcPts val="0"/>
              </a:spcAft>
              <a:buClr>
                <a:schemeClr val="dk1"/>
              </a:buClr>
              <a:buSzPts val="1200"/>
              <a:buFont typeface="Noto Sans Symbols"/>
              <a:buChar char="⮚"/>
            </a:pPr>
            <a:r>
              <a:rPr lang="en-US"/>
              <a:t>Low-level Renderer</a:t>
            </a:r>
            <a:endParaRPr/>
          </a:p>
          <a:p>
            <a:pPr marL="573088" lvl="1" indent="-171450" algn="l" rtl="0">
              <a:lnSpc>
                <a:spcPct val="90000"/>
              </a:lnSpc>
              <a:spcBef>
                <a:spcPts val="1800"/>
              </a:spcBef>
              <a:spcAft>
                <a:spcPts val="0"/>
              </a:spcAft>
              <a:buClr>
                <a:schemeClr val="dk1"/>
              </a:buClr>
              <a:buSzPts val="1200"/>
              <a:buFont typeface="Noto Sans Symbols"/>
              <a:buChar char="⮚"/>
            </a:pPr>
            <a:r>
              <a:rPr lang="en-US"/>
              <a:t>Scene graph management</a:t>
            </a:r>
            <a:endParaRPr/>
          </a:p>
          <a:p>
            <a:pPr marL="573088" lvl="1" indent="-171450" algn="l" rtl="0">
              <a:lnSpc>
                <a:spcPct val="90000"/>
              </a:lnSpc>
              <a:spcBef>
                <a:spcPts val="1800"/>
              </a:spcBef>
              <a:spcAft>
                <a:spcPts val="0"/>
              </a:spcAft>
              <a:buClr>
                <a:schemeClr val="dk1"/>
              </a:buClr>
              <a:buSzPts val="1200"/>
              <a:buFont typeface="Noto Sans Symbols"/>
              <a:buChar char="⮚"/>
            </a:pPr>
            <a:r>
              <a:rPr lang="en-US"/>
              <a:t>Visual effects</a:t>
            </a:r>
            <a:endParaRPr/>
          </a:p>
          <a:p>
            <a:pPr marL="573088" lvl="1" indent="-171450" algn="l" rtl="0">
              <a:lnSpc>
                <a:spcPct val="90000"/>
              </a:lnSpc>
              <a:spcBef>
                <a:spcPts val="1800"/>
              </a:spcBef>
              <a:spcAft>
                <a:spcPts val="0"/>
              </a:spcAft>
              <a:buClr>
                <a:schemeClr val="dk1"/>
              </a:buClr>
              <a:buSzPts val="1200"/>
              <a:buFont typeface="Noto Sans Symbols"/>
              <a:buChar char="⮚"/>
            </a:pPr>
            <a:r>
              <a:rPr lang="en-US"/>
              <a:t>Front end</a:t>
            </a:r>
            <a:endParaRPr/>
          </a:p>
        </p:txBody>
      </p:sp>
      <p:sp>
        <p:nvSpPr>
          <p:cNvPr id="505" name="Google Shape;505;p36"/>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36</a:t>
            </a:fld>
            <a:endParaRPr sz="1200" b="0" i="0" u="none" strike="noStrike" cap="none">
              <a:solidFill>
                <a:srgbClr val="595959"/>
              </a:solidFill>
              <a:latin typeface="Century Gothic"/>
              <a:ea typeface="Century Gothic"/>
              <a:cs typeface="Century Gothic"/>
              <a:sym typeface="Century Gothic"/>
            </a:endParaRPr>
          </a:p>
        </p:txBody>
      </p:sp>
      <p:pic>
        <p:nvPicPr>
          <p:cNvPr id="506" name="Google Shape;506;p36"/>
          <p:cNvPicPr preferRelativeResize="0"/>
          <p:nvPr/>
        </p:nvPicPr>
        <p:blipFill rotWithShape="1">
          <a:blip r:embed="rId3">
            <a:alphaModFix/>
          </a:blip>
          <a:srcRect/>
          <a:stretch/>
        </p:blipFill>
        <p:spPr>
          <a:xfrm>
            <a:off x="7859210" y="5092541"/>
            <a:ext cx="3003070" cy="1316831"/>
          </a:xfrm>
          <a:prstGeom prst="rect">
            <a:avLst/>
          </a:prstGeom>
          <a:noFill/>
          <a:ln>
            <a:noFill/>
          </a:ln>
        </p:spPr>
      </p:pic>
      <p:pic>
        <p:nvPicPr>
          <p:cNvPr id="507" name="Google Shape;507;p36"/>
          <p:cNvPicPr preferRelativeResize="0"/>
          <p:nvPr/>
        </p:nvPicPr>
        <p:blipFill rotWithShape="1">
          <a:blip r:embed="rId4">
            <a:alphaModFix/>
          </a:blip>
          <a:srcRect/>
          <a:stretch/>
        </p:blipFill>
        <p:spPr>
          <a:xfrm>
            <a:off x="7859210" y="4373933"/>
            <a:ext cx="3003070" cy="718608"/>
          </a:xfrm>
          <a:prstGeom prst="rect">
            <a:avLst/>
          </a:prstGeom>
          <a:noFill/>
          <a:ln>
            <a:noFill/>
          </a:ln>
        </p:spPr>
      </p:pic>
      <p:pic>
        <p:nvPicPr>
          <p:cNvPr id="508" name="Google Shape;508;p36"/>
          <p:cNvPicPr preferRelativeResize="0"/>
          <p:nvPr/>
        </p:nvPicPr>
        <p:blipFill rotWithShape="1">
          <a:blip r:embed="rId5">
            <a:alphaModFix/>
          </a:blip>
          <a:srcRect t="3070"/>
          <a:stretch/>
        </p:blipFill>
        <p:spPr>
          <a:xfrm>
            <a:off x="7859211" y="3332979"/>
            <a:ext cx="3003070" cy="1066189"/>
          </a:xfrm>
          <a:prstGeom prst="rect">
            <a:avLst/>
          </a:prstGeom>
          <a:noFill/>
          <a:ln>
            <a:noFill/>
          </a:ln>
        </p:spPr>
      </p:pic>
      <p:pic>
        <p:nvPicPr>
          <p:cNvPr id="509" name="Google Shape;509;p36"/>
          <p:cNvPicPr preferRelativeResize="0"/>
          <p:nvPr/>
        </p:nvPicPr>
        <p:blipFill rotWithShape="1">
          <a:blip r:embed="rId6">
            <a:alphaModFix/>
          </a:blip>
          <a:srcRect/>
          <a:stretch/>
        </p:blipFill>
        <p:spPr>
          <a:xfrm>
            <a:off x="7859210" y="2326119"/>
            <a:ext cx="3003070" cy="10068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7"/>
          <p:cNvSpPr txBox="1">
            <a:spLocks noGrp="1"/>
          </p:cNvSpPr>
          <p:nvPr>
            <p:ph type="title"/>
          </p:nvPr>
        </p:nvSpPr>
        <p:spPr>
          <a:xfrm>
            <a:off x="1981200" y="0"/>
            <a:ext cx="8229600"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Low-level Renderer</a:t>
            </a:r>
            <a:endParaRPr/>
          </a:p>
        </p:txBody>
      </p:sp>
      <p:sp>
        <p:nvSpPr>
          <p:cNvPr id="515" name="Google Shape;515;p37"/>
          <p:cNvSpPr txBox="1">
            <a:spLocks noGrp="1"/>
          </p:cNvSpPr>
          <p:nvPr>
            <p:ph type="body" idx="1"/>
          </p:nvPr>
        </p:nvSpPr>
        <p:spPr>
          <a:xfrm>
            <a:off x="601884" y="1219201"/>
            <a:ext cx="10972800" cy="5389944"/>
          </a:xfrm>
          <a:prstGeom prst="rect">
            <a:avLst/>
          </a:prstGeom>
          <a:noFill/>
          <a:ln>
            <a:noFill/>
          </a:ln>
        </p:spPr>
        <p:txBody>
          <a:bodyPr spcFirstLastPara="1" wrap="square" lIns="91425" tIns="45700" rIns="91425" bIns="45700" anchor="t" anchorCtr="0">
            <a:noAutofit/>
          </a:bodyPr>
          <a:lstStyle/>
          <a:p>
            <a:pPr marL="0" lvl="0" indent="-19050" algn="l" rtl="0">
              <a:lnSpc>
                <a:spcPct val="90000"/>
              </a:lnSpc>
              <a:spcBef>
                <a:spcPts val="0"/>
              </a:spcBef>
              <a:spcAft>
                <a:spcPts val="0"/>
              </a:spcAft>
              <a:buClr>
                <a:schemeClr val="dk1"/>
              </a:buClr>
              <a:buSzPts val="300"/>
              <a:buFont typeface="Quattrocento Sans"/>
              <a:buChar char=" "/>
            </a:pPr>
            <a:r>
              <a:rPr lang="en-US"/>
              <a:t>Encompasses all of the raw rendering facilities of the engine.</a:t>
            </a:r>
            <a:endParaRPr/>
          </a:p>
          <a:p>
            <a:pPr marL="409576" lvl="1" indent="-7938" algn="l" rtl="0">
              <a:lnSpc>
                <a:spcPct val="90000"/>
              </a:lnSpc>
              <a:spcBef>
                <a:spcPts val="1800"/>
              </a:spcBef>
              <a:spcAft>
                <a:spcPts val="0"/>
              </a:spcAft>
              <a:buClr>
                <a:schemeClr val="dk1"/>
              </a:buClr>
              <a:buSzPts val="1200"/>
              <a:buChar char=" "/>
            </a:pPr>
            <a:r>
              <a:rPr lang="en-US"/>
              <a:t>Focuses on rendering primitives as quickly and richly as possible</a:t>
            </a:r>
            <a:endParaRPr/>
          </a:p>
          <a:p>
            <a:pPr marL="409576" lvl="1" indent="-7938" algn="l" rtl="0">
              <a:lnSpc>
                <a:spcPct val="90000"/>
              </a:lnSpc>
              <a:spcBef>
                <a:spcPts val="1800"/>
              </a:spcBef>
              <a:spcAft>
                <a:spcPts val="0"/>
              </a:spcAft>
              <a:buClr>
                <a:schemeClr val="dk1"/>
              </a:buClr>
              <a:buSzPts val="1200"/>
              <a:buChar char=" "/>
            </a:pPr>
            <a:r>
              <a:rPr lang="en-US"/>
              <a:t>Does not consider visibility</a:t>
            </a:r>
            <a:endParaRPr/>
          </a:p>
          <a:p>
            <a:pPr marL="409576" lvl="1" indent="-7938" algn="l" rtl="0">
              <a:lnSpc>
                <a:spcPct val="90000"/>
              </a:lnSpc>
              <a:spcBef>
                <a:spcPts val="1800"/>
              </a:spcBef>
              <a:spcAft>
                <a:spcPts val="0"/>
              </a:spcAft>
              <a:buClr>
                <a:schemeClr val="dk1"/>
              </a:buClr>
              <a:buSzPts val="1200"/>
              <a:buChar char=" "/>
            </a:pPr>
            <a:r>
              <a:rPr lang="en-US"/>
              <a:t>It contains the following subcomponents:</a:t>
            </a:r>
            <a:endParaRPr/>
          </a:p>
          <a:p>
            <a:pPr marL="0" lvl="0" indent="-19050" algn="l" rtl="0">
              <a:lnSpc>
                <a:spcPct val="90000"/>
              </a:lnSpc>
              <a:spcBef>
                <a:spcPts val="2200"/>
              </a:spcBef>
              <a:spcAft>
                <a:spcPts val="0"/>
              </a:spcAft>
              <a:buClr>
                <a:schemeClr val="dk1"/>
              </a:buClr>
              <a:buSzPts val="300"/>
              <a:buFont typeface="Quattrocento Sans"/>
              <a:buChar char=" "/>
            </a:pPr>
            <a:r>
              <a:rPr lang="en-US"/>
              <a:t>Graphics Device Interface component:</a:t>
            </a:r>
            <a:endParaRPr/>
          </a:p>
          <a:p>
            <a:pPr marL="409576" lvl="1" indent="-7938" algn="l" rtl="0">
              <a:lnSpc>
                <a:spcPct val="90000"/>
              </a:lnSpc>
              <a:spcBef>
                <a:spcPts val="1800"/>
              </a:spcBef>
              <a:spcAft>
                <a:spcPts val="0"/>
              </a:spcAft>
              <a:buClr>
                <a:schemeClr val="dk1"/>
              </a:buClr>
              <a:buSzPts val="1200"/>
              <a:buChar char=" "/>
            </a:pPr>
            <a:r>
              <a:rPr lang="en-US"/>
              <a:t>Graphics SDKs, such as DirectX, OpenGL or Vulkan, require:</a:t>
            </a:r>
            <a:endParaRPr/>
          </a:p>
          <a:p>
            <a:pPr marL="1143000" lvl="2" indent="-228600" algn="l" rtl="0">
              <a:lnSpc>
                <a:spcPct val="90000"/>
              </a:lnSpc>
              <a:spcBef>
                <a:spcPts val="1700"/>
              </a:spcBef>
              <a:spcAft>
                <a:spcPts val="0"/>
              </a:spcAft>
              <a:buClr>
                <a:schemeClr val="dk1"/>
              </a:buClr>
              <a:buSzPts val="1200"/>
              <a:buChar char=" "/>
            </a:pPr>
            <a:r>
              <a:rPr lang="en-US" sz="1200"/>
              <a:t>Access and enumerate the graphics devices</a:t>
            </a:r>
            <a:endParaRPr/>
          </a:p>
          <a:p>
            <a:pPr marL="1143000" lvl="2" indent="-228600" algn="l" rtl="0">
              <a:lnSpc>
                <a:spcPct val="90000"/>
              </a:lnSpc>
              <a:spcBef>
                <a:spcPts val="500"/>
              </a:spcBef>
              <a:spcAft>
                <a:spcPts val="0"/>
              </a:spcAft>
              <a:buClr>
                <a:schemeClr val="dk1"/>
              </a:buClr>
              <a:buSzPts val="1200"/>
              <a:buChar char=" "/>
            </a:pPr>
            <a:r>
              <a:rPr lang="en-US" sz="1200"/>
              <a:t>Initialize the GD</a:t>
            </a:r>
            <a:endParaRPr/>
          </a:p>
          <a:p>
            <a:pPr marL="1143000" lvl="2" indent="-228600" algn="l" rtl="0">
              <a:lnSpc>
                <a:spcPct val="90000"/>
              </a:lnSpc>
              <a:spcBef>
                <a:spcPts val="500"/>
              </a:spcBef>
              <a:spcAft>
                <a:spcPts val="0"/>
              </a:spcAft>
              <a:buClr>
                <a:schemeClr val="dk1"/>
              </a:buClr>
              <a:buSzPts val="1200"/>
              <a:buChar char=" "/>
            </a:pPr>
            <a:r>
              <a:rPr lang="en-US" sz="1200"/>
              <a:t>Setup buffering (back-buffer, stencil buffer)</a:t>
            </a:r>
            <a:endParaRPr/>
          </a:p>
          <a:p>
            <a:pPr marL="1143000" lvl="2" indent="-228600" algn="l" rtl="0">
              <a:lnSpc>
                <a:spcPct val="90000"/>
              </a:lnSpc>
              <a:spcBef>
                <a:spcPts val="500"/>
              </a:spcBef>
              <a:spcAft>
                <a:spcPts val="0"/>
              </a:spcAft>
              <a:buClr>
                <a:schemeClr val="dk1"/>
              </a:buClr>
              <a:buSzPts val="1200"/>
              <a:buChar char=" "/>
            </a:pPr>
            <a:r>
              <a:rPr lang="en-US" sz="1200"/>
              <a:t>“Message Pump”: For a PC game engine, you also need code to integrate your renderer with the Windows message loop.</a:t>
            </a:r>
            <a:endParaRPr sz="1200"/>
          </a:p>
          <a:p>
            <a:pPr marL="0" lvl="0" indent="-19050" algn="l" rtl="0">
              <a:lnSpc>
                <a:spcPct val="90000"/>
              </a:lnSpc>
              <a:spcBef>
                <a:spcPts val="1000"/>
              </a:spcBef>
              <a:spcAft>
                <a:spcPts val="0"/>
              </a:spcAft>
              <a:buClr>
                <a:schemeClr val="dk1"/>
              </a:buClr>
              <a:buSzPts val="300"/>
              <a:buFont typeface="Quattrocento Sans"/>
              <a:buChar char=" "/>
            </a:pPr>
            <a:r>
              <a:rPr lang="en-US"/>
              <a:t>Other subcomponents:</a:t>
            </a:r>
            <a:endParaRPr/>
          </a:p>
          <a:p>
            <a:pPr marL="409576" lvl="1" indent="-7938" algn="l" rtl="0">
              <a:lnSpc>
                <a:spcPct val="90000"/>
              </a:lnSpc>
              <a:spcBef>
                <a:spcPts val="1800"/>
              </a:spcBef>
              <a:spcAft>
                <a:spcPts val="0"/>
              </a:spcAft>
              <a:buClr>
                <a:schemeClr val="dk1"/>
              </a:buClr>
              <a:buSzPts val="1000"/>
              <a:buChar char=" "/>
            </a:pPr>
            <a:r>
              <a:rPr lang="en-US" sz="1000"/>
              <a:t>Collect submissions of geometric primitives (render packets), such as meshes, line lists, point lists, particles, terrain patches, text strings</a:t>
            </a:r>
            <a:endParaRPr/>
          </a:p>
          <a:p>
            <a:pPr marL="409576" lvl="1" indent="-7938" algn="l" rtl="0">
              <a:lnSpc>
                <a:spcPct val="90000"/>
              </a:lnSpc>
              <a:spcBef>
                <a:spcPts val="1800"/>
              </a:spcBef>
              <a:spcAft>
                <a:spcPts val="0"/>
              </a:spcAft>
              <a:buClr>
                <a:schemeClr val="dk1"/>
              </a:buClr>
              <a:buSzPts val="1000"/>
              <a:buChar char=" "/>
            </a:pPr>
            <a:r>
              <a:rPr lang="en-US" sz="1000"/>
              <a:t>Provide abstraction of the camera interface (field of view, near/far plane locations</a:t>
            </a:r>
            <a:endParaRPr/>
          </a:p>
          <a:p>
            <a:pPr marL="409576" lvl="1" indent="-7938" algn="l" rtl="0">
              <a:lnSpc>
                <a:spcPct val="90000"/>
              </a:lnSpc>
              <a:spcBef>
                <a:spcPts val="1800"/>
              </a:spcBef>
              <a:spcAft>
                <a:spcPts val="0"/>
              </a:spcAft>
              <a:buClr>
                <a:schemeClr val="dk1"/>
              </a:buClr>
              <a:buSzPts val="1000"/>
              <a:buChar char=" "/>
            </a:pPr>
            <a:r>
              <a:rPr lang="en-US" sz="1000"/>
              <a:t>Material system: Each submitted primitive is associated with a material </a:t>
            </a:r>
            <a:endParaRPr/>
          </a:p>
          <a:p>
            <a:pPr marL="409576" lvl="1" indent="-7938" algn="l" rtl="0">
              <a:lnSpc>
                <a:spcPct val="90000"/>
              </a:lnSpc>
              <a:spcBef>
                <a:spcPts val="1800"/>
              </a:spcBef>
              <a:spcAft>
                <a:spcPts val="0"/>
              </a:spcAft>
              <a:buClr>
                <a:schemeClr val="dk1"/>
              </a:buClr>
              <a:buSzPts val="1000"/>
              <a:buChar char=" "/>
            </a:pPr>
            <a:r>
              <a:rPr lang="en-US" sz="1000"/>
              <a:t>Dynamic lighting system</a:t>
            </a:r>
            <a:r>
              <a:rPr lang="en-US" sz="800"/>
              <a:t>: </a:t>
            </a:r>
            <a:r>
              <a:rPr lang="en-US" sz="1000"/>
              <a:t>Each submitted primitive is affected by </a:t>
            </a:r>
            <a:r>
              <a:rPr lang="en-US" sz="1000" i="1"/>
              <a:t>n </a:t>
            </a:r>
            <a:r>
              <a:rPr lang="en-US" sz="1000"/>
              <a:t>dynamic lights</a:t>
            </a:r>
            <a:endParaRPr/>
          </a:p>
          <a:p>
            <a:pPr marL="409576" lvl="1" indent="-7938" algn="l" rtl="0">
              <a:lnSpc>
                <a:spcPct val="90000"/>
              </a:lnSpc>
              <a:spcBef>
                <a:spcPts val="1800"/>
              </a:spcBef>
              <a:spcAft>
                <a:spcPts val="0"/>
              </a:spcAft>
              <a:buClr>
                <a:schemeClr val="dk1"/>
              </a:buClr>
              <a:buSzPts val="1000"/>
              <a:buChar char=" "/>
            </a:pPr>
            <a:r>
              <a:rPr lang="en-US" sz="1000"/>
              <a:t>Text and fonts</a:t>
            </a:r>
            <a:endParaRPr/>
          </a:p>
        </p:txBody>
      </p:sp>
      <p:pic>
        <p:nvPicPr>
          <p:cNvPr id="516" name="Google Shape;516;p37"/>
          <p:cNvPicPr preferRelativeResize="0"/>
          <p:nvPr/>
        </p:nvPicPr>
        <p:blipFill rotWithShape="1">
          <a:blip r:embed="rId3">
            <a:alphaModFix/>
          </a:blip>
          <a:srcRect/>
          <a:stretch/>
        </p:blipFill>
        <p:spPr>
          <a:xfrm>
            <a:off x="6535173" y="1219200"/>
            <a:ext cx="5039511" cy="2209800"/>
          </a:xfrm>
          <a:prstGeom prst="rect">
            <a:avLst/>
          </a:prstGeom>
          <a:noFill/>
          <a:ln>
            <a:noFill/>
          </a:ln>
        </p:spPr>
      </p:pic>
      <p:sp>
        <p:nvSpPr>
          <p:cNvPr id="517" name="Google Shape;517;p37"/>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37</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Scene graph	</a:t>
            </a:r>
            <a:endParaRPr/>
          </a:p>
        </p:txBody>
      </p:sp>
      <p:sp>
        <p:nvSpPr>
          <p:cNvPr id="524" name="Google Shape;524;p38"/>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fontScale="92500" lnSpcReduction="10000"/>
          </a:bodyPr>
          <a:lstStyle/>
          <a:p>
            <a:pPr marL="0" lvl="0" indent="-16192" algn="l" rtl="0">
              <a:lnSpc>
                <a:spcPct val="90000"/>
              </a:lnSpc>
              <a:spcBef>
                <a:spcPts val="0"/>
              </a:spcBef>
              <a:spcAft>
                <a:spcPts val="0"/>
              </a:spcAft>
              <a:buClr>
                <a:schemeClr val="dk1"/>
              </a:buClr>
              <a:buSzPts val="255"/>
              <a:buFont typeface="Quattrocento Sans"/>
              <a:buChar char=" "/>
            </a:pPr>
            <a:r>
              <a:rPr lang="en-US"/>
              <a:t>The low-level renderer draws all of the geometry submitted to it, without</a:t>
            </a:r>
            <a:endParaRPr/>
          </a:p>
          <a:p>
            <a:pPr marL="0" lvl="0" indent="-16192" algn="l" rtl="0">
              <a:lnSpc>
                <a:spcPct val="90000"/>
              </a:lnSpc>
              <a:spcBef>
                <a:spcPts val="2200"/>
              </a:spcBef>
              <a:spcAft>
                <a:spcPts val="0"/>
              </a:spcAft>
              <a:buClr>
                <a:schemeClr val="dk1"/>
              </a:buClr>
              <a:buSzPts val="255"/>
              <a:buFont typeface="Quattrocento Sans"/>
              <a:buChar char=" "/>
            </a:pPr>
            <a:r>
              <a:rPr lang="en-US"/>
              <a:t>much regard for whether or not that geometry is actually visible (other than</a:t>
            </a:r>
            <a:endParaRPr/>
          </a:p>
          <a:p>
            <a:pPr marL="0" lvl="0" indent="-16192" algn="l" rtl="0">
              <a:lnSpc>
                <a:spcPct val="90000"/>
              </a:lnSpc>
              <a:spcBef>
                <a:spcPts val="2200"/>
              </a:spcBef>
              <a:spcAft>
                <a:spcPts val="0"/>
              </a:spcAft>
              <a:buClr>
                <a:schemeClr val="dk1"/>
              </a:buClr>
              <a:buSzPts val="255"/>
              <a:buFont typeface="Quattrocento Sans"/>
              <a:buChar char=" "/>
            </a:pPr>
            <a:r>
              <a:rPr lang="en-US"/>
              <a:t>back-face culling and clipping triangles to the camera frustum). </a:t>
            </a:r>
            <a:endParaRPr/>
          </a:p>
          <a:p>
            <a:pPr marL="0" lvl="0" indent="-16192" algn="l" rtl="0">
              <a:lnSpc>
                <a:spcPct val="90000"/>
              </a:lnSpc>
              <a:spcBef>
                <a:spcPts val="2200"/>
              </a:spcBef>
              <a:spcAft>
                <a:spcPts val="0"/>
              </a:spcAft>
              <a:buClr>
                <a:schemeClr val="dk1"/>
              </a:buClr>
              <a:buSzPts val="255"/>
              <a:buFont typeface="Quattrocento Sans"/>
              <a:buChar char=" "/>
            </a:pPr>
            <a:r>
              <a:rPr lang="en-US"/>
              <a:t>A higher-level component is usually needed in order to limit the number of primitives submitted for rendering, based on some form of visibility determination.</a:t>
            </a:r>
            <a:endParaRPr/>
          </a:p>
          <a:p>
            <a:pPr marL="0" lvl="0" indent="-16192" algn="l" rtl="0">
              <a:lnSpc>
                <a:spcPct val="90000"/>
              </a:lnSpc>
              <a:spcBef>
                <a:spcPts val="2200"/>
              </a:spcBef>
              <a:spcAft>
                <a:spcPts val="0"/>
              </a:spcAft>
              <a:buClr>
                <a:schemeClr val="dk1"/>
              </a:buClr>
              <a:buSzPts val="255"/>
              <a:buFont typeface="Quattrocento Sans"/>
              <a:buChar char=" "/>
            </a:pPr>
            <a:r>
              <a:rPr lang="en-US"/>
              <a:t>For very small game worlds, a simple </a:t>
            </a:r>
            <a:r>
              <a:rPr lang="en-US" i="1"/>
              <a:t>frustum cull </a:t>
            </a:r>
            <a:r>
              <a:rPr lang="en-US"/>
              <a:t>(i.e., removing objects that the camera cannot “see”) is enough.</a:t>
            </a:r>
            <a:endParaRPr/>
          </a:p>
          <a:p>
            <a:pPr marL="0" lvl="0" indent="-16192" algn="l" rtl="0">
              <a:lnSpc>
                <a:spcPct val="90000"/>
              </a:lnSpc>
              <a:spcBef>
                <a:spcPts val="2200"/>
              </a:spcBef>
              <a:spcAft>
                <a:spcPts val="0"/>
              </a:spcAft>
              <a:buClr>
                <a:schemeClr val="dk1"/>
              </a:buClr>
              <a:buSzPts val="255"/>
              <a:buFont typeface="Quattrocento Sans"/>
              <a:buChar char=" "/>
            </a:pPr>
            <a:r>
              <a:rPr lang="en-US"/>
              <a:t>For larger game worlds, a more advanced </a:t>
            </a:r>
            <a:r>
              <a:rPr lang="en-US" i="1"/>
              <a:t>spatial subdivision </a:t>
            </a:r>
            <a:r>
              <a:rPr lang="en-US"/>
              <a:t>data structure might be used.</a:t>
            </a:r>
            <a:endParaRPr/>
          </a:p>
          <a:p>
            <a:pPr marL="409576" lvl="1" indent="-7938" algn="l" rtl="0">
              <a:lnSpc>
                <a:spcPct val="90000"/>
              </a:lnSpc>
              <a:spcBef>
                <a:spcPts val="1800"/>
              </a:spcBef>
              <a:spcAft>
                <a:spcPts val="0"/>
              </a:spcAft>
              <a:buClr>
                <a:schemeClr val="dk1"/>
              </a:buClr>
              <a:buSzPct val="100000"/>
              <a:buChar char=" "/>
            </a:pPr>
            <a:r>
              <a:rPr lang="en-US"/>
              <a:t>allowing the potentially visible set (PVS) of objects to be determined</a:t>
            </a:r>
            <a:endParaRPr/>
          </a:p>
          <a:p>
            <a:pPr marL="409576" lvl="1" indent="-7938" algn="l" rtl="0">
              <a:lnSpc>
                <a:spcPct val="90000"/>
              </a:lnSpc>
              <a:spcBef>
                <a:spcPts val="1800"/>
              </a:spcBef>
              <a:spcAft>
                <a:spcPts val="0"/>
              </a:spcAft>
              <a:buClr>
                <a:schemeClr val="dk1"/>
              </a:buClr>
              <a:buSzPct val="100000"/>
              <a:buChar char=" "/>
            </a:pPr>
            <a:r>
              <a:rPr lang="en-US"/>
              <a:t>Spatial subdivisions can take many forms, including a binary space partitioning tree, a quadtree, an octree, a </a:t>
            </a:r>
            <a:r>
              <a:rPr lang="en-US" i="1"/>
              <a:t>k</a:t>
            </a:r>
            <a:r>
              <a:rPr lang="en-US"/>
              <a:t>dtree or a sphere hierarchy.</a:t>
            </a:r>
            <a:endParaRPr/>
          </a:p>
          <a:p>
            <a:pPr marL="409576" lvl="1" indent="-7938" algn="l" rtl="0">
              <a:lnSpc>
                <a:spcPct val="90000"/>
              </a:lnSpc>
              <a:spcBef>
                <a:spcPts val="1800"/>
              </a:spcBef>
              <a:spcAft>
                <a:spcPts val="0"/>
              </a:spcAft>
              <a:buClr>
                <a:schemeClr val="dk1"/>
              </a:buClr>
              <a:buSzPct val="100000"/>
              <a:buChar char=" "/>
            </a:pPr>
            <a:r>
              <a:rPr lang="en-US"/>
              <a:t>A spatial subdivision is sometimes called a </a:t>
            </a:r>
            <a:r>
              <a:rPr lang="en-US">
                <a:highlight>
                  <a:srgbClr val="FFFF00"/>
                </a:highlight>
              </a:rPr>
              <a:t>scene graph</a:t>
            </a:r>
            <a:endParaRPr/>
          </a:p>
          <a:p>
            <a:pPr marL="409576" lvl="1" indent="-7938" algn="l" rtl="0">
              <a:lnSpc>
                <a:spcPct val="90000"/>
              </a:lnSpc>
              <a:spcBef>
                <a:spcPts val="1800"/>
              </a:spcBef>
              <a:spcAft>
                <a:spcPts val="0"/>
              </a:spcAft>
              <a:buClr>
                <a:schemeClr val="dk1"/>
              </a:buClr>
              <a:buSzPct val="100000"/>
              <a:buChar char=" "/>
            </a:pPr>
            <a:r>
              <a:rPr lang="en-US"/>
              <a:t>Portals or occlusion culling methods might also be applied in this layer</a:t>
            </a:r>
            <a:endParaRPr/>
          </a:p>
          <a:p>
            <a:pPr marL="0" lvl="0" indent="-16192" algn="l" rtl="0">
              <a:lnSpc>
                <a:spcPct val="90000"/>
              </a:lnSpc>
              <a:spcBef>
                <a:spcPts val="2200"/>
              </a:spcBef>
              <a:spcAft>
                <a:spcPts val="0"/>
              </a:spcAft>
              <a:buClr>
                <a:schemeClr val="dk1"/>
              </a:buClr>
              <a:buSzPts val="255"/>
              <a:buFont typeface="Quattrocento Sans"/>
              <a:buChar char=" "/>
            </a:pPr>
            <a:r>
              <a:rPr lang="en-US"/>
              <a:t>The low-level renderer should be completely agnostic to the type of spatial subdivision or scene graph being used</a:t>
            </a:r>
            <a:endParaRPr/>
          </a:p>
          <a:p>
            <a:pPr marL="0" lvl="0" indent="-16192" algn="l" rtl="0">
              <a:lnSpc>
                <a:spcPct val="90000"/>
              </a:lnSpc>
              <a:spcBef>
                <a:spcPts val="2200"/>
              </a:spcBef>
              <a:spcAft>
                <a:spcPts val="0"/>
              </a:spcAft>
              <a:buClr>
                <a:schemeClr val="dk1"/>
              </a:buClr>
              <a:buSzPts val="255"/>
              <a:buFont typeface="Quattrocento Sans"/>
              <a:buChar char=" "/>
            </a:pPr>
            <a:r>
              <a:rPr lang="en-US"/>
              <a:t>OGRE provides a plug-and-play scene graph architecture.</a:t>
            </a:r>
            <a:endParaRPr/>
          </a:p>
          <a:p>
            <a:pPr marL="409576" lvl="1" indent="56831" algn="l" rtl="0">
              <a:lnSpc>
                <a:spcPct val="90000"/>
              </a:lnSpc>
              <a:spcBef>
                <a:spcPts val="1800"/>
              </a:spcBef>
              <a:spcAft>
                <a:spcPts val="0"/>
              </a:spcAft>
              <a:buClr>
                <a:schemeClr val="dk1"/>
              </a:buClr>
              <a:buSzPct val="100000"/>
              <a:buNone/>
            </a:pPr>
            <a:endParaRPr/>
          </a:p>
        </p:txBody>
      </p:sp>
      <p:pic>
        <p:nvPicPr>
          <p:cNvPr id="525" name="Google Shape;525;p38"/>
          <p:cNvPicPr preferRelativeResize="0"/>
          <p:nvPr/>
        </p:nvPicPr>
        <p:blipFill rotWithShape="1">
          <a:blip r:embed="rId3">
            <a:alphaModFix/>
          </a:blip>
          <a:srcRect/>
          <a:stretch/>
        </p:blipFill>
        <p:spPr>
          <a:xfrm>
            <a:off x="6331282" y="1288650"/>
            <a:ext cx="5256282" cy="1257781"/>
          </a:xfrm>
          <a:prstGeom prst="rect">
            <a:avLst/>
          </a:prstGeom>
          <a:noFill/>
          <a:ln>
            <a:noFill/>
          </a:ln>
        </p:spPr>
      </p:pic>
      <p:sp>
        <p:nvSpPr>
          <p:cNvPr id="526" name="Google Shape;526;p38"/>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38</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3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Visual effects</a:t>
            </a:r>
            <a:endParaRPr/>
          </a:p>
        </p:txBody>
      </p:sp>
      <p:sp>
        <p:nvSpPr>
          <p:cNvPr id="533" name="Google Shape;533;p39"/>
          <p:cNvSpPr txBox="1">
            <a:spLocks noGrp="1"/>
          </p:cNvSpPr>
          <p:nvPr>
            <p:ph type="body" idx="1"/>
          </p:nvPr>
        </p:nvSpPr>
        <p:spPr>
          <a:xfrm>
            <a:off x="604433" y="1423686"/>
            <a:ext cx="10983131" cy="5162309"/>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Modern game engines support a wide range of visual effects:</a:t>
            </a:r>
            <a:endParaRPr/>
          </a:p>
          <a:p>
            <a:pPr marL="0" lvl="0" indent="-19050" algn="l" rtl="0">
              <a:lnSpc>
                <a:spcPct val="90000"/>
              </a:lnSpc>
              <a:spcBef>
                <a:spcPts val="2200"/>
              </a:spcBef>
              <a:spcAft>
                <a:spcPts val="0"/>
              </a:spcAft>
              <a:buClr>
                <a:schemeClr val="dk1"/>
              </a:buClr>
              <a:buSzPts val="300"/>
              <a:buFont typeface="Quattrocento Sans"/>
              <a:buChar char=" "/>
            </a:pPr>
            <a:r>
              <a:rPr lang="en-US"/>
              <a:t>Particle systems (for smoke, fire, water splashes, etc.)</a:t>
            </a:r>
            <a:endParaRPr/>
          </a:p>
          <a:p>
            <a:pPr marL="0" lvl="0" indent="-19050" algn="l" rtl="0">
              <a:lnSpc>
                <a:spcPct val="90000"/>
              </a:lnSpc>
              <a:spcBef>
                <a:spcPts val="2200"/>
              </a:spcBef>
              <a:spcAft>
                <a:spcPts val="0"/>
              </a:spcAft>
              <a:buClr>
                <a:schemeClr val="dk1"/>
              </a:buClr>
              <a:buSzPts val="300"/>
              <a:buFont typeface="Quattrocento Sans"/>
              <a:buChar char=" "/>
            </a:pPr>
            <a:r>
              <a:rPr lang="en-US"/>
              <a:t>Decal systems (for bullet holes, foot prints, etc.)</a:t>
            </a:r>
            <a:endParaRPr/>
          </a:p>
          <a:p>
            <a:pPr marL="0" lvl="0" indent="-19050" algn="l" rtl="0">
              <a:lnSpc>
                <a:spcPct val="90000"/>
              </a:lnSpc>
              <a:spcBef>
                <a:spcPts val="2200"/>
              </a:spcBef>
              <a:spcAft>
                <a:spcPts val="0"/>
              </a:spcAft>
              <a:buClr>
                <a:schemeClr val="dk1"/>
              </a:buClr>
              <a:buSzPts val="300"/>
              <a:buFont typeface="Quattrocento Sans"/>
              <a:buChar char=" "/>
            </a:pPr>
            <a:r>
              <a:rPr lang="en-US"/>
              <a:t>Light mapping and environment mapping</a:t>
            </a:r>
            <a:endParaRPr/>
          </a:p>
          <a:p>
            <a:pPr marL="0" lvl="0" indent="-19050" algn="l" rtl="0">
              <a:lnSpc>
                <a:spcPct val="90000"/>
              </a:lnSpc>
              <a:spcBef>
                <a:spcPts val="2200"/>
              </a:spcBef>
              <a:spcAft>
                <a:spcPts val="0"/>
              </a:spcAft>
              <a:buClr>
                <a:schemeClr val="dk1"/>
              </a:buClr>
              <a:buSzPts val="300"/>
              <a:buFont typeface="Quattrocento Sans"/>
              <a:buChar char=" "/>
            </a:pPr>
            <a:r>
              <a:rPr lang="en-US"/>
              <a:t>Dynamic shadows</a:t>
            </a:r>
            <a:endParaRPr/>
          </a:p>
          <a:p>
            <a:pPr marL="0" lvl="0" indent="-19050" algn="l" rtl="0">
              <a:lnSpc>
                <a:spcPct val="90000"/>
              </a:lnSpc>
              <a:spcBef>
                <a:spcPts val="2200"/>
              </a:spcBef>
              <a:spcAft>
                <a:spcPts val="0"/>
              </a:spcAft>
              <a:buClr>
                <a:schemeClr val="dk1"/>
              </a:buClr>
              <a:buSzPts val="300"/>
              <a:buFont typeface="Quattrocento Sans"/>
              <a:buChar char=" "/>
            </a:pPr>
            <a:r>
              <a:rPr lang="en-US"/>
              <a:t>Full-screen post effects, applied after the 3D scene has been rendered to an off-screen buffer.</a:t>
            </a:r>
            <a:endParaRPr/>
          </a:p>
          <a:p>
            <a:pPr marL="0" lvl="0" indent="-19050" algn="l" rtl="0">
              <a:lnSpc>
                <a:spcPct val="90000"/>
              </a:lnSpc>
              <a:spcBef>
                <a:spcPts val="2200"/>
              </a:spcBef>
              <a:spcAft>
                <a:spcPts val="0"/>
              </a:spcAft>
              <a:buClr>
                <a:schemeClr val="dk1"/>
              </a:buClr>
              <a:buSzPts val="300"/>
              <a:buFont typeface="Quattrocento Sans"/>
              <a:buChar char=" "/>
            </a:pPr>
            <a:r>
              <a:rPr lang="en-US"/>
              <a:t>• high dynamic range (HDR) tone mapping and bloom;</a:t>
            </a:r>
            <a:endParaRPr/>
          </a:p>
          <a:p>
            <a:pPr marL="0" lvl="0" indent="-19050" algn="l" rtl="0">
              <a:lnSpc>
                <a:spcPct val="90000"/>
              </a:lnSpc>
              <a:spcBef>
                <a:spcPts val="2200"/>
              </a:spcBef>
              <a:spcAft>
                <a:spcPts val="0"/>
              </a:spcAft>
              <a:buClr>
                <a:schemeClr val="dk1"/>
              </a:buClr>
              <a:buSzPts val="300"/>
              <a:buFont typeface="Quattrocento Sans"/>
              <a:buChar char=" "/>
            </a:pPr>
            <a:r>
              <a:rPr lang="en-US"/>
              <a:t>• full-screen anti-aliasing (FSAA); </a:t>
            </a:r>
            <a:endParaRPr/>
          </a:p>
          <a:p>
            <a:pPr marL="0" lvl="0" indent="-19050" algn="l" rtl="0">
              <a:lnSpc>
                <a:spcPct val="90000"/>
              </a:lnSpc>
              <a:spcBef>
                <a:spcPts val="2200"/>
              </a:spcBef>
              <a:spcAft>
                <a:spcPts val="0"/>
              </a:spcAft>
              <a:buClr>
                <a:schemeClr val="dk1"/>
              </a:buClr>
              <a:buSzPts val="300"/>
              <a:buFont typeface="Quattrocento Sans"/>
              <a:buChar char=" "/>
            </a:pPr>
            <a:r>
              <a:rPr lang="en-US"/>
              <a:t>• color correction and color-shift effects, including bleach bypass, saturation and desaturation effects, etc.</a:t>
            </a:r>
            <a:endParaRPr/>
          </a:p>
          <a:p>
            <a:pPr marL="0" lvl="0" indent="-19050" algn="l" rtl="0">
              <a:lnSpc>
                <a:spcPct val="90000"/>
              </a:lnSpc>
              <a:spcBef>
                <a:spcPts val="2200"/>
              </a:spcBef>
              <a:spcAft>
                <a:spcPts val="0"/>
              </a:spcAft>
              <a:buClr>
                <a:schemeClr val="dk1"/>
              </a:buClr>
              <a:buSzPts val="300"/>
              <a:buFont typeface="Quattrocento Sans"/>
              <a:buChar char=" "/>
            </a:pPr>
            <a:r>
              <a:rPr lang="en-US"/>
              <a:t>The particle and decal systems are usually distinct components of the rendering engine and act as inputs to the low-level renderer.</a:t>
            </a:r>
            <a:endParaRPr/>
          </a:p>
          <a:p>
            <a:pPr marL="0" lvl="0" indent="-19050" algn="l" rtl="0">
              <a:lnSpc>
                <a:spcPct val="90000"/>
              </a:lnSpc>
              <a:spcBef>
                <a:spcPts val="2200"/>
              </a:spcBef>
              <a:spcAft>
                <a:spcPts val="0"/>
              </a:spcAft>
              <a:buClr>
                <a:schemeClr val="dk1"/>
              </a:buClr>
              <a:buSzPts val="300"/>
              <a:buFont typeface="Quattrocento Sans"/>
              <a:buChar char=" "/>
            </a:pPr>
            <a:r>
              <a:rPr lang="en-US"/>
              <a:t>Light mapping, environment mapping and shadows are usually handled internally within the rendering engine proper</a:t>
            </a:r>
            <a:endParaRPr/>
          </a:p>
          <a:p>
            <a:pPr marL="0" lvl="0" indent="-19050" algn="l" rtl="0">
              <a:lnSpc>
                <a:spcPct val="90000"/>
              </a:lnSpc>
              <a:spcBef>
                <a:spcPts val="2200"/>
              </a:spcBef>
              <a:spcAft>
                <a:spcPts val="0"/>
              </a:spcAft>
              <a:buClr>
                <a:schemeClr val="dk1"/>
              </a:buClr>
              <a:buSzPts val="300"/>
              <a:buFont typeface="Quattrocento Sans"/>
              <a:buChar char=" "/>
            </a:pPr>
            <a:r>
              <a:rPr lang="en-US"/>
              <a:t>Full-screen post effects are either implemented as an integral part of the renderer or as a separate component that operates on the renderer’s output buffers.</a:t>
            </a:r>
            <a:endParaRPr/>
          </a:p>
        </p:txBody>
      </p:sp>
      <p:pic>
        <p:nvPicPr>
          <p:cNvPr id="534" name="Google Shape;534;p39"/>
          <p:cNvPicPr preferRelativeResize="0"/>
          <p:nvPr/>
        </p:nvPicPr>
        <p:blipFill rotWithShape="1">
          <a:blip r:embed="rId3">
            <a:alphaModFix/>
          </a:blip>
          <a:srcRect t="3070"/>
          <a:stretch/>
        </p:blipFill>
        <p:spPr>
          <a:xfrm>
            <a:off x="5262964" y="1288206"/>
            <a:ext cx="6324600" cy="2245441"/>
          </a:xfrm>
          <a:prstGeom prst="rect">
            <a:avLst/>
          </a:prstGeom>
          <a:noFill/>
          <a:ln>
            <a:noFill/>
          </a:ln>
        </p:spPr>
      </p:pic>
      <p:sp>
        <p:nvSpPr>
          <p:cNvPr id="535" name="Google Shape;535;p39"/>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39</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0"/>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Front end</a:t>
            </a:r>
            <a:endParaRPr/>
          </a:p>
        </p:txBody>
      </p:sp>
      <p:sp>
        <p:nvSpPr>
          <p:cNvPr id="541" name="Google Shape;541;p40"/>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lnSpcReduction="10000"/>
          </a:bodyPr>
          <a:lstStyle/>
          <a:p>
            <a:pPr marL="0" lvl="0" indent="-19050" algn="l" rtl="0">
              <a:lnSpc>
                <a:spcPct val="90000"/>
              </a:lnSpc>
              <a:spcBef>
                <a:spcPts val="0"/>
              </a:spcBef>
              <a:spcAft>
                <a:spcPts val="0"/>
              </a:spcAft>
              <a:buClr>
                <a:schemeClr val="dk1"/>
              </a:buClr>
              <a:buSzPts val="300"/>
              <a:buFont typeface="Quattrocento Sans"/>
              <a:buChar char=" "/>
            </a:pPr>
            <a:r>
              <a:rPr lang="en-US"/>
              <a:t>Most games employ some kind of 2D graphics overlaid on the 3D scene</a:t>
            </a:r>
            <a:endParaRPr/>
          </a:p>
          <a:p>
            <a:pPr marL="0" lvl="0" indent="-19050" algn="l" rtl="0">
              <a:lnSpc>
                <a:spcPct val="90000"/>
              </a:lnSpc>
              <a:spcBef>
                <a:spcPts val="2200"/>
              </a:spcBef>
              <a:spcAft>
                <a:spcPts val="0"/>
              </a:spcAft>
              <a:buClr>
                <a:schemeClr val="dk1"/>
              </a:buClr>
              <a:buSzPts val="300"/>
              <a:buFont typeface="Quattrocento Sans"/>
              <a:buChar char=" "/>
            </a:pPr>
            <a:r>
              <a:rPr lang="en-US"/>
              <a:t> for various purposes.</a:t>
            </a:r>
            <a:endParaRPr/>
          </a:p>
          <a:p>
            <a:pPr marL="0" lvl="0" indent="-19050" algn="l" rtl="0">
              <a:lnSpc>
                <a:spcPct val="90000"/>
              </a:lnSpc>
              <a:spcBef>
                <a:spcPts val="2200"/>
              </a:spcBef>
              <a:spcAft>
                <a:spcPts val="0"/>
              </a:spcAft>
              <a:buClr>
                <a:schemeClr val="dk1"/>
              </a:buClr>
              <a:buSzPts val="300"/>
              <a:buFont typeface="Quattrocento Sans"/>
              <a:buChar char=" "/>
            </a:pPr>
            <a:r>
              <a:rPr lang="en-US"/>
              <a:t>the game’s </a:t>
            </a:r>
            <a:r>
              <a:rPr lang="en-US" i="1"/>
              <a:t>heads-up display </a:t>
            </a:r>
            <a:r>
              <a:rPr lang="en-US"/>
              <a:t>(HUD);</a:t>
            </a:r>
            <a:endParaRPr/>
          </a:p>
          <a:p>
            <a:pPr marL="0" lvl="0" indent="-19050" algn="l" rtl="0">
              <a:lnSpc>
                <a:spcPct val="90000"/>
              </a:lnSpc>
              <a:spcBef>
                <a:spcPts val="2200"/>
              </a:spcBef>
              <a:spcAft>
                <a:spcPts val="0"/>
              </a:spcAft>
              <a:buClr>
                <a:schemeClr val="dk1"/>
              </a:buClr>
              <a:buSzPts val="300"/>
              <a:buFont typeface="Quattrocento Sans"/>
              <a:buChar char=" "/>
            </a:pPr>
            <a:r>
              <a:rPr lang="en-US"/>
              <a:t>• in-game menus, a console and/or other </a:t>
            </a:r>
            <a:r>
              <a:rPr lang="en-US" i="1"/>
              <a:t>development tools</a:t>
            </a:r>
            <a:r>
              <a:rPr lang="en-US"/>
              <a:t>, </a:t>
            </a:r>
            <a:endParaRPr/>
          </a:p>
          <a:p>
            <a:pPr marL="0" lvl="0" indent="-19050" algn="l" rtl="0">
              <a:lnSpc>
                <a:spcPct val="90000"/>
              </a:lnSpc>
              <a:spcBef>
                <a:spcPts val="2200"/>
              </a:spcBef>
              <a:spcAft>
                <a:spcPts val="0"/>
              </a:spcAft>
              <a:buClr>
                <a:schemeClr val="dk1"/>
              </a:buClr>
              <a:buSzPts val="300"/>
              <a:buFont typeface="Quattrocento Sans"/>
              <a:buChar char=" "/>
            </a:pPr>
            <a:r>
              <a:rPr lang="en-US"/>
              <a:t>which may or may not be shipped with the final product; </a:t>
            </a:r>
            <a:endParaRPr/>
          </a:p>
          <a:p>
            <a:pPr marL="0" lvl="0" indent="-19050" algn="l" rtl="0">
              <a:lnSpc>
                <a:spcPct val="90000"/>
              </a:lnSpc>
              <a:spcBef>
                <a:spcPts val="2200"/>
              </a:spcBef>
              <a:spcAft>
                <a:spcPts val="0"/>
              </a:spcAft>
              <a:buClr>
                <a:schemeClr val="dk1"/>
              </a:buClr>
              <a:buSzPts val="300"/>
              <a:buFont typeface="Quattrocento Sans"/>
              <a:buChar char=" "/>
            </a:pPr>
            <a:r>
              <a:rPr lang="en-US"/>
              <a:t>• possibly an in-game </a:t>
            </a:r>
            <a:r>
              <a:rPr lang="en-US" i="1"/>
              <a:t>graphical user interface </a:t>
            </a:r>
            <a:r>
              <a:rPr lang="en-US"/>
              <a:t>(GUI), allowing the player to manipulate his or her character’s inventory, configure units for battle or perform other complex in-game tasks.</a:t>
            </a:r>
            <a:endParaRPr/>
          </a:p>
          <a:p>
            <a:pPr marL="0" lvl="0" indent="-19050" algn="l" rtl="0">
              <a:lnSpc>
                <a:spcPct val="90000"/>
              </a:lnSpc>
              <a:spcBef>
                <a:spcPts val="2200"/>
              </a:spcBef>
              <a:spcAft>
                <a:spcPts val="0"/>
              </a:spcAft>
              <a:buClr>
                <a:schemeClr val="dk1"/>
              </a:buClr>
              <a:buSzPts val="300"/>
              <a:buFont typeface="Quattrocento Sans"/>
              <a:buChar char=" "/>
            </a:pPr>
            <a:r>
              <a:rPr lang="en-US"/>
              <a:t>Two-dimensional graphics are usually implemented by drawing textured quads (pairs of triangles) with an orthographic projection. Or they may be rendered in full 3D, with the quads bill-boarded so they always face the camera.</a:t>
            </a:r>
            <a:endParaRPr/>
          </a:p>
          <a:p>
            <a:pPr marL="0" lvl="0" indent="-19050" algn="l" rtl="0">
              <a:lnSpc>
                <a:spcPct val="90000"/>
              </a:lnSpc>
              <a:spcBef>
                <a:spcPts val="2200"/>
              </a:spcBef>
              <a:spcAft>
                <a:spcPts val="0"/>
              </a:spcAft>
              <a:buClr>
                <a:schemeClr val="dk1"/>
              </a:buClr>
              <a:buSzPts val="300"/>
              <a:buFont typeface="Quattrocento Sans"/>
              <a:buChar char=" "/>
            </a:pPr>
            <a:r>
              <a:rPr lang="en-US"/>
              <a:t>FMV plays full-screen movies that have been recorded earlier</a:t>
            </a:r>
            <a:endParaRPr/>
          </a:p>
          <a:p>
            <a:pPr marL="0" lvl="0" indent="-19050" algn="l" rtl="0">
              <a:lnSpc>
                <a:spcPct val="90000"/>
              </a:lnSpc>
              <a:spcBef>
                <a:spcPts val="2200"/>
              </a:spcBef>
              <a:spcAft>
                <a:spcPts val="0"/>
              </a:spcAft>
              <a:buClr>
                <a:schemeClr val="dk1"/>
              </a:buClr>
              <a:buSzPts val="300"/>
              <a:buFont typeface="Quattrocento Sans"/>
              <a:buChar char=" "/>
            </a:pPr>
            <a:r>
              <a:rPr lang="en-US"/>
              <a:t>IGC allows cinematic sequences to be choreographed within the game itself, in full 3D (ex: player walks through a city, a conversation between two key characters might be implemented as an in-game cinematic.)</a:t>
            </a:r>
            <a:endParaRPr/>
          </a:p>
          <a:p>
            <a:pPr marL="0" lvl="0" indent="-19050" algn="l" rtl="0">
              <a:lnSpc>
                <a:spcPct val="90000"/>
              </a:lnSpc>
              <a:spcBef>
                <a:spcPts val="2200"/>
              </a:spcBef>
              <a:spcAft>
                <a:spcPts val="0"/>
              </a:spcAft>
              <a:buClr>
                <a:schemeClr val="dk1"/>
              </a:buClr>
              <a:buSzPts val="300"/>
              <a:buFont typeface="Quattrocento Sans"/>
              <a:buChar char=" "/>
            </a:pPr>
            <a:r>
              <a:rPr lang="en-US" i="1"/>
              <a:t>Uncharted 4: A Thief’s End</a:t>
            </a:r>
            <a:r>
              <a:rPr lang="en-US"/>
              <a:t>, have moved away from pre-rendered movies entirely, and display </a:t>
            </a:r>
            <a:r>
              <a:rPr lang="en-US" i="1"/>
              <a:t>all </a:t>
            </a:r>
            <a:r>
              <a:rPr lang="en-US"/>
              <a:t>cinematic moments in the game as real-time IGCs.</a:t>
            </a:r>
            <a:endParaRPr/>
          </a:p>
        </p:txBody>
      </p:sp>
      <p:pic>
        <p:nvPicPr>
          <p:cNvPr id="542" name="Google Shape;542;p40"/>
          <p:cNvPicPr preferRelativeResize="0"/>
          <p:nvPr/>
        </p:nvPicPr>
        <p:blipFill rotWithShape="1">
          <a:blip r:embed="rId3">
            <a:alphaModFix/>
          </a:blip>
          <a:srcRect/>
          <a:stretch/>
        </p:blipFill>
        <p:spPr>
          <a:xfrm>
            <a:off x="5589236" y="1322408"/>
            <a:ext cx="5998327" cy="2011101"/>
          </a:xfrm>
          <a:prstGeom prst="rect">
            <a:avLst/>
          </a:prstGeom>
          <a:noFill/>
          <a:ln>
            <a:noFill/>
          </a:ln>
        </p:spPr>
      </p:pic>
      <p:sp>
        <p:nvSpPr>
          <p:cNvPr id="543" name="Google Shape;543;p40"/>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40</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Profiling/Debugging</a:t>
            </a:r>
            <a:endParaRPr/>
          </a:p>
        </p:txBody>
      </p:sp>
      <p:sp>
        <p:nvSpPr>
          <p:cNvPr id="549" name="Google Shape;549;p41"/>
          <p:cNvSpPr txBox="1">
            <a:spLocks noGrp="1"/>
          </p:cNvSpPr>
          <p:nvPr>
            <p:ph type="body" idx="1"/>
          </p:nvPr>
        </p:nvSpPr>
        <p:spPr>
          <a:xfrm>
            <a:off x="604433" y="1315655"/>
            <a:ext cx="10983131" cy="5293489"/>
          </a:xfrm>
          <a:prstGeom prst="rect">
            <a:avLst/>
          </a:prstGeom>
          <a:noFill/>
          <a:ln>
            <a:noFill/>
          </a:ln>
        </p:spPr>
        <p:txBody>
          <a:bodyPr spcFirstLastPara="1" wrap="square" lIns="91425" tIns="45700" rIns="91425" bIns="45700" anchor="t" anchorCtr="0">
            <a:normAutofit fontScale="92500" lnSpcReduction="10000"/>
          </a:bodyPr>
          <a:lstStyle/>
          <a:p>
            <a:pPr marL="0" lvl="0" indent="-17621" algn="l" rtl="0">
              <a:lnSpc>
                <a:spcPct val="90000"/>
              </a:lnSpc>
              <a:spcBef>
                <a:spcPts val="0"/>
              </a:spcBef>
              <a:spcAft>
                <a:spcPts val="0"/>
              </a:spcAft>
              <a:buClr>
                <a:schemeClr val="dk1"/>
              </a:buClr>
              <a:buSzPts val="278"/>
              <a:buFont typeface="Quattrocento Sans"/>
              <a:buChar char=" "/>
            </a:pPr>
            <a:r>
              <a:rPr lang="en-US"/>
              <a:t>Tools to profile the performance of their games in order to optimize performance.</a:t>
            </a:r>
            <a:endParaRPr/>
          </a:p>
          <a:p>
            <a:pPr marL="0" lvl="0" indent="-17621" algn="l" rtl="0">
              <a:lnSpc>
                <a:spcPct val="90000"/>
              </a:lnSpc>
              <a:spcBef>
                <a:spcPts val="2200"/>
              </a:spcBef>
              <a:spcAft>
                <a:spcPts val="0"/>
              </a:spcAft>
              <a:buClr>
                <a:schemeClr val="dk1"/>
              </a:buClr>
              <a:buSzPts val="278"/>
              <a:buFont typeface="Quattrocento Sans"/>
              <a:buChar char=" "/>
            </a:pPr>
            <a:r>
              <a:rPr lang="en-US"/>
              <a:t>Memory resources are usually scarce, so developers make heavy use of memory analysis tools</a:t>
            </a:r>
            <a:endParaRPr/>
          </a:p>
          <a:p>
            <a:pPr marL="0" lvl="0" indent="-17621" algn="l" rtl="0">
              <a:lnSpc>
                <a:spcPct val="90000"/>
              </a:lnSpc>
              <a:spcBef>
                <a:spcPts val="2200"/>
              </a:spcBef>
              <a:spcAft>
                <a:spcPts val="0"/>
              </a:spcAft>
              <a:buClr>
                <a:schemeClr val="dk1"/>
              </a:buClr>
              <a:buSzPts val="278"/>
              <a:buFont typeface="Quattrocento Sans"/>
              <a:buChar char=" "/>
            </a:pPr>
            <a:r>
              <a:rPr lang="en-US"/>
              <a:t>In-game debugging facilities, such as debug drawing, an in-game menu system or console and the ability to record and play back </a:t>
            </a:r>
            <a:endParaRPr/>
          </a:p>
          <a:p>
            <a:pPr marL="0" lvl="0" indent="-17621" algn="l" rtl="0">
              <a:lnSpc>
                <a:spcPct val="90000"/>
              </a:lnSpc>
              <a:spcBef>
                <a:spcPts val="2200"/>
              </a:spcBef>
              <a:spcAft>
                <a:spcPts val="0"/>
              </a:spcAft>
              <a:buClr>
                <a:schemeClr val="dk1"/>
              </a:buClr>
              <a:buSzPts val="278"/>
              <a:buFont typeface="Quattrocento Sans"/>
              <a:buChar char=" "/>
            </a:pPr>
            <a:r>
              <a:rPr lang="en-US"/>
              <a:t>gameplay for testing and debugging purposes.</a:t>
            </a:r>
            <a:endParaRPr/>
          </a:p>
          <a:p>
            <a:pPr marL="0" lvl="0" indent="-17621" algn="l" rtl="0">
              <a:lnSpc>
                <a:spcPct val="90000"/>
              </a:lnSpc>
              <a:spcBef>
                <a:spcPts val="2200"/>
              </a:spcBef>
              <a:spcAft>
                <a:spcPts val="0"/>
              </a:spcAft>
              <a:buClr>
                <a:schemeClr val="dk1"/>
              </a:buClr>
              <a:buSzPts val="278"/>
              <a:buFont typeface="Quattrocento Sans"/>
              <a:buChar char=" "/>
            </a:pPr>
            <a:r>
              <a:rPr lang="en-US"/>
              <a:t>general-purpose software profiling tools: Intel’s </a:t>
            </a:r>
            <a:r>
              <a:rPr lang="en-US" i="1"/>
              <a:t>Vtune, </a:t>
            </a:r>
            <a:r>
              <a:rPr lang="en-US"/>
              <a:t>IBM’s </a:t>
            </a:r>
            <a:r>
              <a:rPr lang="en-US" i="1"/>
              <a:t>Quantify </a:t>
            </a:r>
            <a:r>
              <a:rPr lang="en-US"/>
              <a:t>and </a:t>
            </a:r>
            <a:r>
              <a:rPr lang="en-US" i="1"/>
              <a:t>Purify </a:t>
            </a:r>
            <a:r>
              <a:rPr lang="en-US"/>
              <a:t>(part of the </a:t>
            </a:r>
            <a:r>
              <a:rPr lang="en-US" i="1"/>
              <a:t>PurifyPlus </a:t>
            </a:r>
            <a:r>
              <a:rPr lang="en-US"/>
              <a:t>tool suite),</a:t>
            </a:r>
            <a:endParaRPr/>
          </a:p>
          <a:p>
            <a:pPr marL="0" lvl="0" indent="-17621" algn="l" rtl="0">
              <a:lnSpc>
                <a:spcPct val="90000"/>
              </a:lnSpc>
              <a:spcBef>
                <a:spcPts val="2200"/>
              </a:spcBef>
              <a:spcAft>
                <a:spcPts val="0"/>
              </a:spcAft>
              <a:buClr>
                <a:schemeClr val="dk1"/>
              </a:buClr>
              <a:buSzPts val="278"/>
              <a:buFont typeface="Quattrocento Sans"/>
              <a:buChar char=" "/>
            </a:pPr>
            <a:r>
              <a:rPr lang="en-US" i="1"/>
              <a:t>Insure++ </a:t>
            </a:r>
            <a:r>
              <a:rPr lang="en-US"/>
              <a:t>by Parasoft, and </a:t>
            </a:r>
            <a:r>
              <a:rPr lang="en-US" i="1"/>
              <a:t>Valgrind </a:t>
            </a:r>
            <a:r>
              <a:rPr lang="en-US"/>
              <a:t>by Julian Seward and the Valgrind development team.</a:t>
            </a:r>
            <a:endParaRPr/>
          </a:p>
          <a:p>
            <a:pPr marL="0" lvl="0" indent="-17621" algn="l" rtl="0">
              <a:lnSpc>
                <a:spcPct val="90000"/>
              </a:lnSpc>
              <a:spcBef>
                <a:spcPts val="2200"/>
              </a:spcBef>
              <a:spcAft>
                <a:spcPts val="0"/>
              </a:spcAft>
              <a:buClr>
                <a:schemeClr val="dk1"/>
              </a:buClr>
              <a:buSzPts val="278"/>
              <a:buFont typeface="Quattrocento Sans"/>
              <a:buChar char=" "/>
            </a:pPr>
            <a:r>
              <a:rPr lang="en-US"/>
              <a:t>Most game engines also incorporate a suite of custom profiling and debugging tools:</a:t>
            </a:r>
            <a:endParaRPr/>
          </a:p>
          <a:p>
            <a:pPr marL="409576" lvl="1" indent="-7937" algn="l" rtl="0">
              <a:lnSpc>
                <a:spcPct val="90000"/>
              </a:lnSpc>
              <a:spcBef>
                <a:spcPts val="1800"/>
              </a:spcBef>
              <a:spcAft>
                <a:spcPts val="0"/>
              </a:spcAft>
              <a:buClr>
                <a:schemeClr val="dk1"/>
              </a:buClr>
              <a:buSzPct val="109090"/>
              <a:buChar char=" "/>
            </a:pPr>
            <a:r>
              <a:rPr lang="en-US"/>
              <a:t>Code timing</a:t>
            </a:r>
            <a:endParaRPr sz="1100"/>
          </a:p>
          <a:p>
            <a:pPr marL="409576" lvl="1" indent="-7937" algn="l" rtl="0">
              <a:lnSpc>
                <a:spcPct val="90000"/>
              </a:lnSpc>
              <a:spcBef>
                <a:spcPts val="1800"/>
              </a:spcBef>
              <a:spcAft>
                <a:spcPts val="0"/>
              </a:spcAft>
              <a:buClr>
                <a:schemeClr val="dk1"/>
              </a:buClr>
              <a:buSzPct val="100000"/>
              <a:buChar char=" "/>
            </a:pPr>
            <a:r>
              <a:rPr lang="en-US"/>
              <a:t>Display the profiling statistics on-screen while the game is running</a:t>
            </a:r>
            <a:endParaRPr/>
          </a:p>
          <a:p>
            <a:pPr marL="409576" lvl="1" indent="-7937" algn="l" rtl="0">
              <a:lnSpc>
                <a:spcPct val="90000"/>
              </a:lnSpc>
              <a:spcBef>
                <a:spcPts val="1800"/>
              </a:spcBef>
              <a:spcAft>
                <a:spcPts val="0"/>
              </a:spcAft>
              <a:buClr>
                <a:schemeClr val="dk1"/>
              </a:buClr>
              <a:buSzPct val="100000"/>
              <a:buChar char=" "/>
            </a:pPr>
            <a:r>
              <a:rPr lang="en-US"/>
              <a:t>Dumping performance stats to a text file</a:t>
            </a:r>
            <a:endParaRPr/>
          </a:p>
          <a:p>
            <a:pPr marL="409576" lvl="1" indent="-7937" algn="l" rtl="0">
              <a:lnSpc>
                <a:spcPct val="90000"/>
              </a:lnSpc>
              <a:spcBef>
                <a:spcPts val="1800"/>
              </a:spcBef>
              <a:spcAft>
                <a:spcPts val="0"/>
              </a:spcAft>
              <a:buClr>
                <a:schemeClr val="dk1"/>
              </a:buClr>
              <a:buSzPct val="100000"/>
              <a:buChar char=" "/>
            </a:pPr>
            <a:r>
              <a:rPr lang="en-US"/>
              <a:t>Determining memory usage used by the engine, and by each subsystem, including various on-screen displays</a:t>
            </a:r>
            <a:endParaRPr/>
          </a:p>
          <a:p>
            <a:pPr marL="409576" lvl="1" indent="-7937" algn="l" rtl="0">
              <a:lnSpc>
                <a:spcPct val="90000"/>
              </a:lnSpc>
              <a:spcBef>
                <a:spcPts val="1800"/>
              </a:spcBef>
              <a:spcAft>
                <a:spcPts val="0"/>
              </a:spcAft>
              <a:buClr>
                <a:schemeClr val="dk1"/>
              </a:buClr>
              <a:buSzPct val="100000"/>
              <a:buChar char=" "/>
            </a:pPr>
            <a:r>
              <a:rPr lang="en-US"/>
              <a:t>Dumping memory usage, high water mark and leakage stats when the game terminates and/or during gameplay</a:t>
            </a:r>
            <a:endParaRPr/>
          </a:p>
          <a:p>
            <a:pPr marL="409576" lvl="1" indent="-7937" algn="l" rtl="0">
              <a:lnSpc>
                <a:spcPct val="90000"/>
              </a:lnSpc>
              <a:spcBef>
                <a:spcPts val="1800"/>
              </a:spcBef>
              <a:spcAft>
                <a:spcPts val="0"/>
              </a:spcAft>
              <a:buClr>
                <a:schemeClr val="dk1"/>
              </a:buClr>
              <a:buSzPct val="100000"/>
              <a:buChar char=" "/>
            </a:pPr>
            <a:r>
              <a:rPr lang="en-US"/>
              <a:t>Record and playback game events for tracking down bugs.</a:t>
            </a:r>
            <a:endParaRPr/>
          </a:p>
          <a:p>
            <a:pPr marL="409576" lvl="1" indent="-7937" algn="l" rtl="0">
              <a:lnSpc>
                <a:spcPct val="90000"/>
              </a:lnSpc>
              <a:spcBef>
                <a:spcPts val="1800"/>
              </a:spcBef>
              <a:spcAft>
                <a:spcPts val="0"/>
              </a:spcAft>
              <a:buClr>
                <a:schemeClr val="dk1"/>
              </a:buClr>
              <a:buSzPct val="100000"/>
              <a:buChar char=" "/>
            </a:pPr>
            <a:r>
              <a:rPr lang="en-US"/>
              <a:t>Print statement output control, along with an ability to turn on or off different categories of debug</a:t>
            </a:r>
            <a:endParaRPr/>
          </a:p>
        </p:txBody>
      </p:sp>
      <p:pic>
        <p:nvPicPr>
          <p:cNvPr id="550" name="Google Shape;550;p41"/>
          <p:cNvPicPr preferRelativeResize="0"/>
          <p:nvPr/>
        </p:nvPicPr>
        <p:blipFill rotWithShape="1">
          <a:blip r:embed="rId3">
            <a:alphaModFix/>
          </a:blip>
          <a:srcRect/>
          <a:stretch/>
        </p:blipFill>
        <p:spPr>
          <a:xfrm>
            <a:off x="9658599" y="1315655"/>
            <a:ext cx="1928967" cy="2514600"/>
          </a:xfrm>
          <a:prstGeom prst="rect">
            <a:avLst/>
          </a:prstGeom>
          <a:noFill/>
          <a:ln>
            <a:noFill/>
          </a:ln>
        </p:spPr>
      </p:pic>
      <p:sp>
        <p:nvSpPr>
          <p:cNvPr id="551" name="Google Shape;551;p41"/>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41</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2"/>
          <p:cNvSpPr txBox="1">
            <a:spLocks noGrp="1"/>
          </p:cNvSpPr>
          <p:nvPr>
            <p:ph type="title"/>
          </p:nvPr>
        </p:nvSpPr>
        <p:spPr>
          <a:xfrm>
            <a:off x="1981200" y="0"/>
            <a:ext cx="8229600" cy="1447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Collisions and Physics</a:t>
            </a:r>
            <a:endParaRPr/>
          </a:p>
        </p:txBody>
      </p:sp>
      <p:sp>
        <p:nvSpPr>
          <p:cNvPr id="558" name="Google Shape;558;p42"/>
          <p:cNvSpPr txBox="1">
            <a:spLocks noGrp="1"/>
          </p:cNvSpPr>
          <p:nvPr>
            <p:ph type="body" idx="1"/>
          </p:nvPr>
        </p:nvSpPr>
        <p:spPr>
          <a:xfrm>
            <a:off x="624067" y="1296365"/>
            <a:ext cx="10973765" cy="5318567"/>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“physics system” in the game industry = rigid body dynamics</a:t>
            </a:r>
            <a:endParaRPr/>
          </a:p>
          <a:p>
            <a:pPr marL="0" lvl="0" indent="-19050" algn="l" rtl="0">
              <a:lnSpc>
                <a:spcPct val="90000"/>
              </a:lnSpc>
              <a:spcBef>
                <a:spcPts val="2200"/>
              </a:spcBef>
              <a:spcAft>
                <a:spcPts val="0"/>
              </a:spcAft>
              <a:buClr>
                <a:schemeClr val="dk1"/>
              </a:buClr>
              <a:buSzPts val="300"/>
              <a:buFont typeface="Quattrocento Sans"/>
              <a:buChar char=" "/>
            </a:pPr>
            <a:r>
              <a:rPr lang="en-US"/>
              <a:t>Focus: the motion (kinematics) of rigid bodies and the forces and torques (dynamics) that cause this motion to occur.</a:t>
            </a:r>
            <a:endParaRPr/>
          </a:p>
          <a:p>
            <a:pPr marL="0" lvl="0" indent="-19050" algn="l" rtl="0">
              <a:lnSpc>
                <a:spcPct val="90000"/>
              </a:lnSpc>
              <a:spcBef>
                <a:spcPts val="2200"/>
              </a:spcBef>
              <a:spcAft>
                <a:spcPts val="0"/>
              </a:spcAft>
              <a:buClr>
                <a:schemeClr val="dk1"/>
              </a:buClr>
              <a:buSzPts val="300"/>
              <a:buFont typeface="Quattrocento Sans"/>
              <a:buChar char=" "/>
            </a:pPr>
            <a:r>
              <a:rPr lang="en-US"/>
              <a:t>Collision and physics are usually quite tightly coupled.</a:t>
            </a:r>
            <a:endParaRPr/>
          </a:p>
          <a:p>
            <a:pPr marL="0" lvl="0" indent="-19050" algn="l" rtl="0">
              <a:lnSpc>
                <a:spcPct val="90000"/>
              </a:lnSpc>
              <a:spcBef>
                <a:spcPts val="2200"/>
              </a:spcBef>
              <a:spcAft>
                <a:spcPts val="0"/>
              </a:spcAft>
              <a:buClr>
                <a:schemeClr val="dk1"/>
              </a:buClr>
              <a:buSzPts val="300"/>
              <a:buFont typeface="Quattrocento Sans"/>
              <a:buChar char=" "/>
            </a:pPr>
            <a:r>
              <a:rPr lang="en-US"/>
              <a:t>Physics engine creation is its own unique undertaking</a:t>
            </a:r>
            <a:endParaRPr/>
          </a:p>
          <a:p>
            <a:pPr marL="0" lvl="0" indent="-19050" algn="l" rtl="0">
              <a:lnSpc>
                <a:spcPct val="90000"/>
              </a:lnSpc>
              <a:spcBef>
                <a:spcPts val="2200"/>
              </a:spcBef>
              <a:spcAft>
                <a:spcPts val="0"/>
              </a:spcAft>
              <a:buClr>
                <a:schemeClr val="dk1"/>
              </a:buClr>
              <a:buSzPts val="300"/>
              <a:buFont typeface="Quattrocento Sans"/>
              <a:buChar char=" "/>
            </a:pPr>
            <a:r>
              <a:rPr lang="en-US"/>
              <a:t>Most game companies use a third party SDK such as:</a:t>
            </a:r>
            <a:endParaRPr/>
          </a:p>
          <a:p>
            <a:pPr marL="409576" lvl="1" indent="-7938" algn="l" rtl="0">
              <a:lnSpc>
                <a:spcPct val="90000"/>
              </a:lnSpc>
              <a:spcBef>
                <a:spcPts val="1800"/>
              </a:spcBef>
              <a:spcAft>
                <a:spcPts val="0"/>
              </a:spcAft>
              <a:buClr>
                <a:schemeClr val="dk1"/>
              </a:buClr>
              <a:buSzPts val="1200"/>
              <a:buChar char=" "/>
            </a:pPr>
            <a:r>
              <a:rPr lang="en-US" i="1"/>
              <a:t>Havok:</a:t>
            </a:r>
            <a:r>
              <a:rPr lang="en-US"/>
              <a:t> the gold standard in the industry today</a:t>
            </a:r>
            <a:endParaRPr/>
          </a:p>
          <a:p>
            <a:pPr marL="409576" lvl="1" indent="-7938" algn="l" rtl="0">
              <a:lnSpc>
                <a:spcPct val="90000"/>
              </a:lnSpc>
              <a:spcBef>
                <a:spcPts val="1800"/>
              </a:spcBef>
              <a:spcAft>
                <a:spcPts val="0"/>
              </a:spcAft>
              <a:buClr>
                <a:schemeClr val="dk1"/>
              </a:buClr>
              <a:buSzPts val="1200"/>
              <a:buChar char=" "/>
            </a:pPr>
            <a:r>
              <a:rPr lang="en-US"/>
              <a:t>PhysX: </a:t>
            </a:r>
            <a:r>
              <a:rPr lang="en-US" i="1"/>
              <a:t>PhysX </a:t>
            </a:r>
            <a:r>
              <a:rPr lang="en-US"/>
              <a:t>by NVIDIA is another excellent collision and dynamics engine. It was integrated into Unreal Engine 4 and is also available for free as a stand-alone product for PC game development.</a:t>
            </a:r>
            <a:endParaRPr/>
          </a:p>
          <a:p>
            <a:pPr marL="409576" lvl="1" indent="-7938" algn="l" rtl="0">
              <a:lnSpc>
                <a:spcPct val="90000"/>
              </a:lnSpc>
              <a:spcBef>
                <a:spcPts val="1800"/>
              </a:spcBef>
              <a:spcAft>
                <a:spcPts val="0"/>
              </a:spcAft>
              <a:buClr>
                <a:schemeClr val="dk1"/>
              </a:buClr>
              <a:buSzPts val="1200"/>
              <a:buChar char=" "/>
            </a:pPr>
            <a:r>
              <a:rPr lang="en-US"/>
              <a:t>Open Dynamics Engine (ODE): An open source physics and collision engine (</a:t>
            </a:r>
            <a:r>
              <a:rPr lang="en-US" u="sng">
                <a:solidFill>
                  <a:schemeClr val="hlink"/>
                </a:solidFill>
                <a:hlinkClick r:id="rId3"/>
              </a:rPr>
              <a:t>http://www.ode.org</a:t>
            </a:r>
            <a:r>
              <a:rPr lang="en-US"/>
              <a:t>) </a:t>
            </a:r>
            <a:endParaRPr/>
          </a:p>
          <a:p>
            <a:pPr marL="409576" lvl="1" indent="-7938" algn="l" rtl="0">
              <a:lnSpc>
                <a:spcPct val="90000"/>
              </a:lnSpc>
              <a:spcBef>
                <a:spcPts val="1800"/>
              </a:spcBef>
              <a:spcAft>
                <a:spcPts val="0"/>
              </a:spcAft>
              <a:buClr>
                <a:schemeClr val="dk1"/>
              </a:buClr>
              <a:buSzPts val="1200"/>
              <a:buChar char=" "/>
            </a:pPr>
            <a:r>
              <a:rPr lang="en-US"/>
              <a:t>I-Collide, V-Collide and RAPID: non-commercial collision detection engines developed at (UNC)</a:t>
            </a:r>
            <a:endParaRPr/>
          </a:p>
        </p:txBody>
      </p:sp>
      <p:pic>
        <p:nvPicPr>
          <p:cNvPr id="559" name="Google Shape;559;p42"/>
          <p:cNvPicPr preferRelativeResize="0"/>
          <p:nvPr/>
        </p:nvPicPr>
        <p:blipFill rotWithShape="1">
          <a:blip r:embed="rId4">
            <a:alphaModFix/>
          </a:blip>
          <a:srcRect/>
          <a:stretch/>
        </p:blipFill>
        <p:spPr>
          <a:xfrm>
            <a:off x="8941130" y="1369671"/>
            <a:ext cx="2656702" cy="2286000"/>
          </a:xfrm>
          <a:prstGeom prst="rect">
            <a:avLst/>
          </a:prstGeom>
          <a:noFill/>
          <a:ln>
            <a:noFill/>
          </a:ln>
        </p:spPr>
      </p:pic>
      <p:sp>
        <p:nvSpPr>
          <p:cNvPr id="560" name="Google Shape;560;p42"/>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42</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3"/>
          <p:cNvSpPr txBox="1">
            <a:spLocks noGrp="1"/>
          </p:cNvSpPr>
          <p:nvPr>
            <p:ph type="title"/>
          </p:nvPr>
        </p:nvSpPr>
        <p:spPr>
          <a:xfrm>
            <a:off x="613457" y="409936"/>
            <a:ext cx="7971099" cy="7330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Animation</a:t>
            </a:r>
            <a:endParaRPr/>
          </a:p>
        </p:txBody>
      </p:sp>
      <p:sp>
        <p:nvSpPr>
          <p:cNvPr id="567" name="Google Shape;567;p43"/>
          <p:cNvSpPr txBox="1">
            <a:spLocks noGrp="1"/>
          </p:cNvSpPr>
          <p:nvPr>
            <p:ph type="body" idx="1"/>
          </p:nvPr>
        </p:nvSpPr>
        <p:spPr>
          <a:xfrm>
            <a:off x="613457" y="1257301"/>
            <a:ext cx="10988936" cy="5340270"/>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Any game that has organic or semi-organic characters (humans, animals, cartoon</a:t>
            </a:r>
            <a:endParaRPr/>
          </a:p>
          <a:p>
            <a:pPr marL="0" lvl="0" indent="-19050" algn="l" rtl="0">
              <a:lnSpc>
                <a:spcPct val="90000"/>
              </a:lnSpc>
              <a:spcBef>
                <a:spcPts val="2200"/>
              </a:spcBef>
              <a:spcAft>
                <a:spcPts val="0"/>
              </a:spcAft>
              <a:buClr>
                <a:schemeClr val="dk1"/>
              </a:buClr>
              <a:buSzPts val="300"/>
              <a:buFont typeface="Quattrocento Sans"/>
              <a:buChar char=" "/>
            </a:pPr>
            <a:r>
              <a:rPr lang="en-US"/>
              <a:t>characters or even robots) needs an animation system.</a:t>
            </a:r>
            <a:endParaRPr/>
          </a:p>
          <a:p>
            <a:pPr marL="0" lvl="0" indent="-19050" algn="l" rtl="0">
              <a:lnSpc>
                <a:spcPct val="90000"/>
              </a:lnSpc>
              <a:spcBef>
                <a:spcPts val="2200"/>
              </a:spcBef>
              <a:spcAft>
                <a:spcPts val="0"/>
              </a:spcAft>
              <a:buClr>
                <a:schemeClr val="dk1"/>
              </a:buClr>
              <a:buSzPts val="300"/>
              <a:buFont typeface="Quattrocento Sans"/>
              <a:buChar char=" "/>
            </a:pPr>
            <a:r>
              <a:rPr lang="en-US"/>
              <a:t>Five types of animation are used</a:t>
            </a:r>
            <a:endParaRPr/>
          </a:p>
          <a:p>
            <a:pPr marL="409576" lvl="1" indent="-7938" algn="l" rtl="0">
              <a:lnSpc>
                <a:spcPct val="90000"/>
              </a:lnSpc>
              <a:spcBef>
                <a:spcPts val="1800"/>
              </a:spcBef>
              <a:spcAft>
                <a:spcPts val="0"/>
              </a:spcAft>
              <a:buClr>
                <a:schemeClr val="dk1"/>
              </a:buClr>
              <a:buSzPts val="1200"/>
              <a:buChar char=" "/>
            </a:pPr>
            <a:r>
              <a:rPr lang="en-US"/>
              <a:t>Sprite/texture animation</a:t>
            </a:r>
            <a:endParaRPr/>
          </a:p>
          <a:p>
            <a:pPr marL="409576" lvl="1" indent="-7938" algn="l" rtl="0">
              <a:lnSpc>
                <a:spcPct val="90000"/>
              </a:lnSpc>
              <a:spcBef>
                <a:spcPts val="1800"/>
              </a:spcBef>
              <a:spcAft>
                <a:spcPts val="0"/>
              </a:spcAft>
              <a:buClr>
                <a:schemeClr val="dk1"/>
              </a:buClr>
              <a:buSzPts val="1200"/>
              <a:buChar char=" "/>
            </a:pPr>
            <a:r>
              <a:rPr lang="en-US"/>
              <a:t>Rigid body hierarchy animation</a:t>
            </a:r>
            <a:endParaRPr/>
          </a:p>
          <a:p>
            <a:pPr marL="409576" lvl="1" indent="-7938" algn="l" rtl="0">
              <a:lnSpc>
                <a:spcPct val="90000"/>
              </a:lnSpc>
              <a:spcBef>
                <a:spcPts val="1800"/>
              </a:spcBef>
              <a:spcAft>
                <a:spcPts val="0"/>
              </a:spcAft>
              <a:buClr>
                <a:schemeClr val="dk1"/>
              </a:buClr>
              <a:buSzPts val="1200"/>
              <a:buChar char=" "/>
            </a:pPr>
            <a:r>
              <a:rPr lang="en-US"/>
              <a:t>Skeletal animation</a:t>
            </a:r>
            <a:endParaRPr/>
          </a:p>
          <a:p>
            <a:pPr marL="409576" lvl="1" indent="-7938" algn="l" rtl="0">
              <a:lnSpc>
                <a:spcPct val="90000"/>
              </a:lnSpc>
              <a:spcBef>
                <a:spcPts val="1800"/>
              </a:spcBef>
              <a:spcAft>
                <a:spcPts val="0"/>
              </a:spcAft>
              <a:buClr>
                <a:schemeClr val="dk1"/>
              </a:buClr>
              <a:buSzPts val="1200"/>
              <a:buChar char=" "/>
            </a:pPr>
            <a:r>
              <a:rPr lang="en-US"/>
              <a:t>Vertex animation</a:t>
            </a:r>
            <a:endParaRPr/>
          </a:p>
          <a:p>
            <a:pPr marL="409576" lvl="1" indent="-7938" algn="l" rtl="0">
              <a:lnSpc>
                <a:spcPct val="90000"/>
              </a:lnSpc>
              <a:spcBef>
                <a:spcPts val="1800"/>
              </a:spcBef>
              <a:spcAft>
                <a:spcPts val="0"/>
              </a:spcAft>
              <a:buClr>
                <a:schemeClr val="dk1"/>
              </a:buClr>
              <a:buSzPts val="1200"/>
              <a:buChar char=" "/>
            </a:pPr>
            <a:r>
              <a:rPr lang="en-US"/>
              <a:t>Morphing (morph target)</a:t>
            </a:r>
            <a:endParaRPr/>
          </a:p>
          <a:p>
            <a:pPr marL="0" lvl="0" indent="-19050" algn="l" rtl="0">
              <a:lnSpc>
                <a:spcPct val="90000"/>
              </a:lnSpc>
              <a:spcBef>
                <a:spcPts val="2200"/>
              </a:spcBef>
              <a:spcAft>
                <a:spcPts val="0"/>
              </a:spcAft>
              <a:buClr>
                <a:schemeClr val="dk1"/>
              </a:buClr>
              <a:buSzPts val="300"/>
              <a:buFont typeface="Quattrocento Sans"/>
              <a:buChar char=" "/>
            </a:pPr>
            <a:r>
              <a:rPr lang="en-US"/>
              <a:t>Skeletal animations still the most popular:</a:t>
            </a:r>
            <a:endParaRPr/>
          </a:p>
          <a:p>
            <a:pPr marL="409576" lvl="1" indent="-7938" algn="l" rtl="0">
              <a:lnSpc>
                <a:spcPct val="90000"/>
              </a:lnSpc>
              <a:spcBef>
                <a:spcPts val="1800"/>
              </a:spcBef>
              <a:spcAft>
                <a:spcPts val="0"/>
              </a:spcAft>
              <a:buClr>
                <a:schemeClr val="dk1"/>
              </a:buClr>
              <a:buSzPts val="1200"/>
              <a:buChar char=" "/>
            </a:pPr>
            <a:r>
              <a:rPr lang="en-US"/>
              <a:t>The animation system produces a pose for every bone in the skeleton</a:t>
            </a:r>
            <a:endParaRPr/>
          </a:p>
          <a:p>
            <a:pPr marL="409576" lvl="1" indent="-7938" algn="l" rtl="0">
              <a:lnSpc>
                <a:spcPct val="90000"/>
              </a:lnSpc>
              <a:spcBef>
                <a:spcPts val="1800"/>
              </a:spcBef>
              <a:spcAft>
                <a:spcPts val="0"/>
              </a:spcAft>
              <a:buClr>
                <a:schemeClr val="dk1"/>
              </a:buClr>
              <a:buSzPts val="1200"/>
              <a:buChar char=" "/>
            </a:pPr>
            <a:r>
              <a:rPr lang="en-US"/>
              <a:t>These poses are passed to the rendering engine as a palette of matrices.</a:t>
            </a:r>
            <a:endParaRPr/>
          </a:p>
          <a:p>
            <a:pPr marL="409576" lvl="1" indent="-7938" algn="l" rtl="0">
              <a:lnSpc>
                <a:spcPct val="90000"/>
              </a:lnSpc>
              <a:spcBef>
                <a:spcPts val="1800"/>
              </a:spcBef>
              <a:spcAft>
                <a:spcPts val="0"/>
              </a:spcAft>
              <a:buClr>
                <a:schemeClr val="dk1"/>
              </a:buClr>
              <a:buSzPts val="1200"/>
              <a:buChar char=" "/>
            </a:pPr>
            <a:r>
              <a:rPr lang="en-US"/>
              <a:t>The renderer transforms each vertex by the matrix or matrices in the palette, in order to generate a final blended vertex position.</a:t>
            </a:r>
            <a:endParaRPr/>
          </a:p>
          <a:p>
            <a:pPr marL="409576" lvl="1" indent="-7938" algn="l" rtl="0">
              <a:lnSpc>
                <a:spcPct val="90000"/>
              </a:lnSpc>
              <a:spcBef>
                <a:spcPts val="1800"/>
              </a:spcBef>
              <a:spcAft>
                <a:spcPts val="0"/>
              </a:spcAft>
              <a:buClr>
                <a:schemeClr val="dk1"/>
              </a:buClr>
              <a:buSzPts val="1200"/>
              <a:buChar char=" "/>
            </a:pPr>
            <a:r>
              <a:rPr lang="en-US"/>
              <a:t>This process is known as </a:t>
            </a:r>
            <a:r>
              <a:rPr lang="en-US" i="1"/>
              <a:t>skinning</a:t>
            </a:r>
            <a:r>
              <a:rPr lang="en-US"/>
              <a:t>.</a:t>
            </a:r>
            <a:endParaRPr/>
          </a:p>
        </p:txBody>
      </p:sp>
      <p:pic>
        <p:nvPicPr>
          <p:cNvPr id="568" name="Google Shape;568;p43"/>
          <p:cNvPicPr preferRelativeResize="0"/>
          <p:nvPr/>
        </p:nvPicPr>
        <p:blipFill rotWithShape="1">
          <a:blip r:embed="rId3">
            <a:alphaModFix/>
          </a:blip>
          <a:srcRect/>
          <a:stretch/>
        </p:blipFill>
        <p:spPr>
          <a:xfrm>
            <a:off x="8199700" y="1257300"/>
            <a:ext cx="3402693" cy="1676400"/>
          </a:xfrm>
          <a:prstGeom prst="rect">
            <a:avLst/>
          </a:prstGeom>
          <a:noFill/>
          <a:ln>
            <a:noFill/>
          </a:ln>
        </p:spPr>
      </p:pic>
      <p:sp>
        <p:nvSpPr>
          <p:cNvPr id="569" name="Google Shape;569;p43"/>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43</a:t>
            </a:fld>
            <a:endParaRPr sz="1200" b="0" i="0" u="none" strike="noStrike" cap="none">
              <a:solidFill>
                <a:srgbClr val="595959"/>
              </a:solidFill>
              <a:latin typeface="Century Gothic"/>
              <a:ea typeface="Century Gothic"/>
              <a:cs typeface="Century Gothic"/>
              <a:sym typeface="Century Gothic"/>
            </a:endParaRPr>
          </a:p>
        </p:txBody>
      </p:sp>
      <p:pic>
        <p:nvPicPr>
          <p:cNvPr id="570" name="Google Shape;570;p43"/>
          <p:cNvPicPr preferRelativeResize="0"/>
          <p:nvPr/>
        </p:nvPicPr>
        <p:blipFill rotWithShape="1">
          <a:blip r:embed="rId4">
            <a:alphaModFix/>
          </a:blip>
          <a:srcRect/>
          <a:stretch/>
        </p:blipFill>
        <p:spPr>
          <a:xfrm>
            <a:off x="8199700" y="3048002"/>
            <a:ext cx="3402693" cy="272215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4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HID</a:t>
            </a:r>
            <a:endParaRPr/>
          </a:p>
        </p:txBody>
      </p:sp>
      <p:sp>
        <p:nvSpPr>
          <p:cNvPr id="576" name="Google Shape;576;p44"/>
          <p:cNvSpPr txBox="1">
            <a:spLocks noGrp="1"/>
          </p:cNvSpPr>
          <p:nvPr>
            <p:ph type="body" idx="1"/>
          </p:nvPr>
        </p:nvSpPr>
        <p:spPr>
          <a:xfrm>
            <a:off x="604434" y="1249447"/>
            <a:ext cx="10983132" cy="5318877"/>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Every game needs to process input from the player, obtained from various </a:t>
            </a:r>
            <a:r>
              <a:rPr lang="en-US" i="1"/>
              <a:t>human interface devices </a:t>
            </a:r>
            <a:r>
              <a:rPr lang="en-US"/>
              <a:t>(HIDs) including</a:t>
            </a:r>
            <a:endParaRPr/>
          </a:p>
          <a:p>
            <a:pPr marL="0" lvl="0" indent="-19050" algn="l" rtl="0">
              <a:lnSpc>
                <a:spcPct val="90000"/>
              </a:lnSpc>
              <a:spcBef>
                <a:spcPts val="2200"/>
              </a:spcBef>
              <a:spcAft>
                <a:spcPts val="0"/>
              </a:spcAft>
              <a:buClr>
                <a:schemeClr val="dk1"/>
              </a:buClr>
              <a:buSzPts val="300"/>
              <a:buFont typeface="Quattrocento Sans"/>
              <a:buChar char=" "/>
            </a:pPr>
            <a:r>
              <a:rPr lang="en-US"/>
              <a:t>• the keyboard and mouse,</a:t>
            </a:r>
            <a:endParaRPr/>
          </a:p>
          <a:p>
            <a:pPr marL="0" lvl="0" indent="-19050" algn="l" rtl="0">
              <a:lnSpc>
                <a:spcPct val="90000"/>
              </a:lnSpc>
              <a:spcBef>
                <a:spcPts val="2200"/>
              </a:spcBef>
              <a:spcAft>
                <a:spcPts val="0"/>
              </a:spcAft>
              <a:buClr>
                <a:schemeClr val="dk1"/>
              </a:buClr>
              <a:buSzPts val="300"/>
              <a:buFont typeface="Quattrocento Sans"/>
              <a:buChar char=" "/>
            </a:pPr>
            <a:r>
              <a:rPr lang="en-US"/>
              <a:t>• a joypad, or</a:t>
            </a:r>
            <a:endParaRPr/>
          </a:p>
          <a:p>
            <a:pPr marL="0" lvl="0" indent="-19050" algn="l" rtl="0">
              <a:lnSpc>
                <a:spcPct val="90000"/>
              </a:lnSpc>
              <a:spcBef>
                <a:spcPts val="2200"/>
              </a:spcBef>
              <a:spcAft>
                <a:spcPts val="0"/>
              </a:spcAft>
              <a:buClr>
                <a:schemeClr val="dk1"/>
              </a:buClr>
              <a:buSzPts val="300"/>
              <a:buFont typeface="Quattrocento Sans"/>
              <a:buChar char=" "/>
            </a:pPr>
            <a:r>
              <a:rPr lang="en-US"/>
              <a:t>• other specialized game controllers, like steering wheels, fishing rods, dance pads, the Wiimote, etc.</a:t>
            </a:r>
            <a:endParaRPr/>
          </a:p>
          <a:p>
            <a:pPr marL="0" lvl="0" indent="-19050" algn="l" rtl="0">
              <a:lnSpc>
                <a:spcPct val="90000"/>
              </a:lnSpc>
              <a:spcBef>
                <a:spcPts val="2200"/>
              </a:spcBef>
              <a:spcAft>
                <a:spcPts val="0"/>
              </a:spcAft>
              <a:buClr>
                <a:schemeClr val="dk1"/>
              </a:buClr>
              <a:buSzPts val="300"/>
              <a:buFont typeface="Quattrocento Sans"/>
              <a:buChar char=" "/>
            </a:pPr>
            <a:r>
              <a:rPr lang="en-US"/>
              <a:t>The HID engine component is sometimes architected to divorce the low level</a:t>
            </a:r>
            <a:endParaRPr/>
          </a:p>
          <a:p>
            <a:pPr marL="0" lvl="0" indent="-19050" algn="l" rtl="0">
              <a:lnSpc>
                <a:spcPct val="90000"/>
              </a:lnSpc>
              <a:spcBef>
                <a:spcPts val="2200"/>
              </a:spcBef>
              <a:spcAft>
                <a:spcPts val="0"/>
              </a:spcAft>
              <a:buClr>
                <a:schemeClr val="dk1"/>
              </a:buClr>
              <a:buSzPts val="300"/>
              <a:buFont typeface="Quattrocento Sans"/>
              <a:buChar char=" "/>
            </a:pPr>
            <a:r>
              <a:rPr lang="en-US"/>
              <a:t>details of the game controller(s) on a particular hardware platform from the high-level game controls.</a:t>
            </a:r>
            <a:endParaRPr/>
          </a:p>
          <a:p>
            <a:pPr marL="0" lvl="0" indent="-19050" algn="l" rtl="0">
              <a:lnSpc>
                <a:spcPct val="90000"/>
              </a:lnSpc>
              <a:spcBef>
                <a:spcPts val="2200"/>
              </a:spcBef>
              <a:spcAft>
                <a:spcPts val="0"/>
              </a:spcAft>
              <a:buClr>
                <a:schemeClr val="dk1"/>
              </a:buClr>
              <a:buSzPts val="300"/>
              <a:buFont typeface="Quattrocento Sans"/>
              <a:buChar char=" "/>
            </a:pPr>
            <a:r>
              <a:rPr lang="en-US"/>
              <a:t>It massages the raw data coming from the hardware, introducing a dead zone around the center point of each joypad stick, debouncing</a:t>
            </a:r>
            <a:endParaRPr/>
          </a:p>
          <a:p>
            <a:pPr marL="0" lvl="0" indent="-19050" algn="l" rtl="0">
              <a:lnSpc>
                <a:spcPct val="90000"/>
              </a:lnSpc>
              <a:spcBef>
                <a:spcPts val="2200"/>
              </a:spcBef>
              <a:spcAft>
                <a:spcPts val="0"/>
              </a:spcAft>
              <a:buClr>
                <a:schemeClr val="dk1"/>
              </a:buClr>
              <a:buSzPts val="300"/>
              <a:buFont typeface="Quattrocento Sans"/>
              <a:buChar char=" "/>
            </a:pPr>
            <a:r>
              <a:rPr lang="en-US"/>
              <a:t>button-press inputs, detecting button-down and button-up events, interpreting and smoothing accelerometer inputs (e.g., from the PlayStation</a:t>
            </a:r>
            <a:endParaRPr/>
          </a:p>
          <a:p>
            <a:pPr marL="0" lvl="0" indent="-19050" algn="l" rtl="0">
              <a:lnSpc>
                <a:spcPct val="90000"/>
              </a:lnSpc>
              <a:spcBef>
                <a:spcPts val="2200"/>
              </a:spcBef>
              <a:spcAft>
                <a:spcPts val="0"/>
              </a:spcAft>
              <a:buClr>
                <a:schemeClr val="dk1"/>
              </a:buClr>
              <a:buSzPts val="300"/>
              <a:buFont typeface="Quattrocento Sans"/>
              <a:buChar char=" "/>
            </a:pPr>
            <a:r>
              <a:rPr lang="en-US"/>
              <a:t>Dualshock controller) and more.</a:t>
            </a:r>
            <a:endParaRPr/>
          </a:p>
        </p:txBody>
      </p:sp>
      <p:pic>
        <p:nvPicPr>
          <p:cNvPr id="577" name="Google Shape;577;p44"/>
          <p:cNvPicPr preferRelativeResize="0"/>
          <p:nvPr/>
        </p:nvPicPr>
        <p:blipFill rotWithShape="1">
          <a:blip r:embed="rId3">
            <a:alphaModFix/>
          </a:blip>
          <a:srcRect/>
          <a:stretch/>
        </p:blipFill>
        <p:spPr>
          <a:xfrm>
            <a:off x="9699618" y="1323222"/>
            <a:ext cx="1887948" cy="2453148"/>
          </a:xfrm>
          <a:prstGeom prst="rect">
            <a:avLst/>
          </a:prstGeom>
          <a:noFill/>
          <a:ln>
            <a:noFill/>
          </a:ln>
        </p:spPr>
      </p:pic>
      <p:sp>
        <p:nvSpPr>
          <p:cNvPr id="578" name="Google Shape;578;p44"/>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44</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45"/>
          <p:cNvSpPr txBox="1">
            <a:spLocks noGrp="1"/>
          </p:cNvSpPr>
          <p:nvPr>
            <p:ph type="title"/>
          </p:nvPr>
        </p:nvSpPr>
        <p:spPr>
          <a:xfrm>
            <a:off x="632285" y="355988"/>
            <a:ext cx="8229600" cy="75077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Audio</a:t>
            </a:r>
            <a:endParaRPr/>
          </a:p>
        </p:txBody>
      </p:sp>
      <p:sp>
        <p:nvSpPr>
          <p:cNvPr id="584" name="Google Shape;584;p45"/>
          <p:cNvSpPr txBox="1">
            <a:spLocks noGrp="1"/>
          </p:cNvSpPr>
          <p:nvPr>
            <p:ph type="body" idx="1"/>
          </p:nvPr>
        </p:nvSpPr>
        <p:spPr>
          <a:xfrm>
            <a:off x="632285" y="1364226"/>
            <a:ext cx="10986199" cy="5225038"/>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Often overlooked until the end</a:t>
            </a:r>
            <a:endParaRPr/>
          </a:p>
          <a:p>
            <a:pPr marL="0" lvl="0" indent="-19050" algn="l" rtl="0">
              <a:lnSpc>
                <a:spcPct val="90000"/>
              </a:lnSpc>
              <a:spcBef>
                <a:spcPts val="2200"/>
              </a:spcBef>
              <a:spcAft>
                <a:spcPts val="0"/>
              </a:spcAft>
              <a:buClr>
                <a:schemeClr val="dk1"/>
              </a:buClr>
              <a:buSzPts val="300"/>
              <a:buFont typeface="Quattrocento Sans"/>
              <a:buChar char=" "/>
            </a:pPr>
            <a:r>
              <a:rPr lang="en-US"/>
              <a:t>Varies in sophistication based on need</a:t>
            </a:r>
            <a:endParaRPr/>
          </a:p>
          <a:p>
            <a:pPr marL="0" lvl="0" indent="-19050" algn="l" rtl="0">
              <a:lnSpc>
                <a:spcPct val="90000"/>
              </a:lnSpc>
              <a:spcBef>
                <a:spcPts val="2200"/>
              </a:spcBef>
              <a:spcAft>
                <a:spcPts val="0"/>
              </a:spcAft>
              <a:buClr>
                <a:schemeClr val="dk1"/>
              </a:buClr>
              <a:buSzPts val="300"/>
              <a:buFont typeface="Quattrocento Sans"/>
              <a:buChar char=" "/>
            </a:pPr>
            <a:r>
              <a:rPr lang="en-US"/>
              <a:t>Quake’s audio engine is pretty basic, and game teams usually augment it with custom functionality.</a:t>
            </a:r>
            <a:endParaRPr/>
          </a:p>
          <a:p>
            <a:pPr marL="0" lvl="0" indent="-19050" algn="l" rtl="0">
              <a:lnSpc>
                <a:spcPct val="90000"/>
              </a:lnSpc>
              <a:spcBef>
                <a:spcPts val="2200"/>
              </a:spcBef>
              <a:spcAft>
                <a:spcPts val="0"/>
              </a:spcAft>
              <a:buClr>
                <a:schemeClr val="dk1"/>
              </a:buClr>
              <a:buSzPts val="300"/>
              <a:buFont typeface="Quattrocento Sans"/>
              <a:buChar char=" "/>
            </a:pPr>
            <a:r>
              <a:rPr lang="en-US"/>
              <a:t>Unreal Engine 4 provides a reasonably robust 3D audio rendering engine.</a:t>
            </a:r>
            <a:endParaRPr/>
          </a:p>
          <a:p>
            <a:pPr marL="0" lvl="0" indent="-19050" algn="l" rtl="0">
              <a:lnSpc>
                <a:spcPct val="90000"/>
              </a:lnSpc>
              <a:spcBef>
                <a:spcPts val="2200"/>
              </a:spcBef>
              <a:spcAft>
                <a:spcPts val="0"/>
              </a:spcAft>
              <a:buClr>
                <a:schemeClr val="dk1"/>
              </a:buClr>
              <a:buSzPts val="300"/>
              <a:buFont typeface="Quattrocento Sans"/>
              <a:buChar char=" "/>
            </a:pPr>
            <a:r>
              <a:rPr lang="en-US"/>
              <a:t>For DirectX platforms (PC, Xbox 360, Xbox One), Microsoft provides an excellent runtime audio engine called XAudio2.</a:t>
            </a:r>
            <a:endParaRPr/>
          </a:p>
          <a:p>
            <a:pPr marL="0" lvl="0" indent="-19050" algn="l" rtl="0">
              <a:lnSpc>
                <a:spcPct val="90000"/>
              </a:lnSpc>
              <a:spcBef>
                <a:spcPts val="2200"/>
              </a:spcBef>
              <a:spcAft>
                <a:spcPts val="0"/>
              </a:spcAft>
              <a:buClr>
                <a:schemeClr val="dk1"/>
              </a:buClr>
              <a:buSzPts val="300"/>
              <a:buFont typeface="Quattrocento Sans"/>
              <a:buChar char=" "/>
            </a:pPr>
            <a:r>
              <a:rPr lang="en-US"/>
              <a:t>Electronic Arts has developed an advanced, high-powered audio engine internally called SoundR!OT</a:t>
            </a:r>
            <a:endParaRPr/>
          </a:p>
          <a:p>
            <a:pPr marL="0" lvl="0" indent="-19050" algn="l" rtl="0">
              <a:lnSpc>
                <a:spcPct val="90000"/>
              </a:lnSpc>
              <a:spcBef>
                <a:spcPts val="2200"/>
              </a:spcBef>
              <a:spcAft>
                <a:spcPts val="0"/>
              </a:spcAft>
              <a:buClr>
                <a:schemeClr val="dk1"/>
              </a:buClr>
              <a:buSzPts val="300"/>
              <a:buFont typeface="Quattrocento Sans"/>
              <a:buChar char=" "/>
            </a:pPr>
            <a:r>
              <a:rPr lang="en-US"/>
              <a:t>Sony Interactive Entertainment (SIE) provides a powerful 3D audio engine called Scream.</a:t>
            </a:r>
            <a:endParaRPr/>
          </a:p>
        </p:txBody>
      </p:sp>
      <p:pic>
        <p:nvPicPr>
          <p:cNvPr id="585" name="Google Shape;585;p45"/>
          <p:cNvPicPr preferRelativeResize="0"/>
          <p:nvPr/>
        </p:nvPicPr>
        <p:blipFill rotWithShape="1">
          <a:blip r:embed="rId3">
            <a:alphaModFix/>
          </a:blip>
          <a:srcRect/>
          <a:stretch/>
        </p:blipFill>
        <p:spPr>
          <a:xfrm>
            <a:off x="9105900" y="1364226"/>
            <a:ext cx="2512585" cy="3276600"/>
          </a:xfrm>
          <a:prstGeom prst="rect">
            <a:avLst/>
          </a:prstGeom>
          <a:noFill/>
          <a:ln>
            <a:noFill/>
          </a:ln>
        </p:spPr>
      </p:pic>
      <p:sp>
        <p:nvSpPr>
          <p:cNvPr id="586" name="Google Shape;586;p45"/>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45</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46"/>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Multiplayer/networking</a:t>
            </a:r>
            <a:endParaRPr/>
          </a:p>
        </p:txBody>
      </p:sp>
      <p:sp>
        <p:nvSpPr>
          <p:cNvPr id="592" name="Google Shape;592;p46"/>
          <p:cNvSpPr txBox="1">
            <a:spLocks noGrp="1"/>
          </p:cNvSpPr>
          <p:nvPr>
            <p:ph type="body" idx="1"/>
          </p:nvPr>
        </p:nvSpPr>
        <p:spPr>
          <a:xfrm>
            <a:off x="604433" y="1375091"/>
            <a:ext cx="10983131" cy="5221153"/>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Multiplayer games come in at least four basic flavors:</a:t>
            </a:r>
            <a:endParaRPr/>
          </a:p>
          <a:p>
            <a:pPr marL="409576" lvl="1" indent="-7938" algn="l" rtl="0">
              <a:lnSpc>
                <a:spcPct val="90000"/>
              </a:lnSpc>
              <a:spcBef>
                <a:spcPts val="1800"/>
              </a:spcBef>
              <a:spcAft>
                <a:spcPts val="0"/>
              </a:spcAft>
              <a:buClr>
                <a:schemeClr val="dk1"/>
              </a:buClr>
              <a:buSzPts val="1200"/>
              <a:buChar char=" "/>
            </a:pPr>
            <a:r>
              <a:rPr lang="en-US"/>
              <a:t>Single screen – multiple players on the same screen (</a:t>
            </a:r>
            <a:r>
              <a:rPr lang="en-US" i="1"/>
              <a:t>Smash Brothers</a:t>
            </a:r>
            <a:r>
              <a:rPr lang="en-US"/>
              <a:t>, </a:t>
            </a:r>
            <a:r>
              <a:rPr lang="en-US" i="1"/>
              <a:t>Lego, Star Wars </a:t>
            </a:r>
            <a:r>
              <a:rPr lang="en-US"/>
              <a:t>and </a:t>
            </a:r>
            <a:r>
              <a:rPr lang="en-US" i="1"/>
              <a:t>Gauntlet</a:t>
            </a:r>
            <a:r>
              <a:rPr lang="en-US"/>
              <a:t>)</a:t>
            </a:r>
            <a:endParaRPr/>
          </a:p>
          <a:p>
            <a:pPr marL="409576" lvl="1" indent="-7938" algn="l" rtl="0">
              <a:lnSpc>
                <a:spcPct val="90000"/>
              </a:lnSpc>
              <a:spcBef>
                <a:spcPts val="1800"/>
              </a:spcBef>
              <a:spcAft>
                <a:spcPts val="0"/>
              </a:spcAft>
              <a:buClr>
                <a:schemeClr val="dk1"/>
              </a:buClr>
              <a:buSzPts val="1200"/>
              <a:buChar char=" "/>
            </a:pPr>
            <a:r>
              <a:rPr lang="en-US"/>
              <a:t>Split-screen multiplayer – multiple perspectives on the same screen (multiple HIDs attached to a single game machine)</a:t>
            </a:r>
            <a:endParaRPr/>
          </a:p>
          <a:p>
            <a:pPr marL="409576" lvl="1" indent="-7938" algn="l" rtl="0">
              <a:lnSpc>
                <a:spcPct val="90000"/>
              </a:lnSpc>
              <a:spcBef>
                <a:spcPts val="1800"/>
              </a:spcBef>
              <a:spcAft>
                <a:spcPts val="0"/>
              </a:spcAft>
              <a:buClr>
                <a:schemeClr val="dk1"/>
              </a:buClr>
              <a:buSzPts val="1200"/>
              <a:buChar char=" "/>
            </a:pPr>
            <a:r>
              <a:rPr lang="en-US"/>
              <a:t>Networked multiplayer – multiple computers networked together</a:t>
            </a:r>
            <a:endParaRPr/>
          </a:p>
          <a:p>
            <a:pPr marL="409576" lvl="1" indent="-7938" algn="l" rtl="0">
              <a:lnSpc>
                <a:spcPct val="90000"/>
              </a:lnSpc>
              <a:spcBef>
                <a:spcPts val="1800"/>
              </a:spcBef>
              <a:spcAft>
                <a:spcPts val="0"/>
              </a:spcAft>
              <a:buClr>
                <a:schemeClr val="dk1"/>
              </a:buClr>
              <a:buSzPts val="1200"/>
              <a:buChar char=" "/>
            </a:pPr>
            <a:r>
              <a:rPr lang="en-US"/>
              <a:t>Massive multiplayer online games (MMOG) – hundreds of thousands of users can be playing simultaneously within a </a:t>
            </a:r>
            <a:endParaRPr/>
          </a:p>
          <a:p>
            <a:pPr marL="409576" lvl="1" indent="-7938" algn="l" rtl="0">
              <a:lnSpc>
                <a:spcPct val="90000"/>
              </a:lnSpc>
              <a:spcBef>
                <a:spcPts val="1800"/>
              </a:spcBef>
              <a:spcAft>
                <a:spcPts val="0"/>
              </a:spcAft>
              <a:buClr>
                <a:schemeClr val="dk1"/>
              </a:buClr>
              <a:buSzPts val="1200"/>
              <a:buChar char=" "/>
            </a:pPr>
            <a:r>
              <a:rPr lang="en-US"/>
              <a:t>giant, persistent, online virtual world hosted by a powerful battery of central servers.</a:t>
            </a:r>
            <a:endParaRPr/>
          </a:p>
          <a:p>
            <a:pPr marL="0" lvl="0" indent="-19050" algn="l" rtl="0">
              <a:lnSpc>
                <a:spcPct val="90000"/>
              </a:lnSpc>
              <a:spcBef>
                <a:spcPts val="2200"/>
              </a:spcBef>
              <a:spcAft>
                <a:spcPts val="0"/>
              </a:spcAft>
              <a:buClr>
                <a:schemeClr val="dk1"/>
              </a:buClr>
              <a:buSzPts val="300"/>
              <a:buFont typeface="Quattrocento Sans"/>
              <a:buChar char=" "/>
            </a:pPr>
            <a:r>
              <a:rPr lang="en-US"/>
              <a:t>Multiplayer games are quite similar in many ways to their single-player counterparts.</a:t>
            </a:r>
            <a:endParaRPr/>
          </a:p>
          <a:p>
            <a:pPr marL="0" lvl="0" indent="-19050" algn="l" rtl="0">
              <a:lnSpc>
                <a:spcPct val="90000"/>
              </a:lnSpc>
              <a:spcBef>
                <a:spcPts val="2200"/>
              </a:spcBef>
              <a:spcAft>
                <a:spcPts val="0"/>
              </a:spcAft>
              <a:buClr>
                <a:schemeClr val="dk1"/>
              </a:buClr>
              <a:buSzPts val="300"/>
              <a:buFont typeface="Quattrocento Sans"/>
              <a:buChar char=" "/>
            </a:pPr>
            <a:r>
              <a:rPr lang="en-US"/>
              <a:t>Difficult to convert single to multiplayer, easy to do the opposite.</a:t>
            </a:r>
            <a:endParaRPr/>
          </a:p>
          <a:p>
            <a:pPr marL="0" lvl="0" indent="-19050" algn="l" rtl="0">
              <a:lnSpc>
                <a:spcPct val="90000"/>
              </a:lnSpc>
              <a:spcBef>
                <a:spcPts val="2200"/>
              </a:spcBef>
              <a:spcAft>
                <a:spcPts val="0"/>
              </a:spcAft>
              <a:buClr>
                <a:schemeClr val="dk1"/>
              </a:buClr>
              <a:buSzPts val="300"/>
              <a:buFont typeface="Quattrocento Sans"/>
              <a:buChar char=" "/>
            </a:pPr>
            <a:r>
              <a:rPr lang="en-US"/>
              <a:t>Many game engines treat single-player mode as a special case of a multiplayer game.</a:t>
            </a:r>
            <a:endParaRPr/>
          </a:p>
          <a:p>
            <a:pPr marL="0" lvl="0" indent="-19050" algn="l" rtl="0">
              <a:lnSpc>
                <a:spcPct val="90000"/>
              </a:lnSpc>
              <a:spcBef>
                <a:spcPts val="2200"/>
              </a:spcBef>
              <a:spcAft>
                <a:spcPts val="0"/>
              </a:spcAft>
              <a:buClr>
                <a:schemeClr val="dk1"/>
              </a:buClr>
              <a:buSzPts val="300"/>
              <a:buFont typeface="Quattrocento Sans"/>
              <a:buChar char=" "/>
            </a:pPr>
            <a:r>
              <a:rPr lang="en-US"/>
              <a:t>The Quake engine is well known for its </a:t>
            </a:r>
            <a:r>
              <a:rPr lang="en-US" i="1"/>
              <a:t>client-on-top-of-server </a:t>
            </a:r>
            <a:r>
              <a:rPr lang="en-US"/>
              <a:t>mode, in which a single executable, running on a single PC, acts both as the client and the server in single-player campaigns.</a:t>
            </a:r>
            <a:endParaRPr/>
          </a:p>
        </p:txBody>
      </p:sp>
      <p:pic>
        <p:nvPicPr>
          <p:cNvPr id="593" name="Google Shape;593;p46"/>
          <p:cNvPicPr preferRelativeResize="0"/>
          <p:nvPr/>
        </p:nvPicPr>
        <p:blipFill rotWithShape="1">
          <a:blip r:embed="rId3">
            <a:alphaModFix/>
          </a:blip>
          <a:srcRect/>
          <a:stretch/>
        </p:blipFill>
        <p:spPr>
          <a:xfrm>
            <a:off x="9227805" y="1375091"/>
            <a:ext cx="2359761" cy="3282463"/>
          </a:xfrm>
          <a:prstGeom prst="rect">
            <a:avLst/>
          </a:prstGeom>
          <a:noFill/>
          <a:ln>
            <a:noFill/>
          </a:ln>
        </p:spPr>
      </p:pic>
      <p:sp>
        <p:nvSpPr>
          <p:cNvPr id="594" name="Google Shape;594;p46"/>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46</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47"/>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Gameplay foundation system</a:t>
            </a:r>
            <a:endParaRPr/>
          </a:p>
        </p:txBody>
      </p:sp>
      <p:sp>
        <p:nvSpPr>
          <p:cNvPr id="600" name="Google Shape;600;p47"/>
          <p:cNvSpPr txBox="1">
            <a:spLocks noGrp="1"/>
          </p:cNvSpPr>
          <p:nvPr>
            <p:ph type="body" idx="1"/>
          </p:nvPr>
        </p:nvSpPr>
        <p:spPr>
          <a:xfrm>
            <a:off x="604434" y="1351345"/>
            <a:ext cx="10983132" cy="5252012"/>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The term </a:t>
            </a:r>
            <a:r>
              <a:rPr lang="en-US" i="1"/>
              <a:t>gameplay </a:t>
            </a:r>
            <a:r>
              <a:rPr lang="en-US"/>
              <a:t>refers to the action that takes place in the game, </a:t>
            </a:r>
            <a:endParaRPr/>
          </a:p>
          <a:p>
            <a:pPr marL="0" lvl="0" indent="-19050" algn="l" rtl="0">
              <a:lnSpc>
                <a:spcPct val="90000"/>
              </a:lnSpc>
              <a:spcBef>
                <a:spcPts val="2200"/>
              </a:spcBef>
              <a:spcAft>
                <a:spcPts val="0"/>
              </a:spcAft>
              <a:buClr>
                <a:schemeClr val="dk1"/>
              </a:buClr>
              <a:buSzPts val="300"/>
              <a:buFont typeface="Quattrocento Sans"/>
              <a:buChar char=" "/>
            </a:pPr>
            <a:r>
              <a:rPr lang="en-US"/>
              <a:t>the rules that govern the virtual world in which the game takes place,</a:t>
            </a:r>
            <a:endParaRPr/>
          </a:p>
          <a:p>
            <a:pPr marL="0" lvl="0" indent="-19050" algn="l" rtl="0">
              <a:lnSpc>
                <a:spcPct val="90000"/>
              </a:lnSpc>
              <a:spcBef>
                <a:spcPts val="2200"/>
              </a:spcBef>
              <a:spcAft>
                <a:spcPts val="0"/>
              </a:spcAft>
              <a:buClr>
                <a:schemeClr val="dk1"/>
              </a:buClr>
              <a:buSzPts val="300"/>
              <a:buFont typeface="Quattrocento Sans"/>
              <a:buChar char=" "/>
            </a:pPr>
            <a:r>
              <a:rPr lang="en-US"/>
              <a:t>the abilities of the player character(s) (known as </a:t>
            </a:r>
            <a:r>
              <a:rPr lang="en-US" i="1"/>
              <a:t>player mechanics</a:t>
            </a:r>
            <a:r>
              <a:rPr lang="en-US"/>
              <a:t>) </a:t>
            </a:r>
            <a:endParaRPr/>
          </a:p>
          <a:p>
            <a:pPr marL="0" lvl="0" indent="-19050" algn="l" rtl="0">
              <a:lnSpc>
                <a:spcPct val="90000"/>
              </a:lnSpc>
              <a:spcBef>
                <a:spcPts val="2200"/>
              </a:spcBef>
              <a:spcAft>
                <a:spcPts val="0"/>
              </a:spcAft>
              <a:buClr>
                <a:schemeClr val="dk1"/>
              </a:buClr>
              <a:buSzPts val="300"/>
              <a:buFont typeface="Quattrocento Sans"/>
              <a:buChar char=" "/>
            </a:pPr>
            <a:r>
              <a:rPr lang="en-US"/>
              <a:t>and of the other characters and objects in the world, </a:t>
            </a:r>
            <a:endParaRPr/>
          </a:p>
          <a:p>
            <a:pPr marL="0" lvl="0" indent="-19050" algn="l" rtl="0">
              <a:lnSpc>
                <a:spcPct val="90000"/>
              </a:lnSpc>
              <a:spcBef>
                <a:spcPts val="2200"/>
              </a:spcBef>
              <a:spcAft>
                <a:spcPts val="0"/>
              </a:spcAft>
              <a:buClr>
                <a:schemeClr val="dk1"/>
              </a:buClr>
              <a:buSzPts val="300"/>
              <a:buFont typeface="Quattrocento Sans"/>
              <a:buChar char=" "/>
            </a:pPr>
            <a:r>
              <a:rPr lang="en-US"/>
              <a:t>and the goals and objectives of the player(s).</a:t>
            </a:r>
            <a:endParaRPr/>
          </a:p>
          <a:p>
            <a:pPr marL="0" lvl="0" indent="-19050" algn="l" rtl="0">
              <a:lnSpc>
                <a:spcPct val="90000"/>
              </a:lnSpc>
              <a:spcBef>
                <a:spcPts val="2200"/>
              </a:spcBef>
              <a:spcAft>
                <a:spcPts val="0"/>
              </a:spcAft>
              <a:buClr>
                <a:schemeClr val="dk1"/>
              </a:buClr>
              <a:buSzPts val="300"/>
              <a:buFont typeface="Quattrocento Sans"/>
              <a:buChar char=" "/>
            </a:pPr>
            <a:r>
              <a:rPr lang="en-US"/>
              <a:t>Gameplay is typically implemented either in the native language in which the rest of the engine is written or in a high-level scripting language—or sometimes both.</a:t>
            </a:r>
            <a:endParaRPr/>
          </a:p>
          <a:p>
            <a:pPr marL="0" lvl="0" indent="-19050" algn="l" rtl="0">
              <a:lnSpc>
                <a:spcPct val="90000"/>
              </a:lnSpc>
              <a:spcBef>
                <a:spcPts val="2200"/>
              </a:spcBef>
              <a:spcAft>
                <a:spcPts val="0"/>
              </a:spcAft>
              <a:buClr>
                <a:schemeClr val="dk1"/>
              </a:buClr>
              <a:buSzPts val="300"/>
              <a:buFont typeface="Quattrocento Sans"/>
              <a:buChar char=" "/>
            </a:pPr>
            <a:r>
              <a:rPr lang="en-US"/>
              <a:t>To bridge the gap between the gameplay code and the low-level engine systems that we’ve discussed thus far, most game engines introduce a layer that I’ll call the </a:t>
            </a:r>
            <a:r>
              <a:rPr lang="en-US" i="1"/>
              <a:t>gameplay foundations </a:t>
            </a:r>
            <a:r>
              <a:rPr lang="en-US"/>
              <a:t>layer.</a:t>
            </a:r>
            <a:endParaRPr/>
          </a:p>
          <a:p>
            <a:pPr marL="0" lvl="0" indent="-19050" algn="l" rtl="0">
              <a:lnSpc>
                <a:spcPct val="90000"/>
              </a:lnSpc>
              <a:spcBef>
                <a:spcPts val="2200"/>
              </a:spcBef>
              <a:spcAft>
                <a:spcPts val="0"/>
              </a:spcAft>
              <a:buClr>
                <a:schemeClr val="dk1"/>
              </a:buClr>
              <a:buSzPts val="300"/>
              <a:buFont typeface="Quattrocento Sans"/>
              <a:buChar char=" "/>
            </a:pPr>
            <a:r>
              <a:rPr lang="en-US"/>
              <a:t>Gameplay foundations layer introduces a game world (both static and dynamic elements)</a:t>
            </a:r>
            <a:endParaRPr/>
          </a:p>
          <a:p>
            <a:pPr marL="0" lvl="0" indent="-19050" algn="l" rtl="0">
              <a:lnSpc>
                <a:spcPct val="90000"/>
              </a:lnSpc>
              <a:spcBef>
                <a:spcPts val="2200"/>
              </a:spcBef>
              <a:spcAft>
                <a:spcPts val="0"/>
              </a:spcAft>
              <a:buClr>
                <a:schemeClr val="dk1"/>
              </a:buClr>
              <a:buSzPts val="300"/>
              <a:buFont typeface="Quattrocento Sans"/>
              <a:buChar char=" "/>
            </a:pPr>
            <a:r>
              <a:rPr lang="en-US"/>
              <a:t>Game World are modelled in an object-oriented matter.</a:t>
            </a:r>
            <a:endParaRPr/>
          </a:p>
          <a:p>
            <a:pPr marL="0" lvl="0" indent="-19050" algn="l" rtl="0">
              <a:lnSpc>
                <a:spcPct val="90000"/>
              </a:lnSpc>
              <a:spcBef>
                <a:spcPts val="2200"/>
              </a:spcBef>
              <a:spcAft>
                <a:spcPts val="0"/>
              </a:spcAft>
              <a:buClr>
                <a:schemeClr val="dk1"/>
              </a:buClr>
              <a:buSzPts val="300"/>
              <a:buFont typeface="Quattrocento Sans"/>
              <a:buChar char=" "/>
            </a:pPr>
            <a:r>
              <a:rPr lang="en-US"/>
              <a:t>The collection of object types that make up a game is called the </a:t>
            </a:r>
            <a:r>
              <a:rPr lang="en-US" i="1"/>
              <a:t>game object model</a:t>
            </a:r>
            <a:endParaRPr/>
          </a:p>
        </p:txBody>
      </p:sp>
      <p:pic>
        <p:nvPicPr>
          <p:cNvPr id="601" name="Google Shape;601;p47"/>
          <p:cNvPicPr preferRelativeResize="0"/>
          <p:nvPr/>
        </p:nvPicPr>
        <p:blipFill rotWithShape="1">
          <a:blip r:embed="rId3">
            <a:alphaModFix/>
          </a:blip>
          <a:srcRect/>
          <a:stretch/>
        </p:blipFill>
        <p:spPr>
          <a:xfrm>
            <a:off x="5975959" y="1351345"/>
            <a:ext cx="5611607" cy="1734793"/>
          </a:xfrm>
          <a:prstGeom prst="rect">
            <a:avLst/>
          </a:prstGeom>
          <a:noFill/>
          <a:ln>
            <a:noFill/>
          </a:ln>
        </p:spPr>
      </p:pic>
      <p:sp>
        <p:nvSpPr>
          <p:cNvPr id="602" name="Google Shape;602;p47"/>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47</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Game Object Model</a:t>
            </a:r>
            <a:endParaRPr/>
          </a:p>
        </p:txBody>
      </p:sp>
      <p:grpSp>
        <p:nvGrpSpPr>
          <p:cNvPr id="609" name="Google Shape;609;p48"/>
          <p:cNvGrpSpPr/>
          <p:nvPr/>
        </p:nvGrpSpPr>
        <p:grpSpPr>
          <a:xfrm>
            <a:off x="604433" y="1606272"/>
            <a:ext cx="10983131" cy="4568628"/>
            <a:chOff x="0" y="2061"/>
            <a:chExt cx="10983131" cy="4568628"/>
          </a:xfrm>
        </p:grpSpPr>
        <p:sp>
          <p:nvSpPr>
            <p:cNvPr id="610" name="Google Shape;610;p48"/>
            <p:cNvSpPr/>
            <p:nvPr/>
          </p:nvSpPr>
          <p:spPr>
            <a:xfrm>
              <a:off x="0" y="2759898"/>
              <a:ext cx="10983131" cy="181079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8"/>
            <p:cNvSpPr txBox="1"/>
            <p:nvPr/>
          </p:nvSpPr>
          <p:spPr>
            <a:xfrm>
              <a:off x="0" y="2759898"/>
              <a:ext cx="10983131" cy="1810791"/>
            </a:xfrm>
            <a:prstGeom prst="rect">
              <a:avLst/>
            </a:prstGeom>
            <a:noFill/>
            <a:ln>
              <a:noFill/>
            </a:ln>
          </p:spPr>
          <p:txBody>
            <a:bodyPr spcFirstLastPara="1" wrap="square" lIns="149350" tIns="149350" rIns="149350" bIns="149350" anchor="ctr" anchorCtr="0">
              <a:noAutofit/>
            </a:bodyPr>
            <a:lstStyle/>
            <a:p>
              <a:pPr marL="0" marR="0" lvl="0" indent="0" algn="ctr" rtl="0">
                <a:lnSpc>
                  <a:spcPct val="90000"/>
                </a:lnSpc>
                <a:spcBef>
                  <a:spcPts val="0"/>
                </a:spcBef>
                <a:spcAft>
                  <a:spcPts val="0"/>
                </a:spcAft>
                <a:buClr>
                  <a:schemeClr val="lt1"/>
                </a:buClr>
                <a:buSzPts val="2100"/>
                <a:buFont typeface="Quattrocento Sans"/>
                <a:buNone/>
              </a:pPr>
              <a:r>
                <a:rPr lang="en-US" sz="2100" b="0" i="0" u="none" strike="noStrike" cap="none">
                  <a:solidFill>
                    <a:schemeClr val="lt1"/>
                  </a:solidFill>
                  <a:latin typeface="Quattrocento Sans"/>
                  <a:ea typeface="Quattrocento Sans"/>
                  <a:cs typeface="Quattrocento Sans"/>
                  <a:sym typeface="Quattrocento Sans"/>
                </a:rPr>
                <a:t>The game world model is intimately tied to a </a:t>
              </a:r>
              <a:r>
                <a:rPr lang="en-US" sz="2100" b="0" i="1" u="none" strike="noStrike" cap="none">
                  <a:solidFill>
                    <a:schemeClr val="lt1"/>
                  </a:solidFill>
                  <a:latin typeface="Quattrocento Sans"/>
                  <a:ea typeface="Quattrocento Sans"/>
                  <a:cs typeface="Quattrocento Sans"/>
                  <a:sym typeface="Quattrocento Sans"/>
                </a:rPr>
                <a:t>software object model</a:t>
              </a:r>
              <a:endParaRPr sz="2100" b="0" i="0" u="none" strike="noStrike" cap="none">
                <a:solidFill>
                  <a:schemeClr val="lt1"/>
                </a:solidFill>
                <a:latin typeface="Quattrocento Sans"/>
                <a:ea typeface="Quattrocento Sans"/>
                <a:cs typeface="Quattrocento Sans"/>
                <a:sym typeface="Quattrocento Sans"/>
              </a:endParaRPr>
            </a:p>
          </p:txBody>
        </p:sp>
        <p:sp>
          <p:nvSpPr>
            <p:cNvPr id="612" name="Google Shape;612;p48"/>
            <p:cNvSpPr/>
            <p:nvPr/>
          </p:nvSpPr>
          <p:spPr>
            <a:xfrm rot="10800000">
              <a:off x="0" y="2061"/>
              <a:ext cx="10983131" cy="2784997"/>
            </a:xfrm>
            <a:prstGeom prst="upArrowCallout">
              <a:avLst>
                <a:gd name="adj1" fmla="val 25000"/>
                <a:gd name="adj2" fmla="val 25000"/>
                <a:gd name="adj3" fmla="val 25000"/>
                <a:gd name="adj4" fmla="val 64977"/>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8"/>
            <p:cNvSpPr txBox="1"/>
            <p:nvPr/>
          </p:nvSpPr>
          <p:spPr>
            <a:xfrm>
              <a:off x="0" y="2061"/>
              <a:ext cx="10983131" cy="977534"/>
            </a:xfrm>
            <a:prstGeom prst="rect">
              <a:avLst/>
            </a:prstGeom>
            <a:noFill/>
            <a:ln>
              <a:noFill/>
            </a:ln>
          </p:spPr>
          <p:txBody>
            <a:bodyPr spcFirstLastPara="1" wrap="square" lIns="149350" tIns="149350" rIns="149350" bIns="149350" anchor="ctr" anchorCtr="0">
              <a:noAutofit/>
            </a:bodyPr>
            <a:lstStyle/>
            <a:p>
              <a:pPr marL="0" marR="0" lvl="0" indent="0" algn="ctr" rtl="0">
                <a:lnSpc>
                  <a:spcPct val="90000"/>
                </a:lnSpc>
                <a:spcBef>
                  <a:spcPts val="0"/>
                </a:spcBef>
                <a:spcAft>
                  <a:spcPts val="0"/>
                </a:spcAft>
                <a:buClr>
                  <a:schemeClr val="lt1"/>
                </a:buClr>
                <a:buSzPts val="2100"/>
                <a:buFont typeface="Quattrocento Sans"/>
                <a:buNone/>
              </a:pPr>
              <a:r>
                <a:rPr lang="en-US" sz="2100" b="0" i="0" u="none" strike="noStrike" cap="none">
                  <a:solidFill>
                    <a:schemeClr val="lt1"/>
                  </a:solidFill>
                  <a:latin typeface="Quattrocento Sans"/>
                  <a:ea typeface="Quattrocento Sans"/>
                  <a:cs typeface="Quattrocento Sans"/>
                  <a:sym typeface="Quattrocento Sans"/>
                </a:rPr>
                <a:t>The game object model provides a real-time simulation of a heterogeneous collection of objects in the virtual game world:</a:t>
              </a:r>
              <a:endParaRPr/>
            </a:p>
          </p:txBody>
        </p:sp>
        <p:sp>
          <p:nvSpPr>
            <p:cNvPr id="614" name="Google Shape;614;p48"/>
            <p:cNvSpPr/>
            <p:nvPr/>
          </p:nvSpPr>
          <p:spPr>
            <a:xfrm>
              <a:off x="134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8"/>
            <p:cNvSpPr txBox="1"/>
            <p:nvPr/>
          </p:nvSpPr>
          <p:spPr>
            <a:xfrm>
              <a:off x="134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static background geometry, like buildings, roads, terrain (often a special case), etc.;</a:t>
              </a:r>
              <a:endParaRPr sz="800" b="0" i="0" u="none" strike="noStrike" cap="none">
                <a:solidFill>
                  <a:schemeClr val="dk1"/>
                </a:solidFill>
                <a:latin typeface="Quattrocento Sans"/>
                <a:ea typeface="Quattrocento Sans"/>
                <a:cs typeface="Quattrocento Sans"/>
                <a:sym typeface="Quattrocento Sans"/>
              </a:endParaRPr>
            </a:p>
          </p:txBody>
        </p:sp>
        <p:sp>
          <p:nvSpPr>
            <p:cNvPr id="616" name="Google Shape;616;p48"/>
            <p:cNvSpPr/>
            <p:nvPr/>
          </p:nvSpPr>
          <p:spPr>
            <a:xfrm>
              <a:off x="122139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8"/>
            <p:cNvSpPr txBox="1"/>
            <p:nvPr/>
          </p:nvSpPr>
          <p:spPr>
            <a:xfrm>
              <a:off x="122139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dynamic rigid bodies, such as rocks, soda cans, chairs, etc.;</a:t>
              </a:r>
              <a:endParaRPr/>
            </a:p>
          </p:txBody>
        </p:sp>
        <p:sp>
          <p:nvSpPr>
            <p:cNvPr id="618" name="Google Shape;618;p48"/>
            <p:cNvSpPr/>
            <p:nvPr/>
          </p:nvSpPr>
          <p:spPr>
            <a:xfrm>
              <a:off x="244144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8"/>
            <p:cNvSpPr txBox="1"/>
            <p:nvPr/>
          </p:nvSpPr>
          <p:spPr>
            <a:xfrm>
              <a:off x="244144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player characters (PC);</a:t>
              </a:r>
              <a:endParaRPr sz="800" b="0" i="0" u="none" strike="noStrike" cap="none">
                <a:solidFill>
                  <a:schemeClr val="dk1"/>
                </a:solidFill>
                <a:latin typeface="Quattrocento Sans"/>
                <a:ea typeface="Quattrocento Sans"/>
                <a:cs typeface="Quattrocento Sans"/>
                <a:sym typeface="Quattrocento Sans"/>
              </a:endParaRPr>
            </a:p>
          </p:txBody>
        </p:sp>
        <p:sp>
          <p:nvSpPr>
            <p:cNvPr id="620" name="Google Shape;620;p48"/>
            <p:cNvSpPr/>
            <p:nvPr/>
          </p:nvSpPr>
          <p:spPr>
            <a:xfrm>
              <a:off x="366149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8"/>
            <p:cNvSpPr txBox="1"/>
            <p:nvPr/>
          </p:nvSpPr>
          <p:spPr>
            <a:xfrm>
              <a:off x="366149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non-player characters (NPC);</a:t>
              </a:r>
              <a:endParaRPr sz="800" b="0" i="0" u="none" strike="noStrike" cap="none">
                <a:solidFill>
                  <a:schemeClr val="dk1"/>
                </a:solidFill>
                <a:latin typeface="Quattrocento Sans"/>
                <a:ea typeface="Quattrocento Sans"/>
                <a:cs typeface="Quattrocento Sans"/>
                <a:sym typeface="Quattrocento Sans"/>
              </a:endParaRPr>
            </a:p>
          </p:txBody>
        </p:sp>
        <p:sp>
          <p:nvSpPr>
            <p:cNvPr id="622" name="Google Shape;622;p48"/>
            <p:cNvSpPr/>
            <p:nvPr/>
          </p:nvSpPr>
          <p:spPr>
            <a:xfrm>
              <a:off x="488154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8"/>
            <p:cNvSpPr txBox="1"/>
            <p:nvPr/>
          </p:nvSpPr>
          <p:spPr>
            <a:xfrm>
              <a:off x="488154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weapons;</a:t>
              </a:r>
              <a:endParaRPr sz="800" b="0" i="0" u="none" strike="noStrike" cap="none">
                <a:solidFill>
                  <a:schemeClr val="dk1"/>
                </a:solidFill>
                <a:latin typeface="Quattrocento Sans"/>
                <a:ea typeface="Quattrocento Sans"/>
                <a:cs typeface="Quattrocento Sans"/>
                <a:sym typeface="Quattrocento Sans"/>
              </a:endParaRPr>
            </a:p>
          </p:txBody>
        </p:sp>
        <p:sp>
          <p:nvSpPr>
            <p:cNvPr id="624" name="Google Shape;624;p48"/>
            <p:cNvSpPr/>
            <p:nvPr/>
          </p:nvSpPr>
          <p:spPr>
            <a:xfrm>
              <a:off x="610159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8"/>
            <p:cNvSpPr txBox="1"/>
            <p:nvPr/>
          </p:nvSpPr>
          <p:spPr>
            <a:xfrm>
              <a:off x="610159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projectiles;</a:t>
              </a:r>
              <a:endParaRPr sz="800" b="0" i="0" u="none" strike="noStrike" cap="none">
                <a:solidFill>
                  <a:schemeClr val="dk1"/>
                </a:solidFill>
                <a:latin typeface="Quattrocento Sans"/>
                <a:ea typeface="Quattrocento Sans"/>
                <a:cs typeface="Quattrocento Sans"/>
                <a:sym typeface="Quattrocento Sans"/>
              </a:endParaRPr>
            </a:p>
          </p:txBody>
        </p:sp>
        <p:sp>
          <p:nvSpPr>
            <p:cNvPr id="626" name="Google Shape;626;p48"/>
            <p:cNvSpPr/>
            <p:nvPr/>
          </p:nvSpPr>
          <p:spPr>
            <a:xfrm>
              <a:off x="732164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8"/>
            <p:cNvSpPr txBox="1"/>
            <p:nvPr/>
          </p:nvSpPr>
          <p:spPr>
            <a:xfrm>
              <a:off x="732164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vehicles;</a:t>
              </a:r>
              <a:endParaRPr sz="800" b="0" i="0" u="none" strike="noStrike" cap="none">
                <a:solidFill>
                  <a:schemeClr val="dk1"/>
                </a:solidFill>
                <a:latin typeface="Quattrocento Sans"/>
                <a:ea typeface="Quattrocento Sans"/>
                <a:cs typeface="Quattrocento Sans"/>
                <a:sym typeface="Quattrocento Sans"/>
              </a:endParaRPr>
            </a:p>
          </p:txBody>
        </p:sp>
        <p:sp>
          <p:nvSpPr>
            <p:cNvPr id="628" name="Google Shape;628;p48"/>
            <p:cNvSpPr/>
            <p:nvPr/>
          </p:nvSpPr>
          <p:spPr>
            <a:xfrm>
              <a:off x="854169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8"/>
            <p:cNvSpPr txBox="1"/>
            <p:nvPr/>
          </p:nvSpPr>
          <p:spPr>
            <a:xfrm>
              <a:off x="854169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lights (which may be present in the dynamic scene at runtime, or only used for static lighting offline);</a:t>
              </a:r>
              <a:endParaRPr/>
            </a:p>
          </p:txBody>
        </p:sp>
        <p:sp>
          <p:nvSpPr>
            <p:cNvPr id="630" name="Google Shape;630;p48"/>
            <p:cNvSpPr/>
            <p:nvPr/>
          </p:nvSpPr>
          <p:spPr>
            <a:xfrm>
              <a:off x="9761740" y="979596"/>
              <a:ext cx="1220049" cy="832714"/>
            </a:xfrm>
            <a:prstGeom prst="rect">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8"/>
            <p:cNvSpPr txBox="1"/>
            <p:nvPr/>
          </p:nvSpPr>
          <p:spPr>
            <a:xfrm>
              <a:off x="9761740" y="979596"/>
              <a:ext cx="1220049" cy="832714"/>
            </a:xfrm>
            <a:prstGeom prst="rect">
              <a:avLst/>
            </a:prstGeom>
            <a:noFill/>
            <a:ln>
              <a:noFill/>
            </a:ln>
          </p:spPr>
          <p:txBody>
            <a:bodyPr spcFirstLastPara="1" wrap="square" lIns="56875" tIns="10150" rIns="56875" bIns="10150" anchor="ctr" anchorCtr="0">
              <a:noAutofit/>
            </a:bodyPr>
            <a:lstStyle/>
            <a:p>
              <a:pPr marL="0" marR="0" lvl="0" indent="0" algn="ctr" rtl="0">
                <a:lnSpc>
                  <a:spcPct val="90000"/>
                </a:lnSpc>
                <a:spcBef>
                  <a:spcPts val="0"/>
                </a:spcBef>
                <a:spcAft>
                  <a:spcPts val="0"/>
                </a:spcAft>
                <a:buClr>
                  <a:schemeClr val="dk1"/>
                </a:buClr>
                <a:buSzPts val="800"/>
                <a:buFont typeface="Quattrocento Sans"/>
                <a:buNone/>
              </a:pPr>
              <a:r>
                <a:rPr lang="en-US" sz="800" b="0" i="0" u="none" strike="noStrike" cap="none">
                  <a:solidFill>
                    <a:schemeClr val="dk1"/>
                  </a:solidFill>
                  <a:latin typeface="Quattrocento Sans"/>
                  <a:ea typeface="Quattrocento Sans"/>
                  <a:cs typeface="Quattrocento Sans"/>
                  <a:sym typeface="Quattrocento Sans"/>
                </a:rPr>
                <a:t>• cameras;</a:t>
              </a:r>
              <a:endParaRPr sz="800" b="0" i="0" u="none" strike="noStrike" cap="none">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4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Event system</a:t>
            </a:r>
            <a:endParaRPr/>
          </a:p>
        </p:txBody>
      </p:sp>
      <p:grpSp>
        <p:nvGrpSpPr>
          <p:cNvPr id="637" name="Google Shape;637;p49"/>
          <p:cNvGrpSpPr/>
          <p:nvPr/>
        </p:nvGrpSpPr>
        <p:grpSpPr>
          <a:xfrm>
            <a:off x="607668" y="1979542"/>
            <a:ext cx="10976660" cy="3822089"/>
            <a:chOff x="3235" y="375331"/>
            <a:chExt cx="10976660" cy="3822089"/>
          </a:xfrm>
        </p:grpSpPr>
        <p:sp>
          <p:nvSpPr>
            <p:cNvPr id="638" name="Google Shape;638;p49"/>
            <p:cNvSpPr/>
            <p:nvPr/>
          </p:nvSpPr>
          <p:spPr>
            <a:xfrm>
              <a:off x="3235" y="375331"/>
              <a:ext cx="849023" cy="84902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9"/>
            <p:cNvSpPr/>
            <p:nvPr/>
          </p:nvSpPr>
          <p:spPr>
            <a:xfrm>
              <a:off x="3235" y="1388705"/>
              <a:ext cx="2425781" cy="107347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9"/>
            <p:cNvSpPr txBox="1"/>
            <p:nvPr/>
          </p:nvSpPr>
          <p:spPr>
            <a:xfrm>
              <a:off x="3235" y="1388705"/>
              <a:ext cx="2425781" cy="107347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Objects need to communicate with one another.</a:t>
              </a:r>
              <a:endParaRPr/>
            </a:p>
          </p:txBody>
        </p:sp>
        <p:sp>
          <p:nvSpPr>
            <p:cNvPr id="641" name="Google Shape;641;p49"/>
            <p:cNvSpPr/>
            <p:nvPr/>
          </p:nvSpPr>
          <p:spPr>
            <a:xfrm>
              <a:off x="3235" y="2538626"/>
              <a:ext cx="2425781" cy="16587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9"/>
            <p:cNvSpPr/>
            <p:nvPr/>
          </p:nvSpPr>
          <p:spPr>
            <a:xfrm>
              <a:off x="2853528" y="375331"/>
              <a:ext cx="849023" cy="84902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9"/>
            <p:cNvSpPr/>
            <p:nvPr/>
          </p:nvSpPr>
          <p:spPr>
            <a:xfrm>
              <a:off x="2853528" y="1388705"/>
              <a:ext cx="2425781" cy="107347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9"/>
            <p:cNvSpPr txBox="1"/>
            <p:nvPr/>
          </p:nvSpPr>
          <p:spPr>
            <a:xfrm>
              <a:off x="2853528" y="1388705"/>
              <a:ext cx="2425781" cy="107347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For example, the object sending the message might simply call a member function of the receiver object.</a:t>
              </a:r>
              <a:endParaRPr/>
            </a:p>
          </p:txBody>
        </p:sp>
        <p:sp>
          <p:nvSpPr>
            <p:cNvPr id="645" name="Google Shape;645;p49"/>
            <p:cNvSpPr/>
            <p:nvPr/>
          </p:nvSpPr>
          <p:spPr>
            <a:xfrm>
              <a:off x="2853528" y="2538626"/>
              <a:ext cx="2425781" cy="16587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9"/>
            <p:cNvSpPr/>
            <p:nvPr/>
          </p:nvSpPr>
          <p:spPr>
            <a:xfrm>
              <a:off x="5703821" y="375331"/>
              <a:ext cx="849023" cy="84902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9"/>
            <p:cNvSpPr/>
            <p:nvPr/>
          </p:nvSpPr>
          <p:spPr>
            <a:xfrm>
              <a:off x="5703821" y="1388705"/>
              <a:ext cx="2425781" cy="107347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9"/>
            <p:cNvSpPr txBox="1"/>
            <p:nvPr/>
          </p:nvSpPr>
          <p:spPr>
            <a:xfrm>
              <a:off x="5703821" y="1388705"/>
              <a:ext cx="2425781" cy="107347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An event driven architecture is also a common approach to inter-object communication.</a:t>
              </a:r>
              <a:endParaRPr/>
            </a:p>
          </p:txBody>
        </p:sp>
        <p:sp>
          <p:nvSpPr>
            <p:cNvPr id="649" name="Google Shape;649;p49"/>
            <p:cNvSpPr/>
            <p:nvPr/>
          </p:nvSpPr>
          <p:spPr>
            <a:xfrm>
              <a:off x="5703821" y="2538626"/>
              <a:ext cx="2425781" cy="16587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9"/>
            <p:cNvSpPr/>
            <p:nvPr/>
          </p:nvSpPr>
          <p:spPr>
            <a:xfrm>
              <a:off x="8554114" y="375331"/>
              <a:ext cx="849023" cy="84902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9"/>
            <p:cNvSpPr/>
            <p:nvPr/>
          </p:nvSpPr>
          <p:spPr>
            <a:xfrm>
              <a:off x="8554114" y="1388705"/>
              <a:ext cx="2425781" cy="107347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9"/>
            <p:cNvSpPr txBox="1"/>
            <p:nvPr/>
          </p:nvSpPr>
          <p:spPr>
            <a:xfrm>
              <a:off x="8554114" y="1388705"/>
              <a:ext cx="2425781" cy="107347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In an event-driven system: </a:t>
              </a:r>
              <a:endParaRPr/>
            </a:p>
          </p:txBody>
        </p:sp>
        <p:sp>
          <p:nvSpPr>
            <p:cNvPr id="653" name="Google Shape;653;p49"/>
            <p:cNvSpPr/>
            <p:nvPr/>
          </p:nvSpPr>
          <p:spPr>
            <a:xfrm>
              <a:off x="8554114" y="2538626"/>
              <a:ext cx="2425781" cy="16587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9"/>
            <p:cNvSpPr txBox="1"/>
            <p:nvPr/>
          </p:nvSpPr>
          <p:spPr>
            <a:xfrm>
              <a:off x="8554114" y="2538626"/>
              <a:ext cx="2425781" cy="165879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The sender creates a little data structure called an </a:t>
              </a:r>
              <a:r>
                <a:rPr lang="en-US" sz="1100" b="0" i="1" u="none" strike="noStrike" cap="none">
                  <a:solidFill>
                    <a:schemeClr val="dk1"/>
                  </a:solidFill>
                  <a:latin typeface="Quattrocento Sans"/>
                  <a:ea typeface="Quattrocento Sans"/>
                  <a:cs typeface="Quattrocento Sans"/>
                  <a:sym typeface="Quattrocento Sans"/>
                </a:rPr>
                <a:t>event </a:t>
              </a:r>
              <a:r>
                <a:rPr lang="en-US" sz="1100" b="0" i="0" u="none" strike="noStrike" cap="none">
                  <a:solidFill>
                    <a:schemeClr val="dk1"/>
                  </a:solidFill>
                  <a:latin typeface="Quattrocento Sans"/>
                  <a:ea typeface="Quattrocento Sans"/>
                  <a:cs typeface="Quattrocento Sans"/>
                  <a:sym typeface="Quattrocento Sans"/>
                </a:rPr>
                <a:t>or </a:t>
              </a:r>
              <a:r>
                <a:rPr lang="en-US" sz="1100" b="0" i="1" u="none" strike="noStrike" cap="none">
                  <a:solidFill>
                    <a:schemeClr val="dk1"/>
                  </a:solidFill>
                  <a:latin typeface="Quattrocento Sans"/>
                  <a:ea typeface="Quattrocento Sans"/>
                  <a:cs typeface="Quattrocento Sans"/>
                  <a:sym typeface="Quattrocento Sans"/>
                </a:rPr>
                <a:t>message</a:t>
              </a:r>
              <a:r>
                <a:rPr lang="en-US" sz="1100" b="0" i="0" u="none" strike="noStrike" cap="none">
                  <a:solidFill>
                    <a:schemeClr val="dk1"/>
                  </a:solidFill>
                  <a:latin typeface="Quattrocento Sans"/>
                  <a:ea typeface="Quattrocento Sans"/>
                  <a:cs typeface="Quattrocento Sans"/>
                  <a:sym typeface="Quattrocento Sans"/>
                </a:rPr>
                <a:t>, containing the message’s type and any argument data that are to be sent.</a:t>
              </a:r>
              <a:endParaRPr sz="1100" b="0" i="0" u="none" strike="noStrike" cap="none">
                <a:solidFill>
                  <a:schemeClr val="dk1"/>
                </a:solidFill>
                <a:latin typeface="Quattrocento Sans"/>
                <a:ea typeface="Quattrocento Sans"/>
                <a:cs typeface="Quattrocento Sans"/>
                <a:sym typeface="Quattrocento Sans"/>
              </a:endParaRPr>
            </a:p>
            <a:p>
              <a:pPr marL="0" marR="0" lvl="0" indent="0" algn="l" rtl="0">
                <a:lnSpc>
                  <a:spcPct val="90000"/>
                </a:lnSpc>
                <a:spcBef>
                  <a:spcPts val="385"/>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The event is passed to the receiver object by calling its </a:t>
              </a:r>
              <a:r>
                <a:rPr lang="en-US" sz="1100" b="0" i="1" u="none" strike="noStrike" cap="none">
                  <a:solidFill>
                    <a:schemeClr val="dk1"/>
                  </a:solidFill>
                  <a:latin typeface="Quattrocento Sans"/>
                  <a:ea typeface="Quattrocento Sans"/>
                  <a:cs typeface="Quattrocento Sans"/>
                  <a:sym typeface="Quattrocento Sans"/>
                </a:rPr>
                <a:t>event handler function</a:t>
              </a:r>
              <a:r>
                <a:rPr lang="en-US" sz="1100" b="0" i="0" u="none" strike="noStrike" cap="none">
                  <a:solidFill>
                    <a:schemeClr val="dk1"/>
                  </a:solidFill>
                  <a:latin typeface="Quattrocento Sans"/>
                  <a:ea typeface="Quattrocento Sans"/>
                  <a:cs typeface="Quattrocento Sans"/>
                  <a:sym typeface="Quattrocento Sans"/>
                </a:rPr>
                <a:t>.</a:t>
              </a:r>
              <a:endParaRPr sz="1100" b="0" i="0" u="none" strike="noStrike" cap="none">
                <a:solidFill>
                  <a:schemeClr val="dk1"/>
                </a:solidFill>
                <a:latin typeface="Quattrocento Sans"/>
                <a:ea typeface="Quattrocento Sans"/>
                <a:cs typeface="Quattrocento Sans"/>
                <a:sym typeface="Quattrocento Sans"/>
              </a:endParaRPr>
            </a:p>
            <a:p>
              <a:pPr marL="0" marR="0" lvl="0" indent="0" algn="l" rtl="0">
                <a:lnSpc>
                  <a:spcPct val="90000"/>
                </a:lnSpc>
                <a:spcBef>
                  <a:spcPts val="385"/>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Events can also be stored in a queue for handling at some future time.</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50"/>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Scripting system</a:t>
            </a:r>
            <a:endParaRPr/>
          </a:p>
        </p:txBody>
      </p:sp>
      <p:grpSp>
        <p:nvGrpSpPr>
          <p:cNvPr id="660" name="Google Shape;660;p50"/>
          <p:cNvGrpSpPr/>
          <p:nvPr/>
        </p:nvGrpSpPr>
        <p:grpSpPr>
          <a:xfrm>
            <a:off x="604433" y="1607783"/>
            <a:ext cx="10983131" cy="4565607"/>
            <a:chOff x="0" y="3572"/>
            <a:chExt cx="10983131" cy="4565607"/>
          </a:xfrm>
        </p:grpSpPr>
        <p:sp>
          <p:nvSpPr>
            <p:cNvPr id="661" name="Google Shape;661;p50"/>
            <p:cNvSpPr/>
            <p:nvPr/>
          </p:nvSpPr>
          <p:spPr>
            <a:xfrm>
              <a:off x="0" y="3572"/>
              <a:ext cx="10983131" cy="760934"/>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0"/>
            <p:cNvSpPr/>
            <p:nvPr/>
          </p:nvSpPr>
          <p:spPr>
            <a:xfrm>
              <a:off x="230182" y="174782"/>
              <a:ext cx="418513" cy="41851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0"/>
            <p:cNvSpPr/>
            <p:nvPr/>
          </p:nvSpPr>
          <p:spPr>
            <a:xfrm>
              <a:off x="878879" y="3572"/>
              <a:ext cx="10104251" cy="7609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0"/>
            <p:cNvSpPr txBox="1"/>
            <p:nvPr/>
          </p:nvSpPr>
          <p:spPr>
            <a:xfrm>
              <a:off x="878879" y="3572"/>
              <a:ext cx="10104251" cy="760934"/>
            </a:xfrm>
            <a:prstGeom prst="rect">
              <a:avLst/>
            </a:prstGeom>
            <a:noFill/>
            <a:ln>
              <a:noFill/>
            </a:ln>
          </p:spPr>
          <p:txBody>
            <a:bodyPr spcFirstLastPara="1" wrap="square" lIns="80525" tIns="80525" rIns="80525" bIns="80525" anchor="ctr" anchorCtr="0">
              <a:noAutofit/>
            </a:bodyPr>
            <a:lstStyle/>
            <a:p>
              <a:pPr marL="0" marR="0" lvl="0" indent="0" algn="l" rtl="0">
                <a:lnSpc>
                  <a:spcPct val="90000"/>
                </a:lnSpc>
                <a:spcBef>
                  <a:spcPts val="0"/>
                </a:spcBef>
                <a:spcAft>
                  <a:spcPts val="0"/>
                </a:spcAft>
                <a:buClr>
                  <a:schemeClr val="dk1"/>
                </a:buClr>
                <a:buSzPts val="1900"/>
                <a:buFont typeface="Quattrocento Sans"/>
                <a:buNone/>
              </a:pPr>
              <a:r>
                <a:rPr lang="en-US" sz="1900" b="0" i="0" u="none" strike="noStrike" cap="none">
                  <a:solidFill>
                    <a:schemeClr val="dk1"/>
                  </a:solidFill>
                  <a:latin typeface="Quattrocento Sans"/>
                  <a:ea typeface="Quattrocento Sans"/>
                  <a:cs typeface="Quattrocento Sans"/>
                  <a:sym typeface="Quattrocento Sans"/>
                </a:rPr>
                <a:t>Many game engines employ a scripting language in order to make development of game-specific gameplay rules and content easier and more rapid.</a:t>
              </a:r>
              <a:endParaRPr/>
            </a:p>
          </p:txBody>
        </p:sp>
        <p:sp>
          <p:nvSpPr>
            <p:cNvPr id="665" name="Google Shape;665;p50"/>
            <p:cNvSpPr/>
            <p:nvPr/>
          </p:nvSpPr>
          <p:spPr>
            <a:xfrm>
              <a:off x="0" y="954740"/>
              <a:ext cx="10983131" cy="760934"/>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0"/>
            <p:cNvSpPr/>
            <p:nvPr/>
          </p:nvSpPr>
          <p:spPr>
            <a:xfrm>
              <a:off x="230182" y="1125950"/>
              <a:ext cx="418513" cy="41851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0"/>
            <p:cNvSpPr/>
            <p:nvPr/>
          </p:nvSpPr>
          <p:spPr>
            <a:xfrm>
              <a:off x="878879" y="954740"/>
              <a:ext cx="10104251" cy="7609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0"/>
            <p:cNvSpPr txBox="1"/>
            <p:nvPr/>
          </p:nvSpPr>
          <p:spPr>
            <a:xfrm>
              <a:off x="878879" y="954740"/>
              <a:ext cx="10104251" cy="760934"/>
            </a:xfrm>
            <a:prstGeom prst="rect">
              <a:avLst/>
            </a:prstGeom>
            <a:noFill/>
            <a:ln>
              <a:noFill/>
            </a:ln>
          </p:spPr>
          <p:txBody>
            <a:bodyPr spcFirstLastPara="1" wrap="square" lIns="80525" tIns="80525" rIns="80525" bIns="80525" anchor="ctr" anchorCtr="0">
              <a:noAutofit/>
            </a:bodyPr>
            <a:lstStyle/>
            <a:p>
              <a:pPr marL="0" marR="0" lvl="0" indent="0" algn="l" rtl="0">
                <a:lnSpc>
                  <a:spcPct val="90000"/>
                </a:lnSpc>
                <a:spcBef>
                  <a:spcPts val="0"/>
                </a:spcBef>
                <a:spcAft>
                  <a:spcPts val="0"/>
                </a:spcAft>
                <a:buClr>
                  <a:schemeClr val="dk1"/>
                </a:buClr>
                <a:buSzPts val="1900"/>
                <a:buFont typeface="Quattrocento Sans"/>
                <a:buNone/>
              </a:pPr>
              <a:r>
                <a:rPr lang="en-US" sz="1900" b="0" i="0" u="none" strike="noStrike" cap="none">
                  <a:solidFill>
                    <a:schemeClr val="dk1"/>
                  </a:solidFill>
                  <a:latin typeface="Quattrocento Sans"/>
                  <a:ea typeface="Quattrocento Sans"/>
                  <a:cs typeface="Quattrocento Sans"/>
                  <a:sym typeface="Quattrocento Sans"/>
                </a:rPr>
                <a:t>Allows for the creation on new game logic without recompiling</a:t>
              </a:r>
              <a:endParaRPr/>
            </a:p>
          </p:txBody>
        </p:sp>
        <p:sp>
          <p:nvSpPr>
            <p:cNvPr id="669" name="Google Shape;669;p50"/>
            <p:cNvSpPr/>
            <p:nvPr/>
          </p:nvSpPr>
          <p:spPr>
            <a:xfrm>
              <a:off x="0" y="1905908"/>
              <a:ext cx="10983131" cy="760934"/>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0"/>
            <p:cNvSpPr/>
            <p:nvPr/>
          </p:nvSpPr>
          <p:spPr>
            <a:xfrm>
              <a:off x="230182" y="2077119"/>
              <a:ext cx="418513" cy="41851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0"/>
            <p:cNvSpPr/>
            <p:nvPr/>
          </p:nvSpPr>
          <p:spPr>
            <a:xfrm>
              <a:off x="878879" y="1905908"/>
              <a:ext cx="10104251" cy="7609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0"/>
            <p:cNvSpPr txBox="1"/>
            <p:nvPr/>
          </p:nvSpPr>
          <p:spPr>
            <a:xfrm>
              <a:off x="878879" y="1905908"/>
              <a:ext cx="10104251" cy="760934"/>
            </a:xfrm>
            <a:prstGeom prst="rect">
              <a:avLst/>
            </a:prstGeom>
            <a:noFill/>
            <a:ln>
              <a:noFill/>
            </a:ln>
          </p:spPr>
          <p:txBody>
            <a:bodyPr spcFirstLastPara="1" wrap="square" lIns="80525" tIns="80525" rIns="80525" bIns="80525" anchor="ctr" anchorCtr="0">
              <a:noAutofit/>
            </a:bodyPr>
            <a:lstStyle/>
            <a:p>
              <a:pPr marL="0" marR="0" lvl="0" indent="0" algn="l" rtl="0">
                <a:lnSpc>
                  <a:spcPct val="90000"/>
                </a:lnSpc>
                <a:spcBef>
                  <a:spcPts val="0"/>
                </a:spcBef>
                <a:spcAft>
                  <a:spcPts val="0"/>
                </a:spcAft>
                <a:buClr>
                  <a:schemeClr val="dk1"/>
                </a:buClr>
                <a:buSzPts val="1900"/>
                <a:buFont typeface="Quattrocento Sans"/>
                <a:buNone/>
              </a:pPr>
              <a:r>
                <a:rPr lang="en-US" sz="1900" b="0" i="0" u="none" strike="noStrike" cap="none">
                  <a:solidFill>
                    <a:schemeClr val="dk1"/>
                  </a:solidFill>
                  <a:latin typeface="Quattrocento Sans"/>
                  <a:ea typeface="Quattrocento Sans"/>
                  <a:cs typeface="Quattrocento Sans"/>
                  <a:sym typeface="Quattrocento Sans"/>
                </a:rPr>
                <a:t>When a scripting language is integrated into your engine, changes to game logic and data can be made by modifying and reloading the script code.</a:t>
              </a:r>
              <a:endParaRPr sz="1900" b="0" i="0" u="none" strike="noStrike" cap="none">
                <a:solidFill>
                  <a:schemeClr val="dk1"/>
                </a:solidFill>
                <a:latin typeface="Quattrocento Sans"/>
                <a:ea typeface="Quattrocento Sans"/>
                <a:cs typeface="Quattrocento Sans"/>
                <a:sym typeface="Quattrocento Sans"/>
              </a:endParaRPr>
            </a:p>
          </p:txBody>
        </p:sp>
        <p:sp>
          <p:nvSpPr>
            <p:cNvPr id="673" name="Google Shape;673;p50"/>
            <p:cNvSpPr/>
            <p:nvPr/>
          </p:nvSpPr>
          <p:spPr>
            <a:xfrm>
              <a:off x="0" y="2857076"/>
              <a:ext cx="10983131" cy="760934"/>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0"/>
            <p:cNvSpPr/>
            <p:nvPr/>
          </p:nvSpPr>
          <p:spPr>
            <a:xfrm>
              <a:off x="230182" y="3028287"/>
              <a:ext cx="418513" cy="41851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0"/>
            <p:cNvSpPr/>
            <p:nvPr/>
          </p:nvSpPr>
          <p:spPr>
            <a:xfrm>
              <a:off x="878879" y="2857076"/>
              <a:ext cx="10104251" cy="7609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0"/>
            <p:cNvSpPr txBox="1"/>
            <p:nvPr/>
          </p:nvSpPr>
          <p:spPr>
            <a:xfrm>
              <a:off x="878879" y="2857076"/>
              <a:ext cx="10104251" cy="760934"/>
            </a:xfrm>
            <a:prstGeom prst="rect">
              <a:avLst/>
            </a:prstGeom>
            <a:noFill/>
            <a:ln>
              <a:noFill/>
            </a:ln>
          </p:spPr>
          <p:txBody>
            <a:bodyPr spcFirstLastPara="1" wrap="square" lIns="80525" tIns="80525" rIns="80525" bIns="80525" anchor="ctr" anchorCtr="0">
              <a:noAutofit/>
            </a:bodyPr>
            <a:lstStyle/>
            <a:p>
              <a:pPr marL="0" marR="0" lvl="0" indent="0" algn="l" rtl="0">
                <a:lnSpc>
                  <a:spcPct val="90000"/>
                </a:lnSpc>
                <a:spcBef>
                  <a:spcPts val="0"/>
                </a:spcBef>
                <a:spcAft>
                  <a:spcPts val="0"/>
                </a:spcAft>
                <a:buClr>
                  <a:schemeClr val="dk1"/>
                </a:buClr>
                <a:buSzPts val="1900"/>
                <a:buFont typeface="Quattrocento Sans"/>
                <a:buNone/>
              </a:pPr>
              <a:r>
                <a:rPr lang="en-US" sz="1900" b="0" i="0" u="none" strike="noStrike" cap="none">
                  <a:solidFill>
                    <a:schemeClr val="dk1"/>
                  </a:solidFill>
                  <a:latin typeface="Quattrocento Sans"/>
                  <a:ea typeface="Quattrocento Sans"/>
                  <a:cs typeface="Quattrocento Sans"/>
                  <a:sym typeface="Quattrocento Sans"/>
                </a:rPr>
                <a:t>Some engines allow script to be reloaded while the game continues to run.</a:t>
              </a:r>
              <a:endParaRPr sz="1900" b="0" i="0" u="none" strike="noStrike" cap="none">
                <a:solidFill>
                  <a:schemeClr val="dk1"/>
                </a:solidFill>
                <a:latin typeface="Quattrocento Sans"/>
                <a:ea typeface="Quattrocento Sans"/>
                <a:cs typeface="Quattrocento Sans"/>
                <a:sym typeface="Quattrocento Sans"/>
              </a:endParaRPr>
            </a:p>
          </p:txBody>
        </p:sp>
        <p:sp>
          <p:nvSpPr>
            <p:cNvPr id="677" name="Google Shape;677;p50"/>
            <p:cNvSpPr/>
            <p:nvPr/>
          </p:nvSpPr>
          <p:spPr>
            <a:xfrm>
              <a:off x="0" y="3808245"/>
              <a:ext cx="10983131" cy="760934"/>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0"/>
            <p:cNvSpPr/>
            <p:nvPr/>
          </p:nvSpPr>
          <p:spPr>
            <a:xfrm>
              <a:off x="230182" y="3979455"/>
              <a:ext cx="418513" cy="418513"/>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0"/>
            <p:cNvSpPr/>
            <p:nvPr/>
          </p:nvSpPr>
          <p:spPr>
            <a:xfrm>
              <a:off x="878879" y="3808245"/>
              <a:ext cx="10104251" cy="76093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0"/>
            <p:cNvSpPr txBox="1"/>
            <p:nvPr/>
          </p:nvSpPr>
          <p:spPr>
            <a:xfrm>
              <a:off x="878879" y="3808245"/>
              <a:ext cx="10104251" cy="760934"/>
            </a:xfrm>
            <a:prstGeom prst="rect">
              <a:avLst/>
            </a:prstGeom>
            <a:noFill/>
            <a:ln>
              <a:noFill/>
            </a:ln>
          </p:spPr>
          <p:txBody>
            <a:bodyPr spcFirstLastPara="1" wrap="square" lIns="80525" tIns="80525" rIns="80525" bIns="80525" anchor="ctr" anchorCtr="0">
              <a:noAutofit/>
            </a:bodyPr>
            <a:lstStyle/>
            <a:p>
              <a:pPr marL="0" marR="0" lvl="0" indent="0" algn="l" rtl="0">
                <a:lnSpc>
                  <a:spcPct val="90000"/>
                </a:lnSpc>
                <a:spcBef>
                  <a:spcPts val="0"/>
                </a:spcBef>
                <a:spcAft>
                  <a:spcPts val="0"/>
                </a:spcAft>
                <a:buClr>
                  <a:schemeClr val="dk1"/>
                </a:buClr>
                <a:buSzPts val="1900"/>
                <a:buFont typeface="Quattrocento Sans"/>
                <a:buNone/>
              </a:pPr>
              <a:r>
                <a:rPr lang="en-US" sz="1900" b="0" i="0" u="none" strike="noStrike" cap="none">
                  <a:solidFill>
                    <a:schemeClr val="dk1"/>
                  </a:solidFill>
                  <a:latin typeface="Quattrocento Sans"/>
                  <a:ea typeface="Quattrocento Sans"/>
                  <a:cs typeface="Quattrocento Sans"/>
                  <a:sym typeface="Quattrocento Sans"/>
                </a:rPr>
                <a:t>Speeds software development considerably.</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1"/>
          <p:cNvSpPr txBox="1">
            <a:spLocks noGrp="1"/>
          </p:cNvSpPr>
          <p:nvPr>
            <p:ph type="title"/>
          </p:nvPr>
        </p:nvSpPr>
        <p:spPr>
          <a:xfrm>
            <a:off x="604434" y="366821"/>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Artificial intelligence foundations</a:t>
            </a:r>
            <a:endParaRPr/>
          </a:p>
        </p:txBody>
      </p:sp>
      <p:grpSp>
        <p:nvGrpSpPr>
          <p:cNvPr id="686" name="Google Shape;686;p51"/>
          <p:cNvGrpSpPr/>
          <p:nvPr/>
        </p:nvGrpSpPr>
        <p:grpSpPr>
          <a:xfrm>
            <a:off x="787407" y="1681914"/>
            <a:ext cx="7125986" cy="4654545"/>
            <a:chOff x="8959" y="215358"/>
            <a:chExt cx="7125986" cy="4654545"/>
          </a:xfrm>
        </p:grpSpPr>
        <p:sp>
          <p:nvSpPr>
            <p:cNvPr id="687" name="Google Shape;687;p51"/>
            <p:cNvSpPr/>
            <p:nvPr/>
          </p:nvSpPr>
          <p:spPr>
            <a:xfrm>
              <a:off x="2066692" y="787498"/>
              <a:ext cx="443092"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1"/>
            <p:cNvSpPr txBox="1"/>
            <p:nvPr/>
          </p:nvSpPr>
          <p:spPr>
            <a:xfrm>
              <a:off x="2276397" y="830847"/>
              <a:ext cx="23684" cy="474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Quattrocento Sans"/>
                <a:buNone/>
              </a:pPr>
              <a:endParaRPr sz="500" b="0" i="0" u="none" strike="noStrike" cap="none">
                <a:solidFill>
                  <a:schemeClr val="dk1"/>
                </a:solidFill>
                <a:latin typeface="Quattrocento Sans"/>
                <a:ea typeface="Quattrocento Sans"/>
                <a:cs typeface="Quattrocento Sans"/>
                <a:sym typeface="Quattrocento Sans"/>
              </a:endParaRPr>
            </a:p>
          </p:txBody>
        </p:sp>
        <p:sp>
          <p:nvSpPr>
            <p:cNvPr id="689" name="Google Shape;689;p51"/>
            <p:cNvSpPr/>
            <p:nvPr/>
          </p:nvSpPr>
          <p:spPr>
            <a:xfrm>
              <a:off x="8959" y="215358"/>
              <a:ext cx="2059533"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1"/>
            <p:cNvSpPr txBox="1"/>
            <p:nvPr/>
          </p:nvSpPr>
          <p:spPr>
            <a:xfrm>
              <a:off x="8959" y="215358"/>
              <a:ext cx="2059533" cy="1235720"/>
            </a:xfrm>
            <a:prstGeom prst="rect">
              <a:avLst/>
            </a:prstGeom>
            <a:noFill/>
            <a:ln>
              <a:noFill/>
            </a:ln>
          </p:spPr>
          <p:txBody>
            <a:bodyPr spcFirstLastPara="1" wrap="square" lIns="100900" tIns="105925" rIns="100900" bIns="105925"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Traditionally, artificial intelligence has fallen squarely into the realm of game specific software.</a:t>
              </a:r>
              <a:endParaRPr sz="1200" b="0" i="0" u="none" strike="noStrike" cap="none">
                <a:solidFill>
                  <a:schemeClr val="lt1"/>
                </a:solidFill>
                <a:latin typeface="Quattrocento Sans"/>
                <a:ea typeface="Quattrocento Sans"/>
                <a:cs typeface="Quattrocento Sans"/>
                <a:sym typeface="Quattrocento Sans"/>
              </a:endParaRPr>
            </a:p>
          </p:txBody>
        </p:sp>
        <p:sp>
          <p:nvSpPr>
            <p:cNvPr id="691" name="Google Shape;691;p51"/>
            <p:cNvSpPr/>
            <p:nvPr/>
          </p:nvSpPr>
          <p:spPr>
            <a:xfrm>
              <a:off x="4599919" y="787498"/>
              <a:ext cx="443092"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1"/>
            <p:cNvSpPr txBox="1"/>
            <p:nvPr/>
          </p:nvSpPr>
          <p:spPr>
            <a:xfrm>
              <a:off x="4809623" y="830847"/>
              <a:ext cx="23684" cy="474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Quattrocento Sans"/>
                <a:buNone/>
              </a:pPr>
              <a:endParaRPr sz="500" b="0" i="0" u="none" strike="noStrike" cap="none">
                <a:solidFill>
                  <a:schemeClr val="dk1"/>
                </a:solidFill>
                <a:latin typeface="Quattrocento Sans"/>
                <a:ea typeface="Quattrocento Sans"/>
                <a:cs typeface="Quattrocento Sans"/>
                <a:sym typeface="Quattrocento Sans"/>
              </a:endParaRPr>
            </a:p>
          </p:txBody>
        </p:sp>
        <p:sp>
          <p:nvSpPr>
            <p:cNvPr id="693" name="Google Shape;693;p51"/>
            <p:cNvSpPr/>
            <p:nvPr/>
          </p:nvSpPr>
          <p:spPr>
            <a:xfrm>
              <a:off x="2542185" y="215358"/>
              <a:ext cx="2059533"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1"/>
            <p:cNvSpPr txBox="1"/>
            <p:nvPr/>
          </p:nvSpPr>
          <p:spPr>
            <a:xfrm>
              <a:off x="2542185" y="215358"/>
              <a:ext cx="2059533" cy="1235720"/>
            </a:xfrm>
            <a:prstGeom prst="rect">
              <a:avLst/>
            </a:prstGeom>
            <a:noFill/>
            <a:ln>
              <a:noFill/>
            </a:ln>
          </p:spPr>
          <p:txBody>
            <a:bodyPr spcFirstLastPara="1" wrap="square" lIns="100900" tIns="105925" rIns="100900" bIns="105925"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AI was usually not considered part of the game engine in the past.</a:t>
              </a:r>
              <a:endParaRPr sz="1200" b="0" i="0" u="none" strike="noStrike" cap="none">
                <a:solidFill>
                  <a:schemeClr val="lt1"/>
                </a:solidFill>
                <a:latin typeface="Quattrocento Sans"/>
                <a:ea typeface="Quattrocento Sans"/>
                <a:cs typeface="Quattrocento Sans"/>
                <a:sym typeface="Quattrocento Sans"/>
              </a:endParaRPr>
            </a:p>
          </p:txBody>
        </p:sp>
        <p:sp>
          <p:nvSpPr>
            <p:cNvPr id="695" name="Google Shape;695;p51"/>
            <p:cNvSpPr/>
            <p:nvPr/>
          </p:nvSpPr>
          <p:spPr>
            <a:xfrm>
              <a:off x="1038726" y="1449278"/>
              <a:ext cx="5066452" cy="443092"/>
            </a:xfrm>
            <a:custGeom>
              <a:avLst/>
              <a:gdLst/>
              <a:ahLst/>
              <a:cxnLst/>
              <a:rect l="l" t="t" r="r" b="b"/>
              <a:pathLst>
                <a:path w="120000" h="120000" extrusionOk="0">
                  <a:moveTo>
                    <a:pt x="120000" y="0"/>
                  </a:moveTo>
                  <a:lnTo>
                    <a:pt x="120000" y="64631"/>
                  </a:lnTo>
                  <a:lnTo>
                    <a:pt x="0" y="64631"/>
                  </a:lnTo>
                  <a:lnTo>
                    <a:pt x="0" y="12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1"/>
            <p:cNvSpPr txBox="1"/>
            <p:nvPr/>
          </p:nvSpPr>
          <p:spPr>
            <a:xfrm>
              <a:off x="3444738" y="1668453"/>
              <a:ext cx="254427" cy="474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Quattrocento Sans"/>
                <a:buNone/>
              </a:pPr>
              <a:endParaRPr sz="500" b="0" i="0" u="none" strike="noStrike" cap="none">
                <a:solidFill>
                  <a:schemeClr val="dk1"/>
                </a:solidFill>
                <a:latin typeface="Quattrocento Sans"/>
                <a:ea typeface="Quattrocento Sans"/>
                <a:cs typeface="Quattrocento Sans"/>
                <a:sym typeface="Quattrocento Sans"/>
              </a:endParaRPr>
            </a:p>
          </p:txBody>
        </p:sp>
        <p:sp>
          <p:nvSpPr>
            <p:cNvPr id="697" name="Google Shape;697;p51"/>
            <p:cNvSpPr/>
            <p:nvPr/>
          </p:nvSpPr>
          <p:spPr>
            <a:xfrm>
              <a:off x="5075412" y="215358"/>
              <a:ext cx="2059533"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1"/>
            <p:cNvSpPr txBox="1"/>
            <p:nvPr/>
          </p:nvSpPr>
          <p:spPr>
            <a:xfrm>
              <a:off x="5075412" y="215358"/>
              <a:ext cx="2059533" cy="1235720"/>
            </a:xfrm>
            <a:prstGeom prst="rect">
              <a:avLst/>
            </a:prstGeom>
            <a:noFill/>
            <a:ln>
              <a:noFill/>
            </a:ln>
          </p:spPr>
          <p:txBody>
            <a:bodyPr spcFirstLastPara="1" wrap="square" lIns="100900" tIns="105925" rIns="100900" bIns="105925"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Game companies have recognized patterns that arise in almost every AI system.</a:t>
              </a:r>
              <a:endParaRPr/>
            </a:p>
          </p:txBody>
        </p:sp>
        <p:sp>
          <p:nvSpPr>
            <p:cNvPr id="699" name="Google Shape;699;p51"/>
            <p:cNvSpPr/>
            <p:nvPr/>
          </p:nvSpPr>
          <p:spPr>
            <a:xfrm>
              <a:off x="2066692" y="2496911"/>
              <a:ext cx="443092"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51"/>
            <p:cNvSpPr txBox="1"/>
            <p:nvPr/>
          </p:nvSpPr>
          <p:spPr>
            <a:xfrm>
              <a:off x="2276397" y="2540260"/>
              <a:ext cx="23684" cy="474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Quattrocento Sans"/>
                <a:buNone/>
              </a:pPr>
              <a:endParaRPr sz="500" b="0" i="0" u="none" strike="noStrike" cap="none">
                <a:solidFill>
                  <a:schemeClr val="dk1"/>
                </a:solidFill>
                <a:latin typeface="Quattrocento Sans"/>
                <a:ea typeface="Quattrocento Sans"/>
                <a:cs typeface="Quattrocento Sans"/>
                <a:sym typeface="Quattrocento Sans"/>
              </a:endParaRPr>
            </a:p>
          </p:txBody>
        </p:sp>
        <p:sp>
          <p:nvSpPr>
            <p:cNvPr id="701" name="Google Shape;701;p51"/>
            <p:cNvSpPr/>
            <p:nvPr/>
          </p:nvSpPr>
          <p:spPr>
            <a:xfrm>
              <a:off x="8959" y="1924770"/>
              <a:ext cx="2059533"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51"/>
            <p:cNvSpPr txBox="1"/>
            <p:nvPr/>
          </p:nvSpPr>
          <p:spPr>
            <a:xfrm>
              <a:off x="8959" y="1924770"/>
              <a:ext cx="2059533" cy="1235720"/>
            </a:xfrm>
            <a:prstGeom prst="rect">
              <a:avLst/>
            </a:prstGeom>
            <a:noFill/>
            <a:ln>
              <a:noFill/>
            </a:ln>
          </p:spPr>
          <p:txBody>
            <a:bodyPr spcFirstLastPara="1" wrap="square" lIns="100900" tIns="105925" rIns="100900" bIns="105925"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AI foundations are slowly starting to fall under the purview of the engine proper.</a:t>
              </a:r>
              <a:endParaRPr/>
            </a:p>
          </p:txBody>
        </p:sp>
        <p:sp>
          <p:nvSpPr>
            <p:cNvPr id="703" name="Google Shape;703;p51"/>
            <p:cNvSpPr/>
            <p:nvPr/>
          </p:nvSpPr>
          <p:spPr>
            <a:xfrm>
              <a:off x="4599919" y="2496911"/>
              <a:ext cx="443092" cy="91440"/>
            </a:xfrm>
            <a:custGeom>
              <a:avLst/>
              <a:gdLst/>
              <a:ahLst/>
              <a:cxnLst/>
              <a:rect l="l" t="t" r="r" b="b"/>
              <a:pathLst>
                <a:path w="120000" h="120000" extrusionOk="0">
                  <a:moveTo>
                    <a:pt x="0" y="60000"/>
                  </a:moveTo>
                  <a:lnTo>
                    <a:pt x="120000" y="6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51"/>
            <p:cNvSpPr txBox="1"/>
            <p:nvPr/>
          </p:nvSpPr>
          <p:spPr>
            <a:xfrm>
              <a:off x="4809623" y="2540260"/>
              <a:ext cx="23684" cy="474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Quattrocento Sans"/>
                <a:buNone/>
              </a:pPr>
              <a:endParaRPr sz="500" b="0" i="0" u="none" strike="noStrike" cap="none">
                <a:solidFill>
                  <a:schemeClr val="dk1"/>
                </a:solidFill>
                <a:latin typeface="Quattrocento Sans"/>
                <a:ea typeface="Quattrocento Sans"/>
                <a:cs typeface="Quattrocento Sans"/>
                <a:sym typeface="Quattrocento Sans"/>
              </a:endParaRPr>
            </a:p>
          </p:txBody>
        </p:sp>
        <p:sp>
          <p:nvSpPr>
            <p:cNvPr id="705" name="Google Shape;705;p51"/>
            <p:cNvSpPr/>
            <p:nvPr/>
          </p:nvSpPr>
          <p:spPr>
            <a:xfrm>
              <a:off x="2542185" y="1924770"/>
              <a:ext cx="2059533"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1"/>
            <p:cNvSpPr txBox="1"/>
            <p:nvPr/>
          </p:nvSpPr>
          <p:spPr>
            <a:xfrm>
              <a:off x="2542185" y="1924770"/>
              <a:ext cx="2059533" cy="1235720"/>
            </a:xfrm>
            <a:prstGeom prst="rect">
              <a:avLst/>
            </a:prstGeom>
            <a:noFill/>
            <a:ln>
              <a:noFill/>
            </a:ln>
          </p:spPr>
          <p:txBody>
            <a:bodyPr spcFirstLastPara="1" wrap="square" lIns="100900" tIns="105925" rIns="100900" bIns="105925"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Kynogon developed a middleware SDK named Kynapse, which provides much of the low-level technology required to build commercially viable game AI.</a:t>
              </a:r>
              <a:endParaRPr/>
            </a:p>
          </p:txBody>
        </p:sp>
        <p:sp>
          <p:nvSpPr>
            <p:cNvPr id="707" name="Google Shape;707;p51"/>
            <p:cNvSpPr/>
            <p:nvPr/>
          </p:nvSpPr>
          <p:spPr>
            <a:xfrm>
              <a:off x="2561267" y="3158691"/>
              <a:ext cx="3543911" cy="443092"/>
            </a:xfrm>
            <a:custGeom>
              <a:avLst/>
              <a:gdLst/>
              <a:ahLst/>
              <a:cxnLst/>
              <a:rect l="l" t="t" r="r" b="b"/>
              <a:pathLst>
                <a:path w="120000" h="120000" extrusionOk="0">
                  <a:moveTo>
                    <a:pt x="120000" y="0"/>
                  </a:moveTo>
                  <a:lnTo>
                    <a:pt x="120000" y="64631"/>
                  </a:lnTo>
                  <a:lnTo>
                    <a:pt x="0" y="64631"/>
                  </a:lnTo>
                  <a:lnTo>
                    <a:pt x="0" y="120000"/>
                  </a:lnTo>
                </a:path>
              </a:pathLst>
            </a:custGeom>
            <a:noFill/>
            <a:ln w="9525" cap="flat" cmpd="sng">
              <a:solidFill>
                <a:schemeClr val="accent3"/>
              </a:solidFill>
              <a:prstDash val="solid"/>
              <a:miter lim="800000"/>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1"/>
            <p:cNvSpPr txBox="1"/>
            <p:nvPr/>
          </p:nvSpPr>
          <p:spPr>
            <a:xfrm>
              <a:off x="4243837" y="3377866"/>
              <a:ext cx="178771" cy="474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Quattrocento Sans"/>
                <a:buNone/>
              </a:pPr>
              <a:endParaRPr sz="500" b="0" i="0" u="none" strike="noStrike" cap="none">
                <a:solidFill>
                  <a:schemeClr val="dk1"/>
                </a:solidFill>
                <a:latin typeface="Quattrocento Sans"/>
                <a:ea typeface="Quattrocento Sans"/>
                <a:cs typeface="Quattrocento Sans"/>
                <a:sym typeface="Quattrocento Sans"/>
              </a:endParaRPr>
            </a:p>
          </p:txBody>
        </p:sp>
        <p:sp>
          <p:nvSpPr>
            <p:cNvPr id="709" name="Google Shape;709;p51"/>
            <p:cNvSpPr/>
            <p:nvPr/>
          </p:nvSpPr>
          <p:spPr>
            <a:xfrm>
              <a:off x="5075412" y="1924770"/>
              <a:ext cx="2059533"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1"/>
            <p:cNvSpPr txBox="1"/>
            <p:nvPr/>
          </p:nvSpPr>
          <p:spPr>
            <a:xfrm>
              <a:off x="5075412" y="1924770"/>
              <a:ext cx="2059533" cy="1235720"/>
            </a:xfrm>
            <a:prstGeom prst="rect">
              <a:avLst/>
            </a:prstGeom>
            <a:noFill/>
            <a:ln>
              <a:noFill/>
            </a:ln>
          </p:spPr>
          <p:txBody>
            <a:bodyPr spcFirstLastPara="1" wrap="square" lIns="100900" tIns="105925" rIns="100900" bIns="105925"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Autodesk bought Kynogon and redesigned a middleware called </a:t>
              </a:r>
              <a:r>
                <a:rPr lang="en-US" sz="1200" b="0" i="1" u="none" strike="noStrike" cap="none">
                  <a:solidFill>
                    <a:schemeClr val="lt1"/>
                  </a:solidFill>
                  <a:latin typeface="Quattrocento Sans"/>
                  <a:ea typeface="Quattrocento Sans"/>
                  <a:cs typeface="Quattrocento Sans"/>
                  <a:sym typeface="Quattrocento Sans"/>
                </a:rPr>
                <a:t>Gameware</a:t>
              </a:r>
              <a:r>
                <a:rPr lang="en-US" sz="1200" b="0" i="0" u="none" strike="noStrike" cap="none">
                  <a:solidFill>
                    <a:schemeClr val="lt1"/>
                  </a:solidFill>
                  <a:latin typeface="Quattrocento Sans"/>
                  <a:ea typeface="Quattrocento Sans"/>
                  <a:cs typeface="Quattrocento Sans"/>
                  <a:sym typeface="Quattrocento Sans"/>
                </a:rPr>
                <a:t> that provides many of Kynapse features and more.</a:t>
              </a:r>
              <a:endParaRPr/>
            </a:p>
          </p:txBody>
        </p:sp>
        <p:sp>
          <p:nvSpPr>
            <p:cNvPr id="711" name="Google Shape;711;p51"/>
            <p:cNvSpPr/>
            <p:nvPr/>
          </p:nvSpPr>
          <p:spPr>
            <a:xfrm>
              <a:off x="8959" y="3634183"/>
              <a:ext cx="5104615" cy="1235720"/>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51"/>
            <p:cNvSpPr txBox="1"/>
            <p:nvPr/>
          </p:nvSpPr>
          <p:spPr>
            <a:xfrm>
              <a:off x="8959" y="3634183"/>
              <a:ext cx="5104615" cy="1235720"/>
            </a:xfrm>
            <a:prstGeom prst="rect">
              <a:avLst/>
            </a:prstGeom>
            <a:noFill/>
            <a:ln>
              <a:noFill/>
            </a:ln>
          </p:spPr>
          <p:txBody>
            <a:bodyPr spcFirstLastPara="1" wrap="square" lIns="100900" tIns="105925" rIns="100900" bIns="105925" anchor="t" anchorCtr="0">
              <a:noAutofit/>
            </a:bodyPr>
            <a:lstStyle/>
            <a:p>
              <a:pPr marL="0" marR="0" lvl="0" indent="0" algn="l"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AI foundations Provides AI Building Blocks:</a:t>
              </a:r>
              <a:endParaRPr/>
            </a:p>
            <a:p>
              <a:pPr marL="57150" marR="0" lvl="1" indent="-57150" algn="l" rtl="0">
                <a:lnSpc>
                  <a:spcPct val="90000"/>
                </a:lnSpc>
                <a:spcBef>
                  <a:spcPts val="420"/>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Path finding</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Nav mesh generation</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Static and dynamic object avoidance</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Identification of vulnerabilities within a play space (e.g., an open window from which an ambush could come) and a well-defined interface between AI and animation.</a:t>
              </a:r>
              <a:endParaRPr sz="900" b="0" i="0" u="none" strike="noStrike" cap="none">
                <a:solidFill>
                  <a:schemeClr val="lt1"/>
                </a:solidFill>
                <a:latin typeface="Quattrocento Sans"/>
                <a:ea typeface="Quattrocento Sans"/>
                <a:cs typeface="Quattrocento Sans"/>
                <a:sym typeface="Quattrocento Sans"/>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7621667-C1D4-B55E-0878-5E715B01ACEC}"/>
              </a:ext>
            </a:extLst>
          </p:cNvPr>
          <p:cNvSpPr>
            <a:spLocks noGrp="1"/>
          </p:cNvSpPr>
          <p:nvPr>
            <p:ph type="body" idx="1"/>
          </p:nvPr>
        </p:nvSpPr>
        <p:spPr/>
        <p:txBody>
          <a:bodyPr/>
          <a:lstStyle/>
          <a:p>
            <a:pPr>
              <a:buNone/>
            </a:pPr>
            <a:r>
              <a:rPr lang="en-US" dirty="0"/>
              <a:t>Many popular game engines already come with strong AI tools:</a:t>
            </a:r>
          </a:p>
          <a:p>
            <a:pPr>
              <a:buFont typeface="Arial" panose="020B0604020202020204" pitchFamily="34" charset="0"/>
              <a:buChar char="•"/>
            </a:pPr>
            <a:r>
              <a:rPr lang="en-US" b="1" dirty="0"/>
              <a:t>Unity ML-Agents</a:t>
            </a:r>
            <a:endParaRPr lang="en-US" dirty="0"/>
          </a:p>
          <a:p>
            <a:pPr marL="742950" lvl="1" indent="-285750">
              <a:buFont typeface="Arial" panose="020B0604020202020204" pitchFamily="34" charset="0"/>
              <a:buChar char="•"/>
            </a:pPr>
            <a:r>
              <a:rPr lang="en-US" dirty="0"/>
              <a:t>Unity’s open-source toolkit for training NPCs with reinforcement learning, imitation learning, and other ML techniques.</a:t>
            </a:r>
          </a:p>
          <a:p>
            <a:pPr marL="742950" lvl="1" indent="-285750">
              <a:buFont typeface="Arial" panose="020B0604020202020204" pitchFamily="34" charset="0"/>
              <a:buChar char="•"/>
            </a:pPr>
            <a:r>
              <a:rPr lang="en-US" dirty="0"/>
              <a:t>Great for research and commercial games.</a:t>
            </a:r>
          </a:p>
          <a:p>
            <a:pPr>
              <a:buFont typeface="Arial" panose="020B0604020202020204" pitchFamily="34" charset="0"/>
              <a:buChar char="•"/>
            </a:pPr>
            <a:r>
              <a:rPr lang="en-US" b="1" dirty="0"/>
              <a:t>Unreal Engine (Behavior Trees + EQS)</a:t>
            </a:r>
            <a:endParaRPr lang="en-US" dirty="0"/>
          </a:p>
          <a:p>
            <a:pPr marL="742950" lvl="1" indent="-285750">
              <a:buFont typeface="Arial" panose="020B0604020202020204" pitchFamily="34" charset="0"/>
              <a:buChar char="•"/>
            </a:pPr>
            <a:r>
              <a:rPr lang="en-US" dirty="0"/>
              <a:t>Built-in </a:t>
            </a:r>
            <a:r>
              <a:rPr lang="en-US" b="1" dirty="0"/>
              <a:t>Behavior Tree</a:t>
            </a:r>
            <a:r>
              <a:rPr lang="en-US" dirty="0"/>
              <a:t> system for decision-making and </a:t>
            </a:r>
            <a:r>
              <a:rPr lang="en-US" b="1" dirty="0"/>
              <a:t>Environment Query System (EQS)</a:t>
            </a:r>
            <a:r>
              <a:rPr lang="en-US" dirty="0"/>
              <a:t> for spatial reasoning.</a:t>
            </a:r>
          </a:p>
          <a:p>
            <a:pPr marL="742950" lvl="1" indent="-285750">
              <a:buFont typeface="Arial" panose="020B0604020202020204" pitchFamily="34" charset="0"/>
              <a:buChar char="•"/>
            </a:pPr>
            <a:r>
              <a:rPr lang="en-US" dirty="0"/>
              <a:t>Used in AAA titles (e.g., Fortnite).</a:t>
            </a:r>
          </a:p>
          <a:p>
            <a:endParaRPr lang="en-CA" dirty="0"/>
          </a:p>
        </p:txBody>
      </p:sp>
      <p:sp>
        <p:nvSpPr>
          <p:cNvPr id="5" name="Title 4">
            <a:extLst>
              <a:ext uri="{FF2B5EF4-FFF2-40B4-BE49-F238E27FC236}">
                <a16:creationId xmlns:a16="http://schemas.microsoft.com/office/drawing/2014/main" id="{4ABE08EC-CDE4-B1A0-4BA6-64CE12D3BC89}"/>
              </a:ext>
            </a:extLst>
          </p:cNvPr>
          <p:cNvSpPr>
            <a:spLocks noGrp="1"/>
          </p:cNvSpPr>
          <p:nvPr>
            <p:ph type="title"/>
          </p:nvPr>
        </p:nvSpPr>
        <p:spPr/>
        <p:txBody>
          <a:bodyPr/>
          <a:lstStyle/>
          <a:p>
            <a:r>
              <a:rPr lang="en-US" dirty="0"/>
              <a:t>Built-in Game Engine AI Systems</a:t>
            </a:r>
          </a:p>
        </p:txBody>
      </p:sp>
    </p:spTree>
    <p:extLst>
      <p:ext uri="{BB962C8B-B14F-4D97-AF65-F5344CB8AC3E}">
        <p14:creationId xmlns:p14="http://schemas.microsoft.com/office/powerpoint/2010/main" val="866084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B25A44F-B1EB-A01A-F781-A5B5005C3006}"/>
              </a:ext>
            </a:extLst>
          </p:cNvPr>
          <p:cNvSpPr>
            <a:spLocks noGrp="1"/>
          </p:cNvSpPr>
          <p:nvPr>
            <p:ph type="body" idx="1"/>
          </p:nvPr>
        </p:nvSpPr>
        <p:spPr/>
        <p:txBody>
          <a:bodyPr/>
          <a:lstStyle/>
          <a:p>
            <a:r>
              <a:rPr lang="en-US" dirty="0"/>
              <a:t>These are specialized AI systems you can integrate into engines:</a:t>
            </a:r>
          </a:p>
          <a:p>
            <a:r>
              <a:rPr lang="en-US" b="1" dirty="0"/>
              <a:t>Kythera AI</a:t>
            </a:r>
            <a:endParaRPr lang="en-US" dirty="0"/>
          </a:p>
          <a:p>
            <a:pPr lvl="1"/>
            <a:r>
              <a:rPr lang="en-US" dirty="0"/>
              <a:t>Middleware for Unreal and custom engines.</a:t>
            </a:r>
          </a:p>
          <a:p>
            <a:pPr lvl="1"/>
            <a:r>
              <a:rPr lang="en-US" dirty="0"/>
              <a:t>Handles navigation meshes, behavior trees, and crowd simulation.</a:t>
            </a:r>
          </a:p>
          <a:p>
            <a:r>
              <a:rPr lang="en-US" b="1" dirty="0"/>
              <a:t>Havok AI</a:t>
            </a:r>
            <a:endParaRPr lang="en-US" dirty="0"/>
          </a:p>
          <a:p>
            <a:pPr lvl="1"/>
            <a:r>
              <a:rPr lang="en-US" dirty="0"/>
              <a:t>Part of Havok’s middleware suite (owned by Microsoft).</a:t>
            </a:r>
          </a:p>
          <a:p>
            <a:pPr lvl="1"/>
            <a:r>
              <a:rPr lang="en-US" dirty="0"/>
              <a:t>Optimized for large-scale pathfinding and navigation.</a:t>
            </a:r>
          </a:p>
          <a:p>
            <a:r>
              <a:rPr lang="en-US" b="1" dirty="0"/>
              <a:t>RAIN AI (for Unity)</a:t>
            </a:r>
            <a:endParaRPr lang="en-US" dirty="0"/>
          </a:p>
          <a:p>
            <a:pPr lvl="1"/>
            <a:r>
              <a:rPr lang="en-US" dirty="0"/>
              <a:t>Free AI toolkit (though not actively updated).</a:t>
            </a:r>
          </a:p>
          <a:p>
            <a:pPr lvl="1"/>
            <a:r>
              <a:rPr lang="en-US" dirty="0"/>
              <a:t>Offers pathfinding, decision-making, and sensors.</a:t>
            </a:r>
          </a:p>
          <a:p>
            <a:endParaRPr lang="en-CA" dirty="0"/>
          </a:p>
        </p:txBody>
      </p:sp>
      <p:sp>
        <p:nvSpPr>
          <p:cNvPr id="3" name="Title 2">
            <a:extLst>
              <a:ext uri="{FF2B5EF4-FFF2-40B4-BE49-F238E27FC236}">
                <a16:creationId xmlns:a16="http://schemas.microsoft.com/office/drawing/2014/main" id="{08F9CA9C-9727-8CEE-59F8-2A8170476F88}"/>
              </a:ext>
            </a:extLst>
          </p:cNvPr>
          <p:cNvSpPr>
            <a:spLocks noGrp="1"/>
          </p:cNvSpPr>
          <p:nvPr>
            <p:ph type="title"/>
          </p:nvPr>
        </p:nvSpPr>
        <p:spPr/>
        <p:txBody>
          <a:bodyPr/>
          <a:lstStyle/>
          <a:p>
            <a:r>
              <a:rPr lang="en-CA" dirty="0"/>
              <a:t>AI Middleware / Frameworks</a:t>
            </a:r>
          </a:p>
        </p:txBody>
      </p:sp>
    </p:spTree>
    <p:extLst>
      <p:ext uri="{BB962C8B-B14F-4D97-AF65-F5344CB8AC3E}">
        <p14:creationId xmlns:p14="http://schemas.microsoft.com/office/powerpoint/2010/main" val="3038081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B44F08-927A-9A15-0685-C6A72EC9F5D3}"/>
              </a:ext>
            </a:extLst>
          </p:cNvPr>
          <p:cNvSpPr>
            <a:spLocks noGrp="1"/>
          </p:cNvSpPr>
          <p:nvPr>
            <p:ph type="body" idx="1"/>
          </p:nvPr>
        </p:nvSpPr>
        <p:spPr/>
        <p:txBody>
          <a:bodyPr/>
          <a:lstStyle/>
          <a:p>
            <a:r>
              <a:rPr lang="en-US" dirty="0"/>
              <a:t>For developers who want to push boundaries with ML-driven gameplay:</a:t>
            </a:r>
          </a:p>
          <a:p>
            <a:r>
              <a:rPr lang="en-US" b="1" dirty="0"/>
              <a:t>TensorFlow / </a:t>
            </a:r>
            <a:r>
              <a:rPr lang="en-US" b="1" dirty="0" err="1"/>
              <a:t>PyTorch</a:t>
            </a:r>
            <a:r>
              <a:rPr lang="en-US" b="1" dirty="0"/>
              <a:t> (integrated with Unity or Unreal)</a:t>
            </a:r>
            <a:endParaRPr lang="en-US" dirty="0"/>
          </a:p>
          <a:p>
            <a:pPr lvl="1"/>
            <a:r>
              <a:rPr lang="en-US" dirty="0"/>
              <a:t>Often used with Unity ML-Agents or custom pipelines.</a:t>
            </a:r>
          </a:p>
          <a:p>
            <a:pPr lvl="1"/>
            <a:r>
              <a:rPr lang="en-US" dirty="0"/>
              <a:t>Great for adaptive NPCs or AI opponents.</a:t>
            </a:r>
          </a:p>
          <a:p>
            <a:r>
              <a:rPr lang="en-US" b="1" dirty="0"/>
              <a:t>OpenAI Gym / </a:t>
            </a:r>
            <a:r>
              <a:rPr lang="en-US" b="1" dirty="0" err="1"/>
              <a:t>PettingZoo</a:t>
            </a:r>
            <a:endParaRPr lang="en-US" dirty="0"/>
          </a:p>
          <a:p>
            <a:pPr lvl="1"/>
            <a:r>
              <a:rPr lang="en-US" dirty="0"/>
              <a:t>For prototyping reinforcement learning in game-like environments.</a:t>
            </a:r>
          </a:p>
          <a:p>
            <a:pPr lvl="1"/>
            <a:r>
              <a:rPr lang="en-US" dirty="0"/>
              <a:t>More for experimentation than production.</a:t>
            </a:r>
          </a:p>
          <a:p>
            <a:endParaRPr lang="en-CA" dirty="0"/>
          </a:p>
        </p:txBody>
      </p:sp>
      <p:sp>
        <p:nvSpPr>
          <p:cNvPr id="3" name="Title 2">
            <a:extLst>
              <a:ext uri="{FF2B5EF4-FFF2-40B4-BE49-F238E27FC236}">
                <a16:creationId xmlns:a16="http://schemas.microsoft.com/office/drawing/2014/main" id="{1CA27A80-C9EE-3EAE-0365-1375F8FABCBB}"/>
              </a:ext>
            </a:extLst>
          </p:cNvPr>
          <p:cNvSpPr>
            <a:spLocks noGrp="1"/>
          </p:cNvSpPr>
          <p:nvPr>
            <p:ph type="title"/>
          </p:nvPr>
        </p:nvSpPr>
        <p:spPr/>
        <p:txBody>
          <a:bodyPr/>
          <a:lstStyle/>
          <a:p>
            <a:r>
              <a:rPr lang="en-CA" dirty="0"/>
              <a:t>Machine Learning / Research-Oriented AI</a:t>
            </a:r>
          </a:p>
        </p:txBody>
      </p:sp>
    </p:spTree>
    <p:extLst>
      <p:ext uri="{BB962C8B-B14F-4D97-AF65-F5344CB8AC3E}">
        <p14:creationId xmlns:p14="http://schemas.microsoft.com/office/powerpoint/2010/main" val="832871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608743-7A72-3FD8-5602-3EE0D5C73F5F}"/>
              </a:ext>
            </a:extLst>
          </p:cNvPr>
          <p:cNvSpPr>
            <a:spLocks noGrp="1"/>
          </p:cNvSpPr>
          <p:nvPr>
            <p:ph type="title"/>
          </p:nvPr>
        </p:nvSpPr>
        <p:spPr/>
        <p:txBody>
          <a:bodyPr/>
          <a:lstStyle/>
          <a:p>
            <a:r>
              <a:rPr lang="en-CA" dirty="0"/>
              <a:t>Navigation &amp; Pathfinding Libraries</a:t>
            </a:r>
          </a:p>
        </p:txBody>
      </p:sp>
      <p:sp>
        <p:nvSpPr>
          <p:cNvPr id="4" name="Rectangle 1">
            <a:extLst>
              <a:ext uri="{FF2B5EF4-FFF2-40B4-BE49-F238E27FC236}">
                <a16:creationId xmlns:a16="http://schemas.microsoft.com/office/drawing/2014/main" id="{31398A55-0819-F7A9-96BE-17FC7FD97A0B}"/>
              </a:ext>
            </a:extLst>
          </p:cNvPr>
          <p:cNvSpPr>
            <a:spLocks noGrp="1" noChangeArrowheads="1"/>
          </p:cNvSpPr>
          <p:nvPr>
            <p:ph type="body" idx="1"/>
          </p:nvPr>
        </p:nvSpPr>
        <p:spPr bwMode="auto">
          <a:xfrm>
            <a:off x="604433" y="3013424"/>
            <a:ext cx="782778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Quattrocento Sans" panose="020B0502050000020003" pitchFamily="34" charset="0"/>
              </a:rPr>
              <a:t>Recast &amp; Detour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Quattrocento Sans" panose="020B0502050000020003" pitchFamily="34" charset="0"/>
              </a:rPr>
              <a:t>	Industry-standard for </a:t>
            </a:r>
            <a:r>
              <a:rPr kumimoji="0" lang="en-US" altLang="en-US" sz="1800" b="0" i="0" u="none" strike="noStrike" cap="none" normalizeH="0" baseline="0" dirty="0" err="1">
                <a:ln>
                  <a:noFill/>
                </a:ln>
                <a:solidFill>
                  <a:schemeClr val="tx1"/>
                </a:solidFill>
                <a:effectLst/>
                <a:latin typeface="Quattrocento Sans" panose="020B0502050000020003" pitchFamily="34" charset="0"/>
              </a:rPr>
              <a:t>navmesh</a:t>
            </a:r>
            <a:r>
              <a:rPr kumimoji="0" lang="en-US" altLang="en-US" sz="1800" b="0" i="0" u="none" strike="noStrike" cap="none" normalizeH="0" baseline="0" dirty="0">
                <a:ln>
                  <a:noFill/>
                </a:ln>
                <a:solidFill>
                  <a:schemeClr val="tx1"/>
                </a:solidFill>
                <a:effectLst/>
                <a:latin typeface="Quattrocento Sans" panose="020B0502050000020003" pitchFamily="34" charset="0"/>
              </a:rPr>
              <a:t> generation and pathfinding.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Quattrocento Sans" panose="020B0502050000020003" pitchFamily="34" charset="0"/>
              </a:rPr>
              <a:t>	Used in many engines (Unity, Unreal, custom engines).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Quattrocento Sans" panose="020B0502050000020003" pitchFamily="34" charset="0"/>
              </a:rPr>
              <a:t>A Pathfinding Project (Unity)</a:t>
            </a:r>
            <a:r>
              <a:rPr kumimoji="0" lang="en-US" altLang="en-US" sz="1800" b="0" i="0" u="none" strike="noStrike" cap="none" normalizeH="0" baseline="0" dirty="0">
                <a:ln>
                  <a:noFill/>
                </a:ln>
                <a:solidFill>
                  <a:schemeClr val="tx1"/>
                </a:solidFill>
                <a:effectLst/>
                <a:latin typeface="Quattrocento Sans" panose="020B0502050000020003"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Quattrocento Sans" panose="020B0502050000020003" pitchFamily="34" charset="0"/>
              </a:rPr>
              <a:t>	Popular Unity plugin for grid, </a:t>
            </a:r>
            <a:r>
              <a:rPr kumimoji="0" lang="en-US" altLang="en-US" sz="1800" b="0" i="0" u="none" strike="noStrike" cap="none" normalizeH="0" baseline="0" dirty="0" err="1">
                <a:ln>
                  <a:noFill/>
                </a:ln>
                <a:solidFill>
                  <a:schemeClr val="tx1"/>
                </a:solidFill>
                <a:effectLst/>
                <a:latin typeface="Quattrocento Sans" panose="020B0502050000020003" pitchFamily="34" charset="0"/>
              </a:rPr>
              <a:t>navmesh</a:t>
            </a:r>
            <a:r>
              <a:rPr kumimoji="0" lang="en-US" altLang="en-US" sz="1800" b="0" i="0" u="none" strike="noStrike" cap="none" normalizeH="0" baseline="0" dirty="0">
                <a:ln>
                  <a:noFill/>
                </a:ln>
                <a:solidFill>
                  <a:schemeClr val="tx1"/>
                </a:solidFill>
                <a:effectLst/>
                <a:latin typeface="Quattrocento Sans" panose="020B0502050000020003" pitchFamily="34" charset="0"/>
              </a:rPr>
              <a:t>, and point graph pathfinding.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61241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C2A6CF-6397-2EBE-FAF4-9C1DD419B2C3}"/>
              </a:ext>
            </a:extLst>
          </p:cNvPr>
          <p:cNvSpPr>
            <a:spLocks noGrp="1"/>
          </p:cNvSpPr>
          <p:nvPr>
            <p:ph type="body" idx="1"/>
          </p:nvPr>
        </p:nvSpPr>
        <p:spPr/>
        <p:txBody>
          <a:bodyPr/>
          <a:lstStyle/>
          <a:p>
            <a:r>
              <a:rPr lang="en-CA" dirty="0"/>
              <a:t>Even without middleware, most studios rely on tried-and-true approaches:</a:t>
            </a:r>
          </a:p>
          <a:p>
            <a:r>
              <a:rPr lang="en-CA" b="1" dirty="0"/>
              <a:t>Finite State Machines (FSMs)</a:t>
            </a:r>
            <a:r>
              <a:rPr lang="en-CA" dirty="0"/>
              <a:t> – simple, predictable AI.</a:t>
            </a:r>
          </a:p>
          <a:p>
            <a:r>
              <a:rPr lang="en-CA" b="1" dirty="0"/>
              <a:t>Behavior Trees</a:t>
            </a:r>
            <a:r>
              <a:rPr lang="en-CA" dirty="0"/>
              <a:t> – modular, hierarchical logic for NPCs.</a:t>
            </a:r>
          </a:p>
          <a:p>
            <a:r>
              <a:rPr lang="en-CA" b="1" dirty="0"/>
              <a:t>GOAP (Goal-Oriented Action Planning)</a:t>
            </a:r>
            <a:r>
              <a:rPr lang="en-CA" dirty="0"/>
              <a:t> – flexible planning AI (used in </a:t>
            </a:r>
            <a:r>
              <a:rPr lang="en-CA" i="1" dirty="0"/>
              <a:t>F.E.A.R.</a:t>
            </a:r>
            <a:r>
              <a:rPr lang="en-CA" dirty="0"/>
              <a:t>).</a:t>
            </a:r>
          </a:p>
          <a:p>
            <a:r>
              <a:rPr lang="en-CA" b="1" dirty="0"/>
              <a:t>Utility AI</a:t>
            </a:r>
            <a:r>
              <a:rPr lang="en-CA" dirty="0"/>
              <a:t> – scoring-based decision-making (used in </a:t>
            </a:r>
            <a:r>
              <a:rPr lang="en-CA" i="1" dirty="0"/>
              <a:t>The Sims 4</a:t>
            </a:r>
            <a:r>
              <a:rPr lang="en-CA" dirty="0"/>
              <a:t>).</a:t>
            </a:r>
          </a:p>
          <a:p>
            <a:endParaRPr lang="en-CA" dirty="0"/>
          </a:p>
        </p:txBody>
      </p:sp>
      <p:sp>
        <p:nvSpPr>
          <p:cNvPr id="3" name="Title 2">
            <a:extLst>
              <a:ext uri="{FF2B5EF4-FFF2-40B4-BE49-F238E27FC236}">
                <a16:creationId xmlns:a16="http://schemas.microsoft.com/office/drawing/2014/main" id="{FABCBEAC-76AF-D9A2-AABB-3FEDBA0B41B1}"/>
              </a:ext>
            </a:extLst>
          </p:cNvPr>
          <p:cNvSpPr>
            <a:spLocks noGrp="1"/>
          </p:cNvSpPr>
          <p:nvPr>
            <p:ph type="title"/>
          </p:nvPr>
        </p:nvSpPr>
        <p:spPr/>
        <p:txBody>
          <a:bodyPr/>
          <a:lstStyle/>
          <a:p>
            <a:r>
              <a:rPr lang="en-CA" dirty="0"/>
              <a:t>Classic AI Techniques (Engine-Agnostic)</a:t>
            </a:r>
          </a:p>
        </p:txBody>
      </p:sp>
    </p:spTree>
    <p:extLst>
      <p:ext uri="{BB962C8B-B14F-4D97-AF65-F5344CB8AC3E}">
        <p14:creationId xmlns:p14="http://schemas.microsoft.com/office/powerpoint/2010/main" val="2880024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338BF1-F37C-0D38-A137-027C73DBB82B}"/>
              </a:ext>
            </a:extLst>
          </p:cNvPr>
          <p:cNvSpPr>
            <a:spLocks noGrp="1"/>
          </p:cNvSpPr>
          <p:nvPr>
            <p:ph type="title"/>
          </p:nvPr>
        </p:nvSpPr>
        <p:spPr/>
        <p:txBody>
          <a:bodyPr/>
          <a:lstStyle/>
          <a:p>
            <a:r>
              <a:rPr lang="en-US" dirty="0"/>
              <a:t>Game AI Engines &amp; Frameworks – Comparison</a:t>
            </a:r>
            <a:endParaRPr lang="en-CA" dirty="0"/>
          </a:p>
        </p:txBody>
      </p:sp>
      <p:graphicFrame>
        <p:nvGraphicFramePr>
          <p:cNvPr id="6" name="Table 5">
            <a:extLst>
              <a:ext uri="{FF2B5EF4-FFF2-40B4-BE49-F238E27FC236}">
                <a16:creationId xmlns:a16="http://schemas.microsoft.com/office/drawing/2014/main" id="{E1A77EE4-1061-4B60-9E32-0EE2832C82B8}"/>
              </a:ext>
            </a:extLst>
          </p:cNvPr>
          <p:cNvGraphicFramePr>
            <a:graphicFrameLocks noGrp="1"/>
          </p:cNvGraphicFramePr>
          <p:nvPr>
            <p:extLst>
              <p:ext uri="{D42A27DB-BD31-4B8C-83A1-F6EECF244321}">
                <p14:modId xmlns:p14="http://schemas.microsoft.com/office/powerpoint/2010/main" val="1659269786"/>
              </p:ext>
            </p:extLst>
          </p:nvPr>
        </p:nvGraphicFramePr>
        <p:xfrm>
          <a:off x="604434" y="1329003"/>
          <a:ext cx="9243825" cy="5178884"/>
        </p:xfrm>
        <a:graphic>
          <a:graphicData uri="http://schemas.openxmlformats.org/drawingml/2006/table">
            <a:tbl>
              <a:tblPr firstRow="1">
                <a:tableStyleId>{3C2FFA5D-87B4-456A-9821-1D502468CF0F}</a:tableStyleId>
              </a:tblPr>
              <a:tblGrid>
                <a:gridCol w="1848765">
                  <a:extLst>
                    <a:ext uri="{9D8B030D-6E8A-4147-A177-3AD203B41FA5}">
                      <a16:colId xmlns:a16="http://schemas.microsoft.com/office/drawing/2014/main" val="2104303999"/>
                    </a:ext>
                  </a:extLst>
                </a:gridCol>
                <a:gridCol w="1848765">
                  <a:extLst>
                    <a:ext uri="{9D8B030D-6E8A-4147-A177-3AD203B41FA5}">
                      <a16:colId xmlns:a16="http://schemas.microsoft.com/office/drawing/2014/main" val="4228776458"/>
                    </a:ext>
                  </a:extLst>
                </a:gridCol>
                <a:gridCol w="1848765">
                  <a:extLst>
                    <a:ext uri="{9D8B030D-6E8A-4147-A177-3AD203B41FA5}">
                      <a16:colId xmlns:a16="http://schemas.microsoft.com/office/drawing/2014/main" val="1698017926"/>
                    </a:ext>
                  </a:extLst>
                </a:gridCol>
                <a:gridCol w="1848765">
                  <a:extLst>
                    <a:ext uri="{9D8B030D-6E8A-4147-A177-3AD203B41FA5}">
                      <a16:colId xmlns:a16="http://schemas.microsoft.com/office/drawing/2014/main" val="1127902547"/>
                    </a:ext>
                  </a:extLst>
                </a:gridCol>
                <a:gridCol w="1848765">
                  <a:extLst>
                    <a:ext uri="{9D8B030D-6E8A-4147-A177-3AD203B41FA5}">
                      <a16:colId xmlns:a16="http://schemas.microsoft.com/office/drawing/2014/main" val="2659348273"/>
                    </a:ext>
                  </a:extLst>
                </a:gridCol>
              </a:tblGrid>
              <a:tr h="153102">
                <a:tc>
                  <a:txBody>
                    <a:bodyPr/>
                    <a:lstStyle/>
                    <a:p>
                      <a:pPr>
                        <a:buNone/>
                      </a:pPr>
                      <a:r>
                        <a:rPr lang="en-CA" sz="900"/>
                        <a:t>AI Engine / Framework</a:t>
                      </a:r>
                    </a:p>
                  </a:txBody>
                  <a:tcPr marL="37838" marR="37838" marT="18919" marB="18919" anchor="ctr"/>
                </a:tc>
                <a:tc>
                  <a:txBody>
                    <a:bodyPr/>
                    <a:lstStyle/>
                    <a:p>
                      <a:pPr>
                        <a:buNone/>
                      </a:pPr>
                      <a:r>
                        <a:rPr lang="en-CA" sz="900"/>
                        <a:t>Pros ✅</a:t>
                      </a:r>
                    </a:p>
                  </a:txBody>
                  <a:tcPr marL="37838" marR="37838" marT="18919" marB="18919" anchor="ctr"/>
                </a:tc>
                <a:tc>
                  <a:txBody>
                    <a:bodyPr/>
                    <a:lstStyle/>
                    <a:p>
                      <a:pPr>
                        <a:buNone/>
                      </a:pPr>
                      <a:r>
                        <a:rPr lang="en-CA" sz="900"/>
                        <a:t>Cons ❌</a:t>
                      </a:r>
                    </a:p>
                  </a:txBody>
                  <a:tcPr marL="37838" marR="37838" marT="18919" marB="18919" anchor="ctr"/>
                </a:tc>
                <a:tc>
                  <a:txBody>
                    <a:bodyPr/>
                    <a:lstStyle/>
                    <a:p>
                      <a:pPr>
                        <a:buNone/>
                      </a:pPr>
                      <a:r>
                        <a:rPr lang="en-CA" sz="900"/>
                        <a:t>Best Use Cases 🎯</a:t>
                      </a:r>
                    </a:p>
                  </a:txBody>
                  <a:tcPr marL="37838" marR="37838" marT="18919" marB="18919" anchor="ctr"/>
                </a:tc>
                <a:tc>
                  <a:txBody>
                    <a:bodyPr/>
                    <a:lstStyle/>
                    <a:p>
                      <a:pPr>
                        <a:buNone/>
                      </a:pPr>
                      <a:r>
                        <a:rPr lang="en-CA" sz="900"/>
                        <a:t>Skill Level</a:t>
                      </a:r>
                    </a:p>
                  </a:txBody>
                  <a:tcPr marL="37838" marR="37838" marT="18919" marB="18919" anchor="ctr"/>
                </a:tc>
                <a:extLst>
                  <a:ext uri="{0D108BD9-81ED-4DB2-BD59-A6C34878D82A}">
                    <a16:rowId xmlns:a16="http://schemas.microsoft.com/office/drawing/2014/main" val="837660475"/>
                  </a:ext>
                </a:extLst>
              </a:tr>
              <a:tr h="567605">
                <a:tc>
                  <a:txBody>
                    <a:bodyPr/>
                    <a:lstStyle/>
                    <a:p>
                      <a:pPr>
                        <a:buNone/>
                      </a:pPr>
                      <a:r>
                        <a:rPr lang="en-CA" sz="900" b="1"/>
                        <a:t>Unity ML-Agents</a:t>
                      </a:r>
                      <a:endParaRPr lang="en-CA" sz="900"/>
                    </a:p>
                  </a:txBody>
                  <a:tcPr marL="37838" marR="37838" marT="18919" marB="18919" anchor="ctr"/>
                </a:tc>
                <a:tc>
                  <a:txBody>
                    <a:bodyPr/>
                    <a:lstStyle/>
                    <a:p>
                      <a:pPr>
                        <a:buNone/>
                      </a:pPr>
                      <a:r>
                        <a:rPr lang="en-US" sz="900"/>
                        <a:t>- Easy Unity integration - Supports reinforcement &amp; imitation learning - Active community</a:t>
                      </a:r>
                    </a:p>
                  </a:txBody>
                  <a:tcPr marL="37838" marR="37838" marT="18919" marB="18919" anchor="ctr"/>
                </a:tc>
                <a:tc>
                  <a:txBody>
                    <a:bodyPr/>
                    <a:lstStyle/>
                    <a:p>
                      <a:pPr>
                        <a:buNone/>
                      </a:pPr>
                      <a:r>
                        <a:rPr lang="en-US" sz="900"/>
                        <a:t>- Training requires compute power - Can be overkill for simple NPCs</a:t>
                      </a:r>
                    </a:p>
                  </a:txBody>
                  <a:tcPr marL="37838" marR="37838" marT="18919" marB="18919" anchor="ctr"/>
                </a:tc>
                <a:tc>
                  <a:txBody>
                    <a:bodyPr/>
                    <a:lstStyle/>
                    <a:p>
                      <a:pPr>
                        <a:buNone/>
                      </a:pPr>
                      <a:r>
                        <a:rPr lang="en-US" sz="900"/>
                        <a:t>Smart adaptive NPCs, training bots, research experiments</a:t>
                      </a:r>
                    </a:p>
                  </a:txBody>
                  <a:tcPr marL="37838" marR="37838" marT="18919" marB="18919" anchor="ctr"/>
                </a:tc>
                <a:tc>
                  <a:txBody>
                    <a:bodyPr/>
                    <a:lstStyle/>
                    <a:p>
                      <a:pPr>
                        <a:buNone/>
                      </a:pPr>
                      <a:r>
                        <a:rPr lang="en-CA" sz="900"/>
                        <a:t>Intermediate–Advanced</a:t>
                      </a:r>
                    </a:p>
                  </a:txBody>
                  <a:tcPr marL="37838" marR="37838" marT="18919" marB="18919" anchor="ctr"/>
                </a:tc>
                <a:extLst>
                  <a:ext uri="{0D108BD9-81ED-4DB2-BD59-A6C34878D82A}">
                    <a16:rowId xmlns:a16="http://schemas.microsoft.com/office/drawing/2014/main" val="1995758200"/>
                  </a:ext>
                </a:extLst>
              </a:tr>
              <a:tr h="567605">
                <a:tc>
                  <a:txBody>
                    <a:bodyPr/>
                    <a:lstStyle/>
                    <a:p>
                      <a:pPr>
                        <a:buNone/>
                      </a:pPr>
                      <a:r>
                        <a:rPr lang="en-US" sz="900" b="1"/>
                        <a:t>Unreal Engine (Behavior Trees + EQS)</a:t>
                      </a:r>
                      <a:endParaRPr lang="en-US" sz="900"/>
                    </a:p>
                  </a:txBody>
                  <a:tcPr marL="37838" marR="37838" marT="18919" marB="18919" anchor="ctr"/>
                </a:tc>
                <a:tc>
                  <a:txBody>
                    <a:bodyPr/>
                    <a:lstStyle/>
                    <a:p>
                      <a:pPr>
                        <a:buNone/>
                      </a:pPr>
                      <a:r>
                        <a:rPr lang="en-US" sz="900"/>
                        <a:t>- AAA-grade tools - Integrated with navmesh &amp; animation - Powerful EQS for decision-making</a:t>
                      </a:r>
                    </a:p>
                  </a:txBody>
                  <a:tcPr marL="37838" marR="37838" marT="18919" marB="18919" anchor="ctr"/>
                </a:tc>
                <a:tc>
                  <a:txBody>
                    <a:bodyPr/>
                    <a:lstStyle/>
                    <a:p>
                      <a:pPr>
                        <a:buNone/>
                      </a:pPr>
                      <a:r>
                        <a:rPr lang="en-US" sz="900"/>
                        <a:t>- Steep learning curve - Less suited for ML-based AI out of the box</a:t>
                      </a:r>
                    </a:p>
                  </a:txBody>
                  <a:tcPr marL="37838" marR="37838" marT="18919" marB="18919" anchor="ctr"/>
                </a:tc>
                <a:tc>
                  <a:txBody>
                    <a:bodyPr/>
                    <a:lstStyle/>
                    <a:p>
                      <a:pPr>
                        <a:buNone/>
                      </a:pPr>
                      <a:r>
                        <a:rPr lang="en-US" sz="900"/>
                        <a:t>AAA shooters, RPGs, open-world games</a:t>
                      </a:r>
                    </a:p>
                  </a:txBody>
                  <a:tcPr marL="37838" marR="37838" marT="18919" marB="18919" anchor="ctr"/>
                </a:tc>
                <a:tc>
                  <a:txBody>
                    <a:bodyPr/>
                    <a:lstStyle/>
                    <a:p>
                      <a:pPr>
                        <a:buNone/>
                      </a:pPr>
                      <a:r>
                        <a:rPr lang="en-CA" sz="900"/>
                        <a:t>Intermediate</a:t>
                      </a:r>
                    </a:p>
                  </a:txBody>
                  <a:tcPr marL="37838" marR="37838" marT="18919" marB="18919" anchor="ctr"/>
                </a:tc>
                <a:extLst>
                  <a:ext uri="{0D108BD9-81ED-4DB2-BD59-A6C34878D82A}">
                    <a16:rowId xmlns:a16="http://schemas.microsoft.com/office/drawing/2014/main" val="682236071"/>
                  </a:ext>
                </a:extLst>
              </a:tr>
              <a:tr h="672164">
                <a:tc>
                  <a:txBody>
                    <a:bodyPr/>
                    <a:lstStyle/>
                    <a:p>
                      <a:pPr>
                        <a:buNone/>
                      </a:pPr>
                      <a:r>
                        <a:rPr lang="en-CA" sz="900" b="1"/>
                        <a:t>Kythera AI</a:t>
                      </a:r>
                      <a:endParaRPr lang="en-CA" sz="900"/>
                    </a:p>
                  </a:txBody>
                  <a:tcPr marL="37838" marR="37838" marT="18919" marB="18919" anchor="ctr"/>
                </a:tc>
                <a:tc>
                  <a:txBody>
                    <a:bodyPr/>
                    <a:lstStyle/>
                    <a:p>
                      <a:pPr>
                        <a:buNone/>
                      </a:pPr>
                      <a:r>
                        <a:rPr lang="en-US" sz="900" dirty="0"/>
                        <a:t>- Advanced </a:t>
                      </a:r>
                      <a:r>
                        <a:rPr lang="en-US" sz="900" dirty="0" err="1"/>
                        <a:t>navmesh</a:t>
                      </a:r>
                      <a:r>
                        <a:rPr lang="en-US" sz="900" dirty="0"/>
                        <a:t> &amp; crowd simulation - Middleware for Unreal/custom engines - Handles large-scale environments</a:t>
                      </a:r>
                    </a:p>
                  </a:txBody>
                  <a:tcPr marL="37838" marR="37838" marT="18919" marB="18919" anchor="ctr"/>
                </a:tc>
                <a:tc>
                  <a:txBody>
                    <a:bodyPr/>
                    <a:lstStyle/>
                    <a:p>
                      <a:pPr>
                        <a:buNone/>
                      </a:pPr>
                      <a:r>
                        <a:rPr lang="en-US" sz="900"/>
                        <a:t>- Commercial license (not free) - Best for studios with budget</a:t>
                      </a:r>
                    </a:p>
                  </a:txBody>
                  <a:tcPr marL="37838" marR="37838" marT="18919" marB="18919" anchor="ctr"/>
                </a:tc>
                <a:tc>
                  <a:txBody>
                    <a:bodyPr/>
                    <a:lstStyle/>
                    <a:p>
                      <a:pPr>
                        <a:buNone/>
                      </a:pPr>
                      <a:r>
                        <a:rPr lang="en-US" sz="900"/>
                        <a:t>Large open worlds, MMO AI, simulation-heavy games</a:t>
                      </a:r>
                    </a:p>
                  </a:txBody>
                  <a:tcPr marL="37838" marR="37838" marT="18919" marB="18919" anchor="ctr"/>
                </a:tc>
                <a:tc>
                  <a:txBody>
                    <a:bodyPr/>
                    <a:lstStyle/>
                    <a:p>
                      <a:pPr>
                        <a:buNone/>
                      </a:pPr>
                      <a:r>
                        <a:rPr lang="en-CA" sz="900"/>
                        <a:t>Advanced (Studio-level)</a:t>
                      </a:r>
                    </a:p>
                  </a:txBody>
                  <a:tcPr marL="37838" marR="37838" marT="18919" marB="18919" anchor="ctr"/>
                </a:tc>
                <a:extLst>
                  <a:ext uri="{0D108BD9-81ED-4DB2-BD59-A6C34878D82A}">
                    <a16:rowId xmlns:a16="http://schemas.microsoft.com/office/drawing/2014/main" val="3986137500"/>
                  </a:ext>
                </a:extLst>
              </a:tr>
              <a:tr h="567605">
                <a:tc>
                  <a:txBody>
                    <a:bodyPr/>
                    <a:lstStyle/>
                    <a:p>
                      <a:pPr>
                        <a:buNone/>
                      </a:pPr>
                      <a:r>
                        <a:rPr lang="en-CA" sz="900" b="1"/>
                        <a:t>Havok AI</a:t>
                      </a:r>
                      <a:endParaRPr lang="en-CA" sz="900"/>
                    </a:p>
                  </a:txBody>
                  <a:tcPr marL="37838" marR="37838" marT="18919" marB="18919" anchor="ctr"/>
                </a:tc>
                <a:tc>
                  <a:txBody>
                    <a:bodyPr/>
                    <a:lstStyle/>
                    <a:p>
                      <a:pPr>
                        <a:buNone/>
                      </a:pPr>
                      <a:r>
                        <a:rPr lang="en-US" sz="900"/>
                        <a:t>- Industry-proven - Highly optimized navigation/pathfinding - Supports dynamic worlds</a:t>
                      </a:r>
                    </a:p>
                  </a:txBody>
                  <a:tcPr marL="37838" marR="37838" marT="18919" marB="18919" anchor="ctr"/>
                </a:tc>
                <a:tc>
                  <a:txBody>
                    <a:bodyPr/>
                    <a:lstStyle/>
                    <a:p>
                      <a:pPr>
                        <a:buNone/>
                      </a:pPr>
                      <a:r>
                        <a:rPr lang="en-US" sz="900"/>
                        <a:t>- Proprietary &amp; costly - Limited flexibility vs. custom ML</a:t>
                      </a:r>
                    </a:p>
                  </a:txBody>
                  <a:tcPr marL="37838" marR="37838" marT="18919" marB="18919" anchor="ctr"/>
                </a:tc>
                <a:tc>
                  <a:txBody>
                    <a:bodyPr/>
                    <a:lstStyle/>
                    <a:p>
                      <a:pPr>
                        <a:buNone/>
                      </a:pPr>
                      <a:r>
                        <a:rPr lang="en-US" sz="900"/>
                        <a:t>AAA titles, physics-heavy games needing scalable AI</a:t>
                      </a:r>
                    </a:p>
                  </a:txBody>
                  <a:tcPr marL="37838" marR="37838" marT="18919" marB="18919" anchor="ctr"/>
                </a:tc>
                <a:tc>
                  <a:txBody>
                    <a:bodyPr/>
                    <a:lstStyle/>
                    <a:p>
                      <a:pPr>
                        <a:buNone/>
                      </a:pPr>
                      <a:r>
                        <a:rPr lang="en-CA" sz="900"/>
                        <a:t>Advanced</a:t>
                      </a:r>
                    </a:p>
                  </a:txBody>
                  <a:tcPr marL="37838" marR="37838" marT="18919" marB="18919" anchor="ctr"/>
                </a:tc>
                <a:extLst>
                  <a:ext uri="{0D108BD9-81ED-4DB2-BD59-A6C34878D82A}">
                    <a16:rowId xmlns:a16="http://schemas.microsoft.com/office/drawing/2014/main" val="1238545843"/>
                  </a:ext>
                </a:extLst>
              </a:tr>
              <a:tr h="463046">
                <a:tc>
                  <a:txBody>
                    <a:bodyPr/>
                    <a:lstStyle/>
                    <a:p>
                      <a:pPr>
                        <a:buNone/>
                      </a:pPr>
                      <a:r>
                        <a:rPr lang="en-CA" sz="900" b="1"/>
                        <a:t>RAIN AI (Unity)</a:t>
                      </a:r>
                      <a:endParaRPr lang="en-CA" sz="900"/>
                    </a:p>
                  </a:txBody>
                  <a:tcPr marL="37838" marR="37838" marT="18919" marB="18919" anchor="ctr"/>
                </a:tc>
                <a:tc>
                  <a:txBody>
                    <a:bodyPr/>
                    <a:lstStyle/>
                    <a:p>
                      <a:pPr>
                        <a:buNone/>
                      </a:pPr>
                      <a:r>
                        <a:rPr lang="en-US" sz="900"/>
                        <a:t>- Free Unity toolkit - Provides FSMs, sensors, decision-making - Easy setup</a:t>
                      </a:r>
                    </a:p>
                  </a:txBody>
                  <a:tcPr marL="37838" marR="37838" marT="18919" marB="18919" anchor="ctr"/>
                </a:tc>
                <a:tc>
                  <a:txBody>
                    <a:bodyPr/>
                    <a:lstStyle/>
                    <a:p>
                      <a:pPr>
                        <a:buNone/>
                      </a:pPr>
                      <a:r>
                        <a:rPr lang="en-US" sz="900"/>
                        <a:t>- No longer actively updated - Limited vs. ML-Agents</a:t>
                      </a:r>
                    </a:p>
                  </a:txBody>
                  <a:tcPr marL="37838" marR="37838" marT="18919" marB="18919" anchor="ctr"/>
                </a:tc>
                <a:tc>
                  <a:txBody>
                    <a:bodyPr/>
                    <a:lstStyle/>
                    <a:p>
                      <a:pPr>
                        <a:buNone/>
                      </a:pPr>
                      <a:r>
                        <a:rPr lang="en-US" sz="900"/>
                        <a:t>Simple NPC AI in Unity projects</a:t>
                      </a:r>
                    </a:p>
                  </a:txBody>
                  <a:tcPr marL="37838" marR="37838" marT="18919" marB="18919" anchor="ctr"/>
                </a:tc>
                <a:tc>
                  <a:txBody>
                    <a:bodyPr/>
                    <a:lstStyle/>
                    <a:p>
                      <a:pPr>
                        <a:buNone/>
                      </a:pPr>
                      <a:r>
                        <a:rPr lang="en-CA" sz="900"/>
                        <a:t>Beginner–Intermediate</a:t>
                      </a:r>
                    </a:p>
                  </a:txBody>
                  <a:tcPr marL="37838" marR="37838" marT="18919" marB="18919" anchor="ctr"/>
                </a:tc>
                <a:extLst>
                  <a:ext uri="{0D108BD9-81ED-4DB2-BD59-A6C34878D82A}">
                    <a16:rowId xmlns:a16="http://schemas.microsoft.com/office/drawing/2014/main" val="3627111013"/>
                  </a:ext>
                </a:extLst>
              </a:tr>
              <a:tr h="567605">
                <a:tc>
                  <a:txBody>
                    <a:bodyPr/>
                    <a:lstStyle/>
                    <a:p>
                      <a:pPr>
                        <a:buNone/>
                      </a:pPr>
                      <a:r>
                        <a:rPr lang="en-CA" sz="900" b="1"/>
                        <a:t>Recast &amp; Detour</a:t>
                      </a:r>
                      <a:endParaRPr lang="en-CA" sz="900"/>
                    </a:p>
                  </a:txBody>
                  <a:tcPr marL="37838" marR="37838" marT="18919" marB="18919" anchor="ctr"/>
                </a:tc>
                <a:tc>
                  <a:txBody>
                    <a:bodyPr/>
                    <a:lstStyle/>
                    <a:p>
                      <a:pPr>
                        <a:buNone/>
                      </a:pPr>
                      <a:r>
                        <a:rPr lang="en-US" sz="900"/>
                        <a:t>- Gold standard navmesh generator - Used in many commercial engines - Fast, stable</a:t>
                      </a:r>
                    </a:p>
                  </a:txBody>
                  <a:tcPr marL="37838" marR="37838" marT="18919" marB="18919" anchor="ctr"/>
                </a:tc>
                <a:tc>
                  <a:txBody>
                    <a:bodyPr/>
                    <a:lstStyle/>
                    <a:p>
                      <a:pPr>
                        <a:buNone/>
                      </a:pPr>
                      <a:r>
                        <a:rPr lang="en-US" sz="900"/>
                        <a:t>- Only handles navigation/pathfinding - No decision-making AI</a:t>
                      </a:r>
                    </a:p>
                  </a:txBody>
                  <a:tcPr marL="37838" marR="37838" marT="18919" marB="18919" anchor="ctr"/>
                </a:tc>
                <a:tc>
                  <a:txBody>
                    <a:bodyPr/>
                    <a:lstStyle/>
                    <a:p>
                      <a:pPr>
                        <a:buNone/>
                      </a:pPr>
                      <a:r>
                        <a:rPr lang="en-US" sz="900"/>
                        <a:t>Custom engines, Unity/Unreal extensions</a:t>
                      </a:r>
                    </a:p>
                  </a:txBody>
                  <a:tcPr marL="37838" marR="37838" marT="18919" marB="18919" anchor="ctr"/>
                </a:tc>
                <a:tc>
                  <a:txBody>
                    <a:bodyPr/>
                    <a:lstStyle/>
                    <a:p>
                      <a:pPr>
                        <a:buNone/>
                      </a:pPr>
                      <a:r>
                        <a:rPr lang="en-CA" sz="900"/>
                        <a:t>Intermediate</a:t>
                      </a:r>
                    </a:p>
                  </a:txBody>
                  <a:tcPr marL="37838" marR="37838" marT="18919" marB="18919" anchor="ctr"/>
                </a:tc>
                <a:extLst>
                  <a:ext uri="{0D108BD9-81ED-4DB2-BD59-A6C34878D82A}">
                    <a16:rowId xmlns:a16="http://schemas.microsoft.com/office/drawing/2014/main" val="3487382434"/>
                  </a:ext>
                </a:extLst>
              </a:tr>
              <a:tr h="463046">
                <a:tc>
                  <a:txBody>
                    <a:bodyPr/>
                    <a:lstStyle/>
                    <a:p>
                      <a:pPr>
                        <a:buNone/>
                      </a:pPr>
                      <a:r>
                        <a:rPr lang="en-CA" sz="900"/>
                        <a:t>A Pathfinding Project (Unity)*</a:t>
                      </a:r>
                    </a:p>
                  </a:txBody>
                  <a:tcPr marL="37838" marR="37838" marT="18919" marB="18919" anchor="ctr"/>
                </a:tc>
                <a:tc>
                  <a:txBody>
                    <a:bodyPr/>
                    <a:lstStyle/>
                    <a:p>
                      <a:pPr>
                        <a:buNone/>
                      </a:pPr>
                      <a:r>
                        <a:rPr lang="en-US" sz="900"/>
                        <a:t>- Very popular Unity asset - Grid, navmesh, &amp; point graph support - Optimized for 2D &amp; 3D</a:t>
                      </a:r>
                    </a:p>
                  </a:txBody>
                  <a:tcPr marL="37838" marR="37838" marT="18919" marB="18919" anchor="ctr"/>
                </a:tc>
                <a:tc>
                  <a:txBody>
                    <a:bodyPr/>
                    <a:lstStyle/>
                    <a:p>
                      <a:pPr>
                        <a:buNone/>
                      </a:pPr>
                      <a:r>
                        <a:rPr lang="en-US" sz="900"/>
                        <a:t>- Navigation only (no high-level AI) - Limited ML support</a:t>
                      </a:r>
                    </a:p>
                  </a:txBody>
                  <a:tcPr marL="37838" marR="37838" marT="18919" marB="18919" anchor="ctr"/>
                </a:tc>
                <a:tc>
                  <a:txBody>
                    <a:bodyPr/>
                    <a:lstStyle/>
                    <a:p>
                      <a:pPr>
                        <a:buNone/>
                      </a:pPr>
                      <a:r>
                        <a:rPr lang="en-US" sz="900"/>
                        <a:t>Indie projects, 2D/3D games with AI agents</a:t>
                      </a:r>
                    </a:p>
                  </a:txBody>
                  <a:tcPr marL="37838" marR="37838" marT="18919" marB="18919" anchor="ctr"/>
                </a:tc>
                <a:tc>
                  <a:txBody>
                    <a:bodyPr/>
                    <a:lstStyle/>
                    <a:p>
                      <a:pPr>
                        <a:buNone/>
                      </a:pPr>
                      <a:r>
                        <a:rPr lang="en-CA" sz="900"/>
                        <a:t>Beginner–Intermediate</a:t>
                      </a:r>
                    </a:p>
                  </a:txBody>
                  <a:tcPr marL="37838" marR="37838" marT="18919" marB="18919" anchor="ctr"/>
                </a:tc>
                <a:extLst>
                  <a:ext uri="{0D108BD9-81ED-4DB2-BD59-A6C34878D82A}">
                    <a16:rowId xmlns:a16="http://schemas.microsoft.com/office/drawing/2014/main" val="3174455971"/>
                  </a:ext>
                </a:extLst>
              </a:tr>
              <a:tr h="567605">
                <a:tc>
                  <a:txBody>
                    <a:bodyPr/>
                    <a:lstStyle/>
                    <a:p>
                      <a:pPr>
                        <a:buNone/>
                      </a:pPr>
                      <a:r>
                        <a:rPr lang="en-US" sz="900" b="1"/>
                        <a:t>TensorFlow / PyTorch (with Unity/Unreal)</a:t>
                      </a:r>
                      <a:endParaRPr lang="en-US" sz="900"/>
                    </a:p>
                  </a:txBody>
                  <a:tcPr marL="37838" marR="37838" marT="18919" marB="18919" anchor="ctr"/>
                </a:tc>
                <a:tc>
                  <a:txBody>
                    <a:bodyPr/>
                    <a:lstStyle/>
                    <a:p>
                      <a:pPr>
                        <a:buNone/>
                      </a:pPr>
                      <a:r>
                        <a:rPr lang="en-US" sz="900"/>
                        <a:t>- Cutting-edge ML libraries - Great for research &amp; adaptive AI - Integrates with Unity ML-Agents</a:t>
                      </a:r>
                    </a:p>
                  </a:txBody>
                  <a:tcPr marL="37838" marR="37838" marT="18919" marB="18919" anchor="ctr"/>
                </a:tc>
                <a:tc>
                  <a:txBody>
                    <a:bodyPr/>
                    <a:lstStyle/>
                    <a:p>
                      <a:pPr>
                        <a:buNone/>
                      </a:pPr>
                      <a:r>
                        <a:rPr lang="en-US" sz="900"/>
                        <a:t>- Requires deep ML knowledge - Can be heavy for real-time games</a:t>
                      </a:r>
                    </a:p>
                  </a:txBody>
                  <a:tcPr marL="37838" marR="37838" marT="18919" marB="18919" anchor="ctr"/>
                </a:tc>
                <a:tc>
                  <a:txBody>
                    <a:bodyPr/>
                    <a:lstStyle/>
                    <a:p>
                      <a:pPr>
                        <a:buNone/>
                      </a:pPr>
                      <a:r>
                        <a:rPr lang="en-CA" sz="900"/>
                        <a:t>Adaptive AI, procedural content, experimental gameplay</a:t>
                      </a:r>
                    </a:p>
                  </a:txBody>
                  <a:tcPr marL="37838" marR="37838" marT="18919" marB="18919" anchor="ctr"/>
                </a:tc>
                <a:tc>
                  <a:txBody>
                    <a:bodyPr/>
                    <a:lstStyle/>
                    <a:p>
                      <a:pPr>
                        <a:buNone/>
                      </a:pPr>
                      <a:r>
                        <a:rPr lang="en-CA" sz="900"/>
                        <a:t>Advanced (AI/ML experience)</a:t>
                      </a:r>
                    </a:p>
                  </a:txBody>
                  <a:tcPr marL="37838" marR="37838" marT="18919" marB="18919" anchor="ctr"/>
                </a:tc>
                <a:extLst>
                  <a:ext uri="{0D108BD9-81ED-4DB2-BD59-A6C34878D82A}">
                    <a16:rowId xmlns:a16="http://schemas.microsoft.com/office/drawing/2014/main" val="1136159272"/>
                  </a:ext>
                </a:extLst>
              </a:tr>
              <a:tr h="567605">
                <a:tc>
                  <a:txBody>
                    <a:bodyPr/>
                    <a:lstStyle/>
                    <a:p>
                      <a:pPr>
                        <a:buNone/>
                      </a:pPr>
                      <a:r>
                        <a:rPr lang="en-CA" sz="900" b="1"/>
                        <a:t>OpenAI Gym / PettingZoo</a:t>
                      </a:r>
                      <a:endParaRPr lang="en-CA" sz="900"/>
                    </a:p>
                  </a:txBody>
                  <a:tcPr marL="37838" marR="37838" marT="18919" marB="18919" anchor="ctr"/>
                </a:tc>
                <a:tc>
                  <a:txBody>
                    <a:bodyPr/>
                    <a:lstStyle/>
                    <a:p>
                      <a:pPr>
                        <a:buNone/>
                      </a:pPr>
                      <a:r>
                        <a:rPr lang="en-US" sz="900"/>
                        <a:t>- Great for prototyping RL agents - Good benchmarking environment - Active research ecosystem</a:t>
                      </a:r>
                    </a:p>
                  </a:txBody>
                  <a:tcPr marL="37838" marR="37838" marT="18919" marB="18919" anchor="ctr"/>
                </a:tc>
                <a:tc>
                  <a:txBody>
                    <a:bodyPr/>
                    <a:lstStyle/>
                    <a:p>
                      <a:pPr>
                        <a:buNone/>
                      </a:pPr>
                      <a:r>
                        <a:rPr lang="en-US" sz="900"/>
                        <a:t>- Not production-ready - Integration with game engines takes effort</a:t>
                      </a:r>
                    </a:p>
                  </a:txBody>
                  <a:tcPr marL="37838" marR="37838" marT="18919" marB="18919" anchor="ctr"/>
                </a:tc>
                <a:tc>
                  <a:txBody>
                    <a:bodyPr/>
                    <a:lstStyle/>
                    <a:p>
                      <a:pPr>
                        <a:buNone/>
                      </a:pPr>
                      <a:r>
                        <a:rPr lang="en-US" sz="900"/>
                        <a:t>Research, prototyping, AI training simulations</a:t>
                      </a:r>
                    </a:p>
                  </a:txBody>
                  <a:tcPr marL="37838" marR="37838" marT="18919" marB="18919" anchor="ctr"/>
                </a:tc>
                <a:tc>
                  <a:txBody>
                    <a:bodyPr/>
                    <a:lstStyle/>
                    <a:p>
                      <a:pPr>
                        <a:buNone/>
                      </a:pPr>
                      <a:r>
                        <a:rPr lang="en-CA" sz="900" dirty="0"/>
                        <a:t>Advanced (Research/ML focus)</a:t>
                      </a:r>
                    </a:p>
                  </a:txBody>
                  <a:tcPr marL="37838" marR="37838" marT="18919" marB="18919" anchor="ctr"/>
                </a:tc>
                <a:extLst>
                  <a:ext uri="{0D108BD9-81ED-4DB2-BD59-A6C34878D82A}">
                    <a16:rowId xmlns:a16="http://schemas.microsoft.com/office/drawing/2014/main" val="1145415703"/>
                  </a:ext>
                </a:extLst>
              </a:tr>
            </a:tbl>
          </a:graphicData>
        </a:graphic>
      </p:graphicFrame>
    </p:spTree>
    <p:extLst>
      <p:ext uri="{BB962C8B-B14F-4D97-AF65-F5344CB8AC3E}">
        <p14:creationId xmlns:p14="http://schemas.microsoft.com/office/powerpoint/2010/main" val="3710088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162E54-7CD4-DDBD-FC5B-0EEAD1B4EE08}"/>
              </a:ext>
            </a:extLst>
          </p:cNvPr>
          <p:cNvSpPr>
            <a:spLocks noGrp="1"/>
          </p:cNvSpPr>
          <p:nvPr>
            <p:ph type="body" idx="1"/>
          </p:nvPr>
        </p:nvSpPr>
        <p:spPr/>
        <p:txBody>
          <a:bodyPr/>
          <a:lstStyle/>
          <a:p>
            <a:r>
              <a:rPr lang="en-CA" b="1" dirty="0"/>
              <a:t>Indie Devs / Beginners</a:t>
            </a:r>
            <a:r>
              <a:rPr lang="en-CA" dirty="0"/>
              <a:t> → </a:t>
            </a:r>
            <a:r>
              <a:rPr lang="en-CA" i="1" dirty="0"/>
              <a:t>A* Pathfinding Project</a:t>
            </a:r>
            <a:r>
              <a:rPr lang="en-CA" dirty="0"/>
              <a:t>, </a:t>
            </a:r>
            <a:r>
              <a:rPr lang="en-CA" i="1" dirty="0"/>
              <a:t>RAIN AI</a:t>
            </a:r>
            <a:r>
              <a:rPr lang="en-CA" dirty="0"/>
              <a:t>, or </a:t>
            </a:r>
            <a:r>
              <a:rPr lang="en-CA" i="1" dirty="0"/>
              <a:t>Unity ML-Agents</a:t>
            </a:r>
            <a:r>
              <a:rPr lang="en-CA" dirty="0"/>
              <a:t> (if curious about ML).</a:t>
            </a:r>
          </a:p>
          <a:p>
            <a:r>
              <a:rPr lang="en-CA" b="1" dirty="0"/>
              <a:t>AAA Studios</a:t>
            </a:r>
            <a:r>
              <a:rPr lang="en-CA" dirty="0"/>
              <a:t> → </a:t>
            </a:r>
            <a:r>
              <a:rPr lang="en-CA" i="1" dirty="0"/>
              <a:t>Unreal Engine AI tools</a:t>
            </a:r>
            <a:r>
              <a:rPr lang="en-CA" dirty="0"/>
              <a:t> + </a:t>
            </a:r>
            <a:r>
              <a:rPr lang="en-CA" i="1" dirty="0"/>
              <a:t>Kythera AI</a:t>
            </a:r>
            <a:r>
              <a:rPr lang="en-CA" dirty="0"/>
              <a:t> or </a:t>
            </a:r>
            <a:r>
              <a:rPr lang="en-CA" i="1" dirty="0"/>
              <a:t>Havok AI</a:t>
            </a:r>
            <a:r>
              <a:rPr lang="en-CA" dirty="0"/>
              <a:t>.</a:t>
            </a:r>
          </a:p>
          <a:p>
            <a:r>
              <a:rPr lang="en-CA" b="1" dirty="0"/>
              <a:t>Researchers / Innovators</a:t>
            </a:r>
            <a:r>
              <a:rPr lang="en-CA" dirty="0"/>
              <a:t> → </a:t>
            </a:r>
            <a:r>
              <a:rPr lang="en-CA" i="1" dirty="0"/>
              <a:t>Unity ML-Agents</a:t>
            </a:r>
            <a:r>
              <a:rPr lang="en-CA" dirty="0"/>
              <a:t> + </a:t>
            </a:r>
            <a:r>
              <a:rPr lang="en-CA" i="1" dirty="0"/>
              <a:t>TensorFlow/</a:t>
            </a:r>
            <a:r>
              <a:rPr lang="en-CA" i="1" dirty="0" err="1"/>
              <a:t>PyTorch</a:t>
            </a:r>
            <a:r>
              <a:rPr lang="en-CA" dirty="0"/>
              <a:t>.</a:t>
            </a:r>
          </a:p>
          <a:p>
            <a:r>
              <a:rPr lang="en-CA" b="1" dirty="0"/>
              <a:t>Custom Engines</a:t>
            </a:r>
            <a:r>
              <a:rPr lang="en-CA" dirty="0"/>
              <a:t> → </a:t>
            </a:r>
            <a:r>
              <a:rPr lang="en-CA" i="1" dirty="0"/>
              <a:t>Recast &amp; Detour</a:t>
            </a:r>
            <a:r>
              <a:rPr lang="en-CA" dirty="0"/>
              <a:t> for </a:t>
            </a:r>
            <a:r>
              <a:rPr lang="en-CA" dirty="0" err="1"/>
              <a:t>navmesh</a:t>
            </a:r>
            <a:r>
              <a:rPr lang="en-CA" dirty="0"/>
              <a:t> + your own FSM/Behavior Tree system.</a:t>
            </a:r>
          </a:p>
          <a:p>
            <a:endParaRPr lang="en-CA" dirty="0"/>
          </a:p>
        </p:txBody>
      </p:sp>
      <p:sp>
        <p:nvSpPr>
          <p:cNvPr id="3" name="Title 2">
            <a:extLst>
              <a:ext uri="{FF2B5EF4-FFF2-40B4-BE49-F238E27FC236}">
                <a16:creationId xmlns:a16="http://schemas.microsoft.com/office/drawing/2014/main" id="{CDD5DA2B-EEB7-46DF-AF83-F62E3ACE09B2}"/>
              </a:ext>
            </a:extLst>
          </p:cNvPr>
          <p:cNvSpPr>
            <a:spLocks noGrp="1"/>
          </p:cNvSpPr>
          <p:nvPr>
            <p:ph type="title"/>
          </p:nvPr>
        </p:nvSpPr>
        <p:spPr/>
        <p:txBody>
          <a:bodyPr/>
          <a:lstStyle/>
          <a:p>
            <a:r>
              <a:rPr lang="en-CA" dirty="0"/>
              <a:t>Recommendations</a:t>
            </a:r>
          </a:p>
        </p:txBody>
      </p:sp>
    </p:spTree>
    <p:extLst>
      <p:ext uri="{BB962C8B-B14F-4D97-AF65-F5344CB8AC3E}">
        <p14:creationId xmlns:p14="http://schemas.microsoft.com/office/powerpoint/2010/main" val="10280158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52"/>
          <p:cNvSpPr txBox="1">
            <a:spLocks noGrp="1"/>
          </p:cNvSpPr>
          <p:nvPr>
            <p:ph type="title"/>
          </p:nvPr>
        </p:nvSpPr>
        <p:spPr>
          <a:xfrm>
            <a:off x="1981200" y="0"/>
            <a:ext cx="8229600" cy="1295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Game-specific subsystems</a:t>
            </a:r>
            <a:endParaRPr/>
          </a:p>
        </p:txBody>
      </p:sp>
      <p:sp>
        <p:nvSpPr>
          <p:cNvPr id="718" name="Google Shape;718;p52"/>
          <p:cNvSpPr txBox="1">
            <a:spLocks noGrp="1"/>
          </p:cNvSpPr>
          <p:nvPr>
            <p:ph type="body" idx="1"/>
          </p:nvPr>
        </p:nvSpPr>
        <p:spPr>
          <a:xfrm>
            <a:off x="595311" y="1413668"/>
            <a:ext cx="11036401" cy="5195476"/>
          </a:xfrm>
          <a:prstGeom prst="rect">
            <a:avLst/>
          </a:prstGeom>
          <a:noFill/>
          <a:ln>
            <a:noFill/>
          </a:ln>
        </p:spPr>
        <p:txBody>
          <a:bodyPr spcFirstLastPara="1" wrap="square" lIns="91425" tIns="45700" rIns="91425" bIns="45700" anchor="t"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All of the specific stuff needed for a game</a:t>
            </a:r>
            <a:endParaRPr/>
          </a:p>
          <a:p>
            <a:pPr marL="0" lvl="0" indent="-19050" algn="l" rtl="0">
              <a:lnSpc>
                <a:spcPct val="90000"/>
              </a:lnSpc>
              <a:spcBef>
                <a:spcPts val="2200"/>
              </a:spcBef>
              <a:spcAft>
                <a:spcPts val="0"/>
              </a:spcAft>
              <a:buClr>
                <a:schemeClr val="dk1"/>
              </a:buClr>
              <a:buSzPts val="300"/>
              <a:buFont typeface="Quattrocento Sans"/>
              <a:buChar char=" "/>
            </a:pPr>
            <a:r>
              <a:rPr lang="en-US"/>
              <a:t>This layer could be considered outside of the game engine itself</a:t>
            </a:r>
            <a:endParaRPr/>
          </a:p>
          <a:p>
            <a:pPr marL="0" lvl="0" indent="0" algn="l" rtl="0">
              <a:lnSpc>
                <a:spcPct val="90000"/>
              </a:lnSpc>
              <a:spcBef>
                <a:spcPts val="2200"/>
              </a:spcBef>
              <a:spcAft>
                <a:spcPts val="0"/>
              </a:spcAft>
              <a:buClr>
                <a:schemeClr val="dk1"/>
              </a:buClr>
              <a:buSzPts val="300"/>
              <a:buFont typeface="Quattrocento Sans"/>
              <a:buNone/>
            </a:pPr>
            <a:endParaRPr/>
          </a:p>
          <a:p>
            <a:pPr marL="0" lvl="0" indent="0" algn="l" rtl="0">
              <a:lnSpc>
                <a:spcPct val="90000"/>
              </a:lnSpc>
              <a:spcBef>
                <a:spcPts val="2200"/>
              </a:spcBef>
              <a:spcAft>
                <a:spcPts val="0"/>
              </a:spcAft>
              <a:buClr>
                <a:schemeClr val="dk1"/>
              </a:buClr>
              <a:buSzPts val="300"/>
              <a:buFont typeface="Quattrocento Sans"/>
              <a:buNone/>
            </a:pPr>
            <a:endParaRPr/>
          </a:p>
          <a:p>
            <a:pPr marL="0" lvl="0" indent="-19050" algn="l" rtl="0">
              <a:lnSpc>
                <a:spcPct val="90000"/>
              </a:lnSpc>
              <a:spcBef>
                <a:spcPts val="2200"/>
              </a:spcBef>
              <a:spcAft>
                <a:spcPts val="0"/>
              </a:spcAft>
              <a:buClr>
                <a:schemeClr val="dk1"/>
              </a:buClr>
              <a:buSzPts val="300"/>
              <a:buFont typeface="Quattrocento Sans"/>
              <a:buChar char=" "/>
            </a:pPr>
            <a:r>
              <a:rPr lang="en-US"/>
              <a:t>On top of the gameplay foundation layer and the other low-level engine components, gameplay programmers and designers cooperate to implement the features of the game itself.</a:t>
            </a:r>
            <a:endParaRPr/>
          </a:p>
          <a:p>
            <a:pPr marL="0" lvl="0" indent="-19050" algn="l" rtl="0">
              <a:lnSpc>
                <a:spcPct val="90000"/>
              </a:lnSpc>
              <a:spcBef>
                <a:spcPts val="2200"/>
              </a:spcBef>
              <a:spcAft>
                <a:spcPts val="0"/>
              </a:spcAft>
              <a:buClr>
                <a:schemeClr val="dk1"/>
              </a:buClr>
              <a:buSzPts val="300"/>
              <a:buFont typeface="Quattrocento Sans"/>
              <a:buChar char=" "/>
            </a:pPr>
            <a:r>
              <a:rPr lang="en-US"/>
              <a:t>Gameplay systems are usually numerous, highly varied and specific to the game being developed.</a:t>
            </a:r>
            <a:endParaRPr/>
          </a:p>
          <a:p>
            <a:pPr marL="0" lvl="0" indent="-19050" algn="l" rtl="0">
              <a:lnSpc>
                <a:spcPct val="90000"/>
              </a:lnSpc>
              <a:spcBef>
                <a:spcPts val="2200"/>
              </a:spcBef>
              <a:spcAft>
                <a:spcPts val="0"/>
              </a:spcAft>
              <a:buClr>
                <a:schemeClr val="dk1"/>
              </a:buClr>
              <a:buSzPts val="300"/>
              <a:buFont typeface="Quattrocento Sans"/>
              <a:buChar char=" "/>
            </a:pPr>
            <a:r>
              <a:rPr lang="en-US"/>
              <a:t>Game-specific subsystems include to the mechanics of the player character, various in-game camera systems, artificial intelligence for the control of non-player characters, weapon systems, vehicles, etc.</a:t>
            </a:r>
            <a:endParaRPr/>
          </a:p>
          <a:p>
            <a:pPr marL="0" lvl="0" indent="-19050" algn="l" rtl="0">
              <a:lnSpc>
                <a:spcPct val="90000"/>
              </a:lnSpc>
              <a:spcBef>
                <a:spcPts val="2200"/>
              </a:spcBef>
              <a:spcAft>
                <a:spcPts val="0"/>
              </a:spcAft>
              <a:buClr>
                <a:schemeClr val="dk1"/>
              </a:buClr>
              <a:buSzPts val="300"/>
              <a:buFont typeface="Quattrocento Sans"/>
              <a:buChar char=" "/>
            </a:pPr>
            <a:r>
              <a:rPr lang="en-US"/>
              <a:t>The game-specific subsystems and the gameplay foundations defines the clear line between the game engine and the game.</a:t>
            </a:r>
            <a:endParaRPr/>
          </a:p>
        </p:txBody>
      </p:sp>
      <p:pic>
        <p:nvPicPr>
          <p:cNvPr id="719" name="Google Shape;719;p52"/>
          <p:cNvPicPr preferRelativeResize="0"/>
          <p:nvPr/>
        </p:nvPicPr>
        <p:blipFill rotWithShape="1">
          <a:blip r:embed="rId3">
            <a:alphaModFix/>
          </a:blip>
          <a:srcRect/>
          <a:stretch/>
        </p:blipFill>
        <p:spPr>
          <a:xfrm>
            <a:off x="5097563" y="1504950"/>
            <a:ext cx="6534150" cy="1409700"/>
          </a:xfrm>
          <a:prstGeom prst="rect">
            <a:avLst/>
          </a:prstGeom>
          <a:noFill/>
          <a:ln>
            <a:noFill/>
          </a:ln>
        </p:spPr>
      </p:pic>
      <p:sp>
        <p:nvSpPr>
          <p:cNvPr id="720" name="Google Shape;720;p52"/>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59</a:t>
            </a:fld>
            <a:endParaRPr sz="1200" b="0" i="0" u="none" strike="noStrike" cap="none">
              <a:solidFill>
                <a:srgbClr val="595959"/>
              </a:solidFill>
              <a:latin typeface="Century Gothic"/>
              <a:ea typeface="Century Gothic"/>
              <a:cs typeface="Century Gothic"/>
              <a:sym typeface="Century Gothic"/>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53"/>
          <p:cNvSpPr txBox="1">
            <a:spLocks noGrp="1"/>
          </p:cNvSpPr>
          <p:nvPr>
            <p:ph type="body" idx="1"/>
          </p:nvPr>
        </p:nvSpPr>
        <p:spPr>
          <a:xfrm>
            <a:off x="652558" y="1507068"/>
            <a:ext cx="3630683" cy="4669896"/>
          </a:xfrm>
          <a:prstGeom prst="rect">
            <a:avLst/>
          </a:prstGeom>
          <a:noFill/>
          <a:ln>
            <a:noFill/>
          </a:ln>
        </p:spPr>
        <p:txBody>
          <a:bodyPr spcFirstLastPara="1" wrap="square" lIns="91425" tIns="45700" rIns="91425" bIns="45700" anchor="ctr" anchorCtr="0">
            <a:normAutofit/>
          </a:bodyPr>
          <a:lstStyle/>
          <a:p>
            <a:pPr marL="0" lvl="0" indent="-19050" algn="l" rtl="0">
              <a:lnSpc>
                <a:spcPct val="150000"/>
              </a:lnSpc>
              <a:spcBef>
                <a:spcPts val="0"/>
              </a:spcBef>
              <a:spcAft>
                <a:spcPts val="0"/>
              </a:spcAft>
              <a:buClr>
                <a:schemeClr val="dk1"/>
              </a:buClr>
              <a:buSzPts val="300"/>
              <a:buFont typeface="Quattrocento Sans"/>
              <a:buChar char=" "/>
            </a:pPr>
            <a:r>
              <a:rPr lang="en-US"/>
              <a:t>Any game engine must be fed a great deal of data, in the form of game assets, configuration files, scripts and so on.</a:t>
            </a:r>
            <a:endParaRPr/>
          </a:p>
          <a:p>
            <a:pPr marL="0" lvl="0" indent="-19050" algn="l" rtl="0">
              <a:lnSpc>
                <a:spcPct val="150000"/>
              </a:lnSpc>
              <a:spcBef>
                <a:spcPts val="2200"/>
              </a:spcBef>
              <a:spcAft>
                <a:spcPts val="0"/>
              </a:spcAft>
              <a:buClr>
                <a:schemeClr val="dk1"/>
              </a:buClr>
              <a:buSzPts val="300"/>
              <a:buFont typeface="Quattrocento Sans"/>
              <a:buChar char=" "/>
            </a:pPr>
            <a:r>
              <a:rPr lang="en-US"/>
              <a:t>The thicker dark-grey arrows show how data flows from the tools used to create the original source assets all the way through to the game engine itself. </a:t>
            </a:r>
            <a:endParaRPr/>
          </a:p>
          <a:p>
            <a:pPr marL="0" lvl="0" indent="-19050" algn="l" rtl="0">
              <a:lnSpc>
                <a:spcPct val="150000"/>
              </a:lnSpc>
              <a:spcBef>
                <a:spcPts val="2200"/>
              </a:spcBef>
              <a:spcAft>
                <a:spcPts val="0"/>
              </a:spcAft>
              <a:buClr>
                <a:schemeClr val="dk1"/>
              </a:buClr>
              <a:buSzPts val="300"/>
              <a:buFont typeface="Quattrocento Sans"/>
              <a:buChar char=" "/>
            </a:pPr>
            <a:r>
              <a:rPr lang="en-US"/>
              <a:t>The thinner light-grey arrows show how the various types of assets refer to or use other assets.</a:t>
            </a:r>
            <a:endParaRPr/>
          </a:p>
        </p:txBody>
      </p:sp>
      <p:sp>
        <p:nvSpPr>
          <p:cNvPr id="726" name="Google Shape;726;p53"/>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p>
            <a:pPr marL="0" lvl="0" indent="-19050" algn="l" rtl="0">
              <a:lnSpc>
                <a:spcPct val="90000"/>
              </a:lnSpc>
              <a:spcBef>
                <a:spcPts val="0"/>
              </a:spcBef>
              <a:spcAft>
                <a:spcPts val="0"/>
              </a:spcAft>
              <a:buClr>
                <a:schemeClr val="dk1"/>
              </a:buClr>
              <a:buSzPts val="300"/>
              <a:buFont typeface="Quattrocento Sans"/>
              <a:buChar char=" "/>
            </a:pPr>
            <a:r>
              <a:rPr lang="en-US"/>
              <a:t> </a:t>
            </a:r>
            <a:endParaRPr/>
          </a:p>
        </p:txBody>
      </p:sp>
      <p:sp>
        <p:nvSpPr>
          <p:cNvPr id="727" name="Google Shape;727;p5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Tools and the asset pipeline</a:t>
            </a:r>
            <a:endParaRPr/>
          </a:p>
        </p:txBody>
      </p:sp>
      <p:sp>
        <p:nvSpPr>
          <p:cNvPr id="728" name="Google Shape;728;p53"/>
          <p:cNvSpPr txBox="1">
            <a:spLocks noGrp="1"/>
          </p:cNvSpPr>
          <p:nvPr>
            <p:ph type="sldNum" idx="4294967295"/>
          </p:nvPr>
        </p:nvSpPr>
        <p:spPr>
          <a:xfrm>
            <a:off x="116300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i="0" u="none" strike="noStrike" cap="none">
                <a:solidFill>
                  <a:srgbClr val="595959"/>
                </a:solidFill>
                <a:latin typeface="Century Gothic"/>
                <a:ea typeface="Century Gothic"/>
                <a:cs typeface="Century Gothic"/>
                <a:sym typeface="Century Gothic"/>
              </a:rPr>
              <a:t>60</a:t>
            </a:fld>
            <a:endParaRPr sz="1200" b="0" i="0" u="none" strike="noStrike" cap="none">
              <a:solidFill>
                <a:srgbClr val="595959"/>
              </a:solidFill>
              <a:latin typeface="Century Gothic"/>
              <a:ea typeface="Century Gothic"/>
              <a:cs typeface="Century Gothic"/>
              <a:sym typeface="Century Gothic"/>
            </a:endParaRPr>
          </a:p>
        </p:txBody>
      </p:sp>
      <p:pic>
        <p:nvPicPr>
          <p:cNvPr id="729" name="Google Shape;729;p53"/>
          <p:cNvPicPr preferRelativeResize="0"/>
          <p:nvPr/>
        </p:nvPicPr>
        <p:blipFill rotWithShape="1">
          <a:blip r:embed="rId3">
            <a:alphaModFix/>
          </a:blip>
          <a:srcRect/>
          <a:stretch/>
        </p:blipFill>
        <p:spPr>
          <a:xfrm>
            <a:off x="4869083" y="1329370"/>
            <a:ext cx="6300952" cy="491680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5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Digital Content Creation</a:t>
            </a:r>
            <a:endParaRPr/>
          </a:p>
        </p:txBody>
      </p:sp>
      <p:grpSp>
        <p:nvGrpSpPr>
          <p:cNvPr id="735" name="Google Shape;735;p54"/>
          <p:cNvGrpSpPr/>
          <p:nvPr/>
        </p:nvGrpSpPr>
        <p:grpSpPr>
          <a:xfrm>
            <a:off x="637323" y="1511003"/>
            <a:ext cx="5064918" cy="4662025"/>
            <a:chOff x="1039493" y="3935"/>
            <a:chExt cx="5064918" cy="4662025"/>
          </a:xfrm>
        </p:grpSpPr>
        <p:sp>
          <p:nvSpPr>
            <p:cNvPr id="736" name="Google Shape;736;p54"/>
            <p:cNvSpPr/>
            <p:nvPr/>
          </p:nvSpPr>
          <p:spPr>
            <a:xfrm>
              <a:off x="3341728" y="2334948"/>
              <a:ext cx="460447" cy="1484941"/>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737" name="Google Shape;737;p54"/>
            <p:cNvSpPr/>
            <p:nvPr/>
          </p:nvSpPr>
          <p:spPr>
            <a:xfrm>
              <a:off x="3341728" y="2334948"/>
              <a:ext cx="460447" cy="494980"/>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738" name="Google Shape;738;p54"/>
            <p:cNvSpPr/>
            <p:nvPr/>
          </p:nvSpPr>
          <p:spPr>
            <a:xfrm>
              <a:off x="3341728" y="1839967"/>
              <a:ext cx="460447" cy="494980"/>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739" name="Google Shape;739;p54"/>
            <p:cNvSpPr/>
            <p:nvPr/>
          </p:nvSpPr>
          <p:spPr>
            <a:xfrm>
              <a:off x="3341728" y="850006"/>
              <a:ext cx="460447" cy="1484941"/>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740" name="Google Shape;740;p54"/>
            <p:cNvSpPr/>
            <p:nvPr/>
          </p:nvSpPr>
          <p:spPr>
            <a:xfrm>
              <a:off x="1039493" y="3935"/>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4"/>
            <p:cNvSpPr txBox="1"/>
            <p:nvPr/>
          </p:nvSpPr>
          <p:spPr>
            <a:xfrm>
              <a:off x="1039493" y="3935"/>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Games are multimedia applications by nature.</a:t>
              </a:r>
              <a:endParaRPr/>
            </a:p>
          </p:txBody>
        </p:sp>
        <p:sp>
          <p:nvSpPr>
            <p:cNvPr id="742" name="Google Shape;742;p54"/>
            <p:cNvSpPr/>
            <p:nvPr/>
          </p:nvSpPr>
          <p:spPr>
            <a:xfrm>
              <a:off x="1039493" y="993896"/>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4"/>
            <p:cNvSpPr txBox="1"/>
            <p:nvPr/>
          </p:nvSpPr>
          <p:spPr>
            <a:xfrm>
              <a:off x="1039493" y="993896"/>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Game engines deal with data in many forms.</a:t>
              </a:r>
              <a:endParaRPr/>
            </a:p>
          </p:txBody>
        </p:sp>
        <p:sp>
          <p:nvSpPr>
            <p:cNvPr id="744" name="Google Shape;744;p54"/>
            <p:cNvSpPr/>
            <p:nvPr/>
          </p:nvSpPr>
          <p:spPr>
            <a:xfrm>
              <a:off x="1039493" y="1983857"/>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4"/>
            <p:cNvSpPr txBox="1"/>
            <p:nvPr/>
          </p:nvSpPr>
          <p:spPr>
            <a:xfrm>
              <a:off x="1039493" y="1983857"/>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The tools that the artists use are called </a:t>
              </a:r>
              <a:r>
                <a:rPr lang="en-US" sz="1300" b="0" i="1" u="none" strike="noStrike" cap="none">
                  <a:solidFill>
                    <a:schemeClr val="lt1"/>
                  </a:solidFill>
                  <a:latin typeface="Quattrocento Sans"/>
                  <a:ea typeface="Quattrocento Sans"/>
                  <a:cs typeface="Quattrocento Sans"/>
                  <a:sym typeface="Quattrocento Sans"/>
                </a:rPr>
                <a:t>digital content creation </a:t>
              </a:r>
              <a:r>
                <a:rPr lang="en-US" sz="1300" b="0" i="0" u="none" strike="noStrike" cap="none">
                  <a:solidFill>
                    <a:schemeClr val="lt1"/>
                  </a:solidFill>
                  <a:latin typeface="Quattrocento Sans"/>
                  <a:ea typeface="Quattrocento Sans"/>
                  <a:cs typeface="Quattrocento Sans"/>
                  <a:sym typeface="Quattrocento Sans"/>
                </a:rPr>
                <a:t>(DCC) applications.</a:t>
              </a:r>
              <a:endParaRPr sz="1300" b="0" i="0" u="none" strike="noStrike" cap="none">
                <a:solidFill>
                  <a:schemeClr val="lt1"/>
                </a:solidFill>
                <a:latin typeface="Quattrocento Sans"/>
                <a:ea typeface="Quattrocento Sans"/>
                <a:cs typeface="Quattrocento Sans"/>
                <a:sym typeface="Quattrocento Sans"/>
              </a:endParaRPr>
            </a:p>
          </p:txBody>
        </p:sp>
        <p:sp>
          <p:nvSpPr>
            <p:cNvPr id="746" name="Google Shape;746;p54"/>
            <p:cNvSpPr/>
            <p:nvPr/>
          </p:nvSpPr>
          <p:spPr>
            <a:xfrm>
              <a:off x="3802176" y="498915"/>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4"/>
            <p:cNvSpPr txBox="1"/>
            <p:nvPr/>
          </p:nvSpPr>
          <p:spPr>
            <a:xfrm>
              <a:off x="3802176" y="498915"/>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3D Meshes, game world layout (Autodesk’s Maya and 3ds Max and Pixologic’s Zbrush)</a:t>
              </a:r>
              <a:endParaRPr sz="1300" b="0" i="0" u="none" strike="noStrike" cap="none">
                <a:solidFill>
                  <a:schemeClr val="lt1"/>
                </a:solidFill>
                <a:latin typeface="Quattrocento Sans"/>
                <a:ea typeface="Quattrocento Sans"/>
                <a:cs typeface="Quattrocento Sans"/>
                <a:sym typeface="Quattrocento Sans"/>
              </a:endParaRPr>
            </a:p>
          </p:txBody>
        </p:sp>
        <p:sp>
          <p:nvSpPr>
            <p:cNvPr id="748" name="Google Shape;748;p54"/>
            <p:cNvSpPr/>
            <p:nvPr/>
          </p:nvSpPr>
          <p:spPr>
            <a:xfrm>
              <a:off x="3802176" y="1488876"/>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4"/>
            <p:cNvSpPr txBox="1"/>
            <p:nvPr/>
          </p:nvSpPr>
          <p:spPr>
            <a:xfrm>
              <a:off x="3802176" y="1488876"/>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Textures (Adobe’s Photoshop)</a:t>
              </a:r>
              <a:endParaRPr sz="1300" b="0" i="0" u="none" strike="noStrike" cap="none">
                <a:solidFill>
                  <a:schemeClr val="lt1"/>
                </a:solidFill>
                <a:latin typeface="Quattrocento Sans"/>
                <a:ea typeface="Quattrocento Sans"/>
                <a:cs typeface="Quattrocento Sans"/>
                <a:sym typeface="Quattrocento Sans"/>
              </a:endParaRPr>
            </a:p>
          </p:txBody>
        </p:sp>
        <p:sp>
          <p:nvSpPr>
            <p:cNvPr id="750" name="Google Shape;750;p54"/>
            <p:cNvSpPr/>
            <p:nvPr/>
          </p:nvSpPr>
          <p:spPr>
            <a:xfrm>
              <a:off x="3802176" y="2478837"/>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4"/>
            <p:cNvSpPr txBox="1"/>
            <p:nvPr/>
          </p:nvSpPr>
          <p:spPr>
            <a:xfrm>
              <a:off x="3802176" y="2478837"/>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Sound (SoundForge)</a:t>
              </a:r>
              <a:endParaRPr sz="1300" b="0" i="0" u="none" strike="noStrike" cap="none">
                <a:solidFill>
                  <a:schemeClr val="lt1"/>
                </a:solidFill>
                <a:latin typeface="Quattrocento Sans"/>
                <a:ea typeface="Quattrocento Sans"/>
                <a:cs typeface="Quattrocento Sans"/>
                <a:sym typeface="Quattrocento Sans"/>
              </a:endParaRPr>
            </a:p>
          </p:txBody>
        </p:sp>
        <p:sp>
          <p:nvSpPr>
            <p:cNvPr id="752" name="Google Shape;752;p54"/>
            <p:cNvSpPr/>
            <p:nvPr/>
          </p:nvSpPr>
          <p:spPr>
            <a:xfrm>
              <a:off x="3802176" y="3468798"/>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4"/>
            <p:cNvSpPr txBox="1"/>
            <p:nvPr/>
          </p:nvSpPr>
          <p:spPr>
            <a:xfrm>
              <a:off x="3802176" y="3468798"/>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Animations</a:t>
              </a:r>
              <a:endParaRPr/>
            </a:p>
          </p:txBody>
        </p:sp>
        <p:sp>
          <p:nvSpPr>
            <p:cNvPr id="754" name="Google Shape;754;p54"/>
            <p:cNvSpPr/>
            <p:nvPr/>
          </p:nvSpPr>
          <p:spPr>
            <a:xfrm>
              <a:off x="1039493" y="2973818"/>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4"/>
            <p:cNvSpPr txBox="1"/>
            <p:nvPr/>
          </p:nvSpPr>
          <p:spPr>
            <a:xfrm>
              <a:off x="1039493" y="2973818"/>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DCC tools need to be easy to use and very reliable</a:t>
              </a:r>
              <a:endParaRPr/>
            </a:p>
          </p:txBody>
        </p:sp>
        <p:sp>
          <p:nvSpPr>
            <p:cNvPr id="756" name="Google Shape;756;p54"/>
            <p:cNvSpPr/>
            <p:nvPr/>
          </p:nvSpPr>
          <p:spPr>
            <a:xfrm>
              <a:off x="1039493" y="3963779"/>
              <a:ext cx="2302235" cy="702181"/>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4"/>
            <p:cNvSpPr txBox="1"/>
            <p:nvPr/>
          </p:nvSpPr>
          <p:spPr>
            <a:xfrm>
              <a:off x="1039493" y="3963779"/>
              <a:ext cx="2302235" cy="702181"/>
            </a:xfrm>
            <a:prstGeom prst="rect">
              <a:avLst/>
            </a:prstGeom>
            <a:noFill/>
            <a:ln>
              <a:noFill/>
            </a:ln>
          </p:spPr>
          <p:txBody>
            <a:bodyPr spcFirstLastPara="1" wrap="square" lIns="8250" tIns="8250" rIns="8250" bIns="8250" anchor="ctr" anchorCtr="0">
              <a:noAutofit/>
            </a:bodyPr>
            <a:lstStyle/>
            <a:p>
              <a:pPr marL="0" marR="0" lvl="0" indent="0" algn="ctr" rtl="0">
                <a:lnSpc>
                  <a:spcPct val="90000"/>
                </a:lnSpc>
                <a:spcBef>
                  <a:spcPts val="0"/>
                </a:spcBef>
                <a:spcAft>
                  <a:spcPts val="0"/>
                </a:spcAft>
                <a:buClr>
                  <a:schemeClr val="lt1"/>
                </a:buClr>
                <a:buSzPts val="1300"/>
                <a:buFont typeface="Quattrocento Sans"/>
                <a:buNone/>
              </a:pPr>
              <a:r>
                <a:rPr lang="en-US" sz="1300" b="0" i="0" u="none" strike="noStrike" cap="none">
                  <a:solidFill>
                    <a:schemeClr val="lt1"/>
                  </a:solidFill>
                  <a:latin typeface="Quattrocento Sans"/>
                  <a:ea typeface="Quattrocento Sans"/>
                  <a:cs typeface="Quattrocento Sans"/>
                  <a:sym typeface="Quattrocento Sans"/>
                </a:rPr>
                <a:t>Some types of game data cannot be created using an off-the-shelf DCC app.</a:t>
              </a:r>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5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Assets conditioning pipeline</a:t>
            </a:r>
            <a:endParaRPr/>
          </a:p>
        </p:txBody>
      </p:sp>
      <p:grpSp>
        <p:nvGrpSpPr>
          <p:cNvPr id="764" name="Google Shape;764;p55"/>
          <p:cNvGrpSpPr/>
          <p:nvPr/>
        </p:nvGrpSpPr>
        <p:grpSpPr>
          <a:xfrm>
            <a:off x="617724" y="1604211"/>
            <a:ext cx="10956547" cy="4572751"/>
            <a:chOff x="13291" y="0"/>
            <a:chExt cx="10956547" cy="4572751"/>
          </a:xfrm>
        </p:grpSpPr>
        <p:sp>
          <p:nvSpPr>
            <p:cNvPr id="765" name="Google Shape;765;p55"/>
            <p:cNvSpPr/>
            <p:nvPr/>
          </p:nvSpPr>
          <p:spPr>
            <a:xfrm>
              <a:off x="13291" y="0"/>
              <a:ext cx="557787" cy="51931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5"/>
            <p:cNvSpPr/>
            <p:nvPr/>
          </p:nvSpPr>
          <p:spPr>
            <a:xfrm>
              <a:off x="13291" y="702200"/>
              <a:ext cx="1593679" cy="20050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5"/>
            <p:cNvSpPr txBox="1"/>
            <p:nvPr/>
          </p:nvSpPr>
          <p:spPr>
            <a:xfrm>
              <a:off x="13291" y="702200"/>
              <a:ext cx="1593679" cy="200502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DCC tools produce a variety of file formats that are not optimized for game</a:t>
              </a:r>
              <a:endParaRPr/>
            </a:p>
          </p:txBody>
        </p:sp>
        <p:sp>
          <p:nvSpPr>
            <p:cNvPr id="768" name="Google Shape;768;p55"/>
            <p:cNvSpPr/>
            <p:nvPr/>
          </p:nvSpPr>
          <p:spPr>
            <a:xfrm>
              <a:off x="13291" y="2792288"/>
              <a:ext cx="1593679" cy="1780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5"/>
            <p:cNvSpPr txBox="1"/>
            <p:nvPr/>
          </p:nvSpPr>
          <p:spPr>
            <a:xfrm>
              <a:off x="13291" y="2792288"/>
              <a:ext cx="1593679" cy="1780463"/>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The DCC app’s in-memory model of the data is usually much more complex than what the game engine requires.</a:t>
              </a:r>
              <a:endParaRPr/>
            </a:p>
            <a:p>
              <a:pPr marL="0" marR="0" lvl="0" indent="0" algn="l" rtl="0">
                <a:lnSpc>
                  <a:spcPct val="90000"/>
                </a:lnSpc>
                <a:spcBef>
                  <a:spcPts val="385"/>
                </a:spcBef>
                <a:spcAft>
                  <a:spcPts val="0"/>
                </a:spcAft>
                <a:buClr>
                  <a:schemeClr val="dk1"/>
                </a:buClr>
                <a:buSzPts val="1100"/>
                <a:buFont typeface="Quattrocento Sans"/>
                <a:buNone/>
              </a:pPr>
              <a:r>
                <a:rPr lang="en-US" sz="1100" b="0" i="0" u="none" strike="noStrike" cap="none">
                  <a:solidFill>
                    <a:schemeClr val="dk1"/>
                  </a:solidFill>
                  <a:latin typeface="Quattrocento Sans"/>
                  <a:ea typeface="Quattrocento Sans"/>
                  <a:cs typeface="Quattrocento Sans"/>
                  <a:sym typeface="Quattrocento Sans"/>
                </a:rPr>
                <a:t>The DCC application’s file format is often too slow to read at runtime, and in some cases it is a closed proprietary format.</a:t>
              </a:r>
              <a:endParaRPr/>
            </a:p>
          </p:txBody>
        </p:sp>
        <p:sp>
          <p:nvSpPr>
            <p:cNvPr id="770" name="Google Shape;770;p55"/>
            <p:cNvSpPr/>
            <p:nvPr/>
          </p:nvSpPr>
          <p:spPr>
            <a:xfrm>
              <a:off x="1885865" y="0"/>
              <a:ext cx="557787" cy="51931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5"/>
            <p:cNvSpPr/>
            <p:nvPr/>
          </p:nvSpPr>
          <p:spPr>
            <a:xfrm>
              <a:off x="1885865" y="702200"/>
              <a:ext cx="1593679" cy="20050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5"/>
            <p:cNvSpPr txBox="1"/>
            <p:nvPr/>
          </p:nvSpPr>
          <p:spPr>
            <a:xfrm>
              <a:off x="1885865" y="702200"/>
              <a:ext cx="1593679" cy="200502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Game engines usually store the data in an easy to read and platform specific format</a:t>
              </a:r>
              <a:endParaRPr/>
            </a:p>
          </p:txBody>
        </p:sp>
        <p:sp>
          <p:nvSpPr>
            <p:cNvPr id="773" name="Google Shape;773;p55"/>
            <p:cNvSpPr/>
            <p:nvPr/>
          </p:nvSpPr>
          <p:spPr>
            <a:xfrm>
              <a:off x="1885865" y="2792288"/>
              <a:ext cx="1593679" cy="1780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5"/>
            <p:cNvSpPr/>
            <p:nvPr/>
          </p:nvSpPr>
          <p:spPr>
            <a:xfrm>
              <a:off x="3758438" y="0"/>
              <a:ext cx="557787" cy="51931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5"/>
            <p:cNvSpPr/>
            <p:nvPr/>
          </p:nvSpPr>
          <p:spPr>
            <a:xfrm>
              <a:off x="3758438" y="702200"/>
              <a:ext cx="1593679" cy="20050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5"/>
            <p:cNvSpPr txBox="1"/>
            <p:nvPr/>
          </p:nvSpPr>
          <p:spPr>
            <a:xfrm>
              <a:off x="3758438" y="702200"/>
              <a:ext cx="1593679" cy="200502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Game studio is shipping its game on more than one platform, the intermediate files might be processed differently for each target platform.</a:t>
              </a:r>
              <a:endParaRPr/>
            </a:p>
          </p:txBody>
        </p:sp>
        <p:sp>
          <p:nvSpPr>
            <p:cNvPr id="777" name="Google Shape;777;p55"/>
            <p:cNvSpPr/>
            <p:nvPr/>
          </p:nvSpPr>
          <p:spPr>
            <a:xfrm>
              <a:off x="3758438" y="2792288"/>
              <a:ext cx="1593679" cy="1780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5"/>
            <p:cNvSpPr/>
            <p:nvPr/>
          </p:nvSpPr>
          <p:spPr>
            <a:xfrm>
              <a:off x="5631012" y="0"/>
              <a:ext cx="557787" cy="51931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5"/>
            <p:cNvSpPr/>
            <p:nvPr/>
          </p:nvSpPr>
          <p:spPr>
            <a:xfrm>
              <a:off x="5631012" y="702200"/>
              <a:ext cx="1593679" cy="20050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5"/>
            <p:cNvSpPr txBox="1"/>
            <p:nvPr/>
          </p:nvSpPr>
          <p:spPr>
            <a:xfrm>
              <a:off x="5631012" y="702200"/>
              <a:ext cx="1593679" cy="200502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3D mesh data might be exported to an intermediate format, such as XML, JSON</a:t>
              </a:r>
              <a:endParaRPr/>
            </a:p>
          </p:txBody>
        </p:sp>
        <p:sp>
          <p:nvSpPr>
            <p:cNvPr id="781" name="Google Shape;781;p55"/>
            <p:cNvSpPr/>
            <p:nvPr/>
          </p:nvSpPr>
          <p:spPr>
            <a:xfrm>
              <a:off x="5631012" y="2792288"/>
              <a:ext cx="1593679" cy="1780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5"/>
            <p:cNvSpPr/>
            <p:nvPr/>
          </p:nvSpPr>
          <p:spPr>
            <a:xfrm>
              <a:off x="7503586" y="0"/>
              <a:ext cx="557787" cy="519313"/>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5"/>
            <p:cNvSpPr/>
            <p:nvPr/>
          </p:nvSpPr>
          <p:spPr>
            <a:xfrm>
              <a:off x="7503586" y="702200"/>
              <a:ext cx="1593679" cy="20050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5"/>
            <p:cNvSpPr txBox="1"/>
            <p:nvPr/>
          </p:nvSpPr>
          <p:spPr>
            <a:xfrm>
              <a:off x="7503586" y="702200"/>
              <a:ext cx="1593679" cy="200502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The mesh data might then be organized and packed into a memory image suitable for loading on a specific hardware platform.</a:t>
              </a:r>
              <a:endParaRPr/>
            </a:p>
          </p:txBody>
        </p:sp>
        <p:sp>
          <p:nvSpPr>
            <p:cNvPr id="785" name="Google Shape;785;p55"/>
            <p:cNvSpPr/>
            <p:nvPr/>
          </p:nvSpPr>
          <p:spPr>
            <a:xfrm>
              <a:off x="7503586" y="2792288"/>
              <a:ext cx="1593679" cy="1780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5"/>
            <p:cNvSpPr/>
            <p:nvPr/>
          </p:nvSpPr>
          <p:spPr>
            <a:xfrm>
              <a:off x="9376159" y="0"/>
              <a:ext cx="557787" cy="519313"/>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5"/>
            <p:cNvSpPr/>
            <p:nvPr/>
          </p:nvSpPr>
          <p:spPr>
            <a:xfrm>
              <a:off x="9376159" y="702200"/>
              <a:ext cx="1593679" cy="20050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5"/>
            <p:cNvSpPr txBox="1"/>
            <p:nvPr/>
          </p:nvSpPr>
          <p:spPr>
            <a:xfrm>
              <a:off x="9376159" y="702200"/>
              <a:ext cx="1593679" cy="200502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b="1" i="0" u="none" strike="noStrike" cap="none">
                  <a:solidFill>
                    <a:schemeClr val="dk1"/>
                  </a:solidFill>
                  <a:latin typeface="Quattrocento Sans"/>
                  <a:ea typeface="Quattrocento Sans"/>
                  <a:cs typeface="Quattrocento Sans"/>
                  <a:sym typeface="Quattrocento Sans"/>
                </a:rPr>
                <a:t>The ACP does this translation. Every Game Engine has its own Assets Conditioning Pipeline!</a:t>
              </a:r>
              <a:endParaRPr/>
            </a:p>
          </p:txBody>
        </p:sp>
        <p:sp>
          <p:nvSpPr>
            <p:cNvPr id="789" name="Google Shape;789;p55"/>
            <p:cNvSpPr/>
            <p:nvPr/>
          </p:nvSpPr>
          <p:spPr>
            <a:xfrm>
              <a:off x="9376159" y="2792288"/>
              <a:ext cx="1593679" cy="17804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56"/>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Conditioning assets</a:t>
            </a:r>
            <a:endParaRPr/>
          </a:p>
        </p:txBody>
      </p:sp>
      <p:grpSp>
        <p:nvGrpSpPr>
          <p:cNvPr id="796" name="Google Shape;796;p56"/>
          <p:cNvGrpSpPr/>
          <p:nvPr/>
        </p:nvGrpSpPr>
        <p:grpSpPr>
          <a:xfrm>
            <a:off x="607668" y="2454412"/>
            <a:ext cx="10976660" cy="2872348"/>
            <a:chOff x="3235" y="850201"/>
            <a:chExt cx="10976660" cy="2872348"/>
          </a:xfrm>
        </p:grpSpPr>
        <p:sp>
          <p:nvSpPr>
            <p:cNvPr id="797" name="Google Shape;797;p56"/>
            <p:cNvSpPr/>
            <p:nvPr/>
          </p:nvSpPr>
          <p:spPr>
            <a:xfrm>
              <a:off x="791614" y="850201"/>
              <a:ext cx="849023" cy="84902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6"/>
            <p:cNvSpPr/>
            <p:nvPr/>
          </p:nvSpPr>
          <p:spPr>
            <a:xfrm>
              <a:off x="3235" y="1822736"/>
              <a:ext cx="2425781" cy="36386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6"/>
            <p:cNvSpPr txBox="1"/>
            <p:nvPr/>
          </p:nvSpPr>
          <p:spPr>
            <a:xfrm>
              <a:off x="3235" y="1822736"/>
              <a:ext cx="2425781" cy="363867"/>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700"/>
                <a:buFont typeface="Quattrocento Sans"/>
                <a:buNone/>
              </a:pPr>
              <a:r>
                <a:rPr lang="en-US" sz="1700" b="1" i="0" u="none" strike="noStrike" cap="none">
                  <a:solidFill>
                    <a:schemeClr val="dk1"/>
                  </a:solidFill>
                  <a:latin typeface="Quattrocento Sans"/>
                  <a:ea typeface="Quattrocento Sans"/>
                  <a:cs typeface="Quattrocento Sans"/>
                  <a:sym typeface="Quattrocento Sans"/>
                </a:rPr>
                <a:t>3D Model/Mesh data</a:t>
              </a:r>
              <a:endParaRPr/>
            </a:p>
          </p:txBody>
        </p:sp>
        <p:sp>
          <p:nvSpPr>
            <p:cNvPr id="800" name="Google Shape;800;p56"/>
            <p:cNvSpPr/>
            <p:nvPr/>
          </p:nvSpPr>
          <p:spPr>
            <a:xfrm>
              <a:off x="3235" y="2244050"/>
              <a:ext cx="2425781" cy="14784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6"/>
            <p:cNvSpPr txBox="1"/>
            <p:nvPr/>
          </p:nvSpPr>
          <p:spPr>
            <a:xfrm>
              <a:off x="3235" y="2244050"/>
              <a:ext cx="2425781" cy="147849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3D Models – Must be properly tessellated</a:t>
              </a:r>
              <a:endParaRPr/>
            </a:p>
            <a:p>
              <a:pPr marL="0" marR="0" lvl="0" indent="0" algn="ctr" rtl="0">
                <a:lnSpc>
                  <a:spcPct val="90000"/>
                </a:lnSpc>
                <a:spcBef>
                  <a:spcPts val="455"/>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Brush Geometry – A collection of convex hulls with multiple planes (volumetric geometry for older games)</a:t>
              </a:r>
              <a:endParaRPr/>
            </a:p>
          </p:txBody>
        </p:sp>
        <p:sp>
          <p:nvSpPr>
            <p:cNvPr id="802" name="Google Shape;802;p56"/>
            <p:cNvSpPr/>
            <p:nvPr/>
          </p:nvSpPr>
          <p:spPr>
            <a:xfrm>
              <a:off x="3641907" y="850201"/>
              <a:ext cx="849023" cy="84902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6"/>
            <p:cNvSpPr/>
            <p:nvPr/>
          </p:nvSpPr>
          <p:spPr>
            <a:xfrm>
              <a:off x="2853528" y="1822736"/>
              <a:ext cx="2425781" cy="36386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6"/>
            <p:cNvSpPr txBox="1"/>
            <p:nvPr/>
          </p:nvSpPr>
          <p:spPr>
            <a:xfrm>
              <a:off x="2853528" y="1822736"/>
              <a:ext cx="2425781" cy="363867"/>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700"/>
                <a:buFont typeface="Quattrocento Sans"/>
                <a:buNone/>
              </a:pPr>
              <a:r>
                <a:rPr lang="en-US" sz="1700" b="1" i="0" u="none" strike="noStrike" cap="none">
                  <a:solidFill>
                    <a:schemeClr val="dk1"/>
                  </a:solidFill>
                  <a:latin typeface="Quattrocento Sans"/>
                  <a:ea typeface="Quattrocento Sans"/>
                  <a:cs typeface="Quattrocento Sans"/>
                  <a:sym typeface="Quattrocento Sans"/>
                </a:rPr>
                <a:t>Skeletal animation data</a:t>
              </a:r>
              <a:endParaRPr/>
            </a:p>
          </p:txBody>
        </p:sp>
        <p:sp>
          <p:nvSpPr>
            <p:cNvPr id="805" name="Google Shape;805;p56"/>
            <p:cNvSpPr/>
            <p:nvPr/>
          </p:nvSpPr>
          <p:spPr>
            <a:xfrm>
              <a:off x="2853528" y="2244050"/>
              <a:ext cx="2425781" cy="14784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6"/>
            <p:cNvSpPr txBox="1"/>
            <p:nvPr/>
          </p:nvSpPr>
          <p:spPr>
            <a:xfrm>
              <a:off x="2853528" y="2244050"/>
              <a:ext cx="2425781" cy="147849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A </a:t>
              </a:r>
              <a:r>
                <a:rPr lang="en-US" sz="1300" b="0" i="1" u="none" strike="noStrike" cap="none">
                  <a:solidFill>
                    <a:schemeClr val="dk1"/>
                  </a:solidFill>
                  <a:latin typeface="Quattrocento Sans"/>
                  <a:ea typeface="Quattrocento Sans"/>
                  <a:cs typeface="Quattrocento Sans"/>
                  <a:sym typeface="Quattrocento Sans"/>
                </a:rPr>
                <a:t>skeletal mesh(skin) </a:t>
              </a:r>
              <a:r>
                <a:rPr lang="en-US" sz="1300" b="0" i="0" u="none" strike="noStrike" cap="none">
                  <a:solidFill>
                    <a:schemeClr val="dk1"/>
                  </a:solidFill>
                  <a:latin typeface="Quattrocento Sans"/>
                  <a:ea typeface="Quattrocento Sans"/>
                  <a:cs typeface="Quattrocento Sans"/>
                  <a:sym typeface="Quattrocento Sans"/>
                </a:rPr>
                <a:t>is a special kind of mesh that is bound to a skeletal hierarchy for the purposes of articulated animation.</a:t>
              </a:r>
              <a:endParaRPr/>
            </a:p>
            <a:p>
              <a:pPr marL="0" marR="0" lvl="0" indent="0" algn="ctr" rtl="0">
                <a:lnSpc>
                  <a:spcPct val="90000"/>
                </a:lnSpc>
                <a:spcBef>
                  <a:spcPts val="455"/>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Must be compressed and converted to properly work</a:t>
              </a:r>
              <a:endParaRPr/>
            </a:p>
          </p:txBody>
        </p:sp>
        <p:sp>
          <p:nvSpPr>
            <p:cNvPr id="807" name="Google Shape;807;p56"/>
            <p:cNvSpPr/>
            <p:nvPr/>
          </p:nvSpPr>
          <p:spPr>
            <a:xfrm>
              <a:off x="6492200" y="850201"/>
              <a:ext cx="849023" cy="84902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6"/>
            <p:cNvSpPr/>
            <p:nvPr/>
          </p:nvSpPr>
          <p:spPr>
            <a:xfrm>
              <a:off x="5703821" y="1822736"/>
              <a:ext cx="2425781" cy="36386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6"/>
            <p:cNvSpPr txBox="1"/>
            <p:nvPr/>
          </p:nvSpPr>
          <p:spPr>
            <a:xfrm>
              <a:off x="5703821" y="1822736"/>
              <a:ext cx="2425781" cy="363867"/>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700"/>
                <a:buFont typeface="Quattrocento Sans"/>
                <a:buNone/>
              </a:pPr>
              <a:r>
                <a:rPr lang="en-US" sz="1700" b="1" i="0" u="none" strike="noStrike" cap="none">
                  <a:solidFill>
                    <a:schemeClr val="dk1"/>
                  </a:solidFill>
                  <a:latin typeface="Quattrocento Sans"/>
                  <a:ea typeface="Quattrocento Sans"/>
                  <a:cs typeface="Quattrocento Sans"/>
                  <a:sym typeface="Quattrocento Sans"/>
                </a:rPr>
                <a:t>Audio data</a:t>
              </a:r>
              <a:endParaRPr/>
            </a:p>
          </p:txBody>
        </p:sp>
        <p:sp>
          <p:nvSpPr>
            <p:cNvPr id="810" name="Google Shape;810;p56"/>
            <p:cNvSpPr/>
            <p:nvPr/>
          </p:nvSpPr>
          <p:spPr>
            <a:xfrm>
              <a:off x="5703821" y="2244050"/>
              <a:ext cx="2425781" cy="14784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6"/>
            <p:cNvSpPr txBox="1"/>
            <p:nvPr/>
          </p:nvSpPr>
          <p:spPr>
            <a:xfrm>
              <a:off x="5703821" y="2244050"/>
              <a:ext cx="2425781" cy="147849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Should convert multiple formats to a single format (like .wav) for the target system</a:t>
              </a:r>
              <a:endParaRPr/>
            </a:p>
            <a:p>
              <a:pPr marL="0" marR="0" lvl="0" indent="0" algn="ctr" rtl="0">
                <a:lnSpc>
                  <a:spcPct val="90000"/>
                </a:lnSpc>
                <a:spcBef>
                  <a:spcPts val="455"/>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Audio clips are usually exported from Sound Forge or some other audio production tool</a:t>
              </a:r>
              <a:endParaRPr sz="1300" b="0" i="0" u="none" strike="noStrike" cap="none">
                <a:solidFill>
                  <a:schemeClr val="dk1"/>
                </a:solidFill>
                <a:latin typeface="Quattrocento Sans"/>
                <a:ea typeface="Quattrocento Sans"/>
                <a:cs typeface="Quattrocento Sans"/>
                <a:sym typeface="Quattrocento Sans"/>
              </a:endParaRPr>
            </a:p>
          </p:txBody>
        </p:sp>
        <p:sp>
          <p:nvSpPr>
            <p:cNvPr id="812" name="Google Shape;812;p56"/>
            <p:cNvSpPr/>
            <p:nvPr/>
          </p:nvSpPr>
          <p:spPr>
            <a:xfrm>
              <a:off x="9342493" y="850201"/>
              <a:ext cx="849023" cy="84902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6"/>
            <p:cNvSpPr/>
            <p:nvPr/>
          </p:nvSpPr>
          <p:spPr>
            <a:xfrm>
              <a:off x="8554114" y="1822736"/>
              <a:ext cx="2425781" cy="36386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6"/>
            <p:cNvSpPr txBox="1"/>
            <p:nvPr/>
          </p:nvSpPr>
          <p:spPr>
            <a:xfrm>
              <a:off x="8554114" y="1822736"/>
              <a:ext cx="2425781" cy="363867"/>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700"/>
                <a:buFont typeface="Quattrocento Sans"/>
                <a:buNone/>
              </a:pPr>
              <a:r>
                <a:rPr lang="en-US" sz="1700" b="1" i="0" u="none" strike="noStrike" cap="none">
                  <a:solidFill>
                    <a:schemeClr val="dk1"/>
                  </a:solidFill>
                  <a:latin typeface="Quattrocento Sans"/>
                  <a:ea typeface="Quattrocento Sans"/>
                  <a:cs typeface="Quattrocento Sans"/>
                  <a:sym typeface="Quattrocento Sans"/>
                </a:rPr>
                <a:t>Particle system data</a:t>
              </a:r>
              <a:endParaRPr/>
            </a:p>
          </p:txBody>
        </p:sp>
        <p:sp>
          <p:nvSpPr>
            <p:cNvPr id="815" name="Google Shape;815;p56"/>
            <p:cNvSpPr/>
            <p:nvPr/>
          </p:nvSpPr>
          <p:spPr>
            <a:xfrm>
              <a:off x="8554114" y="2244050"/>
              <a:ext cx="2425781" cy="14784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6"/>
            <p:cNvSpPr txBox="1"/>
            <p:nvPr/>
          </p:nvSpPr>
          <p:spPr>
            <a:xfrm>
              <a:off x="8554114" y="2244050"/>
              <a:ext cx="2425781" cy="147849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300"/>
                <a:buFont typeface="Quattrocento Sans"/>
                <a:buNone/>
              </a:pPr>
              <a:r>
                <a:rPr lang="en-US" sz="1300" b="0" i="0" u="none" strike="noStrike" cap="none">
                  <a:solidFill>
                    <a:schemeClr val="dk1"/>
                  </a:solidFill>
                  <a:latin typeface="Quattrocento Sans"/>
                  <a:ea typeface="Quattrocento Sans"/>
                  <a:cs typeface="Quattrocento Sans"/>
                  <a:sym typeface="Quattrocento Sans"/>
                </a:rPr>
                <a:t>Usually need a custom editing tool within the engine or you can use a third party tool like Houdini.</a:t>
              </a:r>
              <a:endParaRPr sz="1300" b="0" i="0" u="none" strike="noStrike" cap="none">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57"/>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Game world editor</a:t>
            </a:r>
            <a:endParaRPr/>
          </a:p>
        </p:txBody>
      </p:sp>
      <p:grpSp>
        <p:nvGrpSpPr>
          <p:cNvPr id="822" name="Google Shape;822;p57"/>
          <p:cNvGrpSpPr/>
          <p:nvPr/>
        </p:nvGrpSpPr>
        <p:grpSpPr>
          <a:xfrm>
            <a:off x="616467" y="1522248"/>
            <a:ext cx="5669253" cy="4664249"/>
            <a:chOff x="737325" y="2823"/>
            <a:chExt cx="5669253" cy="4664249"/>
          </a:xfrm>
        </p:grpSpPr>
        <p:sp>
          <p:nvSpPr>
            <p:cNvPr id="823" name="Google Shape;823;p57"/>
            <p:cNvSpPr/>
            <p:nvPr/>
          </p:nvSpPr>
          <p:spPr>
            <a:xfrm>
              <a:off x="3314259" y="2611968"/>
              <a:ext cx="515386" cy="1662122"/>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824" name="Google Shape;824;p57"/>
            <p:cNvSpPr/>
            <p:nvPr/>
          </p:nvSpPr>
          <p:spPr>
            <a:xfrm>
              <a:off x="3314259" y="2611968"/>
              <a:ext cx="515386" cy="554040"/>
            </a:xfrm>
            <a:custGeom>
              <a:avLst/>
              <a:gdLst/>
              <a:ahLst/>
              <a:cxnLst/>
              <a:rect l="l" t="t" r="r" b="b"/>
              <a:pathLst>
                <a:path w="120000" h="120000" extrusionOk="0">
                  <a:moveTo>
                    <a:pt x="0" y="0"/>
                  </a:moveTo>
                  <a:lnTo>
                    <a:pt x="60000" y="0"/>
                  </a:lnTo>
                  <a:lnTo>
                    <a:pt x="60000" y="120000"/>
                  </a:lnTo>
                  <a:lnTo>
                    <a:pt x="120000" y="12000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825" name="Google Shape;825;p57"/>
            <p:cNvSpPr/>
            <p:nvPr/>
          </p:nvSpPr>
          <p:spPr>
            <a:xfrm>
              <a:off x="3314259" y="2057927"/>
              <a:ext cx="515386" cy="554040"/>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826" name="Google Shape;826;p57"/>
            <p:cNvSpPr/>
            <p:nvPr/>
          </p:nvSpPr>
          <p:spPr>
            <a:xfrm>
              <a:off x="3314259" y="949846"/>
              <a:ext cx="515386" cy="1662122"/>
            </a:xfrm>
            <a:custGeom>
              <a:avLst/>
              <a:gdLst/>
              <a:ahLst/>
              <a:cxnLst/>
              <a:rect l="l" t="t" r="r" b="b"/>
              <a:pathLst>
                <a:path w="120000" h="120000" extrusionOk="0">
                  <a:moveTo>
                    <a:pt x="0" y="120000"/>
                  </a:moveTo>
                  <a:lnTo>
                    <a:pt x="60000" y="120000"/>
                  </a:lnTo>
                  <a:lnTo>
                    <a:pt x="60000" y="0"/>
                  </a:lnTo>
                  <a:lnTo>
                    <a:pt x="120000" y="0"/>
                  </a:lnTo>
                </a:path>
              </a:pathLst>
            </a:custGeom>
            <a:noFill/>
            <a:ln w="12700" cap="flat" cmpd="sng">
              <a:solidFill>
                <a:srgbClr val="828282"/>
              </a:solidFill>
              <a:prstDash val="solid"/>
              <a:miter lim="800000"/>
              <a:headEnd type="none" w="sm" len="sm"/>
              <a:tailEnd type="none" w="sm" len="sm"/>
            </a:ln>
          </p:spPr>
          <p:txBody>
            <a:bodyPr/>
            <a:lstStyle/>
            <a:p>
              <a:endParaRPr lang="en-CA"/>
            </a:p>
          </p:txBody>
        </p:sp>
        <p:sp>
          <p:nvSpPr>
            <p:cNvPr id="827" name="Google Shape;827;p57"/>
            <p:cNvSpPr/>
            <p:nvPr/>
          </p:nvSpPr>
          <p:spPr>
            <a:xfrm>
              <a:off x="737325" y="2823"/>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7"/>
            <p:cNvSpPr txBox="1"/>
            <p:nvPr/>
          </p:nvSpPr>
          <p:spPr>
            <a:xfrm>
              <a:off x="737325" y="2823"/>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The game world is where everything in a game engine comes together.</a:t>
              </a:r>
              <a:endParaRPr/>
            </a:p>
          </p:txBody>
        </p:sp>
        <p:sp>
          <p:nvSpPr>
            <p:cNvPr id="829" name="Google Shape;829;p57"/>
            <p:cNvSpPr/>
            <p:nvPr/>
          </p:nvSpPr>
          <p:spPr>
            <a:xfrm>
              <a:off x="737325" y="1110904"/>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7"/>
            <p:cNvSpPr txBox="1"/>
            <p:nvPr/>
          </p:nvSpPr>
          <p:spPr>
            <a:xfrm>
              <a:off x="737325" y="1110904"/>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There are no commercially available game world editors</a:t>
              </a:r>
              <a:endParaRPr/>
            </a:p>
          </p:txBody>
        </p:sp>
        <p:sp>
          <p:nvSpPr>
            <p:cNvPr id="831" name="Google Shape;831;p57"/>
            <p:cNvSpPr/>
            <p:nvPr/>
          </p:nvSpPr>
          <p:spPr>
            <a:xfrm>
              <a:off x="737325" y="2218985"/>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7"/>
            <p:cNvSpPr txBox="1"/>
            <p:nvPr/>
          </p:nvSpPr>
          <p:spPr>
            <a:xfrm>
              <a:off x="737325" y="2218985"/>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There are number of commercially available game engines provide good world editors:</a:t>
              </a:r>
              <a:endParaRPr/>
            </a:p>
          </p:txBody>
        </p:sp>
        <p:sp>
          <p:nvSpPr>
            <p:cNvPr id="833" name="Google Shape;833;p57"/>
            <p:cNvSpPr/>
            <p:nvPr/>
          </p:nvSpPr>
          <p:spPr>
            <a:xfrm>
              <a:off x="3829645" y="556863"/>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7"/>
            <p:cNvSpPr txBox="1"/>
            <p:nvPr/>
          </p:nvSpPr>
          <p:spPr>
            <a:xfrm>
              <a:off x="3829645" y="556863"/>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Some variant of the </a:t>
              </a:r>
              <a:r>
                <a:rPr lang="en-US" sz="1200" b="0" i="1" u="none" strike="noStrike" cap="none">
                  <a:solidFill>
                    <a:schemeClr val="lt1"/>
                  </a:solidFill>
                  <a:latin typeface="Quattrocento Sans"/>
                  <a:ea typeface="Quattrocento Sans"/>
                  <a:cs typeface="Quattrocento Sans"/>
                  <a:sym typeface="Quattrocento Sans"/>
                </a:rPr>
                <a:t>Radiant </a:t>
              </a:r>
              <a:r>
                <a:rPr lang="en-US" sz="1200" b="0" i="0" u="none" strike="noStrike" cap="none">
                  <a:solidFill>
                    <a:schemeClr val="lt1"/>
                  </a:solidFill>
                  <a:latin typeface="Quattrocento Sans"/>
                  <a:ea typeface="Quattrocento Sans"/>
                  <a:cs typeface="Quattrocento Sans"/>
                  <a:sym typeface="Quattrocento Sans"/>
                </a:rPr>
                <a:t>game editor is used by most game engines based on Quake technology.</a:t>
              </a:r>
              <a:endParaRPr sz="1200" b="0" i="0" u="none" strike="noStrike" cap="none">
                <a:solidFill>
                  <a:schemeClr val="lt1"/>
                </a:solidFill>
                <a:latin typeface="Quattrocento Sans"/>
                <a:ea typeface="Quattrocento Sans"/>
                <a:cs typeface="Quattrocento Sans"/>
                <a:sym typeface="Quattrocento Sans"/>
              </a:endParaRPr>
            </a:p>
          </p:txBody>
        </p:sp>
        <p:sp>
          <p:nvSpPr>
            <p:cNvPr id="835" name="Google Shape;835;p57"/>
            <p:cNvSpPr/>
            <p:nvPr/>
          </p:nvSpPr>
          <p:spPr>
            <a:xfrm>
              <a:off x="3829645" y="1664945"/>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7"/>
            <p:cNvSpPr txBox="1"/>
            <p:nvPr/>
          </p:nvSpPr>
          <p:spPr>
            <a:xfrm>
              <a:off x="3829645" y="1664945"/>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The </a:t>
              </a:r>
              <a:r>
                <a:rPr lang="en-US" sz="1200" b="0" i="1" u="none" strike="noStrike" cap="none">
                  <a:solidFill>
                    <a:schemeClr val="lt1"/>
                  </a:solidFill>
                  <a:latin typeface="Quattrocento Sans"/>
                  <a:ea typeface="Quattrocento Sans"/>
                  <a:cs typeface="Quattrocento Sans"/>
                  <a:sym typeface="Quattrocento Sans"/>
                </a:rPr>
                <a:t>Half-Life 2 </a:t>
              </a:r>
              <a:r>
                <a:rPr lang="en-US" sz="1200" b="0" i="0" u="none" strike="noStrike" cap="none">
                  <a:solidFill>
                    <a:schemeClr val="lt1"/>
                  </a:solidFill>
                  <a:latin typeface="Quattrocento Sans"/>
                  <a:ea typeface="Quattrocento Sans"/>
                  <a:cs typeface="Quattrocento Sans"/>
                  <a:sym typeface="Quattrocento Sans"/>
                </a:rPr>
                <a:t>Source engine provides a world editor called </a:t>
              </a:r>
              <a:r>
                <a:rPr lang="en-US" sz="1200" b="0" i="1" u="none" strike="noStrike" cap="none">
                  <a:solidFill>
                    <a:schemeClr val="lt1"/>
                  </a:solidFill>
                  <a:latin typeface="Quattrocento Sans"/>
                  <a:ea typeface="Quattrocento Sans"/>
                  <a:cs typeface="Quattrocento Sans"/>
                  <a:sym typeface="Quattrocento Sans"/>
                </a:rPr>
                <a:t>Hammer</a:t>
              </a:r>
              <a:r>
                <a:rPr lang="en-US" sz="1200" b="0" i="0" u="none" strike="noStrike" cap="none">
                  <a:solidFill>
                    <a:schemeClr val="lt1"/>
                  </a:solidFill>
                  <a:latin typeface="Quattrocento Sans"/>
                  <a:ea typeface="Quattrocento Sans"/>
                  <a:cs typeface="Quattrocento Sans"/>
                  <a:sym typeface="Quattrocento Sans"/>
                </a:rPr>
                <a:t>.</a:t>
              </a:r>
              <a:endParaRPr/>
            </a:p>
          </p:txBody>
        </p:sp>
        <p:sp>
          <p:nvSpPr>
            <p:cNvPr id="837" name="Google Shape;837;p57"/>
            <p:cNvSpPr/>
            <p:nvPr/>
          </p:nvSpPr>
          <p:spPr>
            <a:xfrm>
              <a:off x="3829645" y="2773026"/>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7"/>
            <p:cNvSpPr txBox="1"/>
            <p:nvPr/>
          </p:nvSpPr>
          <p:spPr>
            <a:xfrm>
              <a:off x="3829645" y="2773026"/>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1" u="none" strike="noStrike" cap="none">
                  <a:solidFill>
                    <a:schemeClr val="lt1"/>
                  </a:solidFill>
                  <a:latin typeface="Quattrocento Sans"/>
                  <a:ea typeface="Quattrocento Sans"/>
                  <a:cs typeface="Quattrocento Sans"/>
                  <a:sym typeface="Quattrocento Sans"/>
                </a:rPr>
                <a:t>UnrealEd </a:t>
              </a:r>
              <a:r>
                <a:rPr lang="en-US" sz="1200" b="0" i="0" u="none" strike="noStrike" cap="none">
                  <a:solidFill>
                    <a:schemeClr val="lt1"/>
                  </a:solidFill>
                  <a:latin typeface="Quattrocento Sans"/>
                  <a:ea typeface="Quattrocento Sans"/>
                  <a:cs typeface="Quattrocento Sans"/>
                  <a:sym typeface="Quattrocento Sans"/>
                </a:rPr>
                <a:t>is the Unreal Engine’s world editor. This powerful tool also serves as the asset manager for all data types that the engine can consume.</a:t>
              </a:r>
              <a:endParaRPr/>
            </a:p>
          </p:txBody>
        </p:sp>
        <p:sp>
          <p:nvSpPr>
            <p:cNvPr id="839" name="Google Shape;839;p57"/>
            <p:cNvSpPr/>
            <p:nvPr/>
          </p:nvSpPr>
          <p:spPr>
            <a:xfrm>
              <a:off x="3829645" y="3881108"/>
              <a:ext cx="2576933" cy="785964"/>
            </a:xfrm>
            <a:prstGeom prst="rect">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7"/>
            <p:cNvSpPr txBox="1"/>
            <p:nvPr/>
          </p:nvSpPr>
          <p:spPr>
            <a:xfrm>
              <a:off x="3829645" y="3881108"/>
              <a:ext cx="2576933" cy="785964"/>
            </a:xfrm>
            <a:prstGeom prst="rect">
              <a:avLst/>
            </a:prstGeom>
            <a:noFill/>
            <a:ln>
              <a:noFill/>
            </a:ln>
          </p:spPr>
          <p:txBody>
            <a:bodyPr spcFirstLastPara="1" wrap="square" lIns="7600" tIns="7600" rIns="7600" bIns="76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1" u="none" strike="noStrike" cap="none">
                  <a:solidFill>
                    <a:schemeClr val="lt1"/>
                  </a:solidFill>
                  <a:latin typeface="Quattrocento Sans"/>
                  <a:ea typeface="Quattrocento Sans"/>
                  <a:cs typeface="Quattrocento Sans"/>
                  <a:sym typeface="Quattrocento Sans"/>
                </a:rPr>
                <a:t>Sandbox </a:t>
              </a:r>
              <a:r>
                <a:rPr lang="en-US" sz="1200" b="0" i="0" u="none" strike="noStrike" cap="none">
                  <a:solidFill>
                    <a:schemeClr val="lt1"/>
                  </a:solidFill>
                  <a:latin typeface="Quattrocento Sans"/>
                  <a:ea typeface="Quattrocento Sans"/>
                  <a:cs typeface="Quattrocento Sans"/>
                  <a:sym typeface="Quattrocento Sans"/>
                </a:rPr>
                <a:t>is the world editor in CRYENGINE.</a:t>
              </a:r>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5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Resource database</a:t>
            </a:r>
            <a:endParaRPr/>
          </a:p>
        </p:txBody>
      </p:sp>
      <p:grpSp>
        <p:nvGrpSpPr>
          <p:cNvPr id="846" name="Google Shape;846;p58"/>
          <p:cNvGrpSpPr/>
          <p:nvPr/>
        </p:nvGrpSpPr>
        <p:grpSpPr>
          <a:xfrm>
            <a:off x="604433" y="1659638"/>
            <a:ext cx="10983130" cy="4461897"/>
            <a:chOff x="0" y="55427"/>
            <a:chExt cx="10983130" cy="4461897"/>
          </a:xfrm>
        </p:grpSpPr>
        <p:sp>
          <p:nvSpPr>
            <p:cNvPr id="847" name="Google Shape;847;p58"/>
            <p:cNvSpPr/>
            <p:nvPr/>
          </p:nvSpPr>
          <p:spPr>
            <a:xfrm>
              <a:off x="0" y="55427"/>
              <a:ext cx="3432228" cy="2059337"/>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8"/>
            <p:cNvSpPr txBox="1"/>
            <p:nvPr/>
          </p:nvSpPr>
          <p:spPr>
            <a:xfrm>
              <a:off x="0" y="55427"/>
              <a:ext cx="3432228" cy="205933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Need a way to store and manage the vast amounts of data</a:t>
              </a:r>
              <a:endParaRPr/>
            </a:p>
          </p:txBody>
        </p:sp>
        <p:sp>
          <p:nvSpPr>
            <p:cNvPr id="849" name="Google Shape;849;p58"/>
            <p:cNvSpPr/>
            <p:nvPr/>
          </p:nvSpPr>
          <p:spPr>
            <a:xfrm>
              <a:off x="3775451" y="55427"/>
              <a:ext cx="3432228" cy="2059337"/>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8"/>
            <p:cNvSpPr txBox="1"/>
            <p:nvPr/>
          </p:nvSpPr>
          <p:spPr>
            <a:xfrm>
              <a:off x="3775451" y="55427"/>
              <a:ext cx="3432228" cy="2059337"/>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Every asset also carries with it a great deal of </a:t>
              </a:r>
              <a:r>
                <a:rPr lang="en-US" sz="1200" b="0" i="1" u="none" strike="noStrike" cap="none">
                  <a:solidFill>
                    <a:schemeClr val="lt1"/>
                  </a:solidFill>
                  <a:latin typeface="Quattrocento Sans"/>
                  <a:ea typeface="Quattrocento Sans"/>
                  <a:cs typeface="Quattrocento Sans"/>
                  <a:sym typeface="Quattrocento Sans"/>
                </a:rPr>
                <a:t>metadata</a:t>
              </a:r>
              <a:r>
                <a:rPr lang="en-US" sz="1200" b="0" i="0" u="none" strike="noStrike" cap="none">
                  <a:solidFill>
                    <a:schemeClr val="lt1"/>
                  </a:solidFill>
                  <a:latin typeface="Quattrocento Sans"/>
                  <a:ea typeface="Quattrocento Sans"/>
                  <a:cs typeface="Quattrocento Sans"/>
                  <a:sym typeface="Quattrocento Sans"/>
                </a:rPr>
                <a:t>. The metadata provides the asset conditioning pipeline. For animation:</a:t>
              </a:r>
              <a:endParaRPr/>
            </a:p>
            <a:p>
              <a:pPr marL="57150" marR="0" lvl="1" indent="-57150" algn="l" rtl="0">
                <a:lnSpc>
                  <a:spcPct val="90000"/>
                </a:lnSpc>
                <a:spcBef>
                  <a:spcPts val="420"/>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 A unique id that identifies the animation clip at runtime.</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 The name and directory path of the source Maya (.ma or .mb) file.</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 The </a:t>
              </a:r>
              <a:r>
                <a:rPr lang="en-US" sz="900" b="0" i="1" u="none" strike="noStrike" cap="none">
                  <a:solidFill>
                    <a:schemeClr val="lt1"/>
                  </a:solidFill>
                  <a:latin typeface="Quattrocento Sans"/>
                  <a:ea typeface="Quattrocento Sans"/>
                  <a:cs typeface="Quattrocento Sans"/>
                  <a:sym typeface="Quattrocento Sans"/>
                </a:rPr>
                <a:t>frame range</a:t>
              </a:r>
              <a:r>
                <a:rPr lang="en-US" sz="900" b="0" i="0" u="none" strike="noStrike" cap="none">
                  <a:solidFill>
                    <a:schemeClr val="lt1"/>
                  </a:solidFill>
                  <a:latin typeface="Quattrocento Sans"/>
                  <a:ea typeface="Quattrocento Sans"/>
                  <a:cs typeface="Quattrocento Sans"/>
                  <a:sym typeface="Quattrocento Sans"/>
                </a:rPr>
                <a:t>—on which frame the animation begins and ends.</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 Whether or not the animation is intended to loop.</a:t>
              </a:r>
              <a:endParaRPr/>
            </a:p>
            <a:p>
              <a:pPr marL="57150" marR="0" lvl="1" indent="-57150" algn="l" rtl="0">
                <a:lnSpc>
                  <a:spcPct val="90000"/>
                </a:lnSpc>
                <a:spcBef>
                  <a:spcPts val="135"/>
                </a:spcBef>
                <a:spcAft>
                  <a:spcPts val="0"/>
                </a:spcAft>
                <a:buClr>
                  <a:schemeClr val="lt1"/>
                </a:buClr>
                <a:buSzPts val="900"/>
                <a:buFont typeface="Quattrocento Sans"/>
                <a:buChar char="•"/>
              </a:pPr>
              <a:r>
                <a:rPr lang="en-US" sz="900" b="0" i="0" u="none" strike="noStrike" cap="none">
                  <a:solidFill>
                    <a:schemeClr val="lt1"/>
                  </a:solidFill>
                  <a:latin typeface="Quattrocento Sans"/>
                  <a:ea typeface="Quattrocento Sans"/>
                  <a:cs typeface="Quattrocento Sans"/>
                  <a:sym typeface="Quattrocento Sans"/>
                </a:rPr>
                <a:t> The animator’s choice of compression technique and level.</a:t>
              </a:r>
              <a:endParaRPr/>
            </a:p>
          </p:txBody>
        </p:sp>
        <p:sp>
          <p:nvSpPr>
            <p:cNvPr id="851" name="Google Shape;851;p58"/>
            <p:cNvSpPr/>
            <p:nvPr/>
          </p:nvSpPr>
          <p:spPr>
            <a:xfrm>
              <a:off x="7550902" y="55427"/>
              <a:ext cx="3432228" cy="2059337"/>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8"/>
            <p:cNvSpPr txBox="1"/>
            <p:nvPr/>
          </p:nvSpPr>
          <p:spPr>
            <a:xfrm>
              <a:off x="7550902" y="55427"/>
              <a:ext cx="3432228" cy="205933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Every game engine requires some kind of database to manage all of the metadata associated with the game’s assets</a:t>
              </a:r>
              <a:endParaRPr/>
            </a:p>
          </p:txBody>
        </p:sp>
        <p:sp>
          <p:nvSpPr>
            <p:cNvPr id="853" name="Google Shape;853;p58"/>
            <p:cNvSpPr/>
            <p:nvPr/>
          </p:nvSpPr>
          <p:spPr>
            <a:xfrm>
              <a:off x="0" y="2457987"/>
              <a:ext cx="3432228" cy="2059337"/>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8"/>
            <p:cNvSpPr txBox="1"/>
            <p:nvPr/>
          </p:nvSpPr>
          <p:spPr>
            <a:xfrm>
              <a:off x="0" y="2457987"/>
              <a:ext cx="3432228" cy="205933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Some companies use relational database MySQL or Oracle</a:t>
              </a:r>
              <a:endParaRPr/>
            </a:p>
          </p:txBody>
        </p:sp>
        <p:sp>
          <p:nvSpPr>
            <p:cNvPr id="855" name="Google Shape;855;p58"/>
            <p:cNvSpPr/>
            <p:nvPr/>
          </p:nvSpPr>
          <p:spPr>
            <a:xfrm>
              <a:off x="3775451" y="2457987"/>
              <a:ext cx="3432228" cy="2059337"/>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8"/>
            <p:cNvSpPr txBox="1"/>
            <p:nvPr/>
          </p:nvSpPr>
          <p:spPr>
            <a:xfrm>
              <a:off x="3775451" y="2457987"/>
              <a:ext cx="3432228" cy="205933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Some companies use text files managed by version control software Subversion, Perforce, or GIT</a:t>
              </a:r>
              <a:endParaRPr/>
            </a:p>
          </p:txBody>
        </p:sp>
        <p:sp>
          <p:nvSpPr>
            <p:cNvPr id="857" name="Google Shape;857;p58"/>
            <p:cNvSpPr/>
            <p:nvPr/>
          </p:nvSpPr>
          <p:spPr>
            <a:xfrm>
              <a:off x="7550902" y="2457987"/>
              <a:ext cx="3432228" cy="2059337"/>
            </a:xfrm>
            <a:prstGeom prst="rect">
              <a:avLst/>
            </a:prstGeom>
            <a:gradFill>
              <a:gsLst>
                <a:gs pos="0">
                  <a:srgbClr val="5E81C9"/>
                </a:gs>
                <a:gs pos="50000">
                  <a:srgbClr val="3B70C9"/>
                </a:gs>
                <a:gs pos="100000">
                  <a:srgbClr val="2E60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8"/>
            <p:cNvSpPr txBox="1"/>
            <p:nvPr/>
          </p:nvSpPr>
          <p:spPr>
            <a:xfrm>
              <a:off x="7550902" y="2457987"/>
              <a:ext cx="3432228" cy="2059337"/>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Quattrocento Sans"/>
                <a:buNone/>
              </a:pPr>
              <a:r>
                <a:rPr lang="en-US" sz="1200" b="0" i="0" u="none" strike="noStrike" cap="none">
                  <a:solidFill>
                    <a:schemeClr val="lt1"/>
                  </a:solidFill>
                  <a:latin typeface="Quattrocento Sans"/>
                  <a:ea typeface="Quattrocento Sans"/>
                  <a:cs typeface="Quattrocento Sans"/>
                  <a:sym typeface="Quattrocento Sans"/>
                </a:rPr>
                <a:t>Others also use custom software to edit the metadata. Naughty Dog uses a custom GUI called Builder</a:t>
              </a:r>
              <a:endParaRP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5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Approaches to Tool Architecture</a:t>
            </a:r>
            <a:endParaRPr/>
          </a:p>
        </p:txBody>
      </p:sp>
      <p:pic>
        <p:nvPicPr>
          <p:cNvPr id="865" name="Google Shape;865;p59"/>
          <p:cNvPicPr preferRelativeResize="0"/>
          <p:nvPr/>
        </p:nvPicPr>
        <p:blipFill rotWithShape="1">
          <a:blip r:embed="rId3">
            <a:alphaModFix/>
          </a:blip>
          <a:srcRect/>
          <a:stretch/>
        </p:blipFill>
        <p:spPr>
          <a:xfrm>
            <a:off x="785811" y="2820288"/>
            <a:ext cx="3257550" cy="2476500"/>
          </a:xfrm>
          <a:prstGeom prst="rect">
            <a:avLst/>
          </a:prstGeom>
          <a:noFill/>
          <a:ln>
            <a:noFill/>
          </a:ln>
        </p:spPr>
      </p:pic>
      <p:pic>
        <p:nvPicPr>
          <p:cNvPr id="866" name="Google Shape;866;p59"/>
          <p:cNvPicPr preferRelativeResize="0"/>
          <p:nvPr/>
        </p:nvPicPr>
        <p:blipFill rotWithShape="1">
          <a:blip r:embed="rId4">
            <a:alphaModFix/>
          </a:blip>
          <a:srcRect/>
          <a:stretch/>
        </p:blipFill>
        <p:spPr>
          <a:xfrm>
            <a:off x="4471987" y="2819401"/>
            <a:ext cx="3248025" cy="2477387"/>
          </a:xfrm>
          <a:prstGeom prst="rect">
            <a:avLst/>
          </a:prstGeom>
          <a:noFill/>
          <a:ln>
            <a:noFill/>
          </a:ln>
        </p:spPr>
      </p:pic>
      <p:sp>
        <p:nvSpPr>
          <p:cNvPr id="867" name="Google Shape;867;p59"/>
          <p:cNvSpPr txBox="1"/>
          <p:nvPr/>
        </p:nvSpPr>
        <p:spPr>
          <a:xfrm>
            <a:off x="701415" y="2198231"/>
            <a:ext cx="13826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Quattrocento Sans"/>
                <a:ea typeface="Quattrocento Sans"/>
                <a:cs typeface="Quattrocento Sans"/>
                <a:sym typeface="Quattrocento Sans"/>
              </a:rPr>
              <a:t>Stand alone</a:t>
            </a:r>
            <a:endParaRPr/>
          </a:p>
        </p:txBody>
      </p:sp>
      <p:sp>
        <p:nvSpPr>
          <p:cNvPr id="868" name="Google Shape;868;p59"/>
          <p:cNvSpPr txBox="1"/>
          <p:nvPr/>
        </p:nvSpPr>
        <p:spPr>
          <a:xfrm>
            <a:off x="4471987" y="2319765"/>
            <a:ext cx="12390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Integrated</a:t>
            </a:r>
            <a:endParaRPr/>
          </a:p>
        </p:txBody>
      </p:sp>
      <p:sp>
        <p:nvSpPr>
          <p:cNvPr id="869" name="Google Shape;869;p59"/>
          <p:cNvSpPr txBox="1">
            <a:spLocks noGrp="1"/>
          </p:cNvSpPr>
          <p:nvPr>
            <p:ph type="sldNum" idx="4294967295"/>
          </p:nvPr>
        </p:nvSpPr>
        <p:spPr>
          <a:xfrm>
            <a:off x="8543925" y="6356350"/>
            <a:ext cx="561975" cy="365125"/>
          </a:xfrm>
          <a:prstGeom prst="rect">
            <a:avLst/>
          </a:prstGeom>
          <a:noFill/>
          <a:ln>
            <a:noFill/>
          </a:ln>
        </p:spPr>
        <p:txBody>
          <a:bodyPr spcFirstLastPara="1" wrap="square" lIns="27425" tIns="45700" rIns="45700" bIns="45700" anchor="ctr" anchorCtr="0">
            <a:noAutofit/>
          </a:bodyPr>
          <a:lstStyle/>
          <a:p>
            <a:pPr marL="0" marR="0" lvl="0" indent="0" algn="l" rtl="0">
              <a:spcBef>
                <a:spcPts val="0"/>
              </a:spcBef>
              <a:spcAft>
                <a:spcPts val="0"/>
              </a:spcAft>
              <a:buNone/>
            </a:pPr>
            <a:fld id="{00000000-1234-1234-1234-123412341234}" type="slidenum">
              <a:rPr lang="en-US" sz="1200" b="0" u="none">
                <a:solidFill>
                  <a:srgbClr val="595959"/>
                </a:solidFill>
                <a:latin typeface="Century Gothic"/>
                <a:ea typeface="Century Gothic"/>
                <a:cs typeface="Century Gothic"/>
                <a:sym typeface="Century Gothic"/>
              </a:rPr>
              <a:t>66</a:t>
            </a:fld>
            <a:endParaRPr sz="1200" b="0" u="none">
              <a:solidFill>
                <a:srgbClr val="595959"/>
              </a:solidFill>
              <a:latin typeface="Century Gothic"/>
              <a:ea typeface="Century Gothic"/>
              <a:cs typeface="Century Gothic"/>
              <a:sym typeface="Century Gothic"/>
            </a:endParaRPr>
          </a:p>
        </p:txBody>
      </p:sp>
      <p:pic>
        <p:nvPicPr>
          <p:cNvPr id="870" name="Google Shape;870;p59"/>
          <p:cNvPicPr preferRelativeResize="0"/>
          <p:nvPr/>
        </p:nvPicPr>
        <p:blipFill rotWithShape="1">
          <a:blip r:embed="rId5">
            <a:alphaModFix/>
          </a:blip>
          <a:srcRect/>
          <a:stretch/>
        </p:blipFill>
        <p:spPr>
          <a:xfrm>
            <a:off x="8543924" y="2819401"/>
            <a:ext cx="2725177" cy="2462359"/>
          </a:xfrm>
          <a:prstGeom prst="rect">
            <a:avLst/>
          </a:prstGeom>
          <a:noFill/>
          <a:ln>
            <a:noFill/>
          </a:ln>
        </p:spPr>
      </p:pic>
      <p:sp>
        <p:nvSpPr>
          <p:cNvPr id="871" name="Google Shape;871;p59"/>
          <p:cNvSpPr txBox="1"/>
          <p:nvPr/>
        </p:nvSpPr>
        <p:spPr>
          <a:xfrm>
            <a:off x="8444032" y="2450069"/>
            <a:ext cx="103586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Quattrocento Sans"/>
                <a:ea typeface="Quattrocento Sans"/>
                <a:cs typeface="Quattrocento Sans"/>
                <a:sym typeface="Quattrocento Sans"/>
              </a:rPr>
              <a:t>Example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60"/>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A3838"/>
              </a:buClr>
              <a:buSzPts val="2800"/>
              <a:buFont typeface="Quattrocento Sans"/>
              <a:buNone/>
            </a:pPr>
            <a:r>
              <a:rPr lang="en-US"/>
              <a:t>Web-based tools</a:t>
            </a:r>
            <a:endParaRPr/>
          </a:p>
        </p:txBody>
      </p:sp>
      <p:grpSp>
        <p:nvGrpSpPr>
          <p:cNvPr id="878" name="Google Shape;878;p60"/>
          <p:cNvGrpSpPr/>
          <p:nvPr/>
        </p:nvGrpSpPr>
        <p:grpSpPr>
          <a:xfrm>
            <a:off x="604433" y="1604769"/>
            <a:ext cx="10983131" cy="4571635"/>
            <a:chOff x="0" y="558"/>
            <a:chExt cx="10983131" cy="4571635"/>
          </a:xfrm>
        </p:grpSpPr>
        <p:sp>
          <p:nvSpPr>
            <p:cNvPr id="879" name="Google Shape;879;p60"/>
            <p:cNvSpPr/>
            <p:nvPr/>
          </p:nvSpPr>
          <p:spPr>
            <a:xfrm>
              <a:off x="0" y="558"/>
              <a:ext cx="10983131" cy="1306181"/>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60"/>
            <p:cNvSpPr/>
            <p:nvPr/>
          </p:nvSpPr>
          <p:spPr>
            <a:xfrm>
              <a:off x="395119" y="294449"/>
              <a:ext cx="718399" cy="718399"/>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0"/>
            <p:cNvSpPr/>
            <p:nvPr/>
          </p:nvSpPr>
          <p:spPr>
            <a:xfrm>
              <a:off x="1508639" y="558"/>
              <a:ext cx="4942408" cy="13061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0"/>
            <p:cNvSpPr txBox="1"/>
            <p:nvPr/>
          </p:nvSpPr>
          <p:spPr>
            <a:xfrm>
              <a:off x="1508639" y="558"/>
              <a:ext cx="4942408" cy="1306181"/>
            </a:xfrm>
            <a:prstGeom prst="rect">
              <a:avLst/>
            </a:prstGeom>
            <a:noFill/>
            <a:ln>
              <a:noFill/>
            </a:ln>
          </p:spPr>
          <p:txBody>
            <a:bodyPr spcFirstLastPara="1" wrap="square" lIns="138225" tIns="138225" rIns="138225" bIns="138225" anchor="ctr" anchorCtr="0">
              <a:noAutofit/>
            </a:bodyPr>
            <a:lstStyle/>
            <a:p>
              <a:pPr marL="0" marR="0" lvl="0" indent="0" algn="l" rtl="0">
                <a:lnSpc>
                  <a:spcPct val="90000"/>
                </a:lnSpc>
                <a:spcBef>
                  <a:spcPts val="0"/>
                </a:spcBef>
                <a:spcAft>
                  <a:spcPts val="0"/>
                </a:spcAft>
                <a:buClr>
                  <a:schemeClr val="dk1"/>
                </a:buClr>
                <a:buSzPts val="2500"/>
                <a:buFont typeface="Quattrocento Sans"/>
                <a:buNone/>
              </a:pPr>
              <a:r>
                <a:rPr lang="en-US" sz="2500">
                  <a:solidFill>
                    <a:schemeClr val="dk1"/>
                  </a:solidFill>
                  <a:latin typeface="Quattrocento Sans"/>
                  <a:ea typeface="Quattrocento Sans"/>
                  <a:cs typeface="Quattrocento Sans"/>
                  <a:sym typeface="Quattrocento Sans"/>
                </a:rPr>
                <a:t>Various uses</a:t>
              </a:r>
              <a:endParaRPr/>
            </a:p>
          </p:txBody>
        </p:sp>
        <p:sp>
          <p:nvSpPr>
            <p:cNvPr id="883" name="Google Shape;883;p60"/>
            <p:cNvSpPr/>
            <p:nvPr/>
          </p:nvSpPr>
          <p:spPr>
            <a:xfrm>
              <a:off x="6451048" y="558"/>
              <a:ext cx="4532082" cy="13061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0"/>
            <p:cNvSpPr txBox="1"/>
            <p:nvPr/>
          </p:nvSpPr>
          <p:spPr>
            <a:xfrm>
              <a:off x="6451048" y="558"/>
              <a:ext cx="4532082" cy="1306181"/>
            </a:xfrm>
            <a:prstGeom prst="rect">
              <a:avLst/>
            </a:prstGeom>
            <a:noFill/>
            <a:ln>
              <a:noFill/>
            </a:ln>
          </p:spPr>
          <p:txBody>
            <a:bodyPr spcFirstLastPara="1" wrap="square" lIns="138225" tIns="138225" rIns="138225" bIns="138225"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a:solidFill>
                    <a:schemeClr val="dk1"/>
                  </a:solidFill>
                  <a:latin typeface="Quattrocento Sans"/>
                  <a:ea typeface="Quattrocento Sans"/>
                  <a:cs typeface="Quattrocento Sans"/>
                  <a:sym typeface="Quattrocento Sans"/>
                </a:rPr>
                <a:t>Asset management</a:t>
              </a:r>
              <a:endParaRPr/>
            </a:p>
            <a:p>
              <a:pPr marL="0" marR="0" lvl="0" indent="0" algn="l" rtl="0">
                <a:lnSpc>
                  <a:spcPct val="90000"/>
                </a:lnSpc>
                <a:spcBef>
                  <a:spcPts val="490"/>
                </a:spcBef>
                <a:spcAft>
                  <a:spcPts val="0"/>
                </a:spcAft>
                <a:buClr>
                  <a:schemeClr val="dk1"/>
                </a:buClr>
                <a:buSzPts val="1400"/>
                <a:buFont typeface="Quattrocento Sans"/>
                <a:buNone/>
              </a:pPr>
              <a:r>
                <a:rPr lang="en-US" sz="1400">
                  <a:solidFill>
                    <a:schemeClr val="dk1"/>
                  </a:solidFill>
                  <a:latin typeface="Quattrocento Sans"/>
                  <a:ea typeface="Quattrocento Sans"/>
                  <a:cs typeface="Quattrocento Sans"/>
                  <a:sym typeface="Quattrocento Sans"/>
                </a:rPr>
                <a:t>Scheduling</a:t>
              </a:r>
              <a:endParaRPr/>
            </a:p>
            <a:p>
              <a:pPr marL="0" marR="0" lvl="0" indent="0" algn="l" rtl="0">
                <a:lnSpc>
                  <a:spcPct val="90000"/>
                </a:lnSpc>
                <a:spcBef>
                  <a:spcPts val="490"/>
                </a:spcBef>
                <a:spcAft>
                  <a:spcPts val="0"/>
                </a:spcAft>
                <a:buClr>
                  <a:schemeClr val="dk1"/>
                </a:buClr>
                <a:buSzPts val="1400"/>
                <a:buFont typeface="Quattrocento Sans"/>
                <a:buNone/>
              </a:pPr>
              <a:r>
                <a:rPr lang="en-US" sz="1400">
                  <a:solidFill>
                    <a:schemeClr val="dk1"/>
                  </a:solidFill>
                  <a:latin typeface="Quattrocento Sans"/>
                  <a:ea typeface="Quattrocento Sans"/>
                  <a:cs typeface="Quattrocento Sans"/>
                  <a:sym typeface="Quattrocento Sans"/>
                </a:rPr>
                <a:t>Bug management</a:t>
              </a:r>
              <a:endParaRPr/>
            </a:p>
          </p:txBody>
        </p:sp>
        <p:sp>
          <p:nvSpPr>
            <p:cNvPr id="885" name="Google Shape;885;p60"/>
            <p:cNvSpPr/>
            <p:nvPr/>
          </p:nvSpPr>
          <p:spPr>
            <a:xfrm>
              <a:off x="0" y="1633285"/>
              <a:ext cx="10983131" cy="1306181"/>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60"/>
            <p:cNvSpPr/>
            <p:nvPr/>
          </p:nvSpPr>
          <p:spPr>
            <a:xfrm>
              <a:off x="395119" y="1927176"/>
              <a:ext cx="718399" cy="718399"/>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60"/>
            <p:cNvSpPr/>
            <p:nvPr/>
          </p:nvSpPr>
          <p:spPr>
            <a:xfrm>
              <a:off x="1508639" y="1633285"/>
              <a:ext cx="4942408" cy="13061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60"/>
            <p:cNvSpPr txBox="1"/>
            <p:nvPr/>
          </p:nvSpPr>
          <p:spPr>
            <a:xfrm>
              <a:off x="1508639" y="1633285"/>
              <a:ext cx="4942408" cy="1306181"/>
            </a:xfrm>
            <a:prstGeom prst="rect">
              <a:avLst/>
            </a:prstGeom>
            <a:noFill/>
            <a:ln>
              <a:noFill/>
            </a:ln>
          </p:spPr>
          <p:txBody>
            <a:bodyPr spcFirstLastPara="1" wrap="square" lIns="138225" tIns="138225" rIns="138225" bIns="138225" anchor="ctr" anchorCtr="0">
              <a:noAutofit/>
            </a:bodyPr>
            <a:lstStyle/>
            <a:p>
              <a:pPr marL="0" marR="0" lvl="0" indent="0" algn="l" rtl="0">
                <a:lnSpc>
                  <a:spcPct val="90000"/>
                </a:lnSpc>
                <a:spcBef>
                  <a:spcPts val="0"/>
                </a:spcBef>
                <a:spcAft>
                  <a:spcPts val="0"/>
                </a:spcAft>
                <a:buClr>
                  <a:schemeClr val="dk1"/>
                </a:buClr>
                <a:buSzPts val="2500"/>
                <a:buFont typeface="Quattrocento Sans"/>
                <a:buNone/>
              </a:pPr>
              <a:r>
                <a:rPr lang="en-US" sz="2500">
                  <a:solidFill>
                    <a:schemeClr val="dk1"/>
                  </a:solidFill>
                  <a:latin typeface="Quattrocento Sans"/>
                  <a:ea typeface="Quattrocento Sans"/>
                  <a:cs typeface="Quattrocento Sans"/>
                  <a:sym typeface="Quattrocento Sans"/>
                </a:rPr>
                <a:t>Easier to build</a:t>
              </a:r>
              <a:endParaRPr/>
            </a:p>
          </p:txBody>
        </p:sp>
        <p:sp>
          <p:nvSpPr>
            <p:cNvPr id="889" name="Google Shape;889;p60"/>
            <p:cNvSpPr/>
            <p:nvPr/>
          </p:nvSpPr>
          <p:spPr>
            <a:xfrm>
              <a:off x="6451048" y="1633285"/>
              <a:ext cx="4532082" cy="13061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0"/>
            <p:cNvSpPr txBox="1"/>
            <p:nvPr/>
          </p:nvSpPr>
          <p:spPr>
            <a:xfrm>
              <a:off x="6451048" y="1633285"/>
              <a:ext cx="4532082" cy="1306181"/>
            </a:xfrm>
            <a:prstGeom prst="rect">
              <a:avLst/>
            </a:prstGeom>
            <a:noFill/>
            <a:ln>
              <a:noFill/>
            </a:ln>
          </p:spPr>
          <p:txBody>
            <a:bodyPr spcFirstLastPara="1" wrap="square" lIns="138225" tIns="138225" rIns="138225" bIns="138225" anchor="ctr" anchorCtr="0">
              <a:noAutofit/>
            </a:bodyPr>
            <a:lstStyle/>
            <a:p>
              <a:pPr marL="0" marR="0" lvl="0" indent="0" algn="l" rtl="0">
                <a:lnSpc>
                  <a:spcPct val="90000"/>
                </a:lnSpc>
                <a:spcBef>
                  <a:spcPts val="0"/>
                </a:spcBef>
                <a:spcAft>
                  <a:spcPts val="0"/>
                </a:spcAft>
                <a:buClr>
                  <a:schemeClr val="dk1"/>
                </a:buClr>
                <a:buSzPts val="1400"/>
                <a:buFont typeface="Quattrocento Sans"/>
                <a:buNone/>
              </a:pPr>
              <a:r>
                <a:rPr lang="en-US" sz="1400">
                  <a:solidFill>
                    <a:schemeClr val="dk1"/>
                  </a:solidFill>
                  <a:latin typeface="Quattrocento Sans"/>
                  <a:ea typeface="Quattrocento Sans"/>
                  <a:cs typeface="Quattrocento Sans"/>
                  <a:sym typeface="Quattrocento Sans"/>
                </a:rPr>
                <a:t>Usually easier to build than a stand alone application</a:t>
              </a:r>
              <a:endParaRPr/>
            </a:p>
            <a:p>
              <a:pPr marL="0" marR="0" lvl="0" indent="0" algn="l" rtl="0">
                <a:lnSpc>
                  <a:spcPct val="90000"/>
                </a:lnSpc>
                <a:spcBef>
                  <a:spcPts val="490"/>
                </a:spcBef>
                <a:spcAft>
                  <a:spcPts val="0"/>
                </a:spcAft>
                <a:buClr>
                  <a:schemeClr val="dk1"/>
                </a:buClr>
                <a:buSzPts val="1400"/>
                <a:buFont typeface="Quattrocento Sans"/>
                <a:buNone/>
              </a:pPr>
              <a:r>
                <a:rPr lang="en-US" sz="1400">
                  <a:solidFill>
                    <a:schemeClr val="dk1"/>
                  </a:solidFill>
                  <a:latin typeface="Quattrocento Sans"/>
                  <a:ea typeface="Quattrocento Sans"/>
                  <a:cs typeface="Quattrocento Sans"/>
                  <a:sym typeface="Quattrocento Sans"/>
                </a:rPr>
                <a:t>Easier to update without forcing a reinstall</a:t>
              </a:r>
              <a:endParaRPr/>
            </a:p>
            <a:p>
              <a:pPr marL="0" marR="0" lvl="0" indent="0" algn="l" rtl="0">
                <a:lnSpc>
                  <a:spcPct val="90000"/>
                </a:lnSpc>
                <a:spcBef>
                  <a:spcPts val="490"/>
                </a:spcBef>
                <a:spcAft>
                  <a:spcPts val="0"/>
                </a:spcAft>
                <a:buClr>
                  <a:schemeClr val="dk1"/>
                </a:buClr>
                <a:buSzPts val="1400"/>
                <a:buFont typeface="Quattrocento Sans"/>
                <a:buNone/>
              </a:pPr>
              <a:r>
                <a:rPr lang="en-US" sz="1400">
                  <a:solidFill>
                    <a:schemeClr val="dk1"/>
                  </a:solidFill>
                  <a:latin typeface="Quattrocento Sans"/>
                  <a:ea typeface="Quattrocento Sans"/>
                  <a:cs typeface="Quattrocento Sans"/>
                  <a:sym typeface="Quattrocento Sans"/>
                </a:rPr>
                <a:t>Web apps require no special installation</a:t>
              </a:r>
              <a:endParaRPr/>
            </a:p>
          </p:txBody>
        </p:sp>
        <p:sp>
          <p:nvSpPr>
            <p:cNvPr id="891" name="Google Shape;891;p60"/>
            <p:cNvSpPr/>
            <p:nvPr/>
          </p:nvSpPr>
          <p:spPr>
            <a:xfrm>
              <a:off x="0" y="3266012"/>
              <a:ext cx="10983131" cy="1306181"/>
            </a:xfrm>
            <a:prstGeom prst="roundRect">
              <a:avLst>
                <a:gd name="adj" fmla="val 10000"/>
              </a:avLst>
            </a:prstGeom>
            <a:solidFill>
              <a:srgbClr val="F7D5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60"/>
            <p:cNvSpPr/>
            <p:nvPr/>
          </p:nvSpPr>
          <p:spPr>
            <a:xfrm>
              <a:off x="395119" y="3559903"/>
              <a:ext cx="718399" cy="718399"/>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0"/>
            <p:cNvSpPr/>
            <p:nvPr/>
          </p:nvSpPr>
          <p:spPr>
            <a:xfrm>
              <a:off x="1508639" y="3266012"/>
              <a:ext cx="9474491" cy="13061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60"/>
            <p:cNvSpPr txBox="1"/>
            <p:nvPr/>
          </p:nvSpPr>
          <p:spPr>
            <a:xfrm>
              <a:off x="1508639" y="3266012"/>
              <a:ext cx="9474491" cy="1306181"/>
            </a:xfrm>
            <a:prstGeom prst="rect">
              <a:avLst/>
            </a:prstGeom>
            <a:noFill/>
            <a:ln>
              <a:noFill/>
            </a:ln>
          </p:spPr>
          <p:txBody>
            <a:bodyPr spcFirstLastPara="1" wrap="square" lIns="138225" tIns="138225" rIns="138225" bIns="138225" anchor="ctr" anchorCtr="0">
              <a:noAutofit/>
            </a:bodyPr>
            <a:lstStyle/>
            <a:p>
              <a:pPr marL="0" marR="0" lvl="0" indent="0" algn="l" rtl="0">
                <a:lnSpc>
                  <a:spcPct val="90000"/>
                </a:lnSpc>
                <a:spcBef>
                  <a:spcPts val="0"/>
                </a:spcBef>
                <a:spcAft>
                  <a:spcPts val="0"/>
                </a:spcAft>
                <a:buClr>
                  <a:schemeClr val="dk1"/>
                </a:buClr>
                <a:buSzPts val="2500"/>
                <a:buFont typeface="Quattrocento Sans"/>
                <a:buNone/>
              </a:pPr>
              <a:r>
                <a:rPr lang="en-US" sz="2500">
                  <a:solidFill>
                    <a:schemeClr val="dk1"/>
                  </a:solidFill>
                  <a:latin typeface="Quattrocento Sans"/>
                  <a:ea typeface="Quattrocento Sans"/>
                  <a:cs typeface="Quattrocento Sans"/>
                  <a:sym typeface="Quattrocento Sans"/>
                </a:rPr>
                <a:t>If it just needs to present tabular data and have forms – use a web interface</a:t>
              </a:r>
              <a:endParaRPr/>
            </a:p>
          </p:txBody>
        </p:sp>
      </p:grpSp>
    </p:spTree>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1185</TotalTime>
  <Words>13987</Words>
  <Application>Microsoft Office PowerPoint</Application>
  <PresentationFormat>Widescreen</PresentationFormat>
  <Paragraphs>1116</Paragraphs>
  <Slides>67</Slides>
  <Notes>59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Verdana</vt:lpstr>
      <vt:lpstr>Arial</vt:lpstr>
      <vt:lpstr>Raleway</vt:lpstr>
      <vt:lpstr>Century Gothic</vt:lpstr>
      <vt:lpstr>Calibri</vt:lpstr>
      <vt:lpstr>Noto Sans Symbols</vt:lpstr>
      <vt:lpstr>Quattrocento Sans</vt:lpstr>
      <vt:lpstr>Get Started with 3D</vt:lpstr>
      <vt:lpstr>Week1 Game Engine Development GAME3121</vt:lpstr>
      <vt:lpstr>Instructor</vt:lpstr>
      <vt:lpstr>Assessment</vt:lpstr>
      <vt:lpstr>Textbook</vt:lpstr>
      <vt:lpstr>Objective &amp; Concept</vt:lpstr>
      <vt:lpstr>Week 1 – Introduction</vt:lpstr>
      <vt:lpstr>Structure of a game team</vt:lpstr>
      <vt:lpstr>What is a Game?</vt:lpstr>
      <vt:lpstr>Games for us</vt:lpstr>
      <vt:lpstr>What is a game engine?</vt:lpstr>
      <vt:lpstr>data-driven architecture</vt:lpstr>
      <vt:lpstr>First-person shooters</vt:lpstr>
      <vt:lpstr>Platformers and the other third-person games</vt:lpstr>
      <vt:lpstr>Fighting games</vt:lpstr>
      <vt:lpstr>Racing games</vt:lpstr>
      <vt:lpstr>Real-time strategy</vt:lpstr>
      <vt:lpstr>Massively Multiplayer Online Games (MMOG)</vt:lpstr>
      <vt:lpstr>Player-authored content</vt:lpstr>
      <vt:lpstr>Virtual Reality</vt:lpstr>
      <vt:lpstr>VR Game Engines</vt:lpstr>
      <vt:lpstr>Location-Based Entertainment</vt:lpstr>
      <vt:lpstr>Other Genres</vt:lpstr>
      <vt:lpstr>Some current engines</vt:lpstr>
      <vt:lpstr>More engines</vt:lpstr>
      <vt:lpstr>Even more engines</vt:lpstr>
      <vt:lpstr>Open Source Engines</vt:lpstr>
      <vt:lpstr>Recommendations</vt:lpstr>
      <vt:lpstr>2D Engines</vt:lpstr>
      <vt:lpstr>Runtime Engine Architecture</vt:lpstr>
      <vt:lpstr>Runtime Engine</vt:lpstr>
      <vt:lpstr>Low level components</vt:lpstr>
      <vt:lpstr>3rd Party SDKs</vt:lpstr>
      <vt:lpstr>Platform independence layer</vt:lpstr>
      <vt:lpstr>Core systems</vt:lpstr>
      <vt:lpstr>Resource manager</vt:lpstr>
      <vt:lpstr>Rendering engine</vt:lpstr>
      <vt:lpstr>Low-level Renderer</vt:lpstr>
      <vt:lpstr>Scene graph </vt:lpstr>
      <vt:lpstr>Visual effects</vt:lpstr>
      <vt:lpstr>Front end</vt:lpstr>
      <vt:lpstr>Profiling/Debugging</vt:lpstr>
      <vt:lpstr>Collisions and Physics</vt:lpstr>
      <vt:lpstr>Animation</vt:lpstr>
      <vt:lpstr>HID</vt:lpstr>
      <vt:lpstr>Audio</vt:lpstr>
      <vt:lpstr>Multiplayer/networking</vt:lpstr>
      <vt:lpstr>Gameplay foundation system</vt:lpstr>
      <vt:lpstr>Game Object Model</vt:lpstr>
      <vt:lpstr>Event system</vt:lpstr>
      <vt:lpstr>Scripting system</vt:lpstr>
      <vt:lpstr>Artificial intelligence foundations</vt:lpstr>
      <vt:lpstr>Built-in Game Engine AI Systems</vt:lpstr>
      <vt:lpstr>AI Middleware / Frameworks</vt:lpstr>
      <vt:lpstr>Machine Learning / Research-Oriented AI</vt:lpstr>
      <vt:lpstr>Navigation &amp; Pathfinding Libraries</vt:lpstr>
      <vt:lpstr>Classic AI Techniques (Engine-Agnostic)</vt:lpstr>
      <vt:lpstr>Game AI Engines &amp; Frameworks – Comparison</vt:lpstr>
      <vt:lpstr>Recommendations</vt:lpstr>
      <vt:lpstr>Game-specific subsystems</vt:lpstr>
      <vt:lpstr>Tools and the asset pipeline</vt:lpstr>
      <vt:lpstr>Digital Content Creation</vt:lpstr>
      <vt:lpstr>Assets conditioning pipeline</vt:lpstr>
      <vt:lpstr>Conditioning assets</vt:lpstr>
      <vt:lpstr>Game world editor</vt:lpstr>
      <vt:lpstr>Resource database</vt:lpstr>
      <vt:lpstr>Approaches to Tool Architecture</vt:lpstr>
      <vt:lpstr>Web-based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Hooman Salamat</dc:creator>
  <cp:lastModifiedBy>Hooman Salamat</cp:lastModifiedBy>
  <cp:revision>67</cp:revision>
  <dcterms:created xsi:type="dcterms:W3CDTF">2020-06-08T20:23:19Z</dcterms:created>
  <dcterms:modified xsi:type="dcterms:W3CDTF">2026-09-06T20:45:16Z</dcterms:modified>
</cp:coreProperties>
</file>