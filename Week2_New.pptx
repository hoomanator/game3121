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60" r:id="rId3"/>
    <p:sldId id="258"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59" r:id="rId22"/>
    <p:sldId id="261" r:id="rId23"/>
    <p:sldId id="262" r:id="rId24"/>
    <p:sldId id="263" r:id="rId25"/>
    <p:sldId id="264" r:id="rId26"/>
    <p:sldId id="265" r:id="rId27"/>
    <p:sldId id="284" r:id="rId28"/>
    <p:sldId id="285" r:id="rId29"/>
    <p:sldId id="286" r:id="rId30"/>
    <p:sldId id="287" r:id="rId31"/>
    <p:sldId id="266" r:id="rId32"/>
  </p:sldIdLst>
  <p:sldSz cx="12192000" cy="6858000"/>
  <p:notesSz cx="6858000" cy="9144000"/>
  <p:embeddedFontLst>
    <p:embeddedFont>
      <p:font typeface="Quattrocento Sans" panose="020B0502050000020003"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8" roundtripDataSignature="AMtx7miTxcueKrpZyVcEX48scNkCJ54u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10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100" Type="http://schemas.openxmlformats.org/officeDocument/2006/relationships/viewProps" Target="viewProps.xml"/><Relationship Id="rId8" Type="http://schemas.openxmlformats.org/officeDocument/2006/relationships/slide" Target="slides/slide7.xml"/><Relationship Id="rId98"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43FFA2F9-16C5-A7BB-3462-41E7BE9CCFC7}"/>
            </a:ext>
          </a:extLst>
        </p:cNvPr>
        <p:cNvGrpSpPr/>
        <p:nvPr/>
      </p:nvGrpSpPr>
      <p:grpSpPr>
        <a:xfrm>
          <a:off x="0" y="0"/>
          <a:ext cx="0" cy="0"/>
          <a:chOff x="0" y="0"/>
          <a:chExt cx="0" cy="0"/>
        </a:xfrm>
      </p:grpSpPr>
      <p:sp>
        <p:nvSpPr>
          <p:cNvPr id="68" name="Google Shape;68;p3:notes">
            <a:extLst>
              <a:ext uri="{FF2B5EF4-FFF2-40B4-BE49-F238E27FC236}">
                <a16:creationId xmlns:a16="http://schemas.microsoft.com/office/drawing/2014/main" id="{F85BD201-68F8-0FE0-2CA4-3C3CDC051D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a:extLst>
              <a:ext uri="{FF2B5EF4-FFF2-40B4-BE49-F238E27FC236}">
                <a16:creationId xmlns:a16="http://schemas.microsoft.com/office/drawing/2014/main" id="{45451923-AD4E-4C73-19FE-CBF6E7EC17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a:extLst>
              <a:ext uri="{FF2B5EF4-FFF2-40B4-BE49-F238E27FC236}">
                <a16:creationId xmlns:a16="http://schemas.microsoft.com/office/drawing/2014/main" id="{42828D21-31D4-6C71-45CA-B12B9E7FAC5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84280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4A640BFD-6B1F-0315-1663-0982B280E55B}"/>
            </a:ext>
          </a:extLst>
        </p:cNvPr>
        <p:cNvGrpSpPr/>
        <p:nvPr/>
      </p:nvGrpSpPr>
      <p:grpSpPr>
        <a:xfrm>
          <a:off x="0" y="0"/>
          <a:ext cx="0" cy="0"/>
          <a:chOff x="0" y="0"/>
          <a:chExt cx="0" cy="0"/>
        </a:xfrm>
      </p:grpSpPr>
      <p:sp>
        <p:nvSpPr>
          <p:cNvPr id="75" name="Google Shape;75;p4:notes">
            <a:extLst>
              <a:ext uri="{FF2B5EF4-FFF2-40B4-BE49-F238E27FC236}">
                <a16:creationId xmlns:a16="http://schemas.microsoft.com/office/drawing/2014/main" id="{3BD8EBFB-2626-57E2-C29C-3E166FFD71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4:notes">
            <a:extLst>
              <a:ext uri="{FF2B5EF4-FFF2-40B4-BE49-F238E27FC236}">
                <a16:creationId xmlns:a16="http://schemas.microsoft.com/office/drawing/2014/main" id="{82512AA2-B2FC-4262-400C-1510915BBDD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4:notes">
            <a:extLst>
              <a:ext uri="{FF2B5EF4-FFF2-40B4-BE49-F238E27FC236}">
                <a16:creationId xmlns:a16="http://schemas.microsoft.com/office/drawing/2014/main" id="{B40A2CF5-4E94-ED5D-D71C-138C589F58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1028319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62"/>
          <p:cNvSpPr/>
          <p:nvPr/>
        </p:nvSpPr>
        <p:spPr>
          <a:xfrm>
            <a:off x="254950" y="262784"/>
            <a:ext cx="11682101" cy="633243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9" name="Google Shape;19;p62"/>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2"/>
          <p:cNvSpPr txBox="1">
            <a:spLocks noGrp="1"/>
          </p:cNvSpPr>
          <p:nvPr>
            <p:ph type="subTitle" idx="1"/>
          </p:nvPr>
        </p:nvSpPr>
        <p:spPr>
          <a:xfrm>
            <a:off x="1524000" y="3128009"/>
            <a:ext cx="9144000" cy="128767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latin typeface="Quattrocento Sans"/>
                <a:ea typeface="Quattrocento Sans"/>
                <a:cs typeface="Quattrocento Sans"/>
                <a:sym typeface="Quattrocento Sa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21" name="Google Shape;21;p62"/>
          <p:cNvPicPr preferRelativeResize="0"/>
          <p:nvPr/>
        </p:nvPicPr>
        <p:blipFill rotWithShape="1">
          <a:blip r:embed="rId2">
            <a:alphaModFix/>
          </a:blip>
          <a:srcRect l="1648" r="13926" b="71478"/>
          <a:stretch/>
        </p:blipFill>
        <p:spPr>
          <a:xfrm>
            <a:off x="342899" y="4546601"/>
            <a:ext cx="11715751" cy="2025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pic>
        <p:nvPicPr>
          <p:cNvPr id="26" name="Google Shape;26;p64"/>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27" name="Google Shape;27;p64"/>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6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pic>
        <p:nvPicPr>
          <p:cNvPr id="30" name="Google Shape;30;p65"/>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31" name="Google Shape;31;p65"/>
          <p:cNvSpPr txBox="1">
            <a:spLocks noGrp="1"/>
          </p:cNvSpPr>
          <p:nvPr>
            <p:ph type="body" idx="1"/>
          </p:nvPr>
        </p:nvSpPr>
        <p:spPr>
          <a:xfrm>
            <a:off x="1090862" y="1507068"/>
            <a:ext cx="3192379"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15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5"/>
          <p:cNvSpPr txBox="1">
            <a:spLocks noGrp="1"/>
          </p:cNvSpPr>
          <p:nvPr>
            <p:ph type="body" idx="2"/>
          </p:nvPr>
        </p:nvSpPr>
        <p:spPr>
          <a:xfrm>
            <a:off x="4395537" y="1507068"/>
            <a:ext cx="7143905"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
        <p:cNvGrpSpPr/>
        <p:nvPr/>
      </p:nvGrpSpPr>
      <p:grpSpPr>
        <a:xfrm>
          <a:off x="0" y="0"/>
          <a:ext cx="0" cy="0"/>
          <a:chOff x="0" y="0"/>
          <a:chExt cx="0" cy="0"/>
        </a:xfrm>
      </p:grpSpPr>
      <p:sp>
        <p:nvSpPr>
          <p:cNvPr id="35" name="Google Shape;35;p66"/>
          <p:cNvSpPr/>
          <p:nvPr/>
        </p:nvSpPr>
        <p:spPr>
          <a:xfrm>
            <a:off x="254951" y="262784"/>
            <a:ext cx="11683049" cy="6332433"/>
          </a:xfrm>
          <a:prstGeom prst="rect">
            <a:avLst/>
          </a:prstGeom>
          <a:solidFill>
            <a:srgbClr val="F5F5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6" name="Google Shape;36;p66"/>
          <p:cNvSpPr/>
          <p:nvPr/>
        </p:nvSpPr>
        <p:spPr>
          <a:xfrm>
            <a:off x="254950" y="262784"/>
            <a:ext cx="11682101" cy="207264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7" name="Google Shape;37;p66"/>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6"/>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3F3F3F"/>
              </a:buClr>
              <a:buSzPts val="2400"/>
              <a:buChar char="•"/>
              <a:defRPr sz="2400">
                <a:solidFill>
                  <a:srgbClr val="3F3F3F"/>
                </a:solidFill>
                <a:latin typeface="Quattrocento Sans"/>
                <a:ea typeface="Quattrocento Sans"/>
                <a:cs typeface="Quattrocento Sans"/>
                <a:sym typeface="Quattrocento Sans"/>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3"/>
        <p:cNvGrpSpPr/>
        <p:nvPr/>
      </p:nvGrpSpPr>
      <p:grpSpPr>
        <a:xfrm>
          <a:off x="0" y="0"/>
          <a:ext cx="0" cy="0"/>
          <a:chOff x="0" y="0"/>
          <a:chExt cx="0" cy="0"/>
        </a:xfrm>
      </p:grpSpPr>
      <p:sp>
        <p:nvSpPr>
          <p:cNvPr id="44" name="Google Shape;44;p68"/>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5" name="Google Shape;45;p68"/>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
        <p:nvSpPr>
          <p:cNvPr id="46" name="Google Shape;46;p6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tandard">
  <p:cSld name="Standard">
    <p:spTree>
      <p:nvGrpSpPr>
        <p:cNvPr id="1" name="Shape 47"/>
        <p:cNvGrpSpPr/>
        <p:nvPr/>
      </p:nvGrpSpPr>
      <p:grpSpPr>
        <a:xfrm>
          <a:off x="0" y="0"/>
          <a:ext cx="0" cy="0"/>
          <a:chOff x="0" y="0"/>
          <a:chExt cx="0" cy="0"/>
        </a:xfrm>
      </p:grpSpPr>
      <p:sp>
        <p:nvSpPr>
          <p:cNvPr id="48" name="Google Shape;48;p69"/>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9" name="Google Shape;49;p69"/>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pic>
        <p:nvPicPr>
          <p:cNvPr id="50" name="Google Shape;50;p69"/>
          <p:cNvPicPr preferRelativeResize="0"/>
          <p:nvPr/>
        </p:nvPicPr>
        <p:blipFill rotWithShape="1">
          <a:blip r:embed="rId2">
            <a:alphaModFix/>
          </a:blip>
          <a:srcRect l="-41783" t="-3"/>
          <a:stretch/>
        </p:blipFill>
        <p:spPr>
          <a:xfrm>
            <a:off x="269032" y="4801396"/>
            <a:ext cx="11653936" cy="1786228"/>
          </a:xfrm>
          <a:prstGeom prst="rect">
            <a:avLst/>
          </a:prstGeom>
          <a:noFill/>
          <a:ln>
            <a:noFill/>
          </a:ln>
        </p:spPr>
      </p:pic>
      <p:sp>
        <p:nvSpPr>
          <p:cNvPr id="51" name="Google Shape;51;p6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1" name="Google Shape;11;p6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A3838"/>
              </a:buClr>
              <a:buSzPts val="2800"/>
              <a:buFont typeface="Quattrocento Sans"/>
              <a:buNone/>
              <a:defRPr sz="2800" b="0" i="0" u="none" strike="noStrike" cap="none">
                <a:solidFill>
                  <a:srgbClr val="3A3838"/>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5" name="Google Shape;1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61"/>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unity3d.com/Packages/com.unity.ai.navigation@2.0/manual/Glossary.html#collision" TargetMode="External"/><Relationship Id="rId2" Type="http://schemas.openxmlformats.org/officeDocument/2006/relationships/hyperlink" Target="https://docs.unity3d.com/Packages/com.unity.ai.navigation@2.0/manual/Glossary.html#scen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cs.unity3d.com/Packages/com.unity.ai.navigation@2.0/manual/Glossary.html#navmesh" TargetMode="External"/><Relationship Id="rId2" Type="http://schemas.openxmlformats.org/officeDocument/2006/relationships/hyperlink" Target="https://docs.unity3d.com/Packages/com.unity.ai.navigation@2.0/manual/Glossary.html#mesh" TargetMode="Externa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docs.unity3d.com/Packages/com.unity.ai.navigation@2.0/manual/Glossary.html#root-motio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docs.unity3d.com/Packages/com.unity.ai.navigation@2.0/manual/NavMeshSurface.html#advanced-settings" TargetMode="External"/><Relationship Id="rId2" Type="http://schemas.openxmlformats.org/officeDocument/2006/relationships/hyperlink" Target="https://docs.unity3d.com/Packages/com.unity.ai.navigation@2.0/manual/Glossary.html#rasterization" TargetMode="External"/><Relationship Id="rId1" Type="http://schemas.openxmlformats.org/officeDocument/2006/relationships/slideLayout" Target="../slideLayouts/slideLayout2.xml"/><Relationship Id="rId4" Type="http://schemas.openxmlformats.org/officeDocument/2006/relationships/hyperlink" Target="https://docs.unity3d.com/Packages/com.unity.ai.navigation@2.0/manual/NavMeshSurface.html#object-collection"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ocs.unity3d.com/Packages/com.unity.ai.navigation@2.0/manual/NavigationWindow.html" TargetMode="External"/><Relationship Id="rId2" Type="http://schemas.openxmlformats.org/officeDocument/2006/relationships/hyperlink" Target="https://docs.unity3d.com/Packages/com.unity.ai.navigation@2.0/manual/Glossary.html#gameobject" TargetMode="External"/><Relationship Id="rId1" Type="http://schemas.openxmlformats.org/officeDocument/2006/relationships/slideLayout" Target="../slideLayouts/slideLayout3.xml"/><Relationship Id="rId5" Type="http://schemas.openxmlformats.org/officeDocument/2006/relationships/image" Target="../media/image12.svg"/><Relationship Id="rId4" Type="http://schemas.openxmlformats.org/officeDocument/2006/relationships/hyperlink" Target="https://docs.unity3d.com/Packages/com.unity.ai.navigation@2.0/manual/NavMeshAgent.html"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docs.unity3d.com/Packages/com.unity.ai.navigation@2.0/manual/Glossary.html#collision" TargetMode="External"/><Relationship Id="rId2" Type="http://schemas.openxmlformats.org/officeDocument/2006/relationships/hyperlink" Target="https://docs.unity3d.com/Packages/com.unity.ai.navigation@2.0/manual/Glossary.html#colliders" TargetMode="External"/><Relationship Id="rId1" Type="http://schemas.openxmlformats.org/officeDocument/2006/relationships/slideLayout" Target="../slideLayouts/slideLayout3.xml"/><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2" Type="http://schemas.openxmlformats.org/officeDocument/2006/relationships/hyperlink" Target="https://docs.unity3d.com/Packages/com.unity.ai.navigation@2.0/manual/Glossary.html#gameobjec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unity3d.com/Packages/com.unity.ai.navigation@2.0/manual/Glossary.html#navmesh" TargetMode="External"/><Relationship Id="rId2" Type="http://schemas.openxmlformats.org/officeDocument/2006/relationships/hyperlink" Target="https://docs.unity3d.com/Packages/com.unity.ai.navigation@2.0/manual/NavMeshAgent.html" TargetMode="External"/><Relationship Id="rId1" Type="http://schemas.openxmlformats.org/officeDocument/2006/relationships/slideLayout" Target="../slideLayouts/slideLayout3.xml"/><Relationship Id="rId4" Type="http://schemas.openxmlformats.org/officeDocument/2006/relationships/image" Target="../media/image14.svg"/></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hyperlink" Target="https://docs.unity3d.com/Packages/com.unity.ai.navigation@2.0/manual/Glossary.html#mesh"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cs.unity3d.com/Packages/com.unity.ai.navigation@2.0/manual/NavMeshSurface.html" TargetMode="External"/><Relationship Id="rId7" Type="http://schemas.openxmlformats.org/officeDocument/2006/relationships/hyperlink" Target="https://docs.unity3d.com/Packages/com.unity.ai.navigation@2.0/manual/NavMeshSurface.html#navmesh-surface-asset-file" TargetMode="External"/><Relationship Id="rId2" Type="http://schemas.openxmlformats.org/officeDocument/2006/relationships/hyperlink" Target="https://docs.unity3d.com/Packages/com.unity.ai.navigation@2.0/manual/Glossary.html#navmesh" TargetMode="External"/><Relationship Id="rId1" Type="http://schemas.openxmlformats.org/officeDocument/2006/relationships/slideLayout" Target="../slideLayouts/slideLayout2.xml"/><Relationship Id="rId6" Type="http://schemas.openxmlformats.org/officeDocument/2006/relationships/hyperlink" Target="https://docs.unity3d.com/Packages/com.unity.ai.navigation@2.0/manual/NavMeshSurface.html#navmesh-surface-main-settings" TargetMode="External"/><Relationship Id="rId5" Type="http://schemas.openxmlformats.org/officeDocument/2006/relationships/hyperlink" Target="https://docs.unity3d.com/Packages/com.unity.ai.navigation@2.0/manual/NavigationWindow.html#agents-tab" TargetMode="External"/><Relationship Id="rId4" Type="http://schemas.openxmlformats.org/officeDocument/2006/relationships/hyperlink" Target="https://docs.unity3d.com/Packages/com.unity.ai.navigation@2.0/manual/NavMeshModifier.htm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docs.unity3d.com/Packages/com.unity.ai.navigation@2.0/manual/Glossary.html#scene" TargetMode="External"/><Relationship Id="rId2" Type="http://schemas.openxmlformats.org/officeDocument/2006/relationships/hyperlink" Target="https://docs.unity3d.com/Packages/com.unity.ai.navigation@2.0/manual/Glossary.html#navmesh" TargetMode="External"/><Relationship Id="rId1" Type="http://schemas.openxmlformats.org/officeDocument/2006/relationships/slideLayout" Target="../slideLayouts/slideLayout3.xml"/><Relationship Id="rId4" Type="http://schemas.openxmlformats.org/officeDocument/2006/relationships/hyperlink" Target="https://docs.unity3d.com/Packages/com.unity.ai.navigation@2.0/manual/Glossary.html#scripts"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cs.unity3d.com/Packages/com.unity.ai.navigation@2.0/manual/Glossary.html#navmesh" TargetMode="External"/><Relationship Id="rId2" Type="http://schemas.openxmlformats.org/officeDocument/2006/relationships/hyperlink" Target="https://docs.unity3d.com/Packages/com.unity.ai.navigation@2.0/manual/Glossary.html#mesh" TargetMode="External"/><Relationship Id="rId1" Type="http://schemas.openxmlformats.org/officeDocument/2006/relationships/slideLayout" Target="../slideLayouts/slideLayout3.xml"/><Relationship Id="rId5" Type="http://schemas.openxmlformats.org/officeDocument/2006/relationships/image" Target="../media/image18.svg"/><Relationship Id="rId4" Type="http://schemas.openxmlformats.org/officeDocument/2006/relationships/hyperlink" Target="https://docs.unity3d.com/Packages/com.unity.ai.navigation@2.0/manual/Glossary.html#inspector"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docs.unity3d.com/Packages/com.unity.ai.navigation@2.0/manual/Glossary.html#scene" TargetMode="External"/><Relationship Id="rId2" Type="http://schemas.openxmlformats.org/officeDocument/2006/relationships/hyperlink" Target="https://docs.unity3d.com/Packages/com.unity.ai.navigation@2.0/manual/Glossary.html#navmesh" TargetMode="External"/><Relationship Id="rId1" Type="http://schemas.openxmlformats.org/officeDocument/2006/relationships/slideLayout" Target="../slideLayouts/slideLayout3.xml"/><Relationship Id="rId4" Type="http://schemas.openxmlformats.org/officeDocument/2006/relationships/image" Target="../media/image19.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p>
            <a:pPr marL="0" lvl="0" indent="0" algn="l" rtl="0">
              <a:lnSpc>
                <a:spcPct val="100000"/>
              </a:lnSpc>
              <a:spcBef>
                <a:spcPts val="0"/>
              </a:spcBef>
              <a:spcAft>
                <a:spcPts val="0"/>
              </a:spcAft>
              <a:buClr>
                <a:schemeClr val="lt1"/>
              </a:buClr>
              <a:buSzPts val="4800"/>
              <a:buFont typeface="Quattrocento Sans"/>
              <a:buNone/>
            </a:pPr>
            <a:r>
              <a:rPr lang="en-US" dirty="0"/>
              <a:t>Week 2</a:t>
            </a:r>
            <a:br>
              <a:rPr lang="en-US" dirty="0"/>
            </a:br>
            <a:r>
              <a:rPr lang="en-US" dirty="0"/>
              <a:t>Game Engine Development Unity</a:t>
            </a:r>
            <a:br>
              <a:rPr lang="en-US" dirty="0"/>
            </a:br>
            <a:r>
              <a:rPr lang="en-US" dirty="0"/>
              <a:t>AI Navigation</a:t>
            </a:r>
            <a:endParaRPr dirty="0"/>
          </a:p>
        </p:txBody>
      </p:sp>
      <p:sp>
        <p:nvSpPr>
          <p:cNvPr id="58" name="Google Shape;58;p1"/>
          <p:cNvSpPr txBox="1"/>
          <p:nvPr/>
        </p:nvSpPr>
        <p:spPr>
          <a:xfrm>
            <a:off x="8077762" y="5255593"/>
            <a:ext cx="2447364" cy="49523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Hooman Salamat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a:t>Objective &amp; Concept</a:t>
            </a:r>
            <a:endParaRPr/>
          </a:p>
        </p:txBody>
      </p:sp>
      <p:sp>
        <p:nvSpPr>
          <p:cNvPr id="87" name="Google Shape;87;p5"/>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F3F3F"/>
              </a:buClr>
              <a:buSzPts val="1500"/>
              <a:buNone/>
            </a:pPr>
            <a:r>
              <a:rPr lang="en-US" sz="1500" b="1" dirty="0"/>
              <a:t>Objective</a:t>
            </a:r>
            <a:endParaRPr sz="1500" dirty="0"/>
          </a:p>
          <a:p>
            <a:pPr marL="228600" lvl="0" indent="-228600">
              <a:buSzPts val="1500"/>
            </a:pPr>
            <a:r>
              <a:rPr lang="en-CA" sz="1600" dirty="0"/>
              <a:t>Building Intelligent Pathfinding for Games &amp; Interactive Experiences</a:t>
            </a:r>
          </a:p>
          <a:p>
            <a:pPr marL="0" lvl="0" indent="0">
              <a:buSzPts val="1500"/>
              <a:buNone/>
            </a:pPr>
            <a:r>
              <a:rPr lang="en-US" sz="1500" b="1" dirty="0"/>
              <a:t>Concepts </a:t>
            </a:r>
            <a:endParaRPr dirty="0"/>
          </a:p>
          <a:p>
            <a:pPr marL="228600" lvl="0" indent="-228600">
              <a:buSzPts val="1500"/>
            </a:pPr>
            <a:r>
              <a:rPr lang="en-CA" sz="1400" dirty="0"/>
              <a:t>Explore Unity's modern AI Navigation package, learn how to build walkable surface geometry (</a:t>
            </a:r>
            <a:r>
              <a:rPr lang="en-CA" sz="1400" dirty="0" err="1"/>
              <a:t>NavMesh</a:t>
            </a:r>
            <a:r>
              <a:rPr lang="en-CA" sz="1400" dirty="0"/>
              <a:t>), and script intelligent agent behaviors. </a:t>
            </a:r>
          </a:p>
          <a:p>
            <a:pPr marL="228600" lvl="0" indent="-133350" algn="l" rtl="0">
              <a:lnSpc>
                <a:spcPct val="90000"/>
              </a:lnSpc>
              <a:spcBef>
                <a:spcPts val="1000"/>
              </a:spcBef>
              <a:spcAft>
                <a:spcPts val="0"/>
              </a:spcAft>
              <a:buClr>
                <a:srgbClr val="3F3F3F"/>
              </a:buClr>
              <a:buSzPts val="1500"/>
              <a:buNone/>
            </a:pPr>
            <a:endParaRPr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r>
              <a:rPr lang="en-CA" b="1" dirty="0"/>
              <a:t>Definition:</a:t>
            </a:r>
            <a:r>
              <a:rPr lang="en-CA" dirty="0"/>
              <a:t> A simplified 2D/3D polygon mesh generated over scene geometry to define walkable regions. </a:t>
            </a:r>
          </a:p>
          <a:p>
            <a:pPr lvl="0"/>
            <a:r>
              <a:rPr lang="en-CA" b="1" dirty="0"/>
              <a:t>Purpose:</a:t>
            </a:r>
            <a:r>
              <a:rPr lang="en-CA" dirty="0"/>
              <a:t> Allows AI characters to calculate the shortest path and navigate complex environments without colliding with obstacles. </a:t>
            </a:r>
          </a:p>
          <a:p>
            <a:pPr lvl="0"/>
            <a:r>
              <a:rPr lang="en-CA" b="1" dirty="0"/>
              <a:t>Core Package:</a:t>
            </a:r>
            <a:r>
              <a:rPr lang="en-CA" dirty="0"/>
              <a:t> Unity AI Navigation Package (</a:t>
            </a:r>
            <a:r>
              <a:rPr lang="en-CA" dirty="0" err="1"/>
              <a:t>com.unity.ai.navigation</a:t>
            </a:r>
            <a:r>
              <a:rPr lang="en-CA" dirty="0"/>
              <a:t>).</a:t>
            </a:r>
          </a:p>
          <a:p>
            <a:pPr lvl="0"/>
            <a:endParaRPr lang="en-CA" dirty="0"/>
          </a:p>
          <a:p>
            <a:pPr lvl="0"/>
            <a:r>
              <a:rPr lang="en-CA" dirty="0"/>
              <a:t>The AI Navigation package contains high-level components that allow you to use </a:t>
            </a:r>
            <a:r>
              <a:rPr lang="en-CA" dirty="0" err="1"/>
              <a:t>navmeshes</a:t>
            </a:r>
            <a:r>
              <a:rPr lang="en-CA" dirty="0"/>
              <a:t> to incorporate navigation and pathfinding in your game. </a:t>
            </a:r>
          </a:p>
          <a:p>
            <a:pPr lvl="0"/>
            <a:r>
              <a:rPr lang="en-CA" dirty="0"/>
              <a:t>With this package installed you can build and use </a:t>
            </a:r>
            <a:r>
              <a:rPr lang="en-CA" dirty="0" err="1"/>
              <a:t>navmeshes</a:t>
            </a:r>
            <a:r>
              <a:rPr lang="en-CA" dirty="0"/>
              <a:t> at runtime and at edit time, create dynamic obstacles, and use links to allow specific actions (like jumping) as your characters navigate between </a:t>
            </a:r>
            <a:r>
              <a:rPr lang="en-CA" dirty="0" err="1"/>
              <a:t>navmeshes</a:t>
            </a:r>
            <a:r>
              <a:rPr lang="en-CA" dirty="0"/>
              <a:t>.</a:t>
            </a:r>
          </a:p>
          <a:p>
            <a:pPr marL="0" lvl="0" indent="0" algn="l" rtl="0">
              <a:lnSpc>
                <a:spcPct val="90000"/>
              </a:lnSpc>
              <a:spcBef>
                <a:spcPts val="0"/>
              </a:spcBef>
              <a:spcAft>
                <a:spcPts val="0"/>
              </a:spcAft>
              <a:buClr>
                <a:schemeClr val="dk1"/>
              </a:buClr>
              <a:buSzPts val="300"/>
              <a:buFont typeface="Quattrocento Sans"/>
              <a:buNone/>
            </a:pPr>
            <a:endParaRPr lang="en-US" dirty="0"/>
          </a:p>
          <a:p>
            <a:pPr marL="0" lvl="0" indent="0" algn="l" rtl="0">
              <a:lnSpc>
                <a:spcPct val="90000"/>
              </a:lnSpc>
              <a:spcBef>
                <a:spcPts val="0"/>
              </a:spcBef>
              <a:spcAft>
                <a:spcPts val="0"/>
              </a:spcAft>
              <a:buClr>
                <a:schemeClr val="dk1"/>
              </a:buClr>
              <a:buSzPts val="300"/>
              <a:buFont typeface="Quattrocento Sans"/>
              <a:buNone/>
            </a:pPr>
            <a:endParaRPr dirty="0"/>
          </a:p>
        </p:txBody>
      </p:sp>
      <p:sp>
        <p:nvSpPr>
          <p:cNvPr id="73" name="Google Shape;73;p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lvl="0">
              <a:buSzPts val="2800"/>
            </a:pPr>
            <a:r>
              <a:rPr lang="en-CA" dirty="0"/>
              <a:t>What is </a:t>
            </a:r>
            <a:r>
              <a:rPr lang="en-CA" dirty="0" err="1"/>
              <a:t>NavMesh</a:t>
            </a:r>
            <a:r>
              <a:rPr lang="en-CA" dirty="0"/>
              <a: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215599-8B74-5693-14C6-0C155CBB5286}"/>
              </a:ext>
            </a:extLst>
          </p:cNvPr>
          <p:cNvSpPr>
            <a:spLocks noGrp="1"/>
          </p:cNvSpPr>
          <p:nvPr>
            <p:ph type="body" idx="1"/>
          </p:nvPr>
        </p:nvSpPr>
        <p:spPr/>
        <p:txBody>
          <a:bodyPr/>
          <a:lstStyle/>
          <a:p>
            <a:r>
              <a:rPr lang="en-CA" dirty="0"/>
              <a:t>When you want to intelligently move characters in your game (or agents as they are called in AI circles), you have to solve two problems: </a:t>
            </a:r>
          </a:p>
          <a:p>
            <a:r>
              <a:rPr lang="en-CA" dirty="0"/>
              <a:t>how to reason about the level to find the destination, </a:t>
            </a:r>
          </a:p>
          <a:p>
            <a:r>
              <a:rPr lang="en-CA" dirty="0"/>
              <a:t>then how to move there. These two problems are tightly coupled, but quite different in nature. </a:t>
            </a:r>
          </a:p>
          <a:p>
            <a:r>
              <a:rPr lang="en-CA" dirty="0"/>
              <a:t>The problem of reasoning about the level is more global and static, in that it takes into account the whole </a:t>
            </a:r>
            <a:r>
              <a:rPr lang="en-CA" b="1" dirty="0">
                <a:hlinkClick r:id="rId2" tooltip="A Scene contains the environments and menus of your game. Think of each unique Scene file as a unique level. In each Scene, you place your environments, obstacles, and decorations, essentially designing and building your game in pieces."/>
              </a:rPr>
              <a:t>Scene</a:t>
            </a:r>
            <a:r>
              <a:rPr lang="en-CA" dirty="0"/>
              <a:t>. </a:t>
            </a:r>
          </a:p>
          <a:p>
            <a:r>
              <a:rPr lang="en-CA" dirty="0"/>
              <a:t>Moving to the destination is more local and dynamic, it only considers the direction to move and how to prevent </a:t>
            </a:r>
            <a:r>
              <a:rPr lang="en-CA" dirty="0">
                <a:hlinkClick r:id="rId3" tooltip="A collision occurs when the physics engine detects that the colliders of two GameObjects make contact or overlap, when at least one has a Rigidbody component and is in motion."/>
              </a:rPr>
              <a:t>collisions</a:t>
            </a:r>
            <a:r>
              <a:rPr lang="en-CA" dirty="0"/>
              <a:t> with other moving agents.</a:t>
            </a:r>
            <a:endParaRPr lang="en-US" dirty="0"/>
          </a:p>
        </p:txBody>
      </p:sp>
      <p:sp>
        <p:nvSpPr>
          <p:cNvPr id="3" name="Title 2">
            <a:extLst>
              <a:ext uri="{FF2B5EF4-FFF2-40B4-BE49-F238E27FC236}">
                <a16:creationId xmlns:a16="http://schemas.microsoft.com/office/drawing/2014/main" id="{12B16689-48D1-9893-3A89-F47903BD57EC}"/>
              </a:ext>
            </a:extLst>
          </p:cNvPr>
          <p:cNvSpPr>
            <a:spLocks noGrp="1"/>
          </p:cNvSpPr>
          <p:nvPr>
            <p:ph type="title"/>
          </p:nvPr>
        </p:nvSpPr>
        <p:spPr/>
        <p:txBody>
          <a:bodyPr>
            <a:normAutofit/>
          </a:bodyPr>
          <a:lstStyle/>
          <a:p>
            <a:r>
              <a:rPr lang="en-CA" dirty="0"/>
              <a:t>Inner Workings of the Navigation System</a:t>
            </a:r>
            <a:endParaRPr lang="en-US" dirty="0"/>
          </a:p>
        </p:txBody>
      </p:sp>
    </p:spTree>
    <p:extLst>
      <p:ext uri="{BB962C8B-B14F-4D97-AF65-F5344CB8AC3E}">
        <p14:creationId xmlns:p14="http://schemas.microsoft.com/office/powerpoint/2010/main" val="328462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C1CA3C-31B7-05D0-BAD0-D357A577CA15}"/>
              </a:ext>
            </a:extLst>
          </p:cNvPr>
          <p:cNvSpPr>
            <a:spLocks noGrp="1"/>
          </p:cNvSpPr>
          <p:nvPr>
            <p:ph type="body" idx="1"/>
          </p:nvPr>
        </p:nvSpPr>
        <p:spPr>
          <a:xfrm>
            <a:off x="1090862" y="1507068"/>
            <a:ext cx="5320571" cy="4669896"/>
          </a:xfrm>
        </p:spPr>
        <p:txBody>
          <a:bodyPr>
            <a:normAutofit fontScale="85000" lnSpcReduction="10000"/>
          </a:bodyPr>
          <a:lstStyle/>
          <a:p>
            <a:pPr>
              <a:buFont typeface="Wingdings" pitchFamily="2" charset="2"/>
              <a:buChar char="v"/>
            </a:pPr>
            <a:r>
              <a:rPr lang="en-CA" dirty="0"/>
              <a:t>The navigation system needs its own data to represent the walkable areas in a game scene. </a:t>
            </a:r>
          </a:p>
          <a:p>
            <a:pPr>
              <a:buFont typeface="Wingdings" pitchFamily="2" charset="2"/>
              <a:buChar char="v"/>
            </a:pPr>
            <a:r>
              <a:rPr lang="en-CA" dirty="0"/>
              <a:t>The walkable areas define the places in the scene where the agent can stand and move. </a:t>
            </a:r>
          </a:p>
          <a:p>
            <a:pPr>
              <a:buFont typeface="Wingdings" pitchFamily="2" charset="2"/>
              <a:buChar char="v"/>
            </a:pPr>
            <a:r>
              <a:rPr lang="en-CA" dirty="0"/>
              <a:t>In Unity the agents are described as cylinders. </a:t>
            </a:r>
          </a:p>
          <a:p>
            <a:pPr>
              <a:buFont typeface="Wingdings" pitchFamily="2" charset="2"/>
              <a:buChar char="v"/>
            </a:pPr>
            <a:r>
              <a:rPr lang="en-CA" dirty="0"/>
              <a:t>The walkable area is built automatically from the geometry in the scene by testing the locations where the agent can stand. </a:t>
            </a:r>
          </a:p>
          <a:p>
            <a:pPr>
              <a:buFont typeface="Wingdings" pitchFamily="2" charset="2"/>
              <a:buChar char="v"/>
            </a:pPr>
            <a:r>
              <a:rPr lang="en-CA" dirty="0"/>
              <a:t>Then the locations are connected to a surface laying on top of the scene geometry. </a:t>
            </a:r>
          </a:p>
          <a:p>
            <a:pPr>
              <a:buFont typeface="Wingdings" pitchFamily="2" charset="2"/>
              <a:buChar char="v"/>
            </a:pPr>
            <a:r>
              <a:rPr lang="en-CA" dirty="0"/>
              <a:t>This surface is called the navigation </a:t>
            </a:r>
            <a:r>
              <a:rPr lang="en-CA" dirty="0">
                <a:hlinkClick r:id="rId2" tooltip="The main graphics primitive of Unity. Meshes make up a large part of your 3D worlds. Unity supports triangulated or Quadrangulated polygon meshes. Nurbs, Nurms, Subdiv surfaces must be converted to polygons."/>
              </a:rPr>
              <a:t>mesh</a:t>
            </a:r>
            <a:r>
              <a:rPr lang="en-CA" dirty="0"/>
              <a:t> (</a:t>
            </a:r>
            <a:r>
              <a:rPr lang="en-CA" dirty="0" err="1"/>
              <a:t>NavMesh</a:t>
            </a:r>
            <a:r>
              <a:rPr lang="en-CA" dirty="0"/>
              <a:t> for short).</a:t>
            </a:r>
          </a:p>
          <a:p>
            <a:pPr>
              <a:buFont typeface="Wingdings" pitchFamily="2" charset="2"/>
              <a:buChar char="v"/>
            </a:pPr>
            <a:r>
              <a:rPr lang="en-CA" dirty="0"/>
              <a:t>The </a:t>
            </a:r>
            <a:r>
              <a:rPr lang="en-CA" dirty="0">
                <a:hlinkClick r:id="rId3" tooltip="A mesh that Unity generates to approximate the walkable areas and obstacles in your environment for path finding and AI-controlled navigation."/>
              </a:rPr>
              <a:t>NavMesh</a:t>
            </a:r>
            <a:r>
              <a:rPr lang="en-CA" dirty="0"/>
              <a:t> stores this surface as convex polygons. </a:t>
            </a:r>
          </a:p>
          <a:p>
            <a:pPr>
              <a:buFont typeface="Wingdings" pitchFamily="2" charset="2"/>
              <a:buChar char="v"/>
            </a:pPr>
            <a:r>
              <a:rPr lang="en-CA" dirty="0"/>
              <a:t>Convex polygons are a useful representation, since we know that there are no obstructions between any two points inside a polygon. </a:t>
            </a:r>
          </a:p>
          <a:p>
            <a:pPr>
              <a:buFont typeface="Wingdings" pitchFamily="2" charset="2"/>
              <a:buChar char="v"/>
            </a:pPr>
            <a:r>
              <a:rPr lang="en-CA" dirty="0"/>
              <a:t>In addition to the polygon boundaries, we store information about which polygons are neighbors to each other. This allows us to reason about the whole walkable area.</a:t>
            </a:r>
          </a:p>
          <a:p>
            <a:endParaRPr lang="en-US" dirty="0"/>
          </a:p>
        </p:txBody>
      </p:sp>
      <p:pic>
        <p:nvPicPr>
          <p:cNvPr id="5" name="Graphic 4" descr="An agent, described as a cylinder, on a NavMesh walkable area in a room.">
            <a:extLst>
              <a:ext uri="{FF2B5EF4-FFF2-40B4-BE49-F238E27FC236}">
                <a16:creationId xmlns:a16="http://schemas.microsoft.com/office/drawing/2014/main" id="{C0AB98C5-3E15-0FF5-BCBA-07BA5D2E64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31452" y="2369141"/>
            <a:ext cx="3187700" cy="2374900"/>
          </a:xfrm>
          <a:prstGeom prst="rect">
            <a:avLst/>
          </a:prstGeom>
        </p:spPr>
      </p:pic>
      <p:sp>
        <p:nvSpPr>
          <p:cNvPr id="4" name="Text Placeholder 3">
            <a:extLst>
              <a:ext uri="{FF2B5EF4-FFF2-40B4-BE49-F238E27FC236}">
                <a16:creationId xmlns:a16="http://schemas.microsoft.com/office/drawing/2014/main" id="{AAEC3ABC-668F-4581-8FCD-2904D2DF8A63}"/>
              </a:ext>
            </a:extLst>
          </p:cNvPr>
          <p:cNvSpPr>
            <a:spLocks noGrp="1"/>
          </p:cNvSpPr>
          <p:nvPr>
            <p:ph type="body" idx="2"/>
          </p:nvPr>
        </p:nvSpPr>
        <p:spPr>
          <a:xfrm>
            <a:off x="6911163" y="1507068"/>
            <a:ext cx="4628279" cy="4669896"/>
          </a:xfrm>
        </p:spPr>
        <p:txBody>
          <a:bodyPr/>
          <a:lstStyle/>
          <a:p>
            <a:r>
              <a:rPr lang="en-US" dirty="0"/>
              <a:t> </a:t>
            </a:r>
          </a:p>
        </p:txBody>
      </p:sp>
      <p:sp>
        <p:nvSpPr>
          <p:cNvPr id="3" name="Title 2">
            <a:extLst>
              <a:ext uri="{FF2B5EF4-FFF2-40B4-BE49-F238E27FC236}">
                <a16:creationId xmlns:a16="http://schemas.microsoft.com/office/drawing/2014/main" id="{27BF1D4C-6CE5-B34E-9747-FB00808DE388}"/>
              </a:ext>
            </a:extLst>
          </p:cNvPr>
          <p:cNvSpPr>
            <a:spLocks noGrp="1"/>
          </p:cNvSpPr>
          <p:nvPr>
            <p:ph type="title"/>
          </p:nvPr>
        </p:nvSpPr>
        <p:spPr/>
        <p:txBody>
          <a:bodyPr>
            <a:normAutofit/>
          </a:bodyPr>
          <a:lstStyle/>
          <a:p>
            <a:r>
              <a:rPr lang="en-CA" dirty="0"/>
              <a:t>Walkable Areas</a:t>
            </a:r>
            <a:endParaRPr lang="en-US" dirty="0"/>
          </a:p>
        </p:txBody>
      </p:sp>
    </p:spTree>
    <p:extLst>
      <p:ext uri="{BB962C8B-B14F-4D97-AF65-F5344CB8AC3E}">
        <p14:creationId xmlns:p14="http://schemas.microsoft.com/office/powerpoint/2010/main" val="2842546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CCBC46-0CD6-8042-1266-326666C7E87D}"/>
              </a:ext>
            </a:extLst>
          </p:cNvPr>
          <p:cNvSpPr>
            <a:spLocks noGrp="1"/>
          </p:cNvSpPr>
          <p:nvPr>
            <p:ph type="body" idx="1"/>
          </p:nvPr>
        </p:nvSpPr>
        <p:spPr>
          <a:xfrm>
            <a:off x="1090862" y="1507068"/>
            <a:ext cx="6502337" cy="4669896"/>
          </a:xfrm>
        </p:spPr>
        <p:txBody>
          <a:bodyPr/>
          <a:lstStyle/>
          <a:p>
            <a:pPr>
              <a:buFont typeface="Wingdings" pitchFamily="2" charset="2"/>
              <a:buChar char="v"/>
            </a:pPr>
            <a:r>
              <a:rPr lang="en-CA" dirty="0"/>
              <a:t>To find a path between two locations in the scene, we first need to map the start and destination locations to their nearest polygons. </a:t>
            </a:r>
          </a:p>
          <a:p>
            <a:pPr>
              <a:buFont typeface="Wingdings" pitchFamily="2" charset="2"/>
              <a:buChar char="v"/>
            </a:pPr>
            <a:r>
              <a:rPr lang="en-CA" dirty="0"/>
              <a:t>Then we start searching from the start location, visiting all the neighbors until we reach the destination polygon. </a:t>
            </a:r>
          </a:p>
          <a:p>
            <a:pPr>
              <a:buFont typeface="Wingdings" pitchFamily="2" charset="2"/>
              <a:buChar char="v"/>
            </a:pPr>
            <a:r>
              <a:rPr lang="en-CA" dirty="0"/>
              <a:t>Tracing the visited polygons allows us to find the sequence of polygons which will lead from the start to the destination. </a:t>
            </a:r>
          </a:p>
          <a:p>
            <a:pPr>
              <a:buFont typeface="Wingdings" pitchFamily="2" charset="2"/>
              <a:buChar char="v"/>
            </a:pPr>
            <a:r>
              <a:rPr lang="en-CA" dirty="0"/>
              <a:t>A common algorithm to find the path is A* (pronounced “A star”), which is what Unity uses.</a:t>
            </a:r>
          </a:p>
          <a:p>
            <a:br>
              <a:rPr lang="en-CA" dirty="0"/>
            </a:br>
            <a:endParaRPr lang="en-US" dirty="0"/>
          </a:p>
        </p:txBody>
      </p:sp>
      <p:pic>
        <p:nvPicPr>
          <p:cNvPr id="5" name="Graphic 4" descr="A sequence of polygons maps the path from a start location to a destination location.">
            <a:extLst>
              <a:ext uri="{FF2B5EF4-FFF2-40B4-BE49-F238E27FC236}">
                <a16:creationId xmlns:a16="http://schemas.microsoft.com/office/drawing/2014/main" id="{C1A05DFB-676E-CC98-FD5C-243C6D7545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36182" y="2117983"/>
            <a:ext cx="3187700" cy="2374900"/>
          </a:xfrm>
          <a:prstGeom prst="rect">
            <a:avLst/>
          </a:prstGeom>
        </p:spPr>
      </p:pic>
      <p:sp>
        <p:nvSpPr>
          <p:cNvPr id="3" name="Text Placeholder 2">
            <a:extLst>
              <a:ext uri="{FF2B5EF4-FFF2-40B4-BE49-F238E27FC236}">
                <a16:creationId xmlns:a16="http://schemas.microsoft.com/office/drawing/2014/main" id="{D0C25D4B-2E2C-464A-8E79-2C93DAE55AEB}"/>
              </a:ext>
            </a:extLst>
          </p:cNvPr>
          <p:cNvSpPr>
            <a:spLocks noGrp="1"/>
          </p:cNvSpPr>
          <p:nvPr>
            <p:ph type="body" idx="2"/>
          </p:nvPr>
        </p:nvSpPr>
        <p:spPr>
          <a:xfrm>
            <a:off x="7908759" y="1507068"/>
            <a:ext cx="3630683" cy="4669896"/>
          </a:xfrm>
        </p:spPr>
        <p:txBody>
          <a:bodyPr/>
          <a:lstStyle/>
          <a:p>
            <a:r>
              <a:rPr lang="en-US" dirty="0"/>
              <a:t> </a:t>
            </a:r>
          </a:p>
        </p:txBody>
      </p:sp>
      <p:sp>
        <p:nvSpPr>
          <p:cNvPr id="4" name="Title 3">
            <a:extLst>
              <a:ext uri="{FF2B5EF4-FFF2-40B4-BE49-F238E27FC236}">
                <a16:creationId xmlns:a16="http://schemas.microsoft.com/office/drawing/2014/main" id="{223B6CE6-1049-756E-2393-80401A79B0C3}"/>
              </a:ext>
            </a:extLst>
          </p:cNvPr>
          <p:cNvSpPr>
            <a:spLocks noGrp="1"/>
          </p:cNvSpPr>
          <p:nvPr>
            <p:ph type="title"/>
          </p:nvPr>
        </p:nvSpPr>
        <p:spPr/>
        <p:txBody>
          <a:bodyPr>
            <a:normAutofit/>
          </a:bodyPr>
          <a:lstStyle/>
          <a:p>
            <a:r>
              <a:rPr lang="en-CA" dirty="0"/>
              <a:t>Finding Paths</a:t>
            </a:r>
            <a:endParaRPr lang="en-US" dirty="0"/>
          </a:p>
        </p:txBody>
      </p:sp>
    </p:spTree>
    <p:extLst>
      <p:ext uri="{BB962C8B-B14F-4D97-AF65-F5344CB8AC3E}">
        <p14:creationId xmlns:p14="http://schemas.microsoft.com/office/powerpoint/2010/main" val="605186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7F1BC5-D5FC-921D-E602-6BF3BD738F5B}"/>
              </a:ext>
            </a:extLst>
          </p:cNvPr>
          <p:cNvSpPr>
            <a:spLocks noGrp="1"/>
          </p:cNvSpPr>
          <p:nvPr>
            <p:ph type="body" idx="1"/>
          </p:nvPr>
        </p:nvSpPr>
        <p:spPr>
          <a:xfrm>
            <a:off x="1090862" y="1507068"/>
            <a:ext cx="6564580" cy="4669896"/>
          </a:xfrm>
        </p:spPr>
        <p:txBody>
          <a:bodyPr>
            <a:normAutofit/>
          </a:bodyPr>
          <a:lstStyle/>
          <a:p>
            <a:pPr>
              <a:buFont typeface="Wingdings" pitchFamily="2" charset="2"/>
              <a:buChar char="v"/>
            </a:pPr>
            <a:r>
              <a:rPr lang="en-CA" dirty="0"/>
              <a:t>The sequence of polygons which describe the path from the start to the destination polygon is called a corridor. The agent will reach the destination by always steering towards the next visible corner of the corridor. If you have a simple game where only one agent moves in the scene, it is fine to find all the corners of the corridor in one swoop and animate the character to move along the line segments connecting the corners.</a:t>
            </a:r>
          </a:p>
          <a:p>
            <a:pPr>
              <a:buFont typeface="Wingdings" pitchFamily="2" charset="2"/>
              <a:buChar char="v"/>
            </a:pPr>
            <a:r>
              <a:rPr lang="en-CA" dirty="0"/>
              <a:t>When dealing with multiple agents moving at the same time, they will need to deviate from the original path when avoiding each other. Trying to correct such deviations using a path consisting of line segments soon becomes very difficult and error prone.</a:t>
            </a:r>
          </a:p>
          <a:p>
            <a:pPr>
              <a:buFont typeface="Wingdings" pitchFamily="2" charset="2"/>
              <a:buChar char="v"/>
            </a:pPr>
            <a:r>
              <a:rPr lang="en-CA" dirty="0"/>
              <a:t>Since the agent movement in each frame is quite small, we can use the connectivity of the polygons to fix up the corridor in case we need to take a little detour. Then we quickly find the next visible corner to steer towards.</a:t>
            </a:r>
          </a:p>
          <a:p>
            <a:endParaRPr lang="en-US" dirty="0"/>
          </a:p>
        </p:txBody>
      </p:sp>
      <p:pic>
        <p:nvPicPr>
          <p:cNvPr id="5" name="Graphic 4" descr="A single agent following a corridor from the start location to a destination location.">
            <a:extLst>
              <a:ext uri="{FF2B5EF4-FFF2-40B4-BE49-F238E27FC236}">
                <a16:creationId xmlns:a16="http://schemas.microsoft.com/office/drawing/2014/main" id="{5076E01F-D186-8F1E-6053-65BDD92573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01303" y="1779182"/>
            <a:ext cx="3187700" cy="1066800"/>
          </a:xfrm>
          <a:prstGeom prst="rect">
            <a:avLst/>
          </a:prstGeom>
        </p:spPr>
      </p:pic>
      <p:sp>
        <p:nvSpPr>
          <p:cNvPr id="3" name="Text Placeholder 2">
            <a:extLst>
              <a:ext uri="{FF2B5EF4-FFF2-40B4-BE49-F238E27FC236}">
                <a16:creationId xmlns:a16="http://schemas.microsoft.com/office/drawing/2014/main" id="{47CEC131-C387-2C2B-D91B-D742DF971D3D}"/>
              </a:ext>
            </a:extLst>
          </p:cNvPr>
          <p:cNvSpPr>
            <a:spLocks noGrp="1"/>
          </p:cNvSpPr>
          <p:nvPr>
            <p:ph type="body" idx="2"/>
          </p:nvPr>
        </p:nvSpPr>
        <p:spPr>
          <a:xfrm>
            <a:off x="8250865" y="1507068"/>
            <a:ext cx="3288577" cy="4669896"/>
          </a:xfrm>
        </p:spPr>
        <p:txBody>
          <a:bodyPr/>
          <a:lstStyle/>
          <a:p>
            <a:r>
              <a:rPr lang="en-US" dirty="0"/>
              <a:t> </a:t>
            </a:r>
          </a:p>
        </p:txBody>
      </p:sp>
      <p:sp>
        <p:nvSpPr>
          <p:cNvPr id="4" name="Title 3">
            <a:extLst>
              <a:ext uri="{FF2B5EF4-FFF2-40B4-BE49-F238E27FC236}">
                <a16:creationId xmlns:a16="http://schemas.microsoft.com/office/drawing/2014/main" id="{1FB15F44-0784-5366-CCBD-2013612EA34D}"/>
              </a:ext>
            </a:extLst>
          </p:cNvPr>
          <p:cNvSpPr>
            <a:spLocks noGrp="1"/>
          </p:cNvSpPr>
          <p:nvPr>
            <p:ph type="title"/>
          </p:nvPr>
        </p:nvSpPr>
        <p:spPr/>
        <p:txBody>
          <a:bodyPr>
            <a:normAutofit/>
          </a:bodyPr>
          <a:lstStyle/>
          <a:p>
            <a:r>
              <a:rPr lang="en-CA" dirty="0"/>
              <a:t>Following the Path</a:t>
            </a:r>
            <a:endParaRPr lang="en-US" dirty="0"/>
          </a:p>
        </p:txBody>
      </p:sp>
      <p:pic>
        <p:nvPicPr>
          <p:cNvPr id="6" name="Graphic 5" descr="Two agents rely on the connectivity of the polygons to avoid each other.">
            <a:extLst>
              <a:ext uri="{FF2B5EF4-FFF2-40B4-BE49-F238E27FC236}">
                <a16:creationId xmlns:a16="http://schemas.microsoft.com/office/drawing/2014/main" id="{B776ECC3-6AC0-62C3-8368-5F1E2E0F32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51742" y="4012019"/>
            <a:ext cx="3187700" cy="990600"/>
          </a:xfrm>
          <a:prstGeom prst="rect">
            <a:avLst/>
          </a:prstGeom>
        </p:spPr>
      </p:pic>
    </p:spTree>
    <p:extLst>
      <p:ext uri="{BB962C8B-B14F-4D97-AF65-F5344CB8AC3E}">
        <p14:creationId xmlns:p14="http://schemas.microsoft.com/office/powerpoint/2010/main" val="1621329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2F94D4-1F17-D026-7F31-68A5CA4F9288}"/>
              </a:ext>
            </a:extLst>
          </p:cNvPr>
          <p:cNvSpPr>
            <a:spLocks noGrp="1"/>
          </p:cNvSpPr>
          <p:nvPr>
            <p:ph type="body" idx="1"/>
          </p:nvPr>
        </p:nvSpPr>
        <p:spPr>
          <a:xfrm>
            <a:off x="1090862" y="1507068"/>
            <a:ext cx="7880143" cy="4669896"/>
          </a:xfrm>
        </p:spPr>
        <p:txBody>
          <a:bodyPr/>
          <a:lstStyle/>
          <a:p>
            <a:r>
              <a:rPr lang="en-CA" dirty="0"/>
              <a:t>The steering logic takes the position of the next corner and based on that figures out a desired direction and speed (or velocity) needed to reach the destination. Using the desired velocity to move the agent can lead to collision with other agents.</a:t>
            </a:r>
          </a:p>
          <a:p>
            <a:r>
              <a:rPr lang="en-CA" dirty="0"/>
              <a:t>Obstacle avoidance chooses a new velocity which balances between moving in the desired direction and preventing future collisions with other agents and edges of the navigation mesh. Unity is using reciprocal velocity obstacles (RVO) to predict and prevent collisions.</a:t>
            </a:r>
          </a:p>
          <a:p>
            <a:endParaRPr lang="en-US" dirty="0"/>
          </a:p>
        </p:txBody>
      </p:sp>
      <p:pic>
        <p:nvPicPr>
          <p:cNvPr id="5" name="Graphic 4" descr="An agent with two arrows: the red arrow leads to other agents, which causes a collision. The blue arrow changes the velocity to avoid collision.">
            <a:extLst>
              <a:ext uri="{FF2B5EF4-FFF2-40B4-BE49-F238E27FC236}">
                <a16:creationId xmlns:a16="http://schemas.microsoft.com/office/drawing/2014/main" id="{51A3D842-883E-946A-A826-C22FD5464D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444167" y="2908300"/>
            <a:ext cx="1409700" cy="1041400"/>
          </a:xfrm>
          <a:prstGeom prst="rect">
            <a:avLst/>
          </a:prstGeom>
        </p:spPr>
      </p:pic>
      <p:sp>
        <p:nvSpPr>
          <p:cNvPr id="3" name="Text Placeholder 2">
            <a:extLst>
              <a:ext uri="{FF2B5EF4-FFF2-40B4-BE49-F238E27FC236}">
                <a16:creationId xmlns:a16="http://schemas.microsoft.com/office/drawing/2014/main" id="{5797E7C9-4383-F30E-7C92-852A610D73CB}"/>
              </a:ext>
            </a:extLst>
          </p:cNvPr>
          <p:cNvSpPr>
            <a:spLocks noGrp="1"/>
          </p:cNvSpPr>
          <p:nvPr>
            <p:ph type="body" idx="2"/>
          </p:nvPr>
        </p:nvSpPr>
        <p:spPr>
          <a:xfrm>
            <a:off x="8971005" y="1507068"/>
            <a:ext cx="2568437" cy="4669896"/>
          </a:xfrm>
        </p:spPr>
        <p:txBody>
          <a:bodyPr/>
          <a:lstStyle/>
          <a:p>
            <a:r>
              <a:rPr lang="en-US" dirty="0"/>
              <a:t> </a:t>
            </a:r>
          </a:p>
        </p:txBody>
      </p:sp>
      <p:sp>
        <p:nvSpPr>
          <p:cNvPr id="4" name="Title 3">
            <a:extLst>
              <a:ext uri="{FF2B5EF4-FFF2-40B4-BE49-F238E27FC236}">
                <a16:creationId xmlns:a16="http://schemas.microsoft.com/office/drawing/2014/main" id="{8A04B634-0538-7151-D39D-EED8F9BAF44D}"/>
              </a:ext>
            </a:extLst>
          </p:cNvPr>
          <p:cNvSpPr>
            <a:spLocks noGrp="1"/>
          </p:cNvSpPr>
          <p:nvPr>
            <p:ph type="title"/>
          </p:nvPr>
        </p:nvSpPr>
        <p:spPr/>
        <p:txBody>
          <a:bodyPr>
            <a:normAutofit/>
          </a:bodyPr>
          <a:lstStyle/>
          <a:p>
            <a:r>
              <a:rPr lang="en-CA" dirty="0"/>
              <a:t>Avoiding Obstacles</a:t>
            </a:r>
            <a:endParaRPr lang="en-US" dirty="0"/>
          </a:p>
        </p:txBody>
      </p:sp>
    </p:spTree>
    <p:extLst>
      <p:ext uri="{BB962C8B-B14F-4D97-AF65-F5344CB8AC3E}">
        <p14:creationId xmlns:p14="http://schemas.microsoft.com/office/powerpoint/2010/main" val="162047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5A154F-7A28-25AD-09B3-B78953E8DF11}"/>
              </a:ext>
            </a:extLst>
          </p:cNvPr>
          <p:cNvSpPr>
            <a:spLocks noGrp="1"/>
          </p:cNvSpPr>
          <p:nvPr>
            <p:ph type="body" idx="1"/>
          </p:nvPr>
        </p:nvSpPr>
        <p:spPr/>
        <p:txBody>
          <a:bodyPr>
            <a:normAutofit/>
          </a:bodyPr>
          <a:lstStyle/>
          <a:p>
            <a:r>
              <a:rPr lang="en-CA" dirty="0"/>
              <a:t>Finally after steering and obstacle avoidance the final velocity is calculated. In Unity the agents are simulated using a simple dynamic model, which also takes into account acceleration to allow more natural and smooth movement.</a:t>
            </a:r>
          </a:p>
          <a:p>
            <a:r>
              <a:rPr lang="en-CA" dirty="0"/>
              <a:t>At this stage you can feed the velocity from the simulated agent to the animation system to move the character using </a:t>
            </a:r>
            <a:r>
              <a:rPr lang="en-CA" dirty="0">
                <a:hlinkClick r:id="rId2" tooltip="Motion of character’s root node, whether it’s controlled by the animation itself or externally."/>
              </a:rPr>
              <a:t>root motion</a:t>
            </a:r>
            <a:r>
              <a:rPr lang="en-CA" dirty="0"/>
              <a:t>, or let the navigation system take care of that.</a:t>
            </a:r>
          </a:p>
          <a:p>
            <a:r>
              <a:rPr lang="en-CA" dirty="0"/>
              <a:t>Once the agent has been moved using either method, the simulated agent location is moved and constrained to </a:t>
            </a:r>
            <a:r>
              <a:rPr lang="en-CA" dirty="0" err="1"/>
              <a:t>NavMesh</a:t>
            </a:r>
            <a:r>
              <a:rPr lang="en-CA" dirty="0"/>
              <a:t>. This last small step is important for robust navigation.</a:t>
            </a:r>
          </a:p>
          <a:p>
            <a:endParaRPr lang="en-US" dirty="0"/>
          </a:p>
        </p:txBody>
      </p:sp>
      <p:sp>
        <p:nvSpPr>
          <p:cNvPr id="4" name="Title 3">
            <a:extLst>
              <a:ext uri="{FF2B5EF4-FFF2-40B4-BE49-F238E27FC236}">
                <a16:creationId xmlns:a16="http://schemas.microsoft.com/office/drawing/2014/main" id="{223D02DF-9D5D-E625-8B72-6B78B1CA7E0E}"/>
              </a:ext>
            </a:extLst>
          </p:cNvPr>
          <p:cNvSpPr>
            <a:spLocks noGrp="1"/>
          </p:cNvSpPr>
          <p:nvPr>
            <p:ph type="title"/>
          </p:nvPr>
        </p:nvSpPr>
        <p:spPr/>
        <p:txBody>
          <a:bodyPr>
            <a:normAutofit/>
          </a:bodyPr>
          <a:lstStyle/>
          <a:p>
            <a:r>
              <a:rPr lang="en-CA" dirty="0"/>
              <a:t>Moving the Agent</a:t>
            </a:r>
            <a:endParaRPr lang="en-US" dirty="0"/>
          </a:p>
        </p:txBody>
      </p:sp>
    </p:spTree>
    <p:extLst>
      <p:ext uri="{BB962C8B-B14F-4D97-AF65-F5344CB8AC3E}">
        <p14:creationId xmlns:p14="http://schemas.microsoft.com/office/powerpoint/2010/main" val="1404925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FCB2F21-8DF9-820D-29C1-A4E4DD94C8E1}"/>
              </a:ext>
            </a:extLst>
          </p:cNvPr>
          <p:cNvSpPr>
            <a:spLocks noGrp="1"/>
          </p:cNvSpPr>
          <p:nvPr>
            <p:ph type="body" idx="1"/>
          </p:nvPr>
        </p:nvSpPr>
        <p:spPr>
          <a:xfrm>
            <a:off x="1090862" y="1507068"/>
            <a:ext cx="6543315" cy="4669896"/>
          </a:xfrm>
        </p:spPr>
        <p:txBody>
          <a:bodyPr/>
          <a:lstStyle/>
          <a:p>
            <a:pPr>
              <a:buFont typeface="Wingdings" pitchFamily="2" charset="2"/>
              <a:buChar char="v"/>
            </a:pPr>
            <a:r>
              <a:rPr lang="en-CA" dirty="0"/>
              <a:t>One of the most important things to understand about navigation is the difference between global and local navigation.</a:t>
            </a:r>
          </a:p>
          <a:p>
            <a:pPr>
              <a:buFont typeface="Wingdings" pitchFamily="2" charset="2"/>
              <a:buChar char="v"/>
            </a:pPr>
            <a:r>
              <a:rPr lang="en-CA" dirty="0"/>
              <a:t>Global navigation is used to find the corridor across the world. Finding a path across the world is a costly operation requiring quite a lot of processing power and memory.</a:t>
            </a:r>
          </a:p>
          <a:p>
            <a:pPr>
              <a:buFont typeface="Wingdings" pitchFamily="2" charset="2"/>
              <a:buChar char="v"/>
            </a:pPr>
            <a:r>
              <a:rPr lang="en-CA" dirty="0"/>
              <a:t>The linear list of polygons describing the path is a flexible data structure for steering, and it can be locally adjusted as the agent’s position moves. Local navigation tries to figure out how to efficiently move towards the next corner without colliding with other agents or moving objects.</a:t>
            </a:r>
          </a:p>
          <a:p>
            <a:endParaRPr lang="en-US" dirty="0"/>
          </a:p>
        </p:txBody>
      </p:sp>
      <p:sp>
        <p:nvSpPr>
          <p:cNvPr id="5" name="Text Placeholder 4">
            <a:extLst>
              <a:ext uri="{FF2B5EF4-FFF2-40B4-BE49-F238E27FC236}">
                <a16:creationId xmlns:a16="http://schemas.microsoft.com/office/drawing/2014/main" id="{60162D06-037B-3AF9-2E74-83CB27E616C4}"/>
              </a:ext>
            </a:extLst>
          </p:cNvPr>
          <p:cNvSpPr>
            <a:spLocks noGrp="1"/>
          </p:cNvSpPr>
          <p:nvPr>
            <p:ph type="body" idx="2"/>
          </p:nvPr>
        </p:nvSpPr>
        <p:spPr>
          <a:xfrm>
            <a:off x="7751135" y="1507068"/>
            <a:ext cx="3788307" cy="4669896"/>
          </a:xfrm>
        </p:spPr>
        <p:txBody>
          <a:bodyPr/>
          <a:lstStyle/>
          <a:p>
            <a:r>
              <a:rPr lang="en-US" dirty="0"/>
              <a:t> </a:t>
            </a:r>
          </a:p>
        </p:txBody>
      </p:sp>
      <p:sp>
        <p:nvSpPr>
          <p:cNvPr id="3" name="Title 2">
            <a:extLst>
              <a:ext uri="{FF2B5EF4-FFF2-40B4-BE49-F238E27FC236}">
                <a16:creationId xmlns:a16="http://schemas.microsoft.com/office/drawing/2014/main" id="{AFD86FEC-F46C-39F9-1868-1F3FA9C8A167}"/>
              </a:ext>
            </a:extLst>
          </p:cNvPr>
          <p:cNvSpPr>
            <a:spLocks noGrp="1"/>
          </p:cNvSpPr>
          <p:nvPr>
            <p:ph type="title"/>
          </p:nvPr>
        </p:nvSpPr>
        <p:spPr/>
        <p:txBody>
          <a:bodyPr>
            <a:normAutofit/>
          </a:bodyPr>
          <a:lstStyle/>
          <a:p>
            <a:r>
              <a:rPr lang="en-CA" dirty="0"/>
              <a:t>Global and Local</a:t>
            </a:r>
            <a:endParaRPr lang="en-US" dirty="0"/>
          </a:p>
        </p:txBody>
      </p:sp>
      <p:pic>
        <p:nvPicPr>
          <p:cNvPr id="6" name="Graphic 5" descr="Global navigation with three steps: Map Locations, Find Path, and Corridor. Local navigation with four steps: Steering, Obstacle Avoidance, Move, and Update Corridor.">
            <a:extLst>
              <a:ext uri="{FF2B5EF4-FFF2-40B4-BE49-F238E27FC236}">
                <a16:creationId xmlns:a16="http://schemas.microsoft.com/office/drawing/2014/main" id="{E1B265E3-EF8C-AB09-821E-06AE9B112D9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6824" y="2501900"/>
            <a:ext cx="3810000" cy="1854200"/>
          </a:xfrm>
          <a:prstGeom prst="rect">
            <a:avLst/>
          </a:prstGeom>
        </p:spPr>
      </p:pic>
    </p:spTree>
    <p:extLst>
      <p:ext uri="{BB962C8B-B14F-4D97-AF65-F5344CB8AC3E}">
        <p14:creationId xmlns:p14="http://schemas.microsoft.com/office/powerpoint/2010/main" val="2557271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94EA10-EE10-0006-7F54-0DD75BA1291A}"/>
              </a:ext>
            </a:extLst>
          </p:cNvPr>
          <p:cNvSpPr>
            <a:spLocks noGrp="1"/>
          </p:cNvSpPr>
          <p:nvPr>
            <p:ph type="body" idx="1"/>
          </p:nvPr>
        </p:nvSpPr>
        <p:spPr>
          <a:xfrm>
            <a:off x="1090862" y="1507068"/>
            <a:ext cx="5990422" cy="4669896"/>
          </a:xfrm>
        </p:spPr>
        <p:txBody>
          <a:bodyPr>
            <a:normAutofit fontScale="92500"/>
          </a:bodyPr>
          <a:lstStyle/>
          <a:p>
            <a:r>
              <a:rPr lang="en-CA" dirty="0"/>
              <a:t>Many applications of navigation require other types of obstacles rather than just other agents. These could be the usual crates and barrels in a shooter game, or vehicles. The obstacles can be handled using local obstacle avoidance or global pathfinding.</a:t>
            </a:r>
          </a:p>
          <a:p>
            <a:r>
              <a:rPr lang="en-CA" dirty="0"/>
              <a:t>When an obstacle is moving, it is best handled using local obstacles avoidance. This way the agent can predictively avoid the obstacle. When the obstacle becomes stationary, and can be considered to block the path of all agents, the obstacles should affect the global navigation, that is, the navigation mesh.</a:t>
            </a:r>
          </a:p>
          <a:p>
            <a:r>
              <a:rPr lang="en-CA" dirty="0"/>
              <a:t>Changing the </a:t>
            </a:r>
            <a:r>
              <a:rPr lang="en-CA" dirty="0" err="1"/>
              <a:t>NavMesh</a:t>
            </a:r>
            <a:r>
              <a:rPr lang="en-CA" dirty="0"/>
              <a:t> is called carving. The process detects which parts of the obstacle touches the </a:t>
            </a:r>
            <a:r>
              <a:rPr lang="en-CA" dirty="0" err="1"/>
              <a:t>NavMesh</a:t>
            </a:r>
            <a:r>
              <a:rPr lang="en-CA" dirty="0"/>
              <a:t> and carves holes into the </a:t>
            </a:r>
            <a:r>
              <a:rPr lang="en-CA" dirty="0" err="1"/>
              <a:t>NavMesh</a:t>
            </a:r>
            <a:r>
              <a:rPr lang="en-CA" dirty="0"/>
              <a:t>. This is a computationally expensive operation, which is yet another compelling reason, why moving obstacles should be handled using collision avoidance.</a:t>
            </a:r>
          </a:p>
          <a:p>
            <a:r>
              <a:rPr lang="en-CA" dirty="0"/>
              <a:t>You can use local collision avoidance to steer around sparsely scattered obstacles too. Since the algorithm is local, it only considers the next immediate collisions, and cannot steer around traps or handle cases where an obstacle blocks a path. Use carving to solve these cases.</a:t>
            </a:r>
          </a:p>
          <a:p>
            <a:endParaRPr lang="en-US" dirty="0"/>
          </a:p>
        </p:txBody>
      </p:sp>
      <p:sp>
        <p:nvSpPr>
          <p:cNvPr id="3" name="Text Placeholder 2">
            <a:extLst>
              <a:ext uri="{FF2B5EF4-FFF2-40B4-BE49-F238E27FC236}">
                <a16:creationId xmlns:a16="http://schemas.microsoft.com/office/drawing/2014/main" id="{81FD1111-3CF5-ECFD-8C66-809A6B27CE20}"/>
              </a:ext>
            </a:extLst>
          </p:cNvPr>
          <p:cNvSpPr>
            <a:spLocks noGrp="1"/>
          </p:cNvSpPr>
          <p:nvPr>
            <p:ph type="body" idx="2"/>
          </p:nvPr>
        </p:nvSpPr>
        <p:spPr>
          <a:xfrm>
            <a:off x="7272670" y="1507068"/>
            <a:ext cx="4266772" cy="4669896"/>
          </a:xfrm>
        </p:spPr>
        <p:txBody>
          <a:bodyPr/>
          <a:lstStyle/>
          <a:p>
            <a:r>
              <a:rPr lang="en-US" dirty="0"/>
              <a:t> </a:t>
            </a:r>
          </a:p>
        </p:txBody>
      </p:sp>
      <p:sp>
        <p:nvSpPr>
          <p:cNvPr id="4" name="Title 3">
            <a:extLst>
              <a:ext uri="{FF2B5EF4-FFF2-40B4-BE49-F238E27FC236}">
                <a16:creationId xmlns:a16="http://schemas.microsoft.com/office/drawing/2014/main" id="{B16AAEFD-A3A9-F7EA-6B45-BEDCCFD9E466}"/>
              </a:ext>
            </a:extLst>
          </p:cNvPr>
          <p:cNvSpPr>
            <a:spLocks noGrp="1"/>
          </p:cNvSpPr>
          <p:nvPr>
            <p:ph type="title"/>
          </p:nvPr>
        </p:nvSpPr>
        <p:spPr/>
        <p:txBody>
          <a:bodyPr>
            <a:normAutofit/>
          </a:bodyPr>
          <a:lstStyle/>
          <a:p>
            <a:r>
              <a:rPr lang="en-CA" dirty="0"/>
              <a:t>Two Cases for Obstacles</a:t>
            </a:r>
            <a:endParaRPr lang="en-US" dirty="0"/>
          </a:p>
        </p:txBody>
      </p:sp>
      <p:pic>
        <p:nvPicPr>
          <p:cNvPr id="5" name="Graphic 4" descr="On the top, carving a NavMesh to avoid collision. On the bottom, using collision avoidance to reduce computational costs.">
            <a:extLst>
              <a:ext uri="{FF2B5EF4-FFF2-40B4-BE49-F238E27FC236}">
                <a16:creationId xmlns:a16="http://schemas.microsoft.com/office/drawing/2014/main" id="{35FD7CB7-200F-0C0E-41BE-97A9FA6024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06857" y="2492449"/>
            <a:ext cx="3187700" cy="2362200"/>
          </a:xfrm>
          <a:prstGeom prst="rect">
            <a:avLst/>
          </a:prstGeom>
        </p:spPr>
      </p:pic>
    </p:spTree>
    <p:extLst>
      <p:ext uri="{BB962C8B-B14F-4D97-AF65-F5344CB8AC3E}">
        <p14:creationId xmlns:p14="http://schemas.microsoft.com/office/powerpoint/2010/main" val="1167581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C045C5-7C9B-DC13-B863-DDF46956B502}"/>
              </a:ext>
            </a:extLst>
          </p:cNvPr>
          <p:cNvSpPr>
            <a:spLocks noGrp="1"/>
          </p:cNvSpPr>
          <p:nvPr>
            <p:ph type="body" idx="1"/>
          </p:nvPr>
        </p:nvSpPr>
        <p:spPr>
          <a:xfrm>
            <a:off x="1090862" y="1507068"/>
            <a:ext cx="6426357" cy="4669896"/>
          </a:xfrm>
        </p:spPr>
        <p:txBody>
          <a:bodyPr>
            <a:normAutofit/>
          </a:bodyPr>
          <a:lstStyle/>
          <a:p>
            <a:r>
              <a:rPr lang="en-CA" dirty="0"/>
              <a:t>The connections between the </a:t>
            </a:r>
            <a:r>
              <a:rPr lang="en-CA" dirty="0" err="1"/>
              <a:t>NavMesh</a:t>
            </a:r>
            <a:r>
              <a:rPr lang="en-CA" dirty="0"/>
              <a:t> polygons are described using links inside the pathfinding system. Sometimes it is necessary to let the agent navigate across places which are not walkable, for example, jumping over a fence, or traversing through a closed door. These cases need to know the location of the action.</a:t>
            </a:r>
          </a:p>
          <a:p>
            <a:r>
              <a:rPr lang="en-CA" dirty="0"/>
              <a:t>You can annotate these actions with the </a:t>
            </a:r>
            <a:r>
              <a:rPr lang="en-CA" b="1" dirty="0" err="1"/>
              <a:t>NavMesh</a:t>
            </a:r>
            <a:r>
              <a:rPr lang="en-CA" b="1" dirty="0"/>
              <a:t> Link</a:t>
            </a:r>
            <a:r>
              <a:rPr lang="en-CA" dirty="0"/>
              <a:t> component, which tells the pathfinder that a route exists through the specified link. Your code can later access this link and perform the special action as the agent follows the path.</a:t>
            </a:r>
          </a:p>
          <a:p>
            <a:endParaRPr lang="en-US" dirty="0"/>
          </a:p>
        </p:txBody>
      </p:sp>
      <p:sp>
        <p:nvSpPr>
          <p:cNvPr id="3" name="Text Placeholder 2">
            <a:extLst>
              <a:ext uri="{FF2B5EF4-FFF2-40B4-BE49-F238E27FC236}">
                <a16:creationId xmlns:a16="http://schemas.microsoft.com/office/drawing/2014/main" id="{FA089B22-5AFF-0B88-0F05-AB8F146A071F}"/>
              </a:ext>
            </a:extLst>
          </p:cNvPr>
          <p:cNvSpPr>
            <a:spLocks noGrp="1"/>
          </p:cNvSpPr>
          <p:nvPr>
            <p:ph type="body" idx="2"/>
          </p:nvPr>
        </p:nvSpPr>
        <p:spPr>
          <a:xfrm>
            <a:off x="7410893" y="1507068"/>
            <a:ext cx="4128549" cy="4669896"/>
          </a:xfrm>
        </p:spPr>
        <p:txBody>
          <a:bodyPr/>
          <a:lstStyle/>
          <a:p>
            <a:r>
              <a:rPr lang="en-US" dirty="0"/>
              <a:t> </a:t>
            </a:r>
          </a:p>
        </p:txBody>
      </p:sp>
      <p:sp>
        <p:nvSpPr>
          <p:cNvPr id="4" name="Title 3">
            <a:extLst>
              <a:ext uri="{FF2B5EF4-FFF2-40B4-BE49-F238E27FC236}">
                <a16:creationId xmlns:a16="http://schemas.microsoft.com/office/drawing/2014/main" id="{FD80C3CF-C3A5-BA96-6763-ED11A39275BF}"/>
              </a:ext>
            </a:extLst>
          </p:cNvPr>
          <p:cNvSpPr>
            <a:spLocks noGrp="1"/>
          </p:cNvSpPr>
          <p:nvPr>
            <p:ph type="title"/>
          </p:nvPr>
        </p:nvSpPr>
        <p:spPr/>
        <p:txBody>
          <a:bodyPr>
            <a:normAutofit/>
          </a:bodyPr>
          <a:lstStyle/>
          <a:p>
            <a:r>
              <a:rPr lang="en-CA" dirty="0"/>
              <a:t>About shortcuts between positions on </a:t>
            </a:r>
            <a:r>
              <a:rPr lang="en-CA" dirty="0" err="1"/>
              <a:t>NavMeshes</a:t>
            </a:r>
            <a:endParaRPr lang="en-US" dirty="0"/>
          </a:p>
        </p:txBody>
      </p:sp>
      <p:pic>
        <p:nvPicPr>
          <p:cNvPr id="5" name="Graphic 4" descr="An off-mesh link allows an agent to navigate across the divide in the floor.">
            <a:extLst>
              <a:ext uri="{FF2B5EF4-FFF2-40B4-BE49-F238E27FC236}">
                <a16:creationId xmlns:a16="http://schemas.microsoft.com/office/drawing/2014/main" id="{8A76F7A1-E18B-24A2-8202-31C6AC887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81317" y="2247900"/>
            <a:ext cx="3187700" cy="2362200"/>
          </a:xfrm>
          <a:prstGeom prst="rect">
            <a:avLst/>
          </a:prstGeom>
        </p:spPr>
      </p:pic>
    </p:spTree>
    <p:extLst>
      <p:ext uri="{BB962C8B-B14F-4D97-AF65-F5344CB8AC3E}">
        <p14:creationId xmlns:p14="http://schemas.microsoft.com/office/powerpoint/2010/main" val="2773127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7B7B170-7FDB-6AE6-D158-0701B4964778}"/>
              </a:ext>
            </a:extLst>
          </p:cNvPr>
          <p:cNvSpPr>
            <a:spLocks noGrp="1"/>
          </p:cNvSpPr>
          <p:nvPr>
            <p:ph type="body" idx="1"/>
          </p:nvPr>
        </p:nvSpPr>
        <p:spPr/>
        <p:txBody>
          <a:bodyPr/>
          <a:lstStyle/>
          <a:p>
            <a:r>
              <a:rPr lang="en-CA" dirty="0"/>
              <a:t>The </a:t>
            </a:r>
            <a:r>
              <a:rPr lang="en-CA" dirty="0" err="1"/>
              <a:t>NavMesh</a:t>
            </a:r>
            <a:r>
              <a:rPr lang="en-CA" dirty="0"/>
              <a:t> bake process uses voxelization to build the </a:t>
            </a:r>
            <a:r>
              <a:rPr lang="en-CA" dirty="0" err="1"/>
              <a:t>NavMesh</a:t>
            </a:r>
            <a:r>
              <a:rPr lang="en-CA" dirty="0"/>
              <a:t> from arbitrary level geometry. The algorithm first </a:t>
            </a:r>
            <a:r>
              <a:rPr lang="en-CA" dirty="0">
                <a:hlinkClick r:id="rId2"/>
              </a:rPr>
              <a:t>rasterizes</a:t>
            </a:r>
            <a:r>
              <a:rPr lang="en-CA" dirty="0"/>
              <a:t> the scene into voxels, then it extracts the walkable surfaces, then finally, turns the walkable surfaces into a navigation mesh. Voxels are the cells in a regular 3D grid where the scene geometry overlaps with that grid. The grid cells have a width and a length of </a:t>
            </a:r>
            <a:r>
              <a:rPr lang="en-CA" b="1" dirty="0">
                <a:hlinkClick r:id="rId3"/>
              </a:rPr>
              <a:t>Voxel Size</a:t>
            </a:r>
            <a:r>
              <a:rPr lang="en-CA" dirty="0"/>
              <a:t> and a height that is half of that width.</a:t>
            </a:r>
          </a:p>
          <a:p>
            <a:r>
              <a:rPr lang="en-CA" dirty="0"/>
              <a:t>To increase the accuracy of the resulting </a:t>
            </a:r>
            <a:r>
              <a:rPr lang="en-CA" dirty="0" err="1"/>
              <a:t>NavMesh</a:t>
            </a:r>
            <a:r>
              <a:rPr lang="en-CA" dirty="0"/>
              <a:t> shape, reduce the </a:t>
            </a:r>
            <a:r>
              <a:rPr lang="en-CA" b="1" dirty="0"/>
              <a:t>Voxel Size</a:t>
            </a:r>
            <a:r>
              <a:rPr lang="en-CA" dirty="0"/>
              <a:t> so that the 3D grid can rasterize finer details from the scene geometry. The time it takes to process the scene geometry is proportional to the number of voxels that the geometry occupies. When the </a:t>
            </a:r>
            <a:r>
              <a:rPr lang="en-CA" dirty="0" err="1"/>
              <a:t>NavMesh</a:t>
            </a:r>
            <a:r>
              <a:rPr lang="en-CA" dirty="0"/>
              <a:t> Surface uses a small voxel size, it generally creates the </a:t>
            </a:r>
            <a:r>
              <a:rPr lang="en-CA" dirty="0" err="1"/>
              <a:t>NavMesh</a:t>
            </a:r>
            <a:r>
              <a:rPr lang="en-CA" dirty="0"/>
              <a:t> more slowly than when it uses a larger voxel size. If you want to create the </a:t>
            </a:r>
            <a:r>
              <a:rPr lang="en-CA" dirty="0" err="1"/>
              <a:t>NavMesh</a:t>
            </a:r>
            <a:r>
              <a:rPr lang="en-CA" dirty="0"/>
              <a:t> faster, and you can no longer reduce the number of </a:t>
            </a:r>
            <a:r>
              <a:rPr lang="en-CA" dirty="0">
                <a:hlinkClick r:id="rId4"/>
              </a:rPr>
              <a:t>scene objects</a:t>
            </a:r>
            <a:r>
              <a:rPr lang="en-CA" dirty="0"/>
              <a:t> to process, you can increase the voxel size. With that modification, the resulting </a:t>
            </a:r>
            <a:r>
              <a:rPr lang="en-CA" dirty="0" err="1"/>
              <a:t>NavMesh</a:t>
            </a:r>
            <a:r>
              <a:rPr lang="en-CA" dirty="0"/>
              <a:t> matches the scene geometry with lower accuracy, both at the edges around obstacles and in the elevation relative to the ground.</a:t>
            </a:r>
          </a:p>
          <a:p>
            <a:r>
              <a:rPr lang="en-CA" dirty="0"/>
              <a:t>To extend the </a:t>
            </a:r>
            <a:r>
              <a:rPr lang="en-CA" dirty="0" err="1"/>
              <a:t>NavMesh</a:t>
            </a:r>
            <a:r>
              <a:rPr lang="en-CA" dirty="0"/>
              <a:t> Surface through narrow passages, such as doors, and to maintain a quick baking time, choose the voxel size such that 3 voxels fit one Agent radius (6 per diameter). The </a:t>
            </a:r>
            <a:r>
              <a:rPr lang="en-CA" b="1" dirty="0" err="1"/>
              <a:t>NavMesh</a:t>
            </a:r>
            <a:r>
              <a:rPr lang="en-CA" b="1" dirty="0"/>
              <a:t> Surface</a:t>
            </a:r>
            <a:r>
              <a:rPr lang="en-CA" dirty="0"/>
              <a:t> uses this size by default. For big open areas, using 1 or 2 voxels per radius speeds up baking. Tight indoor spots are better suited to smaller voxels, for example 4 to 6 voxels per radius. More than 8 voxels per radius does not usually provide much additional benefit.</a:t>
            </a:r>
          </a:p>
          <a:p>
            <a:br>
              <a:rPr lang="en-CA" dirty="0"/>
            </a:br>
            <a:endParaRPr lang="en-US" dirty="0"/>
          </a:p>
        </p:txBody>
      </p:sp>
      <p:sp>
        <p:nvSpPr>
          <p:cNvPr id="4" name="Title 3">
            <a:extLst>
              <a:ext uri="{FF2B5EF4-FFF2-40B4-BE49-F238E27FC236}">
                <a16:creationId xmlns:a16="http://schemas.microsoft.com/office/drawing/2014/main" id="{C233F74F-9588-54A9-E0E0-C4959F39DE0A}"/>
              </a:ext>
            </a:extLst>
          </p:cNvPr>
          <p:cNvSpPr>
            <a:spLocks noGrp="1"/>
          </p:cNvSpPr>
          <p:nvPr>
            <p:ph type="title"/>
          </p:nvPr>
        </p:nvSpPr>
        <p:spPr/>
        <p:txBody>
          <a:bodyPr>
            <a:normAutofit/>
          </a:bodyPr>
          <a:lstStyle/>
          <a:p>
            <a:r>
              <a:rPr lang="en-CA" dirty="0"/>
              <a:t>About Voxels</a:t>
            </a:r>
            <a:endParaRPr lang="en-US" dirty="0"/>
          </a:p>
        </p:txBody>
      </p:sp>
    </p:spTree>
    <p:extLst>
      <p:ext uri="{BB962C8B-B14F-4D97-AF65-F5344CB8AC3E}">
        <p14:creationId xmlns:p14="http://schemas.microsoft.com/office/powerpoint/2010/main" val="727148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AAEC2A-40C3-4E4A-5555-01CAC5BA3491}"/>
              </a:ext>
            </a:extLst>
          </p:cNvPr>
          <p:cNvSpPr>
            <a:spLocks noGrp="1"/>
          </p:cNvSpPr>
          <p:nvPr>
            <p:ph type="body" idx="1"/>
          </p:nvPr>
        </p:nvSpPr>
        <p:spPr>
          <a:xfrm>
            <a:off x="1090862" y="1507068"/>
            <a:ext cx="5628915" cy="4669896"/>
          </a:xfrm>
        </p:spPr>
        <p:txBody>
          <a:bodyPr>
            <a:normAutofit fontScale="77500" lnSpcReduction="20000"/>
          </a:bodyPr>
          <a:lstStyle/>
          <a:p>
            <a:r>
              <a:rPr lang="en-CA" dirty="0"/>
              <a:t>The </a:t>
            </a:r>
            <a:r>
              <a:rPr lang="en-CA" dirty="0" err="1"/>
              <a:t>NavMesh</a:t>
            </a:r>
            <a:r>
              <a:rPr lang="en-CA" dirty="0"/>
              <a:t> agent is a </a:t>
            </a:r>
            <a:r>
              <a:rPr lang="en-CA" dirty="0">
                <a:hlinkClick r:id="rId2" tooltip="The fundamental object in Unity scenes, which can represent characters, props, scenery, cameras, waypoints, and more."/>
              </a:rPr>
              <a:t>GameObject</a:t>
            </a:r>
            <a:r>
              <a:rPr lang="en-CA" dirty="0"/>
              <a:t> that is represented by an upright cylinder whose size is specified by the Radius and Height properties. The cylinder moves with the </a:t>
            </a:r>
            <a:r>
              <a:rPr lang="en-CA" dirty="0" err="1"/>
              <a:t>GameObject</a:t>
            </a:r>
            <a:r>
              <a:rPr lang="en-CA" dirty="0"/>
              <a:t>, but remains upright even if the </a:t>
            </a:r>
            <a:r>
              <a:rPr lang="en-CA" dirty="0" err="1"/>
              <a:t>GameObject</a:t>
            </a:r>
            <a:r>
              <a:rPr lang="en-CA" dirty="0"/>
              <a:t> rotates. The shape of the cylinder is used to detect and respond to collisions with other agents and obstacles. When the anchor point of the </a:t>
            </a:r>
            <a:r>
              <a:rPr lang="en-CA" dirty="0" err="1"/>
              <a:t>GameObject</a:t>
            </a:r>
            <a:r>
              <a:rPr lang="en-CA" dirty="0"/>
              <a:t> is not at the base of the cylinder, use the Base Offset property to specify the height difference.</a:t>
            </a:r>
          </a:p>
          <a:p>
            <a:r>
              <a:rPr lang="en-CA" dirty="0"/>
              <a:t>The height and radius of the cylinder are specified in the </a:t>
            </a:r>
            <a:r>
              <a:rPr lang="en-CA" dirty="0">
                <a:hlinkClick r:id="rId3"/>
              </a:rPr>
              <a:t>Navigation window</a:t>
            </a:r>
            <a:r>
              <a:rPr lang="en-CA" dirty="0"/>
              <a:t> and the </a:t>
            </a:r>
            <a:r>
              <a:rPr lang="en-CA" dirty="0">
                <a:hlinkClick r:id="rId4"/>
              </a:rPr>
              <a:t>NavMesh Agent component</a:t>
            </a:r>
            <a:r>
              <a:rPr lang="en-CA" dirty="0"/>
              <a:t> properties of the individual agents.</a:t>
            </a:r>
          </a:p>
          <a:p>
            <a:pPr lvl="0"/>
            <a:r>
              <a:rPr lang="en-CA" b="1" dirty="0"/>
              <a:t>Navigation window settings</a:t>
            </a:r>
            <a:r>
              <a:rPr lang="en-CA" dirty="0"/>
              <a:t> describe how all the </a:t>
            </a:r>
            <a:r>
              <a:rPr lang="en-CA" dirty="0" err="1"/>
              <a:t>NavMesh</a:t>
            </a:r>
            <a:r>
              <a:rPr lang="en-CA" dirty="0"/>
              <a:t> Agents collide and avoid static world geometry. To keep memory on budget and CPU load at a reasonable level, you can only specify one size in the bake settings.</a:t>
            </a:r>
          </a:p>
          <a:p>
            <a:pPr lvl="0"/>
            <a:r>
              <a:rPr lang="en-CA" b="1" dirty="0" err="1"/>
              <a:t>NavMesh</a:t>
            </a:r>
            <a:r>
              <a:rPr lang="en-CA" b="1" dirty="0"/>
              <a:t> Agent component properties</a:t>
            </a:r>
            <a:r>
              <a:rPr lang="en-CA" dirty="0"/>
              <a:t> values describe how the agent collides with moving obstacles and other agents.</a:t>
            </a:r>
          </a:p>
          <a:p>
            <a:r>
              <a:rPr lang="en-CA" dirty="0"/>
              <a:t>Typically you set the size of the agent with the same values in both places. However, you might, give a heavy soldier a larger radius, so that other agents leave more space around your soldier. Otherwise, your soldier avoids the environment in the same manner as the other agents.</a:t>
            </a:r>
          </a:p>
          <a:p>
            <a:br>
              <a:rPr lang="en-CA" dirty="0"/>
            </a:br>
            <a:endParaRPr lang="en-CA" dirty="0"/>
          </a:p>
          <a:p>
            <a:br>
              <a:rPr lang="en-CA" dirty="0"/>
            </a:br>
            <a:endParaRPr lang="en-US" dirty="0"/>
          </a:p>
        </p:txBody>
      </p:sp>
      <p:sp>
        <p:nvSpPr>
          <p:cNvPr id="4" name="Text Placeholder 3">
            <a:extLst>
              <a:ext uri="{FF2B5EF4-FFF2-40B4-BE49-F238E27FC236}">
                <a16:creationId xmlns:a16="http://schemas.microsoft.com/office/drawing/2014/main" id="{C6FE7D61-0744-6309-06E8-79003DBED9FC}"/>
              </a:ext>
            </a:extLst>
          </p:cNvPr>
          <p:cNvSpPr>
            <a:spLocks noGrp="1"/>
          </p:cNvSpPr>
          <p:nvPr>
            <p:ph type="body" idx="2"/>
          </p:nvPr>
        </p:nvSpPr>
        <p:spPr>
          <a:xfrm>
            <a:off x="7038753" y="1507068"/>
            <a:ext cx="4500689" cy="4669896"/>
          </a:xfrm>
        </p:spPr>
        <p:txBody>
          <a:bodyPr/>
          <a:lstStyle/>
          <a:p>
            <a:r>
              <a:rPr lang="en-US" dirty="0"/>
              <a:t> </a:t>
            </a:r>
          </a:p>
        </p:txBody>
      </p:sp>
      <p:sp>
        <p:nvSpPr>
          <p:cNvPr id="3" name="Title 2">
            <a:extLst>
              <a:ext uri="{FF2B5EF4-FFF2-40B4-BE49-F238E27FC236}">
                <a16:creationId xmlns:a16="http://schemas.microsoft.com/office/drawing/2014/main" id="{C7B51848-B50A-6CB9-6B1C-03D7B342F116}"/>
              </a:ext>
            </a:extLst>
          </p:cNvPr>
          <p:cNvSpPr>
            <a:spLocks noGrp="1"/>
          </p:cNvSpPr>
          <p:nvPr>
            <p:ph type="title"/>
          </p:nvPr>
        </p:nvSpPr>
        <p:spPr/>
        <p:txBody>
          <a:bodyPr>
            <a:normAutofit/>
          </a:bodyPr>
          <a:lstStyle/>
          <a:p>
            <a:r>
              <a:rPr lang="en-CA" dirty="0"/>
              <a:t>About </a:t>
            </a:r>
            <a:r>
              <a:rPr lang="en-CA" dirty="0" err="1"/>
              <a:t>NavMesh</a:t>
            </a:r>
            <a:r>
              <a:rPr lang="en-CA" dirty="0"/>
              <a:t> agents</a:t>
            </a:r>
            <a:endParaRPr lang="en-US" dirty="0"/>
          </a:p>
        </p:txBody>
      </p:sp>
      <p:pic>
        <p:nvPicPr>
          <p:cNvPr id="5" name="Graphic 4" descr="How the anchor point and base offset work together">
            <a:extLst>
              <a:ext uri="{FF2B5EF4-FFF2-40B4-BE49-F238E27FC236}">
                <a16:creationId xmlns:a16="http://schemas.microsoft.com/office/drawing/2014/main" id="{2FDDD3AF-B97A-D3BE-4E22-F2D1154336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42226" y="1810636"/>
            <a:ext cx="2921000" cy="3619500"/>
          </a:xfrm>
          <a:prstGeom prst="rect">
            <a:avLst/>
          </a:prstGeom>
        </p:spPr>
      </p:pic>
    </p:spTree>
    <p:extLst>
      <p:ext uri="{BB962C8B-B14F-4D97-AF65-F5344CB8AC3E}">
        <p14:creationId xmlns:p14="http://schemas.microsoft.com/office/powerpoint/2010/main" val="1903488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7851A8-F99D-02EF-FD2E-A940977212D7}"/>
              </a:ext>
            </a:extLst>
          </p:cNvPr>
          <p:cNvSpPr>
            <a:spLocks noGrp="1"/>
          </p:cNvSpPr>
          <p:nvPr>
            <p:ph type="body" idx="1"/>
          </p:nvPr>
        </p:nvSpPr>
        <p:spPr>
          <a:xfrm>
            <a:off x="1090862" y="1507068"/>
            <a:ext cx="5724608" cy="4669896"/>
          </a:xfrm>
        </p:spPr>
        <p:txBody>
          <a:bodyPr>
            <a:normAutofit fontScale="92500"/>
          </a:bodyPr>
          <a:lstStyle/>
          <a:p>
            <a:r>
              <a:rPr lang="en-CA" dirty="0"/>
              <a:t>Obstructing</a:t>
            </a:r>
          </a:p>
          <a:p>
            <a:r>
              <a:rPr lang="en-CA" dirty="0"/>
              <a:t>When </a:t>
            </a:r>
            <a:r>
              <a:rPr lang="en-CA" b="1" dirty="0"/>
              <a:t>Carve</a:t>
            </a:r>
            <a:r>
              <a:rPr lang="en-CA" dirty="0"/>
              <a:t> is not enabled, the default behavior of the </a:t>
            </a:r>
            <a:r>
              <a:rPr lang="en-CA" dirty="0" err="1"/>
              <a:t>NavMesh</a:t>
            </a:r>
            <a:r>
              <a:rPr lang="en-CA" dirty="0"/>
              <a:t> Obstacle is similar to that of a </a:t>
            </a:r>
            <a:r>
              <a:rPr lang="en-CA" b="1" dirty="0">
                <a:hlinkClick r:id="rId2" tooltip="An invisible shape that is used to handle physical collisions for an object. A collider doesn’t need to be exactly the same shape as the object’s mesh - a rough approximation is often more efficient and indistinguishable in gameplay."/>
              </a:rPr>
              <a:t>Collider</a:t>
            </a:r>
            <a:r>
              <a:rPr lang="en-CA" dirty="0"/>
              <a:t>. </a:t>
            </a:r>
            <a:r>
              <a:rPr lang="en-CA" dirty="0" err="1"/>
              <a:t>NavMesh</a:t>
            </a:r>
            <a:r>
              <a:rPr lang="en-CA" dirty="0"/>
              <a:t> Agents try to avoid </a:t>
            </a:r>
            <a:r>
              <a:rPr lang="en-CA" b="1" dirty="0">
                <a:hlinkClick r:id="rId3" tooltip="A collision occurs when the physics engine detects that the colliders of two GameObjects make contact or overlap, and at least one has a Rigidbody component and is in motion."/>
              </a:rPr>
              <a:t>collisions</a:t>
            </a:r>
            <a:r>
              <a:rPr lang="en-CA" dirty="0"/>
              <a:t> with the </a:t>
            </a:r>
            <a:r>
              <a:rPr lang="en-CA" dirty="0" err="1"/>
              <a:t>NavMesh</a:t>
            </a:r>
            <a:r>
              <a:rPr lang="en-CA" dirty="0"/>
              <a:t> Obstacle, and when close, they collide with the </a:t>
            </a:r>
            <a:r>
              <a:rPr lang="en-CA" dirty="0" err="1"/>
              <a:t>NavMesh</a:t>
            </a:r>
            <a:r>
              <a:rPr lang="en-CA" dirty="0"/>
              <a:t> Obstacle. Obstacle avoidance behavior is very basic, and has a short radius. As such, the </a:t>
            </a:r>
            <a:r>
              <a:rPr lang="en-CA" dirty="0" err="1"/>
              <a:t>NavMesh</a:t>
            </a:r>
            <a:r>
              <a:rPr lang="en-CA" dirty="0"/>
              <a:t> Agent might not be able to find its way around in an environment cluttered with </a:t>
            </a:r>
            <a:r>
              <a:rPr lang="en-CA" dirty="0" err="1"/>
              <a:t>NavMesh</a:t>
            </a:r>
            <a:r>
              <a:rPr lang="en-CA" dirty="0"/>
              <a:t> Obstacles. This mode is best used in cases where the obstacle is constantly moving (for example, a vehicle or player character).</a:t>
            </a:r>
          </a:p>
          <a:p>
            <a:r>
              <a:rPr lang="en-CA" dirty="0"/>
              <a:t>Carving</a:t>
            </a:r>
          </a:p>
          <a:p>
            <a:r>
              <a:rPr lang="en-CA" dirty="0"/>
              <a:t>When </a:t>
            </a:r>
            <a:r>
              <a:rPr lang="en-CA" b="1" dirty="0"/>
              <a:t>Carve</a:t>
            </a:r>
            <a:r>
              <a:rPr lang="en-CA" dirty="0"/>
              <a:t> is enabled, the obstacle carves a hole in the </a:t>
            </a:r>
            <a:r>
              <a:rPr lang="en-CA" dirty="0" err="1"/>
              <a:t>NavMesh</a:t>
            </a:r>
            <a:r>
              <a:rPr lang="en-CA" dirty="0"/>
              <a:t> when stationary. When moving, the obstacle is an obstruction. When a hole is carved into the </a:t>
            </a:r>
            <a:r>
              <a:rPr lang="en-CA" dirty="0" err="1"/>
              <a:t>NavMesh</a:t>
            </a:r>
            <a:r>
              <a:rPr lang="en-CA" dirty="0"/>
              <a:t>, the pathfinder is able to navigate the </a:t>
            </a:r>
            <a:r>
              <a:rPr lang="en-CA" dirty="0" err="1"/>
              <a:t>NavMesh</a:t>
            </a:r>
            <a:r>
              <a:rPr lang="en-CA" dirty="0"/>
              <a:t> Agent around locations cluttered with obstacles, or find another route if the current path gets blocked by an obstacle. It’s good practice to turn on carving for </a:t>
            </a:r>
            <a:r>
              <a:rPr lang="en-CA" dirty="0" err="1"/>
              <a:t>NavMesh</a:t>
            </a:r>
            <a:r>
              <a:rPr lang="en-CA" dirty="0"/>
              <a:t> Obstacles that generally block navigation but can be moved by the player or other game events like explosions (for example, crates or barrels).</a:t>
            </a:r>
          </a:p>
          <a:p>
            <a:endParaRPr lang="en-US" dirty="0"/>
          </a:p>
        </p:txBody>
      </p:sp>
      <p:sp>
        <p:nvSpPr>
          <p:cNvPr id="3" name="Text Placeholder 2">
            <a:extLst>
              <a:ext uri="{FF2B5EF4-FFF2-40B4-BE49-F238E27FC236}">
                <a16:creationId xmlns:a16="http://schemas.microsoft.com/office/drawing/2014/main" id="{495DA568-627B-72EF-BE72-76D7A0E2AE35}"/>
              </a:ext>
            </a:extLst>
          </p:cNvPr>
          <p:cNvSpPr>
            <a:spLocks noGrp="1"/>
          </p:cNvSpPr>
          <p:nvPr>
            <p:ph type="body" idx="2"/>
          </p:nvPr>
        </p:nvSpPr>
        <p:spPr>
          <a:xfrm>
            <a:off x="6985591" y="1507068"/>
            <a:ext cx="4553851" cy="4669896"/>
          </a:xfrm>
        </p:spPr>
        <p:txBody>
          <a:bodyPr/>
          <a:lstStyle/>
          <a:p>
            <a:r>
              <a:rPr lang="en-US" dirty="0"/>
              <a:t> </a:t>
            </a:r>
          </a:p>
        </p:txBody>
      </p:sp>
      <p:sp>
        <p:nvSpPr>
          <p:cNvPr id="4" name="Title 3">
            <a:extLst>
              <a:ext uri="{FF2B5EF4-FFF2-40B4-BE49-F238E27FC236}">
                <a16:creationId xmlns:a16="http://schemas.microsoft.com/office/drawing/2014/main" id="{F9AE66AE-0F82-E9AD-3A59-C653FCF5CEFB}"/>
              </a:ext>
            </a:extLst>
          </p:cNvPr>
          <p:cNvSpPr>
            <a:spLocks noGrp="1"/>
          </p:cNvSpPr>
          <p:nvPr>
            <p:ph type="title"/>
          </p:nvPr>
        </p:nvSpPr>
        <p:spPr/>
        <p:txBody>
          <a:bodyPr>
            <a:normAutofit/>
          </a:bodyPr>
          <a:lstStyle/>
          <a:p>
            <a:r>
              <a:rPr lang="en-CA" dirty="0"/>
              <a:t>About </a:t>
            </a:r>
            <a:r>
              <a:rPr lang="en-CA" dirty="0" err="1"/>
              <a:t>NavMesh</a:t>
            </a:r>
            <a:r>
              <a:rPr lang="en-CA" dirty="0"/>
              <a:t> Obstacles</a:t>
            </a:r>
            <a:endParaRPr lang="en-US" dirty="0"/>
          </a:p>
        </p:txBody>
      </p:sp>
      <p:pic>
        <p:nvPicPr>
          <p:cNvPr id="5" name="Graphic 4" descr="An agent trying to navigate a cluttered environment with carving disabled">
            <a:extLst>
              <a:ext uri="{FF2B5EF4-FFF2-40B4-BE49-F238E27FC236}">
                <a16:creationId xmlns:a16="http://schemas.microsoft.com/office/drawing/2014/main" id="{F993695A-4EC3-B8ED-72A4-6047AE2791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88399" y="1847850"/>
            <a:ext cx="2705100" cy="3162300"/>
          </a:xfrm>
          <a:prstGeom prst="rect">
            <a:avLst/>
          </a:prstGeom>
        </p:spPr>
      </p:pic>
    </p:spTree>
    <p:extLst>
      <p:ext uri="{BB962C8B-B14F-4D97-AF65-F5344CB8AC3E}">
        <p14:creationId xmlns:p14="http://schemas.microsoft.com/office/powerpoint/2010/main" val="4090304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26C1CF3-F3E5-297A-F5EE-35791909F0F1}"/>
              </a:ext>
            </a:extLst>
          </p:cNvPr>
          <p:cNvSpPr>
            <a:spLocks noGrp="1"/>
          </p:cNvSpPr>
          <p:nvPr>
            <p:ph type="body" idx="1"/>
          </p:nvPr>
        </p:nvSpPr>
        <p:spPr/>
        <p:txBody>
          <a:bodyPr/>
          <a:lstStyle/>
          <a:p>
            <a:r>
              <a:rPr lang="en-CA" dirty="0"/>
              <a:t>Unity treats the </a:t>
            </a:r>
            <a:r>
              <a:rPr lang="en-CA" dirty="0" err="1"/>
              <a:t>NavMesh</a:t>
            </a:r>
            <a:r>
              <a:rPr lang="en-CA" dirty="0"/>
              <a:t> Obstacle as moving when it has moved more than the distance set by the </a:t>
            </a:r>
            <a:r>
              <a:rPr lang="en-CA" b="1" dirty="0"/>
              <a:t>Carve</a:t>
            </a:r>
            <a:r>
              <a:rPr lang="en-CA" dirty="0"/>
              <a:t> &gt; </a:t>
            </a:r>
            <a:r>
              <a:rPr lang="en-CA" b="1" dirty="0"/>
              <a:t>Move Threshold</a:t>
            </a:r>
            <a:r>
              <a:rPr lang="en-CA" dirty="0"/>
              <a:t>. When the </a:t>
            </a:r>
            <a:r>
              <a:rPr lang="en-CA" dirty="0" err="1"/>
              <a:t>NavMesh</a:t>
            </a:r>
            <a:r>
              <a:rPr lang="en-CA" dirty="0"/>
              <a:t> Obstacle moves, the carved hole also moves. However, to reduce CPU overhead, the hole is only recalculated when necessary. The result of this calculation is available in the next frame update. The recalculation logic has two options:</a:t>
            </a:r>
          </a:p>
          <a:p>
            <a:pPr lvl="0"/>
            <a:r>
              <a:rPr lang="en-CA" dirty="0"/>
              <a:t>Only carve when the </a:t>
            </a:r>
            <a:r>
              <a:rPr lang="en-CA" dirty="0" err="1"/>
              <a:t>NavMesh</a:t>
            </a:r>
            <a:r>
              <a:rPr lang="en-CA" dirty="0"/>
              <a:t> Obstacle is stationary</a:t>
            </a:r>
          </a:p>
          <a:p>
            <a:pPr lvl="0"/>
            <a:r>
              <a:rPr lang="en-CA" dirty="0"/>
              <a:t>Carve when the </a:t>
            </a:r>
            <a:r>
              <a:rPr lang="en-CA" dirty="0" err="1"/>
              <a:t>NavMesh</a:t>
            </a:r>
            <a:r>
              <a:rPr lang="en-CA" dirty="0"/>
              <a:t> Obstacle has moved</a:t>
            </a:r>
          </a:p>
          <a:p>
            <a:r>
              <a:rPr lang="en-CA" dirty="0"/>
              <a:t>Only carve when the </a:t>
            </a:r>
            <a:r>
              <a:rPr lang="en-CA" dirty="0" err="1"/>
              <a:t>NavMesh</a:t>
            </a:r>
            <a:r>
              <a:rPr lang="en-CA" dirty="0"/>
              <a:t> Obstacle is stationary</a:t>
            </a:r>
          </a:p>
          <a:p>
            <a:r>
              <a:rPr lang="en-CA" dirty="0"/>
              <a:t>This is the default behavior. To enable it, tick the </a:t>
            </a:r>
            <a:r>
              <a:rPr lang="en-CA" dirty="0" err="1"/>
              <a:t>NavMesh</a:t>
            </a:r>
            <a:r>
              <a:rPr lang="en-CA" dirty="0"/>
              <a:t> Obstacle component’s </a:t>
            </a:r>
            <a:r>
              <a:rPr lang="en-CA" b="1" dirty="0"/>
              <a:t>Carve Only Stationary</a:t>
            </a:r>
            <a:r>
              <a:rPr lang="en-CA" dirty="0"/>
              <a:t> checkbox. In this mode, when the </a:t>
            </a:r>
            <a:r>
              <a:rPr lang="en-CA" dirty="0" err="1"/>
              <a:t>NavMesh</a:t>
            </a:r>
            <a:r>
              <a:rPr lang="en-CA" dirty="0"/>
              <a:t> Obstacle moves, the carved hole is removed. When the </a:t>
            </a:r>
            <a:r>
              <a:rPr lang="en-CA" dirty="0" err="1"/>
              <a:t>NavMesh</a:t>
            </a:r>
            <a:r>
              <a:rPr lang="en-CA" dirty="0"/>
              <a:t> Obstacle has stopped moving and has been stationary for more than the time set by </a:t>
            </a:r>
            <a:r>
              <a:rPr lang="en-CA" b="1" dirty="0"/>
              <a:t>Carving Time To Stationary</a:t>
            </a:r>
            <a:r>
              <a:rPr lang="en-CA" dirty="0"/>
              <a:t>, it is treated as stationary and the carved hole is updated again. While the </a:t>
            </a:r>
            <a:r>
              <a:rPr lang="en-CA" dirty="0" err="1"/>
              <a:t>NavMesh</a:t>
            </a:r>
            <a:r>
              <a:rPr lang="en-CA" dirty="0"/>
              <a:t> Obstacle is moving, the </a:t>
            </a:r>
            <a:r>
              <a:rPr lang="en-CA" dirty="0" err="1"/>
              <a:t>NavMesh</a:t>
            </a:r>
            <a:r>
              <a:rPr lang="en-CA" dirty="0"/>
              <a:t> Agents avoid it using collision avoidance, but don’t plan paths around it.</a:t>
            </a:r>
          </a:p>
          <a:p>
            <a:r>
              <a:rPr lang="en-CA" b="1" dirty="0"/>
              <a:t>Carve Only Stationary</a:t>
            </a:r>
            <a:r>
              <a:rPr lang="en-CA" dirty="0"/>
              <a:t> is generally the best choice in terms of performance, and is a good match when the </a:t>
            </a:r>
            <a:r>
              <a:rPr lang="en-CA" b="1" dirty="0">
                <a:hlinkClick r:id="rId2" tooltip="The fundamental object in Unity scenes, which can represent characters, props, scenery, cameras, waypoints, and more."/>
              </a:rPr>
              <a:t>GameObject</a:t>
            </a:r>
            <a:r>
              <a:rPr lang="en-CA" dirty="0"/>
              <a:t> associated with the </a:t>
            </a:r>
            <a:r>
              <a:rPr lang="en-CA" dirty="0" err="1"/>
              <a:t>NavMesh</a:t>
            </a:r>
            <a:r>
              <a:rPr lang="en-CA" dirty="0"/>
              <a:t> Obstacle is controlled by physics.</a:t>
            </a:r>
          </a:p>
          <a:p>
            <a:r>
              <a:rPr lang="en-CA" dirty="0"/>
              <a:t>Carve when the </a:t>
            </a:r>
            <a:r>
              <a:rPr lang="en-CA" dirty="0" err="1"/>
              <a:t>NavMesh</a:t>
            </a:r>
            <a:r>
              <a:rPr lang="en-CA" dirty="0"/>
              <a:t> Obstacle has moved</a:t>
            </a:r>
          </a:p>
          <a:p>
            <a:r>
              <a:rPr lang="en-CA" dirty="0"/>
              <a:t>To enable this mode, clear the </a:t>
            </a:r>
            <a:r>
              <a:rPr lang="en-CA" dirty="0" err="1"/>
              <a:t>NavMesh</a:t>
            </a:r>
            <a:r>
              <a:rPr lang="en-CA" dirty="0"/>
              <a:t> Obstacle component’s </a:t>
            </a:r>
            <a:r>
              <a:rPr lang="en-CA" b="1" dirty="0"/>
              <a:t>Carve Only Stationary</a:t>
            </a:r>
            <a:r>
              <a:rPr lang="en-CA" dirty="0"/>
              <a:t> checkbox. When this is cleared, the carved hole is updated when the obstacle has moved more than the distance set by </a:t>
            </a:r>
            <a:r>
              <a:rPr lang="en-CA" b="1" dirty="0"/>
              <a:t>Carving Move Threshold</a:t>
            </a:r>
            <a:r>
              <a:rPr lang="en-CA" dirty="0"/>
              <a:t>. This mode is useful for large, slowly moving obstacles (for example, a tank that is being avoided by infantry).</a:t>
            </a:r>
          </a:p>
          <a:p>
            <a:endParaRPr lang="en-US" dirty="0"/>
          </a:p>
        </p:txBody>
      </p:sp>
      <p:sp>
        <p:nvSpPr>
          <p:cNvPr id="4" name="Title 3">
            <a:extLst>
              <a:ext uri="{FF2B5EF4-FFF2-40B4-BE49-F238E27FC236}">
                <a16:creationId xmlns:a16="http://schemas.microsoft.com/office/drawing/2014/main" id="{46A8377F-7AA3-AD17-ED29-51A7ED48590B}"/>
              </a:ext>
            </a:extLst>
          </p:cNvPr>
          <p:cNvSpPr>
            <a:spLocks noGrp="1"/>
          </p:cNvSpPr>
          <p:nvPr>
            <p:ph type="title"/>
          </p:nvPr>
        </p:nvSpPr>
        <p:spPr/>
        <p:txBody>
          <a:bodyPr>
            <a:normAutofit/>
          </a:bodyPr>
          <a:lstStyle/>
          <a:p>
            <a:r>
              <a:rPr lang="en-CA" dirty="0"/>
              <a:t>Logic for moving </a:t>
            </a:r>
            <a:r>
              <a:rPr lang="en-CA" dirty="0" err="1"/>
              <a:t>NavMesh</a:t>
            </a:r>
            <a:r>
              <a:rPr lang="en-CA" dirty="0"/>
              <a:t> Obstacles</a:t>
            </a:r>
            <a:endParaRPr lang="en-US" dirty="0"/>
          </a:p>
        </p:txBody>
      </p:sp>
    </p:spTree>
    <p:extLst>
      <p:ext uri="{BB962C8B-B14F-4D97-AF65-F5344CB8AC3E}">
        <p14:creationId xmlns:p14="http://schemas.microsoft.com/office/powerpoint/2010/main" val="491579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5A49F60-7E90-8F54-561E-79B53FB22DF6}"/>
              </a:ext>
            </a:extLst>
          </p:cNvPr>
          <p:cNvSpPr>
            <a:spLocks noGrp="1"/>
          </p:cNvSpPr>
          <p:nvPr>
            <p:ph type="body" idx="1"/>
          </p:nvPr>
        </p:nvSpPr>
        <p:spPr>
          <a:xfrm>
            <a:off x="1090862" y="1507068"/>
            <a:ext cx="6766598" cy="4669896"/>
          </a:xfrm>
        </p:spPr>
        <p:txBody>
          <a:bodyPr>
            <a:normAutofit/>
          </a:bodyPr>
          <a:lstStyle/>
          <a:p>
            <a:r>
              <a:rPr lang="en-CA" dirty="0"/>
              <a:t>The </a:t>
            </a:r>
            <a:r>
              <a:rPr lang="en-CA" b="1" dirty="0"/>
              <a:t>Navigation Area</a:t>
            </a:r>
            <a:r>
              <a:rPr lang="en-CA" dirty="0"/>
              <a:t> defines how difficult it is to walk across a specific area. This is important for finding the path with the lowest total cost. In addition, each </a:t>
            </a:r>
            <a:r>
              <a:rPr lang="en-CA" dirty="0">
                <a:hlinkClick r:id="rId2"/>
              </a:rPr>
              <a:t>NavMesh Agent</a:t>
            </a:r>
            <a:r>
              <a:rPr lang="en-CA" dirty="0"/>
              <a:t> has an </a:t>
            </a:r>
            <a:r>
              <a:rPr lang="en-CA" b="1" dirty="0"/>
              <a:t>Area Mask</a:t>
            </a:r>
            <a:r>
              <a:rPr lang="en-CA" dirty="0"/>
              <a:t> which you can use to specify which areas the agent can move on.</a:t>
            </a:r>
          </a:p>
          <a:p>
            <a:r>
              <a:rPr lang="en-CA" dirty="0"/>
              <a:t>In the example above the area types are used for two common use cases:</a:t>
            </a:r>
          </a:p>
          <a:p>
            <a:pPr lvl="0"/>
            <a:r>
              <a:rPr lang="en-CA" dirty="0"/>
              <a:t>The </a:t>
            </a:r>
            <a:r>
              <a:rPr lang="en-CA" b="1" dirty="0"/>
              <a:t>Water</a:t>
            </a:r>
            <a:r>
              <a:rPr lang="en-CA" dirty="0"/>
              <a:t> area is made more costly to walk through by assigning it a higher cost, to deal with a scenario where walking in shallow water is slower.</a:t>
            </a:r>
          </a:p>
          <a:p>
            <a:pPr lvl="0"/>
            <a:r>
              <a:rPr lang="en-CA" dirty="0"/>
              <a:t>The </a:t>
            </a:r>
            <a:r>
              <a:rPr lang="en-CA" b="1" dirty="0"/>
              <a:t>Door</a:t>
            </a:r>
            <a:r>
              <a:rPr lang="en-CA" dirty="0"/>
              <a:t> area is made accessible to specific characters, to create a scenario where humans can walk through doors, but zombies cannot.</a:t>
            </a:r>
          </a:p>
          <a:p>
            <a:r>
              <a:rPr lang="en-CA" dirty="0"/>
              <a:t>You can assign the area type to every object that is included in the </a:t>
            </a:r>
            <a:r>
              <a:rPr lang="en-CA" b="1" dirty="0">
                <a:hlinkClick r:id="rId3" tooltip="A mesh that Unity generates to approximate the walkable areas and obstacles in your environment for path finding and AI-controlled navigation."/>
              </a:rPr>
              <a:t>NavMesh</a:t>
            </a:r>
            <a:r>
              <a:rPr lang="en-CA" dirty="0"/>
              <a:t> baking. In addition, each </a:t>
            </a:r>
            <a:r>
              <a:rPr lang="en-CA" b="1" dirty="0" err="1"/>
              <a:t>NavMesh</a:t>
            </a:r>
            <a:r>
              <a:rPr lang="en-CA" b="1" dirty="0"/>
              <a:t> Link</a:t>
            </a:r>
            <a:r>
              <a:rPr lang="en-CA" dirty="0"/>
              <a:t> has a property to specify the area type.</a:t>
            </a:r>
          </a:p>
          <a:p>
            <a:br>
              <a:rPr lang="en-CA" dirty="0"/>
            </a:br>
            <a:endParaRPr lang="en-US" dirty="0"/>
          </a:p>
        </p:txBody>
      </p:sp>
      <p:sp>
        <p:nvSpPr>
          <p:cNvPr id="6" name="Text Placeholder 5">
            <a:extLst>
              <a:ext uri="{FF2B5EF4-FFF2-40B4-BE49-F238E27FC236}">
                <a16:creationId xmlns:a16="http://schemas.microsoft.com/office/drawing/2014/main" id="{C1428F24-102E-3B7B-A424-AE96FBE3106A}"/>
              </a:ext>
            </a:extLst>
          </p:cNvPr>
          <p:cNvSpPr>
            <a:spLocks noGrp="1"/>
          </p:cNvSpPr>
          <p:nvPr>
            <p:ph type="body" idx="2"/>
          </p:nvPr>
        </p:nvSpPr>
        <p:spPr>
          <a:xfrm>
            <a:off x="7985051" y="1507068"/>
            <a:ext cx="3554391" cy="4669896"/>
          </a:xfrm>
        </p:spPr>
        <p:txBody>
          <a:bodyPr/>
          <a:lstStyle/>
          <a:p>
            <a:r>
              <a:rPr lang="en-US" dirty="0"/>
              <a:t> </a:t>
            </a:r>
          </a:p>
        </p:txBody>
      </p:sp>
      <p:sp>
        <p:nvSpPr>
          <p:cNvPr id="4" name="Title 3">
            <a:extLst>
              <a:ext uri="{FF2B5EF4-FFF2-40B4-BE49-F238E27FC236}">
                <a16:creationId xmlns:a16="http://schemas.microsoft.com/office/drawing/2014/main" id="{5D57E5F5-4032-4719-029A-A0AC131DC8CF}"/>
              </a:ext>
            </a:extLst>
          </p:cNvPr>
          <p:cNvSpPr>
            <a:spLocks noGrp="1"/>
          </p:cNvSpPr>
          <p:nvPr>
            <p:ph type="title"/>
          </p:nvPr>
        </p:nvSpPr>
        <p:spPr/>
        <p:txBody>
          <a:bodyPr>
            <a:normAutofit/>
          </a:bodyPr>
          <a:lstStyle/>
          <a:p>
            <a:r>
              <a:rPr lang="en-CA" dirty="0"/>
              <a:t>Navigation Areas</a:t>
            </a:r>
            <a:endParaRPr lang="en-US" dirty="0"/>
          </a:p>
        </p:txBody>
      </p:sp>
      <p:pic>
        <p:nvPicPr>
          <p:cNvPr id="7" name="Graphic 6" descr="A scene with a door that only some agents can traverse, and a water area that is more expensive to walk through.">
            <a:extLst>
              <a:ext uri="{FF2B5EF4-FFF2-40B4-BE49-F238E27FC236}">
                <a16:creationId xmlns:a16="http://schemas.microsoft.com/office/drawing/2014/main" id="{B1C00D1C-F002-7458-288B-D70DEBDD6B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54285" y="2255188"/>
            <a:ext cx="3215922" cy="2571993"/>
          </a:xfrm>
          <a:prstGeom prst="rect">
            <a:avLst/>
          </a:prstGeom>
        </p:spPr>
      </p:pic>
    </p:spTree>
    <p:extLst>
      <p:ext uri="{BB962C8B-B14F-4D97-AF65-F5344CB8AC3E}">
        <p14:creationId xmlns:p14="http://schemas.microsoft.com/office/powerpoint/2010/main" val="2701153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6E8311-C2BC-9AAC-AE1E-E3083462A6DC}"/>
              </a:ext>
            </a:extLst>
          </p:cNvPr>
          <p:cNvSpPr>
            <a:spLocks noGrp="1"/>
          </p:cNvSpPr>
          <p:nvPr>
            <p:ph type="body" idx="1"/>
          </p:nvPr>
        </p:nvSpPr>
        <p:spPr>
          <a:xfrm>
            <a:off x="1090862" y="1507068"/>
            <a:ext cx="5799036" cy="4669896"/>
          </a:xfrm>
        </p:spPr>
        <p:txBody>
          <a:bodyPr>
            <a:normAutofit fontScale="70000" lnSpcReduction="20000"/>
          </a:bodyPr>
          <a:lstStyle/>
          <a:p>
            <a:r>
              <a:rPr lang="en-CA" dirty="0"/>
              <a:t>The cost allows you to control which areas the pathfinder favors when finding a path. For example, if you set the cost of an area to 3.0, traveling across that area is considered to be three times longer than alternative routes.</a:t>
            </a:r>
          </a:p>
          <a:p>
            <a:r>
              <a:rPr lang="en-CA" dirty="0"/>
              <a:t>Unity uses A* to calculate the shortest path on the </a:t>
            </a:r>
            <a:r>
              <a:rPr lang="en-CA" dirty="0" err="1"/>
              <a:t>NavMesh</a:t>
            </a:r>
            <a:r>
              <a:rPr lang="en-CA" dirty="0"/>
              <a:t>. A* works on a graph of connected nodes. The algorithm starts from the nearest node to the path start and visits the connect nodes until the destination is reached.</a:t>
            </a:r>
          </a:p>
          <a:p>
            <a:r>
              <a:rPr lang="en-CA" dirty="0"/>
              <a:t>Since the Unity navigation representation is a </a:t>
            </a:r>
            <a:r>
              <a:rPr lang="en-CA" b="1" dirty="0">
                <a:hlinkClick r:id="rId2" tooltip="The main graphics primitive of Unity. Meshes make up a large part of your 3D worlds. Unity supports triangulated or Quadrangulated polygon meshes. Nurbs, Nurms, Subdiv surfaces must be converted to polygons."/>
              </a:rPr>
              <a:t>mesh</a:t>
            </a:r>
            <a:r>
              <a:rPr lang="en-CA" dirty="0"/>
              <a:t> of polygons, the first thing the pathfinder needs to do is to place a point on each polygon, which is the location of the node. The shortest path is then calculated between these nodes.</a:t>
            </a:r>
          </a:p>
          <a:p>
            <a:r>
              <a:rPr lang="en-CA" dirty="0"/>
              <a:t>The yellow dots and lines in the above picture shows how the nodes and links are placed on the </a:t>
            </a:r>
            <a:r>
              <a:rPr lang="en-CA" dirty="0" err="1"/>
              <a:t>NavMesh</a:t>
            </a:r>
            <a:r>
              <a:rPr lang="en-CA" dirty="0"/>
              <a:t>, and in which order they are traversed during the A*.</a:t>
            </a:r>
          </a:p>
          <a:p>
            <a:r>
              <a:rPr lang="en-CA" dirty="0"/>
              <a:t>The cost to move between two nodes depends on the distance to travel and the cost associated with the area type of the polygon under the link, that is, </a:t>
            </a:r>
            <a:r>
              <a:rPr lang="en-CA" i="1" dirty="0"/>
              <a:t>distance * cost</a:t>
            </a:r>
            <a:r>
              <a:rPr lang="en-CA" dirty="0"/>
              <a:t>. In practice this means, that if the cost of an area is 2.0, the distance across such polygon will appear to be twice as long. The A* algorithm requires that all costs must be larger than 1.0.</a:t>
            </a:r>
          </a:p>
          <a:p>
            <a:r>
              <a:rPr lang="en-CA" dirty="0"/>
              <a:t>The effect of the costs on the resulting path can be hard to tune, especially for longer paths. The best way to approach costs is to treat them as hints. For example, if you want the agents to not use </a:t>
            </a:r>
            <a:r>
              <a:rPr lang="en-CA" b="1" dirty="0" err="1"/>
              <a:t>NavMesh</a:t>
            </a:r>
            <a:r>
              <a:rPr lang="en-CA" b="1" dirty="0"/>
              <a:t> Links</a:t>
            </a:r>
            <a:r>
              <a:rPr lang="en-CA" dirty="0"/>
              <a:t> too often, you could increase their cost. But it can be challenging to tune a behavior where the agents prefer to walk on sidewalks.</a:t>
            </a:r>
          </a:p>
          <a:p>
            <a:br>
              <a:rPr lang="en-CA" dirty="0"/>
            </a:br>
            <a:endParaRPr lang="en-US" dirty="0"/>
          </a:p>
        </p:txBody>
      </p:sp>
      <p:sp>
        <p:nvSpPr>
          <p:cNvPr id="3" name="Text Placeholder 2">
            <a:extLst>
              <a:ext uri="{FF2B5EF4-FFF2-40B4-BE49-F238E27FC236}">
                <a16:creationId xmlns:a16="http://schemas.microsoft.com/office/drawing/2014/main" id="{B857DEDC-DBD4-A1CC-4028-5D12F09DFB34}"/>
              </a:ext>
            </a:extLst>
          </p:cNvPr>
          <p:cNvSpPr>
            <a:spLocks noGrp="1"/>
          </p:cNvSpPr>
          <p:nvPr>
            <p:ph type="body" idx="2"/>
          </p:nvPr>
        </p:nvSpPr>
        <p:spPr>
          <a:xfrm>
            <a:off x="6974958" y="1507068"/>
            <a:ext cx="4564484" cy="4669896"/>
          </a:xfrm>
        </p:spPr>
        <p:txBody>
          <a:bodyPr/>
          <a:lstStyle/>
          <a:p>
            <a:r>
              <a:rPr lang="en-US" dirty="0"/>
              <a:t> </a:t>
            </a:r>
          </a:p>
        </p:txBody>
      </p:sp>
      <p:sp>
        <p:nvSpPr>
          <p:cNvPr id="4" name="Title 3">
            <a:extLst>
              <a:ext uri="{FF2B5EF4-FFF2-40B4-BE49-F238E27FC236}">
                <a16:creationId xmlns:a16="http://schemas.microsoft.com/office/drawing/2014/main" id="{17C02298-57C6-29CA-5B18-526F991DF47D}"/>
              </a:ext>
            </a:extLst>
          </p:cNvPr>
          <p:cNvSpPr>
            <a:spLocks noGrp="1"/>
          </p:cNvSpPr>
          <p:nvPr>
            <p:ph type="title"/>
          </p:nvPr>
        </p:nvSpPr>
        <p:spPr/>
        <p:txBody>
          <a:bodyPr>
            <a:normAutofit fontScale="90000"/>
          </a:bodyPr>
          <a:lstStyle/>
          <a:p>
            <a:br>
              <a:rPr lang="en-CA" dirty="0"/>
            </a:br>
            <a:r>
              <a:rPr lang="en-CA" dirty="0"/>
              <a:t>Pathfinding Cost</a:t>
            </a:r>
            <a:br>
              <a:rPr lang="en-CA" dirty="0"/>
            </a:br>
            <a:endParaRPr lang="en-US" dirty="0"/>
          </a:p>
        </p:txBody>
      </p:sp>
      <p:pic>
        <p:nvPicPr>
          <p:cNvPr id="5" name="Graphic 4" descr="Nodes and links visited during pathfinding.">
            <a:extLst>
              <a:ext uri="{FF2B5EF4-FFF2-40B4-BE49-F238E27FC236}">
                <a16:creationId xmlns:a16="http://schemas.microsoft.com/office/drawing/2014/main" id="{30AB8A0B-877E-DF2A-4586-A15E46206C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4583" y="1923539"/>
            <a:ext cx="4234859" cy="3836953"/>
          </a:xfrm>
          <a:prstGeom prst="rect">
            <a:avLst/>
          </a:prstGeom>
        </p:spPr>
      </p:pic>
    </p:spTree>
    <p:extLst>
      <p:ext uri="{BB962C8B-B14F-4D97-AF65-F5344CB8AC3E}">
        <p14:creationId xmlns:p14="http://schemas.microsoft.com/office/powerpoint/2010/main" val="757463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76747C-6159-E607-3D5C-D7720CDF199C}"/>
              </a:ext>
            </a:extLst>
          </p:cNvPr>
          <p:cNvSpPr>
            <a:spLocks noGrp="1"/>
          </p:cNvSpPr>
          <p:nvPr>
            <p:ph type="body" idx="1"/>
          </p:nvPr>
        </p:nvSpPr>
        <p:spPr>
          <a:xfrm>
            <a:off x="1090862" y="1507068"/>
            <a:ext cx="7851119" cy="4669896"/>
          </a:xfrm>
        </p:spPr>
        <p:txBody>
          <a:bodyPr/>
          <a:lstStyle/>
          <a:p>
            <a:r>
              <a:rPr lang="en-CA" dirty="0"/>
              <a:t>The area types are specified in the </a:t>
            </a:r>
            <a:r>
              <a:rPr lang="en-CA" i="1" dirty="0"/>
              <a:t>Navigation Window</a:t>
            </a:r>
            <a:r>
              <a:rPr lang="en-CA" dirty="0"/>
              <a:t>’s </a:t>
            </a:r>
            <a:r>
              <a:rPr lang="en-CA" i="1" dirty="0"/>
              <a:t>Areas</a:t>
            </a:r>
            <a:r>
              <a:rPr lang="en-CA" dirty="0"/>
              <a:t> tab. There are 29 custom types, and 3 built-in types: </a:t>
            </a:r>
            <a:r>
              <a:rPr lang="en-CA" i="1" dirty="0"/>
              <a:t>Walkable</a:t>
            </a:r>
            <a:r>
              <a:rPr lang="en-CA" dirty="0"/>
              <a:t>, </a:t>
            </a:r>
            <a:r>
              <a:rPr lang="en-CA" i="1" dirty="0"/>
              <a:t>Not Walkable</a:t>
            </a:r>
            <a:r>
              <a:rPr lang="en-CA" dirty="0"/>
              <a:t>, and </a:t>
            </a:r>
            <a:r>
              <a:rPr lang="en-CA" i="1" dirty="0"/>
              <a:t>Jump</a:t>
            </a:r>
            <a:r>
              <a:rPr lang="en-CA" dirty="0"/>
              <a:t>.</a:t>
            </a:r>
          </a:p>
          <a:p>
            <a:pPr lvl="0"/>
            <a:r>
              <a:rPr lang="en-CA" b="1" dirty="0"/>
              <a:t>Walkable</a:t>
            </a:r>
            <a:r>
              <a:rPr lang="en-CA" dirty="0"/>
              <a:t> is a generic area type which specifies that the area can be walked on.</a:t>
            </a:r>
          </a:p>
          <a:p>
            <a:pPr lvl="0"/>
            <a:r>
              <a:rPr lang="en-CA" b="1" dirty="0"/>
              <a:t>Not Walkable</a:t>
            </a:r>
            <a:r>
              <a:rPr lang="en-CA" dirty="0"/>
              <a:t> is a generic area type which prevents navigation. It is useful for cases where you want to mark certain object to be an obstacle, but without getting </a:t>
            </a:r>
            <a:r>
              <a:rPr lang="en-CA" dirty="0" err="1"/>
              <a:t>NavMesh</a:t>
            </a:r>
            <a:r>
              <a:rPr lang="en-CA" dirty="0"/>
              <a:t> on top of it.</a:t>
            </a:r>
          </a:p>
          <a:p>
            <a:pPr lvl="0"/>
            <a:r>
              <a:rPr lang="en-CA" b="1" dirty="0"/>
              <a:t>Jump</a:t>
            </a:r>
            <a:r>
              <a:rPr lang="en-CA" dirty="0"/>
              <a:t> is an area type that is assigned to all auto-generated </a:t>
            </a:r>
            <a:r>
              <a:rPr lang="en-CA" b="1" dirty="0" err="1"/>
              <a:t>NavMesh</a:t>
            </a:r>
            <a:r>
              <a:rPr lang="en-CA" b="1" dirty="0"/>
              <a:t> Links</a:t>
            </a:r>
            <a:r>
              <a:rPr lang="en-CA" dirty="0"/>
              <a:t>.</a:t>
            </a:r>
          </a:p>
          <a:p>
            <a:r>
              <a:rPr lang="en-CA" dirty="0"/>
              <a:t>If several objects of different area types are overlapping, the resulting </a:t>
            </a:r>
            <a:r>
              <a:rPr lang="en-CA" dirty="0" err="1"/>
              <a:t>NavMesh</a:t>
            </a:r>
            <a:r>
              <a:rPr lang="en-CA" dirty="0"/>
              <a:t> area type will generally be the one with the highest index. There is one exception however: </a:t>
            </a:r>
            <a:r>
              <a:rPr lang="en-CA" i="1" dirty="0"/>
              <a:t>Not Walkable</a:t>
            </a:r>
            <a:r>
              <a:rPr lang="en-CA" dirty="0"/>
              <a:t> always takes precedence. Which can be helpful if you need to block out an area.</a:t>
            </a:r>
          </a:p>
          <a:p>
            <a:endParaRPr lang="en-US" dirty="0"/>
          </a:p>
        </p:txBody>
      </p:sp>
      <p:pic>
        <p:nvPicPr>
          <p:cNvPr id="5" name="Picture 4" descr="A table of areas, each showing their cost.">
            <a:extLst>
              <a:ext uri="{FF2B5EF4-FFF2-40B4-BE49-F238E27FC236}">
                <a16:creationId xmlns:a16="http://schemas.microsoft.com/office/drawing/2014/main" id="{2529C32A-637B-9B40-05D8-D4FE14C18827}"/>
              </a:ext>
            </a:extLst>
          </p:cNvPr>
          <p:cNvPicPr>
            <a:picLocks noChangeAspect="1"/>
          </p:cNvPicPr>
          <p:nvPr/>
        </p:nvPicPr>
        <p:blipFill>
          <a:blip r:embed="rId2"/>
          <a:stretch>
            <a:fillRect/>
          </a:stretch>
        </p:blipFill>
        <p:spPr>
          <a:xfrm>
            <a:off x="9336058" y="1792915"/>
            <a:ext cx="1905000" cy="2400300"/>
          </a:xfrm>
          <a:prstGeom prst="rect">
            <a:avLst/>
          </a:prstGeom>
        </p:spPr>
      </p:pic>
      <p:sp>
        <p:nvSpPr>
          <p:cNvPr id="3" name="Text Placeholder 2">
            <a:extLst>
              <a:ext uri="{FF2B5EF4-FFF2-40B4-BE49-F238E27FC236}">
                <a16:creationId xmlns:a16="http://schemas.microsoft.com/office/drawing/2014/main" id="{B0634438-4249-E6E4-6617-E30068D72893}"/>
              </a:ext>
            </a:extLst>
          </p:cNvPr>
          <p:cNvSpPr>
            <a:spLocks noGrp="1"/>
          </p:cNvSpPr>
          <p:nvPr>
            <p:ph type="body" idx="2"/>
          </p:nvPr>
        </p:nvSpPr>
        <p:spPr>
          <a:xfrm>
            <a:off x="9037674" y="1507068"/>
            <a:ext cx="2501768" cy="4669896"/>
          </a:xfrm>
        </p:spPr>
        <p:txBody>
          <a:bodyPr/>
          <a:lstStyle/>
          <a:p>
            <a:endParaRPr lang="en-US" dirty="0"/>
          </a:p>
        </p:txBody>
      </p:sp>
      <p:sp>
        <p:nvSpPr>
          <p:cNvPr id="4" name="Title 3">
            <a:extLst>
              <a:ext uri="{FF2B5EF4-FFF2-40B4-BE49-F238E27FC236}">
                <a16:creationId xmlns:a16="http://schemas.microsoft.com/office/drawing/2014/main" id="{A5FB99C3-739D-4481-AA31-CA7AEF1E38AA}"/>
              </a:ext>
            </a:extLst>
          </p:cNvPr>
          <p:cNvSpPr>
            <a:spLocks noGrp="1"/>
          </p:cNvSpPr>
          <p:nvPr>
            <p:ph type="title"/>
          </p:nvPr>
        </p:nvSpPr>
        <p:spPr/>
        <p:txBody>
          <a:bodyPr>
            <a:normAutofit/>
          </a:bodyPr>
          <a:lstStyle/>
          <a:p>
            <a:r>
              <a:rPr lang="en-CA" dirty="0"/>
              <a:t>Area Types</a:t>
            </a:r>
            <a:endParaRPr lang="en-US" dirty="0"/>
          </a:p>
        </p:txBody>
      </p:sp>
    </p:spTree>
    <p:extLst>
      <p:ext uri="{BB962C8B-B14F-4D97-AF65-F5344CB8AC3E}">
        <p14:creationId xmlns:p14="http://schemas.microsoft.com/office/powerpoint/2010/main" val="1809826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4E69B6-CDAC-5300-F0D4-E0AD00A64C9C}"/>
              </a:ext>
            </a:extLst>
          </p:cNvPr>
          <p:cNvSpPr>
            <a:spLocks noGrp="1"/>
          </p:cNvSpPr>
          <p:nvPr>
            <p:ph type="body" idx="1"/>
          </p:nvPr>
        </p:nvSpPr>
        <p:spPr>
          <a:xfrm>
            <a:off x="1090862" y="1507068"/>
            <a:ext cx="7393919" cy="4669896"/>
          </a:xfrm>
        </p:spPr>
        <p:txBody>
          <a:bodyPr/>
          <a:lstStyle/>
          <a:p>
            <a:r>
              <a:rPr lang="en-CA" dirty="0"/>
              <a:t>Each agent has an </a:t>
            </a:r>
            <a:r>
              <a:rPr lang="en-CA" i="1" dirty="0"/>
              <a:t>Area Mask</a:t>
            </a:r>
            <a:r>
              <a:rPr lang="en-CA" dirty="0"/>
              <a:t> which describes which areas it can use when navigating. The area mask can be set in the agent properties, or the bitmask can be manipulated using a script at runtime.</a:t>
            </a:r>
          </a:p>
          <a:p>
            <a:r>
              <a:rPr lang="en-CA" dirty="0"/>
              <a:t>The area mask is useful when you want only certain types characters to be able to walk through an area. For example, in a zombie evasion game, you could mark the area under each door with a </a:t>
            </a:r>
            <a:r>
              <a:rPr lang="en-CA" i="1" dirty="0"/>
              <a:t>Door</a:t>
            </a:r>
            <a:r>
              <a:rPr lang="en-CA" dirty="0"/>
              <a:t> area type, and uncheck the Door area from the zombie character’s Area Mask.</a:t>
            </a:r>
          </a:p>
          <a:p>
            <a:endParaRPr lang="en-US" dirty="0"/>
          </a:p>
        </p:txBody>
      </p:sp>
      <p:sp>
        <p:nvSpPr>
          <p:cNvPr id="3" name="Text Placeholder 2">
            <a:extLst>
              <a:ext uri="{FF2B5EF4-FFF2-40B4-BE49-F238E27FC236}">
                <a16:creationId xmlns:a16="http://schemas.microsoft.com/office/drawing/2014/main" id="{0D9DEF71-FDBB-3EC5-D257-B389385788E6}"/>
              </a:ext>
            </a:extLst>
          </p:cNvPr>
          <p:cNvSpPr>
            <a:spLocks noGrp="1"/>
          </p:cNvSpPr>
          <p:nvPr>
            <p:ph type="body" idx="2"/>
          </p:nvPr>
        </p:nvSpPr>
        <p:spPr>
          <a:xfrm>
            <a:off x="8718698" y="1507068"/>
            <a:ext cx="2820744" cy="4669896"/>
          </a:xfrm>
        </p:spPr>
        <p:txBody>
          <a:bodyPr/>
          <a:lstStyle/>
          <a:p>
            <a:r>
              <a:rPr lang="en-US" dirty="0"/>
              <a:t> </a:t>
            </a:r>
          </a:p>
        </p:txBody>
      </p:sp>
      <p:sp>
        <p:nvSpPr>
          <p:cNvPr id="4" name="Title 3">
            <a:extLst>
              <a:ext uri="{FF2B5EF4-FFF2-40B4-BE49-F238E27FC236}">
                <a16:creationId xmlns:a16="http://schemas.microsoft.com/office/drawing/2014/main" id="{74552F38-D717-B214-D635-E1B2A58DB0BC}"/>
              </a:ext>
            </a:extLst>
          </p:cNvPr>
          <p:cNvSpPr>
            <a:spLocks noGrp="1"/>
          </p:cNvSpPr>
          <p:nvPr>
            <p:ph type="title"/>
          </p:nvPr>
        </p:nvSpPr>
        <p:spPr/>
        <p:txBody>
          <a:bodyPr>
            <a:normAutofit fontScale="90000"/>
          </a:bodyPr>
          <a:lstStyle/>
          <a:p>
            <a:r>
              <a:rPr lang="en-CA" dirty="0"/>
              <a:t>Area Mask</a:t>
            </a:r>
            <a:br>
              <a:rPr lang="en-CA" dirty="0"/>
            </a:br>
            <a:endParaRPr lang="en-US" dirty="0"/>
          </a:p>
        </p:txBody>
      </p:sp>
      <p:pic>
        <p:nvPicPr>
          <p:cNvPr id="5" name="Graphic 4" descr="The Area Mask dropdown list, with four selected options: Walkable, Not Walkable, Jump, and Water.">
            <a:extLst>
              <a:ext uri="{FF2B5EF4-FFF2-40B4-BE49-F238E27FC236}">
                <a16:creationId xmlns:a16="http://schemas.microsoft.com/office/drawing/2014/main" id="{101623A9-9CF4-4970-F3BA-97BD2F91D4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71319" y="1536966"/>
            <a:ext cx="2768600" cy="4610100"/>
          </a:xfrm>
          <a:prstGeom prst="rect">
            <a:avLst/>
          </a:prstGeom>
        </p:spPr>
      </p:pic>
    </p:spTree>
    <p:extLst>
      <p:ext uri="{BB962C8B-B14F-4D97-AF65-F5344CB8AC3E}">
        <p14:creationId xmlns:p14="http://schemas.microsoft.com/office/powerpoint/2010/main" val="2990566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3" name="Text Placeholder 2">
            <a:extLst>
              <a:ext uri="{FF2B5EF4-FFF2-40B4-BE49-F238E27FC236}">
                <a16:creationId xmlns:a16="http://schemas.microsoft.com/office/drawing/2014/main" id="{CB6E0C82-0B22-E19A-6E4A-3AA7F3A947BF}"/>
              </a:ext>
            </a:extLst>
          </p:cNvPr>
          <p:cNvSpPr>
            <a:spLocks noGrp="1"/>
          </p:cNvSpPr>
          <p:nvPr>
            <p:ph type="body" idx="1"/>
          </p:nvPr>
        </p:nvSpPr>
        <p:spPr/>
        <p:txBody>
          <a:bodyPr/>
          <a:lstStyle/>
          <a:p>
            <a:pPr lvl="0"/>
            <a:r>
              <a:rPr lang="en-CA" dirty="0" err="1"/>
              <a:t>NavMeshSurface</a:t>
            </a:r>
            <a:r>
              <a:rPr lang="en-CA" dirty="0"/>
              <a:t>: Defines the walkable area for a specific Agent type and triggers the "Bake" process. </a:t>
            </a:r>
          </a:p>
          <a:p>
            <a:pPr lvl="0"/>
            <a:r>
              <a:rPr lang="en-CA" dirty="0" err="1"/>
              <a:t>NavMeshAgent</a:t>
            </a:r>
            <a:r>
              <a:rPr lang="en-CA" dirty="0"/>
              <a:t>: Attached to moving characters to handle pathfinding and movement. </a:t>
            </a:r>
          </a:p>
          <a:p>
            <a:pPr lvl="0"/>
            <a:r>
              <a:rPr lang="en-CA" dirty="0" err="1"/>
              <a:t>NavMeshObstacle</a:t>
            </a:r>
            <a:r>
              <a:rPr lang="en-CA" dirty="0"/>
              <a:t>: Attached to dynamic objects (e.g., falling crates, moving doors).</a:t>
            </a:r>
          </a:p>
          <a:p>
            <a:pPr lvl="0"/>
            <a:r>
              <a:rPr lang="en-CA" dirty="0" err="1"/>
              <a:t>OffMeshLink</a:t>
            </a:r>
            <a:r>
              <a:rPr lang="en-CA" dirty="0"/>
              <a:t> / </a:t>
            </a:r>
            <a:r>
              <a:rPr lang="en-CA" dirty="0" err="1"/>
              <a:t>NavMeshLink</a:t>
            </a:r>
            <a:r>
              <a:rPr lang="en-CA" dirty="0"/>
              <a:t>: Connects disconnected </a:t>
            </a:r>
            <a:r>
              <a:rPr lang="en-CA" dirty="0" err="1"/>
              <a:t>NavMesh</a:t>
            </a:r>
            <a:r>
              <a:rPr lang="en-CA" dirty="0"/>
              <a:t> regions (e.g., jumps, ladders, teleporters).</a:t>
            </a:r>
          </a:p>
          <a:p>
            <a:endParaRPr lang="en-US" dirty="0"/>
          </a:p>
        </p:txBody>
      </p:sp>
      <p:sp>
        <p:nvSpPr>
          <p:cNvPr id="80" name="Google Shape;80;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buSzPts val="2800"/>
            </a:pPr>
            <a:r>
              <a:rPr lang="en-CA" dirty="0" err="1"/>
              <a:t>NavMesh</a:t>
            </a:r>
            <a:r>
              <a:rPr lang="en-CA" dirty="0"/>
              <a:t> Surface &amp; Components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EA634D8E-FB61-B6FD-6E7F-857187629437}"/>
            </a:ext>
          </a:extLst>
        </p:cNvPr>
        <p:cNvGrpSpPr/>
        <p:nvPr/>
      </p:nvGrpSpPr>
      <p:grpSpPr>
        <a:xfrm>
          <a:off x="0" y="0"/>
          <a:ext cx="0" cy="0"/>
          <a:chOff x="0" y="0"/>
          <a:chExt cx="0" cy="0"/>
        </a:xfrm>
      </p:grpSpPr>
      <p:sp>
        <p:nvSpPr>
          <p:cNvPr id="72" name="Google Shape;72;p3">
            <a:extLst>
              <a:ext uri="{FF2B5EF4-FFF2-40B4-BE49-F238E27FC236}">
                <a16:creationId xmlns:a16="http://schemas.microsoft.com/office/drawing/2014/main" id="{36A56358-FB16-F6FE-933A-5C60D7E61337}"/>
              </a:ext>
            </a:extLst>
          </p:cNvPr>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pPr lvl="0"/>
            <a:r>
              <a:rPr lang="en-CA" b="1" dirty="0"/>
              <a:t>Install Package:</a:t>
            </a:r>
            <a:r>
              <a:rPr lang="en-CA" dirty="0"/>
              <a:t> Open Window &gt; Package Manager and install </a:t>
            </a:r>
            <a:r>
              <a:rPr lang="en-CA" b="1" dirty="0"/>
              <a:t>AI Navigation</a:t>
            </a:r>
            <a:r>
              <a:rPr lang="en-CA" dirty="0"/>
              <a:t>. </a:t>
            </a:r>
          </a:p>
          <a:p>
            <a:pPr lvl="0"/>
            <a:r>
              <a:rPr lang="en-CA" b="1" dirty="0"/>
              <a:t>Create Surface:</a:t>
            </a:r>
            <a:r>
              <a:rPr lang="en-CA" dirty="0"/>
              <a:t> Add a </a:t>
            </a:r>
            <a:r>
              <a:rPr lang="en-CA" dirty="0" err="1"/>
              <a:t>NavMesh</a:t>
            </a:r>
            <a:r>
              <a:rPr lang="en-CA" dirty="0"/>
              <a:t> Surface component to an empty </a:t>
            </a:r>
            <a:r>
              <a:rPr lang="en-CA" dirty="0" err="1"/>
              <a:t>GameObject</a:t>
            </a:r>
            <a:r>
              <a:rPr lang="en-CA" dirty="0"/>
              <a:t> or environment parent. </a:t>
            </a:r>
          </a:p>
          <a:p>
            <a:pPr lvl="0"/>
            <a:r>
              <a:rPr lang="en-CA" b="1" dirty="0"/>
              <a:t>Configure Agent Settings:</a:t>
            </a:r>
            <a:r>
              <a:rPr lang="en-CA" dirty="0"/>
              <a:t> Set Agent Radius, Agent Height, Max Slope, and Step Height.</a:t>
            </a:r>
          </a:p>
          <a:p>
            <a:pPr lvl="0"/>
            <a:r>
              <a:rPr lang="en-CA" b="1" dirty="0"/>
              <a:t>Bake:</a:t>
            </a:r>
            <a:r>
              <a:rPr lang="en-CA" dirty="0"/>
              <a:t> Click </a:t>
            </a:r>
            <a:r>
              <a:rPr lang="en-CA" b="1" dirty="0"/>
              <a:t>Bake</a:t>
            </a:r>
            <a:r>
              <a:rPr lang="en-CA" dirty="0"/>
              <a:t> to generate the blue walkable surface in the Scene View. </a:t>
            </a:r>
          </a:p>
          <a:p>
            <a:pPr marL="0" lvl="0" indent="0" algn="l" rtl="0">
              <a:lnSpc>
                <a:spcPct val="90000"/>
              </a:lnSpc>
              <a:spcBef>
                <a:spcPts val="0"/>
              </a:spcBef>
              <a:spcAft>
                <a:spcPts val="0"/>
              </a:spcAft>
              <a:buClr>
                <a:schemeClr val="dk1"/>
              </a:buClr>
              <a:buSzPts val="300"/>
              <a:buFont typeface="Quattrocento Sans"/>
              <a:buNone/>
            </a:pPr>
            <a:endParaRPr dirty="0"/>
          </a:p>
        </p:txBody>
      </p:sp>
      <p:sp>
        <p:nvSpPr>
          <p:cNvPr id="73" name="Google Shape;73;p3">
            <a:extLst>
              <a:ext uri="{FF2B5EF4-FFF2-40B4-BE49-F238E27FC236}">
                <a16:creationId xmlns:a16="http://schemas.microsoft.com/office/drawing/2014/main" id="{54D3D8E9-373E-370F-2DA6-3D95FC6B9B85}"/>
              </a:ext>
            </a:extLst>
          </p:cNvPr>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lvl="0">
              <a:buSzPts val="2800"/>
            </a:pPr>
            <a:r>
              <a:rPr lang="en-CA" dirty="0"/>
              <a:t>Baking Process</a:t>
            </a:r>
            <a:endParaRPr dirty="0"/>
          </a:p>
        </p:txBody>
      </p:sp>
    </p:spTree>
    <p:extLst>
      <p:ext uri="{BB962C8B-B14F-4D97-AF65-F5344CB8AC3E}">
        <p14:creationId xmlns:p14="http://schemas.microsoft.com/office/powerpoint/2010/main" val="3640760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9B67C42B-1CE7-C541-9D20-BB4B18F3E5E1}"/>
            </a:ext>
          </a:extLst>
        </p:cNvPr>
        <p:cNvGrpSpPr/>
        <p:nvPr/>
      </p:nvGrpSpPr>
      <p:grpSpPr>
        <a:xfrm>
          <a:off x="0" y="0"/>
          <a:ext cx="0" cy="0"/>
          <a:chOff x="0" y="0"/>
          <a:chExt cx="0" cy="0"/>
        </a:xfrm>
      </p:grpSpPr>
      <p:sp>
        <p:nvSpPr>
          <p:cNvPr id="79" name="Google Shape;79;p4">
            <a:extLst>
              <a:ext uri="{FF2B5EF4-FFF2-40B4-BE49-F238E27FC236}">
                <a16:creationId xmlns:a16="http://schemas.microsoft.com/office/drawing/2014/main" id="{53B3F50D-6FB1-B23E-34D6-E034D1DAD1FC}"/>
              </a:ext>
            </a:extLst>
          </p:cNvPr>
          <p:cNvSpPr txBox="1">
            <a:spLocks noGrp="1"/>
          </p:cNvSpPr>
          <p:nvPr>
            <p:ph type="body" idx="2"/>
          </p:nvPr>
        </p:nvSpPr>
        <p:spPr>
          <a:xfrm>
            <a:off x="6879265" y="1507068"/>
            <a:ext cx="4660177" cy="4669896"/>
          </a:xfrm>
          <a:prstGeom prst="rect">
            <a:avLst/>
          </a:prstGeom>
          <a:noFill/>
          <a:ln>
            <a:noFill/>
          </a:ln>
        </p:spPr>
        <p:txBody>
          <a:bodyPr spcFirstLastPara="1" wrap="square" lIns="91425" tIns="45700" rIns="91425" bIns="45700" anchor="ctr" anchorCtr="0">
            <a:normAutofit/>
          </a:bodyPr>
          <a:lstStyle/>
          <a:p>
            <a:pPr marL="0" lvl="0" indent="-28575">
              <a:spcBef>
                <a:spcPts val="0"/>
              </a:spcBef>
              <a:buClr>
                <a:srgbClr val="232673"/>
              </a:buClr>
              <a:buSzPts val="450"/>
            </a:pPr>
            <a:r>
              <a:rPr lang="en-CA" dirty="0"/>
              <a:t>using </a:t>
            </a:r>
            <a:r>
              <a:rPr lang="en-CA" dirty="0" err="1"/>
              <a:t>UnityEngine</a:t>
            </a:r>
            <a:r>
              <a:rPr lang="en-CA" dirty="0"/>
              <a:t>;</a:t>
            </a:r>
          </a:p>
          <a:p>
            <a:pPr marL="0" lvl="0" indent="-28575">
              <a:spcBef>
                <a:spcPts val="0"/>
              </a:spcBef>
              <a:buClr>
                <a:srgbClr val="232673"/>
              </a:buClr>
              <a:buSzPts val="450"/>
            </a:pPr>
            <a:r>
              <a:rPr lang="en-CA" dirty="0"/>
              <a:t>using </a:t>
            </a:r>
            <a:r>
              <a:rPr lang="en-CA" dirty="0" err="1"/>
              <a:t>UnityEngine.AI</a:t>
            </a:r>
            <a:r>
              <a:rPr lang="en-CA" dirty="0"/>
              <a:t>;</a:t>
            </a:r>
          </a:p>
          <a:p>
            <a:pPr marL="0" lvl="0" indent="-28575">
              <a:spcBef>
                <a:spcPts val="0"/>
              </a:spcBef>
              <a:buClr>
                <a:srgbClr val="232673"/>
              </a:buClr>
              <a:buSzPts val="450"/>
            </a:pPr>
            <a:endParaRPr lang="en-CA" dirty="0"/>
          </a:p>
          <a:p>
            <a:pPr marL="0" lvl="0" indent="-28575">
              <a:spcBef>
                <a:spcPts val="0"/>
              </a:spcBef>
              <a:buClr>
                <a:srgbClr val="232673"/>
              </a:buClr>
              <a:buSzPts val="450"/>
            </a:pPr>
            <a:r>
              <a:rPr lang="en-CA" dirty="0"/>
              <a:t>public class </a:t>
            </a:r>
            <a:r>
              <a:rPr lang="en-CA" dirty="0" err="1"/>
              <a:t>EnemyAI</a:t>
            </a:r>
            <a:r>
              <a:rPr lang="en-CA" dirty="0"/>
              <a:t> : </a:t>
            </a:r>
            <a:r>
              <a:rPr lang="en-CA" dirty="0" err="1"/>
              <a:t>MonoBehaviour</a:t>
            </a:r>
            <a:r>
              <a:rPr lang="en-CA" dirty="0"/>
              <a:t> {</a:t>
            </a:r>
          </a:p>
          <a:p>
            <a:pPr marL="0" lvl="0" indent="-28575">
              <a:spcBef>
                <a:spcPts val="0"/>
              </a:spcBef>
              <a:buClr>
                <a:srgbClr val="232673"/>
              </a:buClr>
              <a:buSzPts val="450"/>
            </a:pPr>
            <a:r>
              <a:rPr lang="en-CA" dirty="0"/>
              <a:t>    public Transform target;</a:t>
            </a:r>
          </a:p>
          <a:p>
            <a:pPr marL="0" lvl="0" indent="-28575">
              <a:spcBef>
                <a:spcPts val="0"/>
              </a:spcBef>
              <a:buClr>
                <a:srgbClr val="232673"/>
              </a:buClr>
              <a:buSzPts val="450"/>
            </a:pPr>
            <a:r>
              <a:rPr lang="en-CA" dirty="0"/>
              <a:t>    private </a:t>
            </a:r>
            <a:r>
              <a:rPr lang="en-CA" dirty="0" err="1"/>
              <a:t>NavMeshAgent</a:t>
            </a:r>
            <a:r>
              <a:rPr lang="en-CA" dirty="0"/>
              <a:t> agent;</a:t>
            </a:r>
          </a:p>
          <a:p>
            <a:pPr marL="0" lvl="0" indent="-28575">
              <a:spcBef>
                <a:spcPts val="0"/>
              </a:spcBef>
              <a:buClr>
                <a:srgbClr val="232673"/>
              </a:buClr>
              <a:buSzPts val="450"/>
            </a:pPr>
            <a:endParaRPr lang="en-CA" dirty="0"/>
          </a:p>
          <a:p>
            <a:pPr marL="0" lvl="0" indent="-28575">
              <a:spcBef>
                <a:spcPts val="0"/>
              </a:spcBef>
              <a:buClr>
                <a:srgbClr val="232673"/>
              </a:buClr>
              <a:buSzPts val="450"/>
            </a:pPr>
            <a:r>
              <a:rPr lang="en-CA" dirty="0"/>
              <a:t>    void Start() {</a:t>
            </a:r>
          </a:p>
          <a:p>
            <a:pPr marL="0" lvl="0" indent="-28575">
              <a:spcBef>
                <a:spcPts val="0"/>
              </a:spcBef>
              <a:buClr>
                <a:srgbClr val="232673"/>
              </a:buClr>
              <a:buSzPts val="450"/>
            </a:pPr>
            <a:r>
              <a:rPr lang="en-CA" dirty="0"/>
              <a:t>        agent = </a:t>
            </a:r>
            <a:r>
              <a:rPr lang="en-CA" dirty="0" err="1"/>
              <a:t>GetComponent</a:t>
            </a:r>
            <a:r>
              <a:rPr lang="en-CA" dirty="0"/>
              <a:t>&lt;</a:t>
            </a:r>
            <a:r>
              <a:rPr lang="en-CA" dirty="0" err="1"/>
              <a:t>NavMeshAgent</a:t>
            </a:r>
            <a:r>
              <a:rPr lang="en-CA" dirty="0"/>
              <a:t>&gt;();</a:t>
            </a:r>
          </a:p>
          <a:p>
            <a:pPr marL="0" lvl="0" indent="-28575">
              <a:spcBef>
                <a:spcPts val="0"/>
              </a:spcBef>
              <a:buClr>
                <a:srgbClr val="232673"/>
              </a:buClr>
              <a:buSzPts val="450"/>
            </a:pPr>
            <a:r>
              <a:rPr lang="en-CA" dirty="0"/>
              <a:t>    }</a:t>
            </a:r>
          </a:p>
          <a:p>
            <a:pPr marL="0" lvl="0" indent="-28575">
              <a:spcBef>
                <a:spcPts val="0"/>
              </a:spcBef>
              <a:buClr>
                <a:srgbClr val="232673"/>
              </a:buClr>
              <a:buSzPts val="450"/>
            </a:pPr>
            <a:endParaRPr lang="en-CA" dirty="0"/>
          </a:p>
          <a:p>
            <a:pPr marL="0" lvl="0" indent="-28575">
              <a:spcBef>
                <a:spcPts val="0"/>
              </a:spcBef>
              <a:buClr>
                <a:srgbClr val="232673"/>
              </a:buClr>
              <a:buSzPts val="450"/>
            </a:pPr>
            <a:r>
              <a:rPr lang="en-CA" dirty="0"/>
              <a:t>    void Update() {</a:t>
            </a:r>
          </a:p>
          <a:p>
            <a:pPr marL="0" lvl="0" indent="-28575">
              <a:spcBef>
                <a:spcPts val="0"/>
              </a:spcBef>
              <a:buClr>
                <a:srgbClr val="232673"/>
              </a:buClr>
              <a:buSzPts val="450"/>
            </a:pPr>
            <a:r>
              <a:rPr lang="en-CA" dirty="0"/>
              <a:t>        if (target != null) {</a:t>
            </a:r>
          </a:p>
          <a:p>
            <a:pPr marL="0" lvl="0" indent="-28575">
              <a:spcBef>
                <a:spcPts val="0"/>
              </a:spcBef>
              <a:buClr>
                <a:srgbClr val="232673"/>
              </a:buClr>
              <a:buSzPts val="450"/>
            </a:pPr>
            <a:r>
              <a:rPr lang="en-CA" dirty="0"/>
              <a:t>            </a:t>
            </a:r>
            <a:r>
              <a:rPr lang="en-CA" dirty="0" err="1"/>
              <a:t>agent.SetDestination</a:t>
            </a:r>
            <a:r>
              <a:rPr lang="en-CA" dirty="0"/>
              <a:t>(</a:t>
            </a:r>
            <a:r>
              <a:rPr lang="en-CA" dirty="0" err="1"/>
              <a:t>target.position</a:t>
            </a:r>
            <a:r>
              <a:rPr lang="en-CA" dirty="0"/>
              <a:t>);</a:t>
            </a:r>
          </a:p>
          <a:p>
            <a:pPr marL="0" lvl="0" indent="-28575">
              <a:spcBef>
                <a:spcPts val="0"/>
              </a:spcBef>
              <a:buClr>
                <a:srgbClr val="232673"/>
              </a:buClr>
              <a:buSzPts val="450"/>
            </a:pPr>
            <a:r>
              <a:rPr lang="en-CA" dirty="0"/>
              <a:t>        }</a:t>
            </a:r>
          </a:p>
          <a:p>
            <a:pPr marL="0" lvl="0" indent="-28575">
              <a:spcBef>
                <a:spcPts val="0"/>
              </a:spcBef>
              <a:buClr>
                <a:srgbClr val="232673"/>
              </a:buClr>
              <a:buSzPts val="450"/>
            </a:pPr>
            <a:r>
              <a:rPr lang="en-CA" dirty="0"/>
              <a:t>    }</a:t>
            </a:r>
          </a:p>
          <a:p>
            <a:pPr marL="0" lvl="0" indent="-28575">
              <a:spcBef>
                <a:spcPts val="0"/>
              </a:spcBef>
              <a:buClr>
                <a:srgbClr val="232673"/>
              </a:buClr>
              <a:buSzPts val="450"/>
            </a:pPr>
            <a:r>
              <a:rPr lang="en-CA" dirty="0"/>
              <a:t>}</a:t>
            </a:r>
            <a:endParaRPr dirty="0"/>
          </a:p>
        </p:txBody>
      </p:sp>
      <p:sp>
        <p:nvSpPr>
          <p:cNvPr id="80" name="Google Shape;80;p4">
            <a:extLst>
              <a:ext uri="{FF2B5EF4-FFF2-40B4-BE49-F238E27FC236}">
                <a16:creationId xmlns:a16="http://schemas.microsoft.com/office/drawing/2014/main" id="{F8FC4912-9922-367F-8648-5A258D424F83}"/>
              </a:ext>
            </a:extLst>
          </p:cNvPr>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lvl="0">
              <a:buSzPts val="2800"/>
            </a:pPr>
            <a:r>
              <a:rPr lang="en-CA" dirty="0"/>
              <a:t>Controlling the </a:t>
            </a:r>
            <a:r>
              <a:rPr lang="en-CA" dirty="0" err="1"/>
              <a:t>NavMesh</a:t>
            </a:r>
            <a:endParaRPr dirty="0"/>
          </a:p>
        </p:txBody>
      </p:sp>
      <p:sp>
        <p:nvSpPr>
          <p:cNvPr id="3" name="Text Placeholder 2">
            <a:extLst>
              <a:ext uri="{FF2B5EF4-FFF2-40B4-BE49-F238E27FC236}">
                <a16:creationId xmlns:a16="http://schemas.microsoft.com/office/drawing/2014/main" id="{24753D6B-A044-5A1B-DC03-0F995C1776C8}"/>
              </a:ext>
            </a:extLst>
          </p:cNvPr>
          <p:cNvSpPr>
            <a:spLocks noGrp="1"/>
          </p:cNvSpPr>
          <p:nvPr>
            <p:ph type="body" idx="1"/>
          </p:nvPr>
        </p:nvSpPr>
        <p:spPr>
          <a:xfrm>
            <a:off x="1090862" y="1507068"/>
            <a:ext cx="5150450" cy="4669896"/>
          </a:xfrm>
        </p:spPr>
        <p:txBody>
          <a:bodyPr/>
          <a:lstStyle/>
          <a:p>
            <a:pPr lvl="0"/>
            <a:r>
              <a:rPr lang="en-CA" dirty="0"/>
              <a:t>Import namespace: </a:t>
            </a:r>
          </a:p>
          <a:p>
            <a:pPr lvl="0"/>
            <a:r>
              <a:rPr lang="en-CA" dirty="0"/>
              <a:t>using </a:t>
            </a:r>
            <a:r>
              <a:rPr lang="en-CA" dirty="0" err="1"/>
              <a:t>UnityEngine.AI</a:t>
            </a:r>
            <a:r>
              <a:rPr lang="en-CA" dirty="0"/>
              <a:t>;</a:t>
            </a:r>
          </a:p>
          <a:p>
            <a:pPr lvl="0"/>
            <a:r>
              <a:rPr lang="en-CA" dirty="0"/>
              <a:t>Essential Method: </a:t>
            </a:r>
            <a:r>
              <a:rPr lang="en-CA" dirty="0" err="1"/>
              <a:t>agent.SetDestination</a:t>
            </a:r>
            <a:r>
              <a:rPr lang="en-CA" dirty="0"/>
              <a:t>(Vector3 </a:t>
            </a:r>
            <a:r>
              <a:rPr lang="en-CA" dirty="0" err="1"/>
              <a:t>targetPosition</a:t>
            </a:r>
            <a:r>
              <a:rPr lang="en-CA" dirty="0"/>
              <a:t>);</a:t>
            </a:r>
          </a:p>
          <a:p>
            <a:pPr lvl="0"/>
            <a:r>
              <a:rPr lang="en-CA" dirty="0"/>
              <a:t>Key Properties: speed, </a:t>
            </a:r>
            <a:r>
              <a:rPr lang="en-CA" dirty="0" err="1"/>
              <a:t>stoppingDistance</a:t>
            </a:r>
            <a:r>
              <a:rPr lang="en-CA" dirty="0"/>
              <a:t>, </a:t>
            </a:r>
            <a:r>
              <a:rPr lang="en-CA" dirty="0" err="1"/>
              <a:t>remainingDistance</a:t>
            </a:r>
            <a:r>
              <a:rPr lang="en-CA" dirty="0"/>
              <a:t>, </a:t>
            </a:r>
            <a:r>
              <a:rPr lang="en-CA" dirty="0" err="1"/>
              <a:t>isStopped</a:t>
            </a:r>
            <a:endParaRPr lang="en-CA" dirty="0"/>
          </a:p>
          <a:p>
            <a:endParaRPr lang="en-US" dirty="0"/>
          </a:p>
        </p:txBody>
      </p:sp>
    </p:spTree>
    <p:extLst>
      <p:ext uri="{BB962C8B-B14F-4D97-AF65-F5344CB8AC3E}">
        <p14:creationId xmlns:p14="http://schemas.microsoft.com/office/powerpoint/2010/main" val="505450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55B4F9-A265-F14E-7CF5-4972F42009E0}"/>
              </a:ext>
            </a:extLst>
          </p:cNvPr>
          <p:cNvSpPr>
            <a:spLocks noGrp="1"/>
          </p:cNvSpPr>
          <p:nvPr>
            <p:ph type="body" idx="1"/>
          </p:nvPr>
        </p:nvSpPr>
        <p:spPr/>
        <p:txBody>
          <a:bodyPr/>
          <a:lstStyle/>
          <a:p>
            <a:pPr lvl="0"/>
            <a:r>
              <a:rPr lang="en-CA" b="1" dirty="0"/>
              <a:t>Dynamic Obstacles:</a:t>
            </a:r>
            <a:r>
              <a:rPr lang="en-CA" dirty="0"/>
              <a:t> Use </a:t>
            </a:r>
            <a:r>
              <a:rPr lang="en-CA" dirty="0" err="1"/>
              <a:t>NavMeshObstacle</a:t>
            </a:r>
            <a:r>
              <a:rPr lang="en-CA" dirty="0"/>
              <a:t> with "Carve" enabled to cut temporary holes in the </a:t>
            </a:r>
            <a:r>
              <a:rPr lang="en-CA" dirty="0" err="1"/>
              <a:t>NavMesh</a:t>
            </a:r>
            <a:r>
              <a:rPr lang="en-CA" dirty="0"/>
              <a:t> at runtime.</a:t>
            </a:r>
          </a:p>
          <a:p>
            <a:pPr lvl="0"/>
            <a:r>
              <a:rPr lang="en-CA" b="1" dirty="0"/>
              <a:t>Off-Mesh Links:</a:t>
            </a:r>
            <a:r>
              <a:rPr lang="en-CA" dirty="0"/>
              <a:t> Set start and end points for jumping across chasms or climbing drop-offs.</a:t>
            </a:r>
          </a:p>
          <a:p>
            <a:pPr lvl="0"/>
            <a:r>
              <a:rPr lang="en-CA" b="1" dirty="0"/>
              <a:t>Area Costs:</a:t>
            </a:r>
            <a:r>
              <a:rPr lang="en-CA" dirty="0"/>
              <a:t> Assign higher traversal costs to specific zones (e.g., mud, shallow water) to force AI to prefer paved paths.</a:t>
            </a:r>
          </a:p>
          <a:p>
            <a:endParaRPr lang="en-US" dirty="0"/>
          </a:p>
        </p:txBody>
      </p:sp>
      <p:sp>
        <p:nvSpPr>
          <p:cNvPr id="4" name="Title 3">
            <a:extLst>
              <a:ext uri="{FF2B5EF4-FFF2-40B4-BE49-F238E27FC236}">
                <a16:creationId xmlns:a16="http://schemas.microsoft.com/office/drawing/2014/main" id="{1405239B-889B-D3E3-E8E4-55DDF2684176}"/>
              </a:ext>
            </a:extLst>
          </p:cNvPr>
          <p:cNvSpPr>
            <a:spLocks noGrp="1"/>
          </p:cNvSpPr>
          <p:nvPr>
            <p:ph type="title"/>
          </p:nvPr>
        </p:nvSpPr>
        <p:spPr/>
        <p:txBody>
          <a:bodyPr/>
          <a:lstStyle/>
          <a:p>
            <a:r>
              <a:rPr lang="en-CA" dirty="0"/>
              <a:t>Navigating Dynamic Environments</a:t>
            </a:r>
            <a:endParaRPr lang="en-US" dirty="0"/>
          </a:p>
        </p:txBody>
      </p:sp>
    </p:spTree>
    <p:extLst>
      <p:ext uri="{BB962C8B-B14F-4D97-AF65-F5344CB8AC3E}">
        <p14:creationId xmlns:p14="http://schemas.microsoft.com/office/powerpoint/2010/main" val="1539928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BD5CCE-5348-2F2E-8DEC-C6B5CF27999A}"/>
              </a:ext>
            </a:extLst>
          </p:cNvPr>
          <p:cNvSpPr>
            <a:spLocks noGrp="1"/>
          </p:cNvSpPr>
          <p:nvPr>
            <p:ph type="body" idx="1"/>
          </p:nvPr>
        </p:nvSpPr>
        <p:spPr/>
        <p:txBody>
          <a:bodyPr/>
          <a:lstStyle/>
          <a:p>
            <a:pPr lvl="0"/>
            <a:r>
              <a:rPr lang="en-CA" b="1" dirty="0"/>
              <a:t>Patrolling:</a:t>
            </a:r>
            <a:r>
              <a:rPr lang="en-CA" dirty="0"/>
              <a:t> Moving between an array of waypoints.</a:t>
            </a:r>
          </a:p>
          <a:p>
            <a:pPr lvl="0"/>
            <a:r>
              <a:rPr lang="en-CA" b="1" dirty="0"/>
              <a:t>Chasing:</a:t>
            </a:r>
            <a:r>
              <a:rPr lang="en-CA" dirty="0"/>
              <a:t> Triggered when the player enters line-of-sight or detection radius.</a:t>
            </a:r>
          </a:p>
          <a:p>
            <a:pPr lvl="0"/>
            <a:r>
              <a:rPr lang="en-CA" b="1" dirty="0"/>
              <a:t>Searching / Fleeing:</a:t>
            </a:r>
            <a:r>
              <a:rPr lang="en-CA" dirty="0"/>
              <a:t> Repositioning away from danger or searching last known positions.</a:t>
            </a:r>
          </a:p>
          <a:p>
            <a:endParaRPr lang="en-US" dirty="0"/>
          </a:p>
        </p:txBody>
      </p:sp>
      <p:sp>
        <p:nvSpPr>
          <p:cNvPr id="3" name="Title 2">
            <a:extLst>
              <a:ext uri="{FF2B5EF4-FFF2-40B4-BE49-F238E27FC236}">
                <a16:creationId xmlns:a16="http://schemas.microsoft.com/office/drawing/2014/main" id="{D80B72E7-DC38-E553-A387-7AD9B4DBB503}"/>
              </a:ext>
            </a:extLst>
          </p:cNvPr>
          <p:cNvSpPr>
            <a:spLocks noGrp="1"/>
          </p:cNvSpPr>
          <p:nvPr>
            <p:ph type="title"/>
          </p:nvPr>
        </p:nvSpPr>
        <p:spPr/>
        <p:txBody>
          <a:bodyPr/>
          <a:lstStyle/>
          <a:p>
            <a:r>
              <a:rPr lang="en-CA" dirty="0"/>
              <a:t>Designing State Machines for AI</a:t>
            </a:r>
            <a:endParaRPr lang="en-US" dirty="0"/>
          </a:p>
        </p:txBody>
      </p:sp>
    </p:spTree>
    <p:extLst>
      <p:ext uri="{BB962C8B-B14F-4D97-AF65-F5344CB8AC3E}">
        <p14:creationId xmlns:p14="http://schemas.microsoft.com/office/powerpoint/2010/main" val="942421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FB1BF7-11A7-D0FC-67B4-1942E3915B08}"/>
              </a:ext>
            </a:extLst>
          </p:cNvPr>
          <p:cNvSpPr>
            <a:spLocks noGrp="1"/>
          </p:cNvSpPr>
          <p:nvPr>
            <p:ph type="body" idx="1"/>
          </p:nvPr>
        </p:nvSpPr>
        <p:spPr/>
        <p:txBody>
          <a:bodyPr/>
          <a:lstStyle/>
          <a:p>
            <a:pPr lvl="0"/>
            <a:r>
              <a:rPr lang="en-CA" b="1" dirty="0"/>
              <a:t>Agent Sticking / Clipping:</a:t>
            </a:r>
            <a:r>
              <a:rPr lang="en-CA" dirty="0"/>
              <a:t> Adjust Radius and Height settings in </a:t>
            </a:r>
            <a:r>
              <a:rPr lang="en-CA" dirty="0" err="1"/>
              <a:t>NavMeshAgent</a:t>
            </a:r>
            <a:r>
              <a:rPr lang="en-CA" dirty="0"/>
              <a:t> to match the model bounds.</a:t>
            </a:r>
          </a:p>
          <a:p>
            <a:pPr lvl="0"/>
            <a:r>
              <a:rPr lang="en-CA" b="1" dirty="0"/>
              <a:t>Performance Optimization:</a:t>
            </a:r>
            <a:r>
              <a:rPr lang="en-CA" dirty="0"/>
              <a:t> Avoid calling </a:t>
            </a:r>
            <a:r>
              <a:rPr lang="en-CA" dirty="0" err="1"/>
              <a:t>SetDestination</a:t>
            </a:r>
            <a:r>
              <a:rPr lang="en-CA" dirty="0"/>
              <a:t>() every frame; throttle updates using timers or distance checks.</a:t>
            </a:r>
          </a:p>
          <a:p>
            <a:pPr lvl="0"/>
            <a:r>
              <a:rPr lang="en-CA" b="1" dirty="0"/>
              <a:t>Multiple Agent Types:</a:t>
            </a:r>
            <a:r>
              <a:rPr lang="en-CA" dirty="0"/>
              <a:t> Bake custom </a:t>
            </a:r>
            <a:r>
              <a:rPr lang="en-CA" dirty="0" err="1"/>
              <a:t>NavMeshes</a:t>
            </a:r>
            <a:r>
              <a:rPr lang="en-CA" dirty="0"/>
              <a:t> for different entity sizes (e.g., small humanoid vs. giant vehicle).</a:t>
            </a:r>
          </a:p>
          <a:p>
            <a:endParaRPr lang="en-US" dirty="0"/>
          </a:p>
        </p:txBody>
      </p:sp>
      <p:sp>
        <p:nvSpPr>
          <p:cNvPr id="3" name="Title 2">
            <a:extLst>
              <a:ext uri="{FF2B5EF4-FFF2-40B4-BE49-F238E27FC236}">
                <a16:creationId xmlns:a16="http://schemas.microsoft.com/office/drawing/2014/main" id="{4741E5D2-13F9-9E9A-739C-61DF4A6D61E6}"/>
              </a:ext>
            </a:extLst>
          </p:cNvPr>
          <p:cNvSpPr>
            <a:spLocks noGrp="1"/>
          </p:cNvSpPr>
          <p:nvPr>
            <p:ph type="title"/>
          </p:nvPr>
        </p:nvSpPr>
        <p:spPr/>
        <p:txBody>
          <a:bodyPr/>
          <a:lstStyle/>
          <a:p>
            <a:r>
              <a:rPr lang="en-CA" dirty="0"/>
              <a:t>Performance Optimization &amp; Troubleshooting</a:t>
            </a:r>
            <a:endParaRPr lang="en-US" dirty="0"/>
          </a:p>
        </p:txBody>
      </p:sp>
    </p:spTree>
    <p:extLst>
      <p:ext uri="{BB962C8B-B14F-4D97-AF65-F5344CB8AC3E}">
        <p14:creationId xmlns:p14="http://schemas.microsoft.com/office/powerpoint/2010/main" val="3312988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E5A9D3-3F02-3124-8A45-93CBBB4EA1DE}"/>
              </a:ext>
            </a:extLst>
          </p:cNvPr>
          <p:cNvSpPr>
            <a:spLocks noGrp="1"/>
          </p:cNvSpPr>
          <p:nvPr>
            <p:ph type="body" idx="1"/>
          </p:nvPr>
        </p:nvSpPr>
        <p:spPr/>
        <p:txBody>
          <a:bodyPr/>
          <a:lstStyle/>
          <a:p>
            <a:r>
              <a:rPr lang="en-CA" dirty="0"/>
              <a:t>You need to create a </a:t>
            </a:r>
            <a:r>
              <a:rPr lang="en-CA" b="1" dirty="0">
                <a:hlinkClick r:id="rId2" tooltip="A mesh that Unity generates to approximate the walkable areas and obstacles in your environment for path finding and AI-controlled navigation."/>
              </a:rPr>
              <a:t>NavMesh</a:t>
            </a:r>
            <a:r>
              <a:rPr lang="en-CA" dirty="0"/>
              <a:t> to define an area of your scene within which a character can navigate intelligently.</a:t>
            </a:r>
          </a:p>
          <a:p>
            <a:r>
              <a:rPr lang="en-CA" dirty="0"/>
              <a:t>To create a </a:t>
            </a:r>
            <a:r>
              <a:rPr lang="en-CA" dirty="0" err="1"/>
              <a:t>NavMesh</a:t>
            </a:r>
            <a:r>
              <a:rPr lang="en-CA" dirty="0"/>
              <a:t> do the following:</a:t>
            </a:r>
          </a:p>
          <a:p>
            <a:pPr lvl="0"/>
            <a:r>
              <a:rPr lang="en-CA" dirty="0"/>
              <a:t>Select the scene geometry where you want to add the </a:t>
            </a:r>
            <a:r>
              <a:rPr lang="en-CA" dirty="0" err="1"/>
              <a:t>NavMesh</a:t>
            </a:r>
            <a:r>
              <a:rPr lang="en-CA" dirty="0"/>
              <a:t>.</a:t>
            </a:r>
          </a:p>
          <a:p>
            <a:pPr lvl="0"/>
            <a:r>
              <a:rPr lang="en-CA" dirty="0"/>
              <a:t>In the Inspector window, click </a:t>
            </a:r>
            <a:r>
              <a:rPr lang="en-CA" b="1" dirty="0"/>
              <a:t>Add Component</a:t>
            </a:r>
            <a:r>
              <a:rPr lang="en-CA" dirty="0"/>
              <a:t>.</a:t>
            </a:r>
          </a:p>
          <a:p>
            <a:pPr lvl="0"/>
            <a:r>
              <a:rPr lang="en-CA" dirty="0"/>
              <a:t>Select </a:t>
            </a:r>
            <a:r>
              <a:rPr lang="en-CA" b="1" dirty="0"/>
              <a:t>Navigation</a:t>
            </a:r>
            <a:r>
              <a:rPr lang="en-CA" dirty="0"/>
              <a:t> &gt; </a:t>
            </a:r>
            <a:r>
              <a:rPr lang="en-CA" b="1" dirty="0" err="1"/>
              <a:t>NavMesh</a:t>
            </a:r>
            <a:r>
              <a:rPr lang="en-CA" b="1" dirty="0"/>
              <a:t> Surface</a:t>
            </a:r>
            <a:r>
              <a:rPr lang="en-CA" dirty="0"/>
              <a:t>.</a:t>
            </a:r>
          </a:p>
          <a:p>
            <a:pPr lvl="0"/>
            <a:r>
              <a:rPr lang="en-CA" dirty="0"/>
              <a:t>In the </a:t>
            </a:r>
            <a:r>
              <a:rPr lang="en-CA" dirty="0" err="1"/>
              <a:t>NavMesh</a:t>
            </a:r>
            <a:r>
              <a:rPr lang="en-CA" dirty="0"/>
              <a:t> Surface component, specify the necessary settings. For details on the available settings, refer to </a:t>
            </a:r>
            <a:r>
              <a:rPr lang="en-CA" dirty="0">
                <a:hlinkClick r:id="rId3"/>
              </a:rPr>
              <a:t>NavMesh Surface component</a:t>
            </a:r>
            <a:r>
              <a:rPr lang="en-CA" dirty="0"/>
              <a:t>.</a:t>
            </a:r>
          </a:p>
          <a:p>
            <a:pPr lvl="0"/>
            <a:r>
              <a:rPr lang="en-CA" dirty="0"/>
              <a:t>When you are finished, click </a:t>
            </a:r>
            <a:r>
              <a:rPr lang="en-CA" b="1" dirty="0"/>
              <a:t>Bake</a:t>
            </a:r>
            <a:r>
              <a:rPr lang="en-CA" dirty="0"/>
              <a:t>.</a:t>
            </a:r>
            <a:br>
              <a:rPr lang="en-CA" dirty="0"/>
            </a:br>
            <a:r>
              <a:rPr lang="en-CA" dirty="0"/>
              <a:t>The </a:t>
            </a:r>
            <a:r>
              <a:rPr lang="en-CA" dirty="0" err="1"/>
              <a:t>NavMesh</a:t>
            </a:r>
            <a:r>
              <a:rPr lang="en-CA" dirty="0"/>
              <a:t> is generated and displayed in the scene as a blue overlay on the underlying scene geometry whenever the Navigation window is open and visible.</a:t>
            </a:r>
          </a:p>
          <a:p>
            <a:r>
              <a:rPr lang="en-CA" dirty="0"/>
              <a:t>You can bake the </a:t>
            </a:r>
            <a:r>
              <a:rPr lang="en-CA" dirty="0" err="1"/>
              <a:t>NavMesh</a:t>
            </a:r>
            <a:r>
              <a:rPr lang="en-CA" dirty="0"/>
              <a:t> again to update it each time you make changes to either the scene geometry, the </a:t>
            </a:r>
            <a:r>
              <a:rPr lang="en-CA" dirty="0" err="1"/>
              <a:t>NavMesh</a:t>
            </a:r>
            <a:r>
              <a:rPr lang="en-CA" dirty="0"/>
              <a:t> </a:t>
            </a:r>
            <a:r>
              <a:rPr lang="en-CA" dirty="0">
                <a:hlinkClick r:id="rId4"/>
              </a:rPr>
              <a:t>modifiers</a:t>
            </a:r>
            <a:r>
              <a:rPr lang="en-CA" dirty="0"/>
              <a:t>, the properties of the </a:t>
            </a:r>
            <a:r>
              <a:rPr lang="en-CA" b="1" dirty="0" err="1"/>
              <a:t>NavMesh</a:t>
            </a:r>
            <a:r>
              <a:rPr lang="en-CA" b="1" dirty="0"/>
              <a:t> Surface</a:t>
            </a:r>
            <a:r>
              <a:rPr lang="en-CA" dirty="0"/>
              <a:t> component, or </a:t>
            </a:r>
            <a:r>
              <a:rPr lang="en-CA" dirty="0">
                <a:hlinkClick r:id="rId5"/>
              </a:rPr>
              <a:t>the settings</a:t>
            </a:r>
            <a:r>
              <a:rPr lang="en-CA" dirty="0"/>
              <a:t> of </a:t>
            </a:r>
            <a:r>
              <a:rPr lang="en-CA" dirty="0">
                <a:hlinkClick r:id="rId6"/>
              </a:rPr>
              <a:t>the selected agent type</a:t>
            </a:r>
            <a:r>
              <a:rPr lang="en-CA" dirty="0"/>
              <a:t>.</a:t>
            </a:r>
          </a:p>
          <a:p>
            <a:r>
              <a:rPr lang="en-CA" dirty="0"/>
              <a:t>To permanently remove a </a:t>
            </a:r>
            <a:r>
              <a:rPr lang="en-CA" dirty="0" err="1"/>
              <a:t>NavMesh</a:t>
            </a:r>
            <a:r>
              <a:rPr lang="en-CA" dirty="0"/>
              <a:t> from your project, do one of the following:</a:t>
            </a:r>
          </a:p>
          <a:p>
            <a:pPr lvl="0"/>
            <a:r>
              <a:rPr lang="en-CA" dirty="0"/>
              <a:t>Click the </a:t>
            </a:r>
            <a:r>
              <a:rPr lang="en-CA" b="1" dirty="0"/>
              <a:t>Clear</a:t>
            </a:r>
            <a:r>
              <a:rPr lang="en-CA" dirty="0"/>
              <a:t> button in the </a:t>
            </a:r>
            <a:r>
              <a:rPr lang="en-CA" b="1" dirty="0" err="1"/>
              <a:t>NavMesh</a:t>
            </a:r>
            <a:r>
              <a:rPr lang="en-CA" b="1" dirty="0"/>
              <a:t> Surface</a:t>
            </a:r>
            <a:r>
              <a:rPr lang="en-CA" dirty="0"/>
              <a:t> inspector.</a:t>
            </a:r>
          </a:p>
          <a:p>
            <a:pPr lvl="0"/>
            <a:r>
              <a:rPr lang="en-CA" dirty="0"/>
              <a:t>Delete </a:t>
            </a:r>
            <a:r>
              <a:rPr lang="en-CA" dirty="0">
                <a:hlinkClick r:id="rId7"/>
              </a:rPr>
              <a:t>the NavMesh asset file</a:t>
            </a:r>
            <a:r>
              <a:rPr lang="en-CA" dirty="0"/>
              <a:t> in the </a:t>
            </a:r>
            <a:r>
              <a:rPr lang="en-CA" b="1" dirty="0"/>
              <a:t>Project</a:t>
            </a:r>
            <a:r>
              <a:rPr lang="en-CA" dirty="0"/>
              <a:t> window. If you choose to remove the </a:t>
            </a:r>
            <a:r>
              <a:rPr lang="en-CA" b="1" dirty="0" err="1"/>
              <a:t>NavMesh</a:t>
            </a:r>
            <a:r>
              <a:rPr lang="en-CA" b="1" dirty="0"/>
              <a:t> Surface</a:t>
            </a:r>
            <a:r>
              <a:rPr lang="en-CA" dirty="0"/>
              <a:t> component itself from the </a:t>
            </a:r>
            <a:r>
              <a:rPr lang="en-CA" dirty="0" err="1"/>
              <a:t>GameObject</a:t>
            </a:r>
            <a:r>
              <a:rPr lang="en-CA" dirty="0"/>
              <a:t>, the asset file is not deleted, even though the </a:t>
            </a:r>
            <a:r>
              <a:rPr lang="en-CA" dirty="0" err="1"/>
              <a:t>NavMesh</a:t>
            </a:r>
            <a:r>
              <a:rPr lang="en-CA" dirty="0"/>
              <a:t> is no longer present in the scene.</a:t>
            </a:r>
          </a:p>
          <a:p>
            <a:endParaRPr lang="en-US" dirty="0"/>
          </a:p>
        </p:txBody>
      </p:sp>
      <p:sp>
        <p:nvSpPr>
          <p:cNvPr id="3" name="Title 2">
            <a:extLst>
              <a:ext uri="{FF2B5EF4-FFF2-40B4-BE49-F238E27FC236}">
                <a16:creationId xmlns:a16="http://schemas.microsoft.com/office/drawing/2014/main" id="{56448555-0DEB-BE39-600E-8514A8150AC7}"/>
              </a:ext>
            </a:extLst>
          </p:cNvPr>
          <p:cNvSpPr>
            <a:spLocks noGrp="1"/>
          </p:cNvSpPr>
          <p:nvPr>
            <p:ph type="title"/>
          </p:nvPr>
        </p:nvSpPr>
        <p:spPr/>
        <p:txBody>
          <a:bodyPr>
            <a:normAutofit/>
          </a:bodyPr>
          <a:lstStyle/>
          <a:p>
            <a:r>
              <a:rPr lang="en-CA" dirty="0"/>
              <a:t>Create a </a:t>
            </a:r>
            <a:r>
              <a:rPr lang="en-CA" dirty="0" err="1"/>
              <a:t>NavMesh</a:t>
            </a:r>
            <a:endParaRPr lang="en-US" dirty="0"/>
          </a:p>
        </p:txBody>
      </p:sp>
    </p:spTree>
    <p:extLst>
      <p:ext uri="{BB962C8B-B14F-4D97-AF65-F5344CB8AC3E}">
        <p14:creationId xmlns:p14="http://schemas.microsoft.com/office/powerpoint/2010/main" val="1226493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AB1879-30E3-8AC7-ADE3-647D0A825FF5}"/>
              </a:ext>
            </a:extLst>
          </p:cNvPr>
          <p:cNvSpPr>
            <a:spLocks noGrp="1"/>
          </p:cNvSpPr>
          <p:nvPr>
            <p:ph type="body" idx="1"/>
          </p:nvPr>
        </p:nvSpPr>
        <p:spPr>
          <a:xfrm>
            <a:off x="604434" y="1507067"/>
            <a:ext cx="8603361" cy="4980574"/>
          </a:xfrm>
        </p:spPr>
        <p:txBody>
          <a:bodyPr>
            <a:noAutofit/>
          </a:bodyPr>
          <a:lstStyle/>
          <a:p>
            <a:pPr marL="209550" indent="0">
              <a:buNone/>
            </a:pPr>
            <a:r>
              <a:rPr lang="en-CA" sz="900" dirty="0"/>
              <a:t>Once you have a </a:t>
            </a:r>
            <a:r>
              <a:rPr lang="en-CA" sz="900" b="1" dirty="0">
                <a:hlinkClick r:id="rId2" tooltip="A mesh that Unity generates to approximate the walkable areas and obstacles in your environment for path finding and AI-controlled navigation."/>
              </a:rPr>
              <a:t>NavMesh</a:t>
            </a:r>
            <a:r>
              <a:rPr lang="en-CA" sz="900" dirty="0"/>
              <a:t> baked for your level it is time to create a character which can navigate the </a:t>
            </a:r>
            <a:r>
              <a:rPr lang="en-CA" sz="900" b="1" dirty="0">
                <a:hlinkClick r:id="rId3" tooltip="A Scene contains the environments and menus of your game. Think of each unique Scene file as a unique level. In each Scene, you place your environments, obstacles, and decorations, essentially designing and building your game in pieces."/>
              </a:rPr>
              <a:t>Scene</a:t>
            </a:r>
            <a:r>
              <a:rPr lang="en-CA" sz="900" dirty="0"/>
              <a:t>. We’re going to build our prototype agent from a cylinder and set it in motion. This is done using a </a:t>
            </a:r>
            <a:r>
              <a:rPr lang="en-CA" sz="900" dirty="0" err="1"/>
              <a:t>NavMesh</a:t>
            </a:r>
            <a:r>
              <a:rPr lang="en-CA" sz="900" dirty="0"/>
              <a:t> Agent component and a simple script.</a:t>
            </a:r>
          </a:p>
          <a:p>
            <a:pPr marL="209550" lvl="0" indent="0">
              <a:buNone/>
            </a:pPr>
            <a:r>
              <a:rPr lang="en-CA" sz="900" dirty="0"/>
              <a:t>Create a </a:t>
            </a:r>
            <a:r>
              <a:rPr lang="en-CA" sz="900" b="1" dirty="0"/>
              <a:t>cylinder</a:t>
            </a:r>
            <a:r>
              <a:rPr lang="en-CA" sz="900" dirty="0"/>
              <a:t>: </a:t>
            </a:r>
            <a:r>
              <a:rPr lang="en-CA" sz="900" b="1" dirty="0" err="1"/>
              <a:t>GameObject</a:t>
            </a:r>
            <a:r>
              <a:rPr lang="en-CA" sz="900" b="1" dirty="0"/>
              <a:t> &gt; 3D Object &gt; Cylinder</a:t>
            </a:r>
            <a:r>
              <a:rPr lang="en-CA" sz="900" dirty="0"/>
              <a:t>.</a:t>
            </a:r>
          </a:p>
          <a:p>
            <a:pPr marL="209550" lvl="0" indent="0">
              <a:buNone/>
            </a:pPr>
            <a:r>
              <a:rPr lang="en-CA" sz="900" dirty="0"/>
              <a:t>The default cylinder dimensions (height 2 and radius 0.5) are good for a humanoid shaped agent, so we will leave them as they are.</a:t>
            </a:r>
          </a:p>
          <a:p>
            <a:pPr marL="209550" lvl="0" indent="0">
              <a:buNone/>
            </a:pPr>
            <a:r>
              <a:rPr lang="en-CA" sz="900" dirty="0"/>
              <a:t>Add a </a:t>
            </a:r>
            <a:r>
              <a:rPr lang="en-CA" sz="900" b="1" dirty="0" err="1"/>
              <a:t>NavMesh</a:t>
            </a:r>
            <a:r>
              <a:rPr lang="en-CA" sz="900" b="1" dirty="0"/>
              <a:t> Agent</a:t>
            </a:r>
            <a:r>
              <a:rPr lang="en-CA" sz="900" dirty="0"/>
              <a:t> component: </a:t>
            </a:r>
            <a:r>
              <a:rPr lang="en-CA" sz="900" b="1" dirty="0"/>
              <a:t>Component &gt; Navigation &gt; </a:t>
            </a:r>
            <a:r>
              <a:rPr lang="en-CA" sz="900" b="1" dirty="0" err="1"/>
              <a:t>NavMesh</a:t>
            </a:r>
            <a:r>
              <a:rPr lang="en-CA" sz="900" b="1" dirty="0"/>
              <a:t> Agent</a:t>
            </a:r>
            <a:r>
              <a:rPr lang="en-CA" sz="900" dirty="0"/>
              <a:t>.</a:t>
            </a:r>
          </a:p>
          <a:p>
            <a:pPr marL="209550" indent="0">
              <a:buNone/>
            </a:pPr>
            <a:r>
              <a:rPr lang="en-CA" sz="900" dirty="0"/>
              <a:t>Now you have simple </a:t>
            </a:r>
            <a:r>
              <a:rPr lang="en-CA" sz="900" dirty="0" err="1"/>
              <a:t>NavMesh</a:t>
            </a:r>
            <a:r>
              <a:rPr lang="en-CA" sz="900" dirty="0"/>
              <a:t> Agent set up ready to receive commands!</a:t>
            </a:r>
          </a:p>
          <a:p>
            <a:pPr marL="209550" indent="0">
              <a:buNone/>
            </a:pPr>
            <a:r>
              <a:rPr lang="en-CA" sz="900" dirty="0"/>
              <a:t>When you start to experiment with a </a:t>
            </a:r>
            <a:r>
              <a:rPr lang="en-CA" sz="900" dirty="0" err="1"/>
              <a:t>NavMesh</a:t>
            </a:r>
            <a:r>
              <a:rPr lang="en-CA" sz="900" dirty="0"/>
              <a:t> Agent, you most likely are going to adjust its dimensions for your character size and speed.</a:t>
            </a:r>
          </a:p>
          <a:p>
            <a:pPr marL="209550" indent="0">
              <a:buNone/>
            </a:pPr>
            <a:r>
              <a:rPr lang="en-CA" sz="900" dirty="0"/>
              <a:t>The </a:t>
            </a:r>
            <a:r>
              <a:rPr lang="en-CA" sz="900" b="1" dirty="0" err="1"/>
              <a:t>NavMesh</a:t>
            </a:r>
            <a:r>
              <a:rPr lang="en-CA" sz="900" b="1" dirty="0"/>
              <a:t> Agent</a:t>
            </a:r>
            <a:r>
              <a:rPr lang="en-CA" sz="900" dirty="0"/>
              <a:t> component handles both the pathfinding and the movement control of a character. In your </a:t>
            </a:r>
            <a:r>
              <a:rPr lang="en-CA" sz="900" b="1" dirty="0">
                <a:hlinkClick r:id="rId4" tooltip="A piece of code that allows you to create your own Components, trigger game events, modify Component properties over time and respond to user input in any way you like."/>
              </a:rPr>
              <a:t>scripts</a:t>
            </a:r>
            <a:r>
              <a:rPr lang="en-CA" sz="900" dirty="0"/>
              <a:t>, navigation can be as simple as setting the desired destination point - the </a:t>
            </a:r>
            <a:r>
              <a:rPr lang="en-CA" sz="900" dirty="0" err="1"/>
              <a:t>NavMesh</a:t>
            </a:r>
            <a:r>
              <a:rPr lang="en-CA" sz="900" dirty="0"/>
              <a:t> Agent can handle everything from there on.</a:t>
            </a:r>
          </a:p>
          <a:p>
            <a:pPr marL="209550" indent="0">
              <a:buNone/>
            </a:pPr>
            <a:r>
              <a:rPr lang="en-CA" sz="900" dirty="0"/>
              <a:t>Next we need to build a simple script which allows you to send your character to the destination specified by another Game Object, and a Sphere which will be the destination to move to:</a:t>
            </a:r>
          </a:p>
          <a:p>
            <a:pPr marL="209550" lvl="0" indent="0">
              <a:buNone/>
            </a:pPr>
            <a:r>
              <a:rPr lang="en-CA" sz="900" dirty="0"/>
              <a:t>Create a new </a:t>
            </a:r>
            <a:r>
              <a:rPr lang="en-CA" sz="900" b="1" dirty="0"/>
              <a:t>C# script</a:t>
            </a:r>
            <a:r>
              <a:rPr lang="en-CA" sz="900" dirty="0"/>
              <a:t> (</a:t>
            </a:r>
            <a:r>
              <a:rPr lang="en-CA" sz="900" dirty="0" err="1"/>
              <a:t>MoveTo.cs</a:t>
            </a:r>
            <a:r>
              <a:rPr lang="en-CA" sz="900" dirty="0"/>
              <a:t>) and replace its contents with the above script.</a:t>
            </a:r>
          </a:p>
          <a:p>
            <a:pPr marL="209550" lvl="0" indent="0">
              <a:buNone/>
            </a:pPr>
            <a:r>
              <a:rPr lang="en-CA" sz="900" dirty="0"/>
              <a:t>Assign the </a:t>
            </a:r>
            <a:r>
              <a:rPr lang="en-CA" sz="900" dirty="0" err="1"/>
              <a:t>MoveTo</a:t>
            </a:r>
            <a:r>
              <a:rPr lang="en-CA" sz="900" dirty="0"/>
              <a:t> script to the character you’ve just created.</a:t>
            </a:r>
          </a:p>
          <a:p>
            <a:pPr marL="209550" lvl="0" indent="0">
              <a:buNone/>
            </a:pPr>
            <a:r>
              <a:rPr lang="en-CA" sz="900" dirty="0"/>
              <a:t>Create a </a:t>
            </a:r>
            <a:r>
              <a:rPr lang="en-CA" sz="900" b="1" dirty="0"/>
              <a:t>sphere</a:t>
            </a:r>
            <a:r>
              <a:rPr lang="en-CA" sz="900" dirty="0"/>
              <a:t>, this will be the destination the agent will move to.</a:t>
            </a:r>
          </a:p>
          <a:p>
            <a:pPr marL="209550" lvl="0" indent="0">
              <a:buNone/>
            </a:pPr>
            <a:r>
              <a:rPr lang="en-CA" sz="900" dirty="0"/>
              <a:t>Move the sphere away from the character to a location that is close to the </a:t>
            </a:r>
            <a:r>
              <a:rPr lang="en-CA" sz="900" dirty="0" err="1"/>
              <a:t>NavMesh</a:t>
            </a:r>
            <a:r>
              <a:rPr lang="en-CA" sz="900" dirty="0"/>
              <a:t> surface.</a:t>
            </a:r>
          </a:p>
          <a:p>
            <a:pPr marL="209550" lvl="0" indent="0">
              <a:buNone/>
            </a:pPr>
            <a:r>
              <a:rPr lang="en-CA" sz="900" dirty="0"/>
              <a:t>Select the character, locate the </a:t>
            </a:r>
            <a:r>
              <a:rPr lang="en-CA" sz="900" dirty="0" err="1"/>
              <a:t>MoveTo</a:t>
            </a:r>
            <a:r>
              <a:rPr lang="en-CA" sz="900" dirty="0"/>
              <a:t> script, and assign the Sphere to the </a:t>
            </a:r>
            <a:r>
              <a:rPr lang="en-CA" sz="900" b="1" dirty="0"/>
              <a:t>Goal</a:t>
            </a:r>
            <a:r>
              <a:rPr lang="en-CA" sz="900" dirty="0"/>
              <a:t> property.</a:t>
            </a:r>
          </a:p>
          <a:p>
            <a:pPr marL="209550" lvl="0" indent="0">
              <a:buNone/>
            </a:pPr>
            <a:r>
              <a:rPr lang="en-CA" sz="900" b="1" dirty="0"/>
              <a:t>Press Play</a:t>
            </a:r>
            <a:r>
              <a:rPr lang="en-CA" sz="900" dirty="0"/>
              <a:t>; you should see the agent navigating to the location of the sphere.</a:t>
            </a:r>
            <a:br>
              <a:rPr lang="en-CA" sz="900" dirty="0"/>
            </a:br>
            <a:endParaRPr lang="en-US" sz="900" dirty="0"/>
          </a:p>
        </p:txBody>
      </p:sp>
      <p:sp>
        <p:nvSpPr>
          <p:cNvPr id="4" name="Text Placeholder 3">
            <a:extLst>
              <a:ext uri="{FF2B5EF4-FFF2-40B4-BE49-F238E27FC236}">
                <a16:creationId xmlns:a16="http://schemas.microsoft.com/office/drawing/2014/main" id="{06E35418-4131-6B12-0D4B-61A73564C1AF}"/>
              </a:ext>
            </a:extLst>
          </p:cNvPr>
          <p:cNvSpPr>
            <a:spLocks noGrp="1"/>
          </p:cNvSpPr>
          <p:nvPr>
            <p:ph type="body" idx="2"/>
          </p:nvPr>
        </p:nvSpPr>
        <p:spPr>
          <a:xfrm>
            <a:off x="8697433" y="1507068"/>
            <a:ext cx="2842009" cy="4669896"/>
          </a:xfrm>
        </p:spPr>
        <p:txBody>
          <a:bodyPr/>
          <a:lstStyle/>
          <a:p>
            <a:r>
              <a:rPr lang="en-US" dirty="0"/>
              <a:t> // </a:t>
            </a:r>
            <a:r>
              <a:rPr lang="en-US" dirty="0" err="1"/>
              <a:t>MoveTo.cs</a:t>
            </a:r>
            <a:endParaRPr lang="en-US" dirty="0"/>
          </a:p>
          <a:p>
            <a:r>
              <a:rPr lang="en-US" dirty="0"/>
              <a:t>    using </a:t>
            </a:r>
            <a:r>
              <a:rPr lang="en-US" dirty="0" err="1"/>
              <a:t>UnityEngine</a:t>
            </a:r>
            <a:r>
              <a:rPr lang="en-US" dirty="0"/>
              <a:t>;</a:t>
            </a:r>
          </a:p>
          <a:p>
            <a:r>
              <a:rPr lang="en-US" dirty="0"/>
              <a:t>    using </a:t>
            </a:r>
            <a:r>
              <a:rPr lang="en-US" dirty="0" err="1"/>
              <a:t>UnityEngine.AI</a:t>
            </a:r>
            <a:r>
              <a:rPr lang="en-US" dirty="0"/>
              <a:t>;</a:t>
            </a:r>
          </a:p>
          <a:p>
            <a:endParaRPr lang="en-US" dirty="0"/>
          </a:p>
          <a:p>
            <a:r>
              <a:rPr lang="en-US" dirty="0"/>
              <a:t>    public class </a:t>
            </a:r>
            <a:r>
              <a:rPr lang="en-US" dirty="0" err="1"/>
              <a:t>MoveTo</a:t>
            </a:r>
            <a:r>
              <a:rPr lang="en-US" dirty="0"/>
              <a:t> : </a:t>
            </a:r>
            <a:r>
              <a:rPr lang="en-US" dirty="0" err="1"/>
              <a:t>MonoBehaviour</a:t>
            </a:r>
            <a:r>
              <a:rPr lang="en-US" dirty="0"/>
              <a:t> {</a:t>
            </a:r>
          </a:p>
          <a:p>
            <a:endParaRPr lang="en-US" dirty="0"/>
          </a:p>
          <a:p>
            <a:r>
              <a:rPr lang="en-US" dirty="0"/>
              <a:t>       public Transform goal;</a:t>
            </a:r>
          </a:p>
          <a:p>
            <a:endParaRPr lang="en-US" dirty="0"/>
          </a:p>
          <a:p>
            <a:r>
              <a:rPr lang="en-US" dirty="0"/>
              <a:t>       void Start () {</a:t>
            </a:r>
          </a:p>
          <a:p>
            <a:r>
              <a:rPr lang="en-US" dirty="0"/>
              <a:t>          </a:t>
            </a:r>
            <a:r>
              <a:rPr lang="en-US" dirty="0" err="1"/>
              <a:t>NavMeshAgent</a:t>
            </a:r>
            <a:r>
              <a:rPr lang="en-US" dirty="0"/>
              <a:t> agent = </a:t>
            </a:r>
            <a:r>
              <a:rPr lang="en-US" dirty="0" err="1"/>
              <a:t>GetComponent</a:t>
            </a:r>
            <a:r>
              <a:rPr lang="en-US" dirty="0"/>
              <a:t>&lt;</a:t>
            </a:r>
            <a:r>
              <a:rPr lang="en-US" dirty="0" err="1"/>
              <a:t>NavMeshAgent</a:t>
            </a:r>
            <a:r>
              <a:rPr lang="en-US" dirty="0"/>
              <a:t>&gt;();</a:t>
            </a:r>
          </a:p>
          <a:p>
            <a:r>
              <a:rPr lang="en-US" dirty="0"/>
              <a:t>          </a:t>
            </a:r>
            <a:r>
              <a:rPr lang="en-US" dirty="0" err="1"/>
              <a:t>agent.destination</a:t>
            </a:r>
            <a:r>
              <a:rPr lang="en-US" dirty="0"/>
              <a:t> = </a:t>
            </a:r>
            <a:r>
              <a:rPr lang="en-US" dirty="0" err="1"/>
              <a:t>goal.position</a:t>
            </a:r>
            <a:r>
              <a:rPr lang="en-US" dirty="0"/>
              <a:t>;</a:t>
            </a:r>
          </a:p>
          <a:p>
            <a:r>
              <a:rPr lang="en-US" dirty="0"/>
              <a:t>       }</a:t>
            </a:r>
          </a:p>
          <a:p>
            <a:r>
              <a:rPr lang="en-US" dirty="0"/>
              <a:t>    }</a:t>
            </a:r>
          </a:p>
        </p:txBody>
      </p:sp>
      <p:sp>
        <p:nvSpPr>
          <p:cNvPr id="3" name="Title 2">
            <a:extLst>
              <a:ext uri="{FF2B5EF4-FFF2-40B4-BE49-F238E27FC236}">
                <a16:creationId xmlns:a16="http://schemas.microsoft.com/office/drawing/2014/main" id="{981F8836-384D-E2A9-5557-2EF9EB34662F}"/>
              </a:ext>
            </a:extLst>
          </p:cNvPr>
          <p:cNvSpPr>
            <a:spLocks noGrp="1"/>
          </p:cNvSpPr>
          <p:nvPr>
            <p:ph type="title"/>
          </p:nvPr>
        </p:nvSpPr>
        <p:spPr/>
        <p:txBody>
          <a:bodyPr>
            <a:normAutofit/>
          </a:bodyPr>
          <a:lstStyle/>
          <a:p>
            <a:r>
              <a:rPr lang="en-CA" dirty="0"/>
              <a:t>Create a </a:t>
            </a:r>
            <a:r>
              <a:rPr lang="en-CA" dirty="0" err="1"/>
              <a:t>NavMesh</a:t>
            </a:r>
            <a:r>
              <a:rPr lang="en-CA" dirty="0"/>
              <a:t> Agent</a:t>
            </a:r>
            <a:endParaRPr lang="en-US" dirty="0"/>
          </a:p>
        </p:txBody>
      </p:sp>
    </p:spTree>
    <p:extLst>
      <p:ext uri="{BB962C8B-B14F-4D97-AF65-F5344CB8AC3E}">
        <p14:creationId xmlns:p14="http://schemas.microsoft.com/office/powerpoint/2010/main" val="1692570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1600DB-24DB-9BE0-178B-F749BFC4E85C}"/>
              </a:ext>
            </a:extLst>
          </p:cNvPr>
          <p:cNvSpPr>
            <a:spLocks noGrp="1"/>
          </p:cNvSpPr>
          <p:nvPr>
            <p:ph type="body" idx="1"/>
          </p:nvPr>
        </p:nvSpPr>
        <p:spPr>
          <a:xfrm>
            <a:off x="652558" y="1507068"/>
            <a:ext cx="6014056" cy="4669896"/>
          </a:xfrm>
        </p:spPr>
        <p:txBody>
          <a:bodyPr>
            <a:normAutofit fontScale="92500" lnSpcReduction="20000"/>
          </a:bodyPr>
          <a:lstStyle/>
          <a:p>
            <a:pPr marL="209550" indent="0">
              <a:buNone/>
            </a:pPr>
            <a:r>
              <a:rPr lang="en-CA" dirty="0" err="1"/>
              <a:t>NavMesh</a:t>
            </a:r>
            <a:r>
              <a:rPr lang="en-CA" dirty="0"/>
              <a:t> Obstacle components can be used to describe obstacles the agents should avoid while navigating. For example the agents should avoid physics controlled objects, such as crates and barrels while moving.</a:t>
            </a:r>
          </a:p>
          <a:p>
            <a:pPr marL="209550" lvl="0" indent="0">
              <a:buNone/>
            </a:pPr>
            <a:r>
              <a:rPr lang="en-CA" dirty="0"/>
              <a:t>First create a </a:t>
            </a:r>
            <a:r>
              <a:rPr lang="en-CA" b="1" dirty="0"/>
              <a:t>cube</a:t>
            </a:r>
            <a:r>
              <a:rPr lang="en-CA" dirty="0"/>
              <a:t> to depict the crate: </a:t>
            </a:r>
            <a:r>
              <a:rPr lang="en-CA" b="1" dirty="0"/>
              <a:t>Game Object &gt; 3D Object &gt; Cube</a:t>
            </a:r>
            <a:r>
              <a:rPr lang="en-CA" dirty="0"/>
              <a:t>.</a:t>
            </a:r>
          </a:p>
          <a:p>
            <a:pPr marL="209550" lvl="0" indent="0">
              <a:buNone/>
            </a:pPr>
            <a:r>
              <a:rPr lang="en-CA" dirty="0"/>
              <a:t>Move the cube to the platform at the top, the default size of the cube is good for a crate so leave it as it is.</a:t>
            </a:r>
          </a:p>
          <a:p>
            <a:pPr marL="209550" lvl="0" indent="0">
              <a:buNone/>
            </a:pPr>
            <a:r>
              <a:rPr lang="en-CA" dirty="0"/>
              <a:t>Add a </a:t>
            </a:r>
            <a:r>
              <a:rPr lang="en-CA" b="1" dirty="0" err="1"/>
              <a:t>NavMesh</a:t>
            </a:r>
            <a:r>
              <a:rPr lang="en-CA" b="1" dirty="0"/>
              <a:t> Obstacle component</a:t>
            </a:r>
            <a:r>
              <a:rPr lang="en-CA" dirty="0"/>
              <a:t> to the cube. Choose </a:t>
            </a:r>
            <a:r>
              <a:rPr lang="en-CA" b="1" dirty="0"/>
              <a:t>Add Component</a:t>
            </a:r>
            <a:r>
              <a:rPr lang="en-CA" dirty="0"/>
              <a:t> from the inspector and choose </a:t>
            </a:r>
            <a:r>
              <a:rPr lang="en-CA" b="1" dirty="0"/>
              <a:t>Navigation &gt; </a:t>
            </a:r>
            <a:r>
              <a:rPr lang="en-CA" b="1" dirty="0" err="1"/>
              <a:t>NavMesh</a:t>
            </a:r>
            <a:r>
              <a:rPr lang="en-CA" b="1" dirty="0"/>
              <a:t> Obstacle</a:t>
            </a:r>
            <a:r>
              <a:rPr lang="en-CA" dirty="0"/>
              <a:t>.</a:t>
            </a:r>
          </a:p>
          <a:p>
            <a:pPr marL="209550" lvl="0" indent="0">
              <a:buNone/>
            </a:pPr>
            <a:r>
              <a:rPr lang="en-CA" dirty="0"/>
              <a:t>Set the shape of the obstacle to </a:t>
            </a:r>
            <a:r>
              <a:rPr lang="en-CA" b="1" dirty="0"/>
              <a:t>box</a:t>
            </a:r>
            <a:r>
              <a:rPr lang="en-CA" dirty="0"/>
              <a:t>, changing the shape will automatically fit the center and size to the render </a:t>
            </a:r>
            <a:r>
              <a:rPr lang="en-CA" b="1" dirty="0">
                <a:hlinkClick r:id="rId2" tooltip="The main graphics primitive of Unity. Meshes make up a large part of your 3D worlds. Unity supports triangulated or Quadrangulated polygon meshes. Nurbs, Nurms, Subdiv surfaces must be converted to polygons."/>
              </a:rPr>
              <a:t>mesh</a:t>
            </a:r>
            <a:r>
              <a:rPr lang="en-CA" dirty="0"/>
              <a:t>.</a:t>
            </a:r>
          </a:p>
          <a:p>
            <a:pPr marL="209550" lvl="0" indent="0">
              <a:buNone/>
            </a:pPr>
            <a:r>
              <a:rPr lang="en-CA" dirty="0"/>
              <a:t>Add a </a:t>
            </a:r>
            <a:r>
              <a:rPr lang="en-CA" b="1" dirty="0"/>
              <a:t>Rigid body</a:t>
            </a:r>
            <a:r>
              <a:rPr lang="en-CA" dirty="0"/>
              <a:t> to the obstacle. Choose </a:t>
            </a:r>
            <a:r>
              <a:rPr lang="en-CA" b="1" dirty="0"/>
              <a:t>Add Component</a:t>
            </a:r>
            <a:r>
              <a:rPr lang="en-CA" dirty="0"/>
              <a:t> from the inspector and choose </a:t>
            </a:r>
            <a:r>
              <a:rPr lang="en-CA" b="1" dirty="0"/>
              <a:t>Physics &gt; Rigid Body</a:t>
            </a:r>
            <a:r>
              <a:rPr lang="en-CA" dirty="0"/>
              <a:t>.</a:t>
            </a:r>
          </a:p>
          <a:p>
            <a:pPr marL="209550" lvl="0" indent="0">
              <a:buNone/>
            </a:pPr>
            <a:r>
              <a:rPr lang="en-CA" dirty="0"/>
              <a:t>Finally turn on the </a:t>
            </a:r>
            <a:r>
              <a:rPr lang="en-CA" b="1" dirty="0"/>
              <a:t>Carve</a:t>
            </a:r>
            <a:r>
              <a:rPr lang="en-CA" dirty="0"/>
              <a:t> setting from the </a:t>
            </a:r>
            <a:r>
              <a:rPr lang="en-CA" b="1" dirty="0">
                <a:hlinkClick r:id="rId3" tooltip="A mesh that Unity generates to approximate the walkable areas and obstacles in your environment for path finding and AI-controlled navigation."/>
              </a:rPr>
              <a:t>NavMesh</a:t>
            </a:r>
            <a:r>
              <a:rPr lang="en-CA" dirty="0"/>
              <a:t> Obstacle </a:t>
            </a:r>
            <a:r>
              <a:rPr lang="en-CA" b="1" dirty="0">
                <a:hlinkClick r:id="rId4" tooltip="A Unity window that displays information about the currently selected GameObject, asset or project settings, allowing you to inspect and edit the values."/>
              </a:rPr>
              <a:t>inspector</a:t>
            </a:r>
            <a:r>
              <a:rPr lang="en-CA" dirty="0"/>
              <a:t> so that the agent knows to find a path around the obstacle.</a:t>
            </a:r>
          </a:p>
          <a:p>
            <a:br>
              <a:rPr lang="en-CA" dirty="0"/>
            </a:br>
            <a:endParaRPr lang="en-US" dirty="0"/>
          </a:p>
        </p:txBody>
      </p:sp>
      <p:sp>
        <p:nvSpPr>
          <p:cNvPr id="3" name="Text Placeholder 2">
            <a:extLst>
              <a:ext uri="{FF2B5EF4-FFF2-40B4-BE49-F238E27FC236}">
                <a16:creationId xmlns:a16="http://schemas.microsoft.com/office/drawing/2014/main" id="{E83E1639-D902-0D9E-CAE4-FB12D136A54D}"/>
              </a:ext>
            </a:extLst>
          </p:cNvPr>
          <p:cNvSpPr>
            <a:spLocks noGrp="1"/>
          </p:cNvSpPr>
          <p:nvPr>
            <p:ph type="body" idx="2"/>
          </p:nvPr>
        </p:nvSpPr>
        <p:spPr>
          <a:xfrm>
            <a:off x="6794205" y="1507068"/>
            <a:ext cx="4745237" cy="4669896"/>
          </a:xfrm>
        </p:spPr>
        <p:txBody>
          <a:bodyPr/>
          <a:lstStyle/>
          <a:p>
            <a:r>
              <a:rPr lang="en-US" dirty="0"/>
              <a:t> </a:t>
            </a:r>
          </a:p>
        </p:txBody>
      </p:sp>
      <p:sp>
        <p:nvSpPr>
          <p:cNvPr id="4" name="Title 3">
            <a:extLst>
              <a:ext uri="{FF2B5EF4-FFF2-40B4-BE49-F238E27FC236}">
                <a16:creationId xmlns:a16="http://schemas.microsoft.com/office/drawing/2014/main" id="{A4C23FE0-C695-E95F-CE4B-D90170975D7E}"/>
              </a:ext>
            </a:extLst>
          </p:cNvPr>
          <p:cNvSpPr>
            <a:spLocks noGrp="1"/>
          </p:cNvSpPr>
          <p:nvPr>
            <p:ph type="title"/>
          </p:nvPr>
        </p:nvSpPr>
        <p:spPr/>
        <p:txBody>
          <a:bodyPr>
            <a:normAutofit/>
          </a:bodyPr>
          <a:lstStyle/>
          <a:p>
            <a:r>
              <a:rPr lang="en-CA" dirty="0"/>
              <a:t>Create a </a:t>
            </a:r>
            <a:r>
              <a:rPr lang="en-CA" dirty="0" err="1"/>
              <a:t>NavMesh</a:t>
            </a:r>
            <a:r>
              <a:rPr lang="en-CA" dirty="0"/>
              <a:t> Obstacle</a:t>
            </a:r>
            <a:endParaRPr lang="en-US" dirty="0"/>
          </a:p>
        </p:txBody>
      </p:sp>
      <p:pic>
        <p:nvPicPr>
          <p:cNvPr id="5" name="Graphic 4" descr="A crate in the middle of the floor, showing the area carved around it.">
            <a:extLst>
              <a:ext uri="{FF2B5EF4-FFF2-40B4-BE49-F238E27FC236}">
                <a16:creationId xmlns:a16="http://schemas.microsoft.com/office/drawing/2014/main" id="{C6C448DE-7F8A-2E66-825A-22AA689C3F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28367" y="1924493"/>
            <a:ext cx="4963633" cy="2712740"/>
          </a:xfrm>
          <a:prstGeom prst="rect">
            <a:avLst/>
          </a:prstGeom>
        </p:spPr>
      </p:pic>
    </p:spTree>
    <p:extLst>
      <p:ext uri="{BB962C8B-B14F-4D97-AF65-F5344CB8AC3E}">
        <p14:creationId xmlns:p14="http://schemas.microsoft.com/office/powerpoint/2010/main" val="3432867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D783B0-55C8-7F57-270A-62D5F9E15365}"/>
              </a:ext>
            </a:extLst>
          </p:cNvPr>
          <p:cNvSpPr>
            <a:spLocks noGrp="1"/>
          </p:cNvSpPr>
          <p:nvPr>
            <p:ph type="body" idx="1"/>
          </p:nvPr>
        </p:nvSpPr>
        <p:spPr>
          <a:xfrm>
            <a:off x="604434" y="1507068"/>
            <a:ext cx="6306729" cy="4669896"/>
          </a:xfrm>
        </p:spPr>
        <p:txBody>
          <a:bodyPr>
            <a:normAutofit lnSpcReduction="10000"/>
          </a:bodyPr>
          <a:lstStyle/>
          <a:p>
            <a:pPr marL="209550" lvl="0" indent="0">
              <a:buNone/>
            </a:pPr>
            <a:r>
              <a:rPr lang="en-CA" dirty="0"/>
              <a:t>Use </a:t>
            </a:r>
            <a:r>
              <a:rPr lang="en-CA" dirty="0" err="1"/>
              <a:t>NavMesh</a:t>
            </a:r>
            <a:r>
              <a:rPr lang="en-CA" dirty="0"/>
              <a:t> Links when you want to create paths that cross outside of the walkable </a:t>
            </a:r>
            <a:r>
              <a:rPr lang="en-CA" b="1" dirty="0">
                <a:hlinkClick r:id="rId2" tooltip="A mesh that Unity generates to approximate the walkable areas and obstacles in your environment for path finding and AI-controlled navigation."/>
              </a:rPr>
              <a:t>navigation mesh</a:t>
            </a:r>
            <a:r>
              <a:rPr lang="en-CA" dirty="0"/>
              <a:t> surface. For example, you can set up </a:t>
            </a:r>
            <a:r>
              <a:rPr lang="en-CA" dirty="0" err="1"/>
              <a:t>NavMesh</a:t>
            </a:r>
            <a:r>
              <a:rPr lang="en-CA" dirty="0"/>
              <a:t> Links to allow agents to jump over a ditch or a fence, or to open a door before walking through it. To do this, you first need to add a </a:t>
            </a:r>
            <a:r>
              <a:rPr lang="en-CA" dirty="0" err="1"/>
              <a:t>NavMesh</a:t>
            </a:r>
            <a:r>
              <a:rPr lang="en-CA" dirty="0"/>
              <a:t> Link component to a </a:t>
            </a:r>
            <a:r>
              <a:rPr lang="en-CA" dirty="0" err="1"/>
              <a:t>GameObject</a:t>
            </a:r>
            <a:r>
              <a:rPr lang="en-CA" dirty="0"/>
              <a:t> in your </a:t>
            </a:r>
            <a:r>
              <a:rPr lang="en-CA" b="1" dirty="0">
                <a:hlinkClick r:id="rId3" tooltip="A Scene contains the environments and menus of your game. Think of each unique Scene file as a unique level. In each Scene, you place your environments, obstacles, and decorations, essentially designing and building your game in pieces."/>
              </a:rPr>
              <a:t>scene</a:t>
            </a:r>
            <a:r>
              <a:rPr lang="en-CA" dirty="0"/>
              <a:t>. </a:t>
            </a:r>
          </a:p>
          <a:p>
            <a:pPr marL="209550" lvl="0" indent="0">
              <a:buNone/>
            </a:pPr>
            <a:r>
              <a:rPr lang="en-CA" dirty="0"/>
              <a:t>First create two cylinders: </a:t>
            </a:r>
            <a:r>
              <a:rPr lang="en-CA" b="1" dirty="0"/>
              <a:t>Game Object</a:t>
            </a:r>
            <a:r>
              <a:rPr lang="en-CA" dirty="0"/>
              <a:t> &gt; </a:t>
            </a:r>
            <a:r>
              <a:rPr lang="en-CA" b="1" dirty="0"/>
              <a:t>3D Object</a:t>
            </a:r>
            <a:r>
              <a:rPr lang="en-CA" dirty="0"/>
              <a:t> &gt; </a:t>
            </a:r>
            <a:r>
              <a:rPr lang="en-CA" b="1" dirty="0"/>
              <a:t>Cylinder</a:t>
            </a:r>
            <a:r>
              <a:rPr lang="en-CA" dirty="0"/>
              <a:t>.</a:t>
            </a:r>
          </a:p>
          <a:p>
            <a:pPr marL="209550" lvl="0" indent="0">
              <a:buNone/>
            </a:pPr>
            <a:r>
              <a:rPr lang="en-CA" dirty="0"/>
              <a:t>Scale the cylinders to (0.1, 0.05, 0.1) to make it easier to work with them.</a:t>
            </a:r>
          </a:p>
          <a:p>
            <a:pPr marL="209550" lvl="0" indent="0">
              <a:buNone/>
            </a:pPr>
            <a:r>
              <a:rPr lang="en-CA" dirty="0"/>
              <a:t>Move the first cylinder to the edge of the top platform, close to the </a:t>
            </a:r>
            <a:r>
              <a:rPr lang="en-CA" b="1" dirty="0">
                <a:hlinkClick r:id="rId2" tooltip="A mesh that Unity generates to approximate the walkable areas and obstacles in your environment for path finding and AI-controlled navigation."/>
              </a:rPr>
              <a:t>NavMesh</a:t>
            </a:r>
            <a:r>
              <a:rPr lang="en-CA" dirty="0"/>
              <a:t> surface.</a:t>
            </a:r>
          </a:p>
          <a:p>
            <a:pPr marL="209550" lvl="0" indent="0">
              <a:buNone/>
            </a:pPr>
            <a:r>
              <a:rPr lang="en-CA" dirty="0"/>
              <a:t>Place the second cylinder on the ground, close to the </a:t>
            </a:r>
            <a:r>
              <a:rPr lang="en-CA" dirty="0" err="1"/>
              <a:t>NavMesh</a:t>
            </a:r>
            <a:r>
              <a:rPr lang="en-CA" dirty="0"/>
              <a:t>, at the location where the link should land.</a:t>
            </a:r>
          </a:p>
          <a:p>
            <a:pPr marL="209550" lvl="0" indent="0">
              <a:buNone/>
            </a:pPr>
            <a:r>
              <a:rPr lang="en-CA" dirty="0"/>
              <a:t>Select the first cylinder and add a </a:t>
            </a:r>
            <a:r>
              <a:rPr lang="en-CA" b="1" dirty="0" err="1"/>
              <a:t>NavMesh</a:t>
            </a:r>
            <a:r>
              <a:rPr lang="en-CA" b="1" dirty="0"/>
              <a:t> Link</a:t>
            </a:r>
            <a:r>
              <a:rPr lang="en-CA" dirty="0"/>
              <a:t> component to it. In the inspector, select </a:t>
            </a:r>
            <a:r>
              <a:rPr lang="en-CA" b="1" dirty="0"/>
              <a:t>Add Component</a:t>
            </a:r>
            <a:r>
              <a:rPr lang="en-CA" dirty="0"/>
              <a:t> &gt; </a:t>
            </a:r>
            <a:r>
              <a:rPr lang="en-CA" b="1" dirty="0"/>
              <a:t>Navigation</a:t>
            </a:r>
            <a:r>
              <a:rPr lang="en-CA" dirty="0"/>
              <a:t> &gt; </a:t>
            </a:r>
            <a:r>
              <a:rPr lang="en-CA" b="1" dirty="0" err="1"/>
              <a:t>NavMesh</a:t>
            </a:r>
            <a:r>
              <a:rPr lang="en-CA" b="1" dirty="0"/>
              <a:t> Link</a:t>
            </a:r>
            <a:r>
              <a:rPr lang="en-CA" dirty="0"/>
              <a:t>.</a:t>
            </a:r>
          </a:p>
          <a:p>
            <a:pPr marL="209550" lvl="0" indent="0">
              <a:buNone/>
            </a:pPr>
            <a:r>
              <a:rPr lang="en-CA" dirty="0"/>
              <a:t>In the </a:t>
            </a:r>
            <a:r>
              <a:rPr lang="en-CA" b="1" dirty="0"/>
              <a:t>Start Transform</a:t>
            </a:r>
            <a:r>
              <a:rPr lang="en-CA" dirty="0"/>
              <a:t> field, assign the first cylinder.</a:t>
            </a:r>
          </a:p>
          <a:p>
            <a:pPr marL="209550" lvl="0" indent="0">
              <a:buNone/>
            </a:pPr>
            <a:r>
              <a:rPr lang="en-CA" dirty="0"/>
              <a:t>In the </a:t>
            </a:r>
            <a:r>
              <a:rPr lang="en-CA" b="1" dirty="0"/>
              <a:t>End Transform</a:t>
            </a:r>
            <a:r>
              <a:rPr lang="en-CA" dirty="0"/>
              <a:t> field, assign the second cylinder.</a:t>
            </a:r>
          </a:p>
          <a:p>
            <a:endParaRPr lang="en-US" dirty="0"/>
          </a:p>
        </p:txBody>
      </p:sp>
      <p:sp>
        <p:nvSpPr>
          <p:cNvPr id="3" name="Text Placeholder 2">
            <a:extLst>
              <a:ext uri="{FF2B5EF4-FFF2-40B4-BE49-F238E27FC236}">
                <a16:creationId xmlns:a16="http://schemas.microsoft.com/office/drawing/2014/main" id="{55E032B5-9A9D-DC32-6090-51FB1C6D4028}"/>
              </a:ext>
            </a:extLst>
          </p:cNvPr>
          <p:cNvSpPr>
            <a:spLocks noGrp="1"/>
          </p:cNvSpPr>
          <p:nvPr>
            <p:ph type="body" idx="2"/>
          </p:nvPr>
        </p:nvSpPr>
        <p:spPr>
          <a:xfrm>
            <a:off x="7017488" y="1507068"/>
            <a:ext cx="4521954" cy="4669896"/>
          </a:xfrm>
        </p:spPr>
        <p:txBody>
          <a:bodyPr/>
          <a:lstStyle/>
          <a:p>
            <a:r>
              <a:rPr lang="en-US" dirty="0"/>
              <a:t> </a:t>
            </a:r>
          </a:p>
        </p:txBody>
      </p:sp>
      <p:sp>
        <p:nvSpPr>
          <p:cNvPr id="4" name="Title 3">
            <a:extLst>
              <a:ext uri="{FF2B5EF4-FFF2-40B4-BE49-F238E27FC236}">
                <a16:creationId xmlns:a16="http://schemas.microsoft.com/office/drawing/2014/main" id="{14EC70C3-3798-03EF-C822-AAEE7BEAF72E}"/>
              </a:ext>
            </a:extLst>
          </p:cNvPr>
          <p:cNvSpPr>
            <a:spLocks noGrp="1"/>
          </p:cNvSpPr>
          <p:nvPr>
            <p:ph type="title"/>
          </p:nvPr>
        </p:nvSpPr>
        <p:spPr/>
        <p:txBody>
          <a:bodyPr>
            <a:normAutofit/>
          </a:bodyPr>
          <a:lstStyle/>
          <a:p>
            <a:r>
              <a:rPr lang="en-CA" dirty="0"/>
              <a:t>Create a </a:t>
            </a:r>
            <a:r>
              <a:rPr lang="en-CA" dirty="0" err="1"/>
              <a:t>NavMesh</a:t>
            </a:r>
            <a:r>
              <a:rPr lang="en-CA" dirty="0"/>
              <a:t> Link</a:t>
            </a:r>
            <a:endParaRPr lang="en-US" dirty="0"/>
          </a:p>
        </p:txBody>
      </p:sp>
      <p:pic>
        <p:nvPicPr>
          <p:cNvPr id="5" name="Graphic 4" descr="On the left, a correctly set up link with two rings. On the right, one ring is missing and the link appears faded.">
            <a:extLst>
              <a:ext uri="{FF2B5EF4-FFF2-40B4-BE49-F238E27FC236}">
                <a16:creationId xmlns:a16="http://schemas.microsoft.com/office/drawing/2014/main" id="{DA870D1F-39B4-8605-6655-F1AB0FCACE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7488" y="2403320"/>
            <a:ext cx="4570078" cy="2605205"/>
          </a:xfrm>
          <a:prstGeom prst="rect">
            <a:avLst/>
          </a:prstGeom>
        </p:spPr>
      </p:pic>
    </p:spTree>
    <p:extLst>
      <p:ext uri="{BB962C8B-B14F-4D97-AF65-F5344CB8AC3E}">
        <p14:creationId xmlns:p14="http://schemas.microsoft.com/office/powerpoint/2010/main" val="41819542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55FE6F-611E-CE8D-6B8B-F0BBC1B4F57E}"/>
              </a:ext>
            </a:extLst>
          </p:cNvPr>
          <p:cNvSpPr>
            <a:spLocks noGrp="1"/>
          </p:cNvSpPr>
          <p:nvPr>
            <p:ph type="body" idx="1"/>
          </p:nvPr>
        </p:nvSpPr>
        <p:spPr/>
        <p:txBody>
          <a:bodyPr/>
          <a:lstStyle/>
          <a:p>
            <a:pPr lvl="0"/>
            <a:r>
              <a:rPr lang="en-CA" b="1" dirty="0"/>
              <a:t>Key Takeaways:</a:t>
            </a:r>
            <a:r>
              <a:rPr lang="en-CA" dirty="0"/>
              <a:t> </a:t>
            </a:r>
            <a:r>
              <a:rPr lang="en-CA" dirty="0" err="1"/>
              <a:t>NavMesh</a:t>
            </a:r>
            <a:r>
              <a:rPr lang="en-CA" dirty="0"/>
              <a:t> automates complex pathfinding, allowing you to focus on high-level AI state logic and gameplay loop mechanics. </a:t>
            </a:r>
          </a:p>
          <a:p>
            <a:pPr lvl="0"/>
            <a:r>
              <a:rPr lang="en-CA" b="1" dirty="0"/>
              <a:t>Suggested Assignment:</a:t>
            </a:r>
            <a:r>
              <a:rPr lang="en-CA" dirty="0"/>
              <a:t> Build a simple maze project with a patrolling guard that switches to chasing the player when detected. </a:t>
            </a:r>
          </a:p>
          <a:p>
            <a:endParaRPr lang="en-US" dirty="0"/>
          </a:p>
        </p:txBody>
      </p:sp>
      <p:sp>
        <p:nvSpPr>
          <p:cNvPr id="3" name="Title 2">
            <a:extLst>
              <a:ext uri="{FF2B5EF4-FFF2-40B4-BE49-F238E27FC236}">
                <a16:creationId xmlns:a16="http://schemas.microsoft.com/office/drawing/2014/main" id="{0434D099-704D-FBA6-C730-6FBDBF3191D5}"/>
              </a:ext>
            </a:extLst>
          </p:cNvPr>
          <p:cNvSpPr>
            <a:spLocks noGrp="1"/>
          </p:cNvSpPr>
          <p:nvPr>
            <p:ph type="title"/>
          </p:nvPr>
        </p:nvSpPr>
        <p:spPr/>
        <p:txBody>
          <a:bodyPr/>
          <a:lstStyle/>
          <a:p>
            <a:r>
              <a:rPr lang="en-CA" dirty="0"/>
              <a:t>Summary &amp; Next Steps</a:t>
            </a:r>
            <a:endParaRPr lang="en-US" dirty="0"/>
          </a:p>
        </p:txBody>
      </p:sp>
    </p:spTree>
    <p:extLst>
      <p:ext uri="{BB962C8B-B14F-4D97-AF65-F5344CB8AC3E}">
        <p14:creationId xmlns:p14="http://schemas.microsoft.com/office/powerpoint/2010/main" val="3141260011"/>
      </p:ext>
    </p:extLst>
  </p:cSld>
  <p:clrMapOvr>
    <a:masterClrMapping/>
  </p:clrMapOvr>
</p:sld>
</file>

<file path=ppt/theme/theme1.xml><?xml version="1.0" encoding="utf-8"?>
<a:theme xmlns:a="http://schemas.openxmlformats.org/drawingml/2006/main" name="Get Started with 3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TotalTime>
  <Words>4531</Words>
  <Application>Microsoft Macintosh PowerPoint</Application>
  <PresentationFormat>Widescreen</PresentationFormat>
  <Paragraphs>233</Paragraphs>
  <Slides>31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Calibri</vt:lpstr>
      <vt:lpstr>Wingdings</vt:lpstr>
      <vt:lpstr>Arial</vt:lpstr>
      <vt:lpstr>Quattrocento Sans</vt:lpstr>
      <vt:lpstr>Get Started with 3D</vt:lpstr>
      <vt:lpstr>Week 2 Game Engine Development Unity AI Navigation</vt:lpstr>
      <vt:lpstr>Objective &amp; Concept</vt:lpstr>
      <vt:lpstr>What is NavMesh?</vt:lpstr>
      <vt:lpstr>Inner Workings of the Navigation System</vt:lpstr>
      <vt:lpstr>Walkable Areas</vt:lpstr>
      <vt:lpstr>Finding Paths</vt:lpstr>
      <vt:lpstr>Following the Path</vt:lpstr>
      <vt:lpstr>Avoiding Obstacles</vt:lpstr>
      <vt:lpstr>Moving the Agent</vt:lpstr>
      <vt:lpstr>Global and Local</vt:lpstr>
      <vt:lpstr>Two Cases for Obstacles</vt:lpstr>
      <vt:lpstr>About shortcuts between positions on NavMeshes</vt:lpstr>
      <vt:lpstr>About Voxels</vt:lpstr>
      <vt:lpstr>About NavMesh agents</vt:lpstr>
      <vt:lpstr>About NavMesh Obstacles</vt:lpstr>
      <vt:lpstr>Logic for moving NavMesh Obstacles</vt:lpstr>
      <vt:lpstr>Navigation Areas</vt:lpstr>
      <vt:lpstr> Pathfinding Cost </vt:lpstr>
      <vt:lpstr>Area Types</vt:lpstr>
      <vt:lpstr>Area Mask </vt:lpstr>
      <vt:lpstr>NavMesh Surface &amp; Components</vt:lpstr>
      <vt:lpstr>Baking Process</vt:lpstr>
      <vt:lpstr>Controlling the NavMesh</vt:lpstr>
      <vt:lpstr>Navigating Dynamic Environments</vt:lpstr>
      <vt:lpstr>Designing State Machines for AI</vt:lpstr>
      <vt:lpstr>Performance Optimization &amp; Troubleshooting</vt:lpstr>
      <vt:lpstr>Create a NavMesh</vt:lpstr>
      <vt:lpstr>Create a NavMesh Agent</vt:lpstr>
      <vt:lpstr>Create a NavMesh Obstacle</vt:lpstr>
      <vt:lpstr>Create a NavMesh Link</vt:lpstr>
      <vt:lpstr>Summary &amp;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Hooman Salamat</cp:lastModifiedBy>
  <cp:revision>28</cp:revision>
  <dcterms:created xsi:type="dcterms:W3CDTF">2020-06-08T20:23:19Z</dcterms:created>
  <dcterms:modified xsi:type="dcterms:W3CDTF">2026-09-10T15:10:17Z</dcterms:modified>
</cp:coreProperties>
</file>