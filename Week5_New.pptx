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6" r:id="rId2"/>
    <p:sldId id="260" r:id="rId3"/>
    <p:sldId id="258"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Lst>
  <p:sldSz cx="12192000" cy="6858000"/>
  <p:notesSz cx="6858000" cy="9144000"/>
  <p:embeddedFontLst>
    <p:embeddedFont>
      <p:font typeface="Quattrocento Sans" panose="020B0502050000020003"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8" roundtripDataSignature="AMtx7miTxcueKrpZyVcEX48scNkCJ54u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08"/>
    <p:restoredTop sz="94653"/>
  </p:normalViewPr>
  <p:slideViewPr>
    <p:cSldViewPr snapToGrid="0">
      <p:cViewPr varScale="1">
        <p:scale>
          <a:sx n="89" d="100"/>
          <a:sy n="89" d="100"/>
        </p:scale>
        <p:origin x="159"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10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100" Type="http://schemas.openxmlformats.org/officeDocument/2006/relationships/viewProps" Target="viewProps.xml"/><Relationship Id="rId8" Type="http://schemas.openxmlformats.org/officeDocument/2006/relationships/slide" Target="slides/slide7.xml"/><Relationship Id="rId98"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 name="Google Shape;5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62"/>
          <p:cNvSpPr/>
          <p:nvPr/>
        </p:nvSpPr>
        <p:spPr>
          <a:xfrm>
            <a:off x="254950" y="262784"/>
            <a:ext cx="11682101" cy="633243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9" name="Google Shape;19;p62"/>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62"/>
          <p:cNvSpPr txBox="1">
            <a:spLocks noGrp="1"/>
          </p:cNvSpPr>
          <p:nvPr>
            <p:ph type="subTitle" idx="1"/>
          </p:nvPr>
        </p:nvSpPr>
        <p:spPr>
          <a:xfrm>
            <a:off x="1524000" y="3128009"/>
            <a:ext cx="9144000" cy="1287675"/>
          </a:xfrm>
          <a:prstGeom prst="rect">
            <a:avLst/>
          </a:prstGeom>
          <a:noFill/>
          <a:ln>
            <a:noFill/>
          </a:ln>
        </p:spPr>
        <p:txBody>
          <a:bodyPr spcFirstLastPara="1" wrap="square" lIns="91425" tIns="45700" rIns="91425" bIns="45700" anchor="t" anchorCtr="0">
            <a:noAutofit/>
          </a:bodyPr>
          <a:lstStyle>
            <a:lvl1pPr lvl="0" algn="l">
              <a:lnSpc>
                <a:spcPct val="90000"/>
              </a:lnSpc>
              <a:spcBef>
                <a:spcPts val="1000"/>
              </a:spcBef>
              <a:spcAft>
                <a:spcPts val="0"/>
              </a:spcAft>
              <a:buClr>
                <a:schemeClr val="lt1"/>
              </a:buClr>
              <a:buSzPts val="2400"/>
              <a:buNone/>
              <a:defRPr sz="2400">
                <a:solidFill>
                  <a:schemeClr val="lt1"/>
                </a:solidFill>
                <a:latin typeface="Quattrocento Sans"/>
                <a:ea typeface="Quattrocento Sans"/>
                <a:cs typeface="Quattrocento Sans"/>
                <a:sym typeface="Quattrocento Sans"/>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pic>
        <p:nvPicPr>
          <p:cNvPr id="21" name="Google Shape;21;p62"/>
          <p:cNvPicPr preferRelativeResize="0"/>
          <p:nvPr/>
        </p:nvPicPr>
        <p:blipFill rotWithShape="1">
          <a:blip r:embed="rId2">
            <a:alphaModFix/>
          </a:blip>
          <a:srcRect l="1648" r="13926" b="71478"/>
          <a:stretch/>
        </p:blipFill>
        <p:spPr>
          <a:xfrm>
            <a:off x="342899" y="4546601"/>
            <a:ext cx="11715751" cy="2025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pic>
        <p:nvPicPr>
          <p:cNvPr id="26" name="Google Shape;26;p64"/>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27" name="Google Shape;27;p64"/>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64"/>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pic>
        <p:nvPicPr>
          <p:cNvPr id="30" name="Google Shape;30;p65"/>
          <p:cNvPicPr preferRelativeResize="0"/>
          <p:nvPr/>
        </p:nvPicPr>
        <p:blipFill rotWithShape="1">
          <a:blip r:embed="rId2">
            <a:alphaModFix/>
          </a:blip>
          <a:srcRect t="-3"/>
          <a:stretch/>
        </p:blipFill>
        <p:spPr>
          <a:xfrm>
            <a:off x="269032" y="4801396"/>
            <a:ext cx="11653936" cy="1786228"/>
          </a:xfrm>
          <a:prstGeom prst="rect">
            <a:avLst/>
          </a:prstGeom>
          <a:noFill/>
          <a:ln>
            <a:noFill/>
          </a:ln>
        </p:spPr>
      </p:pic>
      <p:sp>
        <p:nvSpPr>
          <p:cNvPr id="31" name="Google Shape;31;p65"/>
          <p:cNvSpPr txBox="1">
            <a:spLocks noGrp="1"/>
          </p:cNvSpPr>
          <p:nvPr>
            <p:ph type="body" idx="1"/>
          </p:nvPr>
        </p:nvSpPr>
        <p:spPr>
          <a:xfrm>
            <a:off x="1090862" y="1507068"/>
            <a:ext cx="3192379"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15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5"/>
          <p:cNvSpPr txBox="1">
            <a:spLocks noGrp="1"/>
          </p:cNvSpPr>
          <p:nvPr>
            <p:ph type="body" idx="2"/>
          </p:nvPr>
        </p:nvSpPr>
        <p:spPr>
          <a:xfrm>
            <a:off x="4395537" y="1507068"/>
            <a:ext cx="7143905" cy="4669896"/>
          </a:xfrm>
          <a:prstGeom prst="rect">
            <a:avLst/>
          </a:prstGeom>
          <a:noFill/>
          <a:ln>
            <a:noFill/>
          </a:ln>
        </p:spPr>
        <p:txBody>
          <a:bodyPr spcFirstLastPara="1" wrap="square" lIns="91425" tIns="45700" rIns="91425" bIns="45700" anchor="ctr" anchorCtr="0">
            <a:normAutofit/>
          </a:bodyPr>
          <a:lstStyle>
            <a:lvl1pPr marL="457200" lvl="0" indent="-247650" algn="l">
              <a:lnSpc>
                <a:spcPct val="90000"/>
              </a:lnSpc>
              <a:spcBef>
                <a:spcPts val="1000"/>
              </a:spcBef>
              <a:spcAft>
                <a:spcPts val="0"/>
              </a:spcAft>
              <a:buClr>
                <a:schemeClr val="dk1"/>
              </a:buClr>
              <a:buSzPts val="300"/>
              <a:buFont typeface="Quattrocento Sans"/>
              <a:buChar char=" "/>
              <a:defRPr sz="1200"/>
            </a:lvl1pPr>
            <a:lvl2pPr marL="914400" lvl="1" indent="-304800" algn="l">
              <a:lnSpc>
                <a:spcPct val="90000"/>
              </a:lnSpc>
              <a:spcBef>
                <a:spcPts val="1200"/>
              </a:spcBef>
              <a:spcAft>
                <a:spcPts val="0"/>
              </a:spcAft>
              <a:buClr>
                <a:schemeClr val="dk1"/>
              </a:buClr>
              <a:buSzPts val="1200"/>
              <a:buFont typeface="Quattrocento Sans"/>
              <a:buChar char=" "/>
              <a:defRPr sz="1200"/>
            </a:lvl2pPr>
            <a:lvl3pPr marL="1371600" lvl="2" indent="-355600" algn="l">
              <a:lnSpc>
                <a:spcPct val="90000"/>
              </a:lnSpc>
              <a:spcBef>
                <a:spcPts val="1200"/>
              </a:spcBef>
              <a:spcAft>
                <a:spcPts val="0"/>
              </a:spcAft>
              <a:buClr>
                <a:schemeClr val="dk1"/>
              </a:buClr>
              <a:buSzPts val="2000"/>
              <a:buFont typeface="Quattrocento Sans"/>
              <a:buChar char=" "/>
              <a:defRPr/>
            </a:lvl3pPr>
            <a:lvl4pPr marL="1828800" lvl="3" indent="-342900" algn="l">
              <a:lnSpc>
                <a:spcPct val="90000"/>
              </a:lnSpc>
              <a:spcBef>
                <a:spcPts val="500"/>
              </a:spcBef>
              <a:spcAft>
                <a:spcPts val="0"/>
              </a:spcAft>
              <a:buClr>
                <a:schemeClr val="dk1"/>
              </a:buClr>
              <a:buSzPts val="1800"/>
              <a:buFont typeface="Quattrocento Sans"/>
              <a:buChar char=" "/>
              <a:defRPr/>
            </a:lvl4pPr>
            <a:lvl5pPr marL="2286000" lvl="4" indent="-342900" algn="l">
              <a:lnSpc>
                <a:spcPct val="90000"/>
              </a:lnSpc>
              <a:spcBef>
                <a:spcPts val="500"/>
              </a:spcBef>
              <a:spcAft>
                <a:spcPts val="0"/>
              </a:spcAft>
              <a:buClr>
                <a:schemeClr val="dk1"/>
              </a:buClr>
              <a:buSzPts val="1800"/>
              <a:buFont typeface="Quattrocento Sans"/>
              <a:buChar char=" "/>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5"/>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4"/>
        <p:cNvGrpSpPr/>
        <p:nvPr/>
      </p:nvGrpSpPr>
      <p:grpSpPr>
        <a:xfrm>
          <a:off x="0" y="0"/>
          <a:ext cx="0" cy="0"/>
          <a:chOff x="0" y="0"/>
          <a:chExt cx="0" cy="0"/>
        </a:xfrm>
      </p:grpSpPr>
      <p:sp>
        <p:nvSpPr>
          <p:cNvPr id="35" name="Google Shape;35;p66"/>
          <p:cNvSpPr/>
          <p:nvPr/>
        </p:nvSpPr>
        <p:spPr>
          <a:xfrm>
            <a:off x="254951" y="262784"/>
            <a:ext cx="11683049" cy="6332433"/>
          </a:xfrm>
          <a:prstGeom prst="rect">
            <a:avLst/>
          </a:prstGeom>
          <a:solidFill>
            <a:srgbClr val="F5F5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6" name="Google Shape;36;p66"/>
          <p:cNvSpPr/>
          <p:nvPr/>
        </p:nvSpPr>
        <p:spPr>
          <a:xfrm>
            <a:off x="254950" y="262784"/>
            <a:ext cx="11682101" cy="2072643"/>
          </a:xfrm>
          <a:prstGeom prst="rect">
            <a:avLst/>
          </a:prstGeom>
          <a:solidFill>
            <a:srgbClr val="D247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37" name="Google Shape;37;p66"/>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600"/>
              <a:buFont typeface="Quattrocento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6"/>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1000"/>
              </a:spcBef>
              <a:spcAft>
                <a:spcPts val="0"/>
              </a:spcAft>
              <a:buClr>
                <a:srgbClr val="3F3F3F"/>
              </a:buClr>
              <a:buSzPts val="2400"/>
              <a:buChar char="•"/>
              <a:defRPr sz="2400">
                <a:solidFill>
                  <a:srgbClr val="3F3F3F"/>
                </a:solidFill>
                <a:latin typeface="Quattrocento Sans"/>
                <a:ea typeface="Quattrocento Sans"/>
                <a:cs typeface="Quattrocento Sans"/>
                <a:sym typeface="Quattrocento Sans"/>
              </a:defRPr>
            </a:lvl1pPr>
            <a:lvl2pPr marL="914400" lvl="1" indent="-304800" algn="l">
              <a:lnSpc>
                <a:spcPct val="90000"/>
              </a:lnSpc>
              <a:spcBef>
                <a:spcPts val="500"/>
              </a:spcBef>
              <a:spcAft>
                <a:spcPts val="0"/>
              </a:spcAft>
              <a:buClr>
                <a:srgbClr val="3F3F3F"/>
              </a:buClr>
              <a:buSzPts val="1200"/>
              <a:buChar char="•"/>
              <a:defRPr sz="1200">
                <a:solidFill>
                  <a:srgbClr val="3F3F3F"/>
                </a:solidFill>
              </a:defRPr>
            </a:lvl2pPr>
            <a:lvl3pPr marL="1371600" lvl="2" indent="-304800" algn="l">
              <a:lnSpc>
                <a:spcPct val="90000"/>
              </a:lnSpc>
              <a:spcBef>
                <a:spcPts val="500"/>
              </a:spcBef>
              <a:spcAft>
                <a:spcPts val="0"/>
              </a:spcAft>
              <a:buClr>
                <a:srgbClr val="3F3F3F"/>
              </a:buClr>
              <a:buSzPts val="1200"/>
              <a:buChar char="•"/>
              <a:defRPr sz="1200">
                <a:solidFill>
                  <a:srgbClr val="3F3F3F"/>
                </a:solidFill>
              </a:defRPr>
            </a:lvl3pPr>
            <a:lvl4pPr marL="1828800" lvl="3" indent="-304800" algn="l">
              <a:lnSpc>
                <a:spcPct val="90000"/>
              </a:lnSpc>
              <a:spcBef>
                <a:spcPts val="500"/>
              </a:spcBef>
              <a:spcAft>
                <a:spcPts val="0"/>
              </a:spcAft>
              <a:buClr>
                <a:srgbClr val="3F3F3F"/>
              </a:buClr>
              <a:buSzPts val="1200"/>
              <a:buChar char="•"/>
              <a:defRPr sz="1200">
                <a:solidFill>
                  <a:srgbClr val="3F3F3F"/>
                </a:solidFill>
              </a:defRPr>
            </a:lvl4pPr>
            <a:lvl5pPr marL="2286000" lvl="4" indent="-304800" algn="l">
              <a:lnSpc>
                <a:spcPct val="90000"/>
              </a:lnSpc>
              <a:spcBef>
                <a:spcPts val="500"/>
              </a:spcBef>
              <a:spcAft>
                <a:spcPts val="0"/>
              </a:spcAft>
              <a:buClr>
                <a:srgbClr val="3F3F3F"/>
              </a:buClr>
              <a:buSzPts val="1200"/>
              <a:buChar char="•"/>
              <a:defRPr sz="1200">
                <a:solidFill>
                  <a:srgbClr val="3F3F3F"/>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3"/>
        <p:cNvGrpSpPr/>
        <p:nvPr/>
      </p:nvGrpSpPr>
      <p:grpSpPr>
        <a:xfrm>
          <a:off x="0" y="0"/>
          <a:ext cx="0" cy="0"/>
          <a:chOff x="0" y="0"/>
          <a:chExt cx="0" cy="0"/>
        </a:xfrm>
      </p:grpSpPr>
      <p:sp>
        <p:nvSpPr>
          <p:cNvPr id="44" name="Google Shape;44;p68"/>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5" name="Google Shape;45;p68"/>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
        <p:nvSpPr>
          <p:cNvPr id="46" name="Google Shape;46;p68"/>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tandard">
  <p:cSld name="Standard">
    <p:spTree>
      <p:nvGrpSpPr>
        <p:cNvPr id="1" name="Shape 47"/>
        <p:cNvGrpSpPr/>
        <p:nvPr/>
      </p:nvGrpSpPr>
      <p:grpSpPr>
        <a:xfrm>
          <a:off x="0" y="0"/>
          <a:ext cx="0" cy="0"/>
          <a:chOff x="0" y="0"/>
          <a:chExt cx="0" cy="0"/>
        </a:xfrm>
      </p:grpSpPr>
      <p:sp>
        <p:nvSpPr>
          <p:cNvPr id="48" name="Google Shape;48;p69"/>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cxnSp>
        <p:nvCxnSpPr>
          <p:cNvPr id="49" name="Google Shape;49;p69"/>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pic>
        <p:nvPicPr>
          <p:cNvPr id="50" name="Google Shape;50;p69"/>
          <p:cNvPicPr preferRelativeResize="0"/>
          <p:nvPr/>
        </p:nvPicPr>
        <p:blipFill rotWithShape="1">
          <a:blip r:embed="rId2">
            <a:alphaModFix/>
          </a:blip>
          <a:srcRect l="-41783" t="-3"/>
          <a:stretch/>
        </p:blipFill>
        <p:spPr>
          <a:xfrm>
            <a:off x="269032" y="4801396"/>
            <a:ext cx="11653936" cy="1786228"/>
          </a:xfrm>
          <a:prstGeom prst="rect">
            <a:avLst/>
          </a:prstGeom>
          <a:noFill/>
          <a:ln>
            <a:noFill/>
          </a:ln>
        </p:spPr>
      </p:pic>
      <p:sp>
        <p:nvSpPr>
          <p:cNvPr id="51" name="Google Shape;51;p69"/>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A3838"/>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1"/>
          <p:cNvSpPr/>
          <p:nvPr/>
        </p:nvSpPr>
        <p:spPr>
          <a:xfrm>
            <a:off x="256032" y="265176"/>
            <a:ext cx="11683049" cy="6332433"/>
          </a:xfrm>
          <a:prstGeom prst="rect">
            <a:avLst/>
          </a:prstGeom>
          <a:solidFill>
            <a:srgbClr val="F5F5F5"/>
          </a:solidFill>
          <a:ln>
            <a:noFill/>
          </a:ln>
        </p:spPr>
        <p:txBody>
          <a:bodyPr spcFirstLastPara="1" wrap="square" lIns="91425" tIns="45700" rIns="91425" bIns="45700" anchor="b"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
        <p:nvSpPr>
          <p:cNvPr id="11" name="Google Shape;11;p61"/>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A3838"/>
              </a:buClr>
              <a:buSzPts val="2800"/>
              <a:buFont typeface="Quattrocento Sans"/>
              <a:buNone/>
              <a:defRPr sz="2800" b="0" i="0" u="none" strike="noStrike" cap="none">
                <a:solidFill>
                  <a:srgbClr val="3A3838"/>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5" name="Google Shape;1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1pPr>
            <a:lvl2pPr marL="0" marR="0" lvl="1"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2pPr>
            <a:lvl3pPr marL="0" marR="0" lvl="2"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3pPr>
            <a:lvl4pPr marL="0" marR="0" lvl="3"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4pPr>
            <a:lvl5pPr marL="0" marR="0" lvl="4"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5pPr>
            <a:lvl6pPr marL="0" marR="0" lvl="5"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6pPr>
            <a:lvl7pPr marL="0" marR="0" lvl="6"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7pPr>
            <a:lvl8pPr marL="0" marR="0" lvl="7"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8pPr>
            <a:lvl9pPr marL="0" marR="0" lvl="8" indent="0" algn="r" rtl="0">
              <a:spcBef>
                <a:spcPts val="0"/>
              </a:spcBef>
              <a:buNone/>
              <a:defRPr sz="1200" b="0" i="0" u="none" strike="noStrike" cap="none">
                <a:solidFill>
                  <a:srgbClr val="888888"/>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cxnSp>
        <p:nvCxnSpPr>
          <p:cNvPr id="16" name="Google Shape;16;p61"/>
          <p:cNvCxnSpPr/>
          <p:nvPr/>
        </p:nvCxnSpPr>
        <p:spPr>
          <a:xfrm>
            <a:off x="604434" y="1196392"/>
            <a:ext cx="10983132" cy="0"/>
          </a:xfrm>
          <a:prstGeom prst="straightConnector1">
            <a:avLst/>
          </a:prstGeom>
          <a:noFill/>
          <a:ln w="25400" cap="flat" cmpd="sng">
            <a:solidFill>
              <a:srgbClr val="D24726"/>
            </a:solidFill>
            <a:prstDash val="solid"/>
            <a:miter lim="800000"/>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5" r:id="rId5"/>
    <p:sldLayoutId id="2147483656" r:id="rId6"/>
    <p:sldLayoutId id="214748365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autodesk.com/products/maya/overview" TargetMode="External"/><Relationship Id="rId2" Type="http://schemas.openxmlformats.org/officeDocument/2006/relationships/hyperlink" Target="https://www.adobe.com/products/photoshop.html" TargetMode="External"/><Relationship Id="rId1" Type="http://schemas.openxmlformats.org/officeDocument/2006/relationships/slideLayout" Target="../slideLayouts/slideLayout3.xml"/><Relationship Id="rId4" Type="http://schemas.openxmlformats.org/officeDocument/2006/relationships/hyperlink" Target="https://www.sidefx.co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docs.unity3d.com/Packages/com.unity.visualeffectgraph@12.0/manual/System-Requirements.html"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
          <p:cNvSpPr txBox="1">
            <a:spLocks noGrp="1"/>
          </p:cNvSpPr>
          <p:nvPr>
            <p:ph type="ctrTitle"/>
          </p:nvPr>
        </p:nvSpPr>
        <p:spPr>
          <a:xfrm>
            <a:off x="1524000" y="1333500"/>
            <a:ext cx="9144000" cy="1790700"/>
          </a:xfrm>
          <a:prstGeom prst="rect">
            <a:avLst/>
          </a:prstGeom>
          <a:noFill/>
          <a:ln>
            <a:noFill/>
          </a:ln>
        </p:spPr>
        <p:txBody>
          <a:bodyPr spcFirstLastPara="1" wrap="square" lIns="91425" tIns="0" rIns="91425" bIns="0" anchor="t" anchorCtr="0">
            <a:noAutofit/>
          </a:bodyPr>
          <a:lstStyle/>
          <a:p>
            <a:pPr marL="0" lvl="0" indent="0" algn="l" rtl="0">
              <a:lnSpc>
                <a:spcPct val="100000"/>
              </a:lnSpc>
              <a:spcBef>
                <a:spcPts val="0"/>
              </a:spcBef>
              <a:spcAft>
                <a:spcPts val="0"/>
              </a:spcAft>
              <a:buClr>
                <a:schemeClr val="lt1"/>
              </a:buClr>
              <a:buSzPts val="4800"/>
              <a:buFont typeface="Quattrocento Sans"/>
              <a:buNone/>
            </a:pPr>
            <a:r>
              <a:rPr lang="en-US" dirty="0"/>
              <a:t>Week 5</a:t>
            </a:r>
            <a:br>
              <a:rPr lang="en-US" dirty="0"/>
            </a:br>
            <a:r>
              <a:rPr lang="en-US" dirty="0"/>
              <a:t>Game Engine Development Unity</a:t>
            </a:r>
            <a:br>
              <a:rPr lang="en-US" dirty="0"/>
            </a:br>
            <a:r>
              <a:rPr lang="en-US" dirty="0"/>
              <a:t>VFX</a:t>
            </a:r>
            <a:endParaRPr dirty="0"/>
          </a:p>
        </p:txBody>
      </p:sp>
      <p:sp>
        <p:nvSpPr>
          <p:cNvPr id="58" name="Google Shape;58;p1"/>
          <p:cNvSpPr txBox="1"/>
          <p:nvPr/>
        </p:nvSpPr>
        <p:spPr>
          <a:xfrm>
            <a:off x="8077762" y="5255593"/>
            <a:ext cx="2447364" cy="495232"/>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lt1"/>
              </a:buClr>
              <a:buSzPts val="1800"/>
              <a:buFont typeface="Quattrocento Sans"/>
              <a:buNone/>
            </a:pPr>
            <a:r>
              <a:rPr lang="en-US" sz="1800" b="0" i="0" u="none" strike="noStrike" cap="none">
                <a:solidFill>
                  <a:schemeClr val="lt1"/>
                </a:solidFill>
                <a:latin typeface="Quattrocento Sans"/>
                <a:ea typeface="Quattrocento Sans"/>
                <a:cs typeface="Quattrocento Sans"/>
                <a:sym typeface="Quattrocento Sans"/>
              </a:rPr>
              <a:t>Hooman Salamat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521208" y="1536192"/>
            <a:ext cx="6876288" cy="64008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3600"/>
              <a:buFont typeface="Quattrocento Sans"/>
              <a:buNone/>
            </a:pPr>
            <a:r>
              <a:rPr lang="en-US"/>
              <a:t>Objective &amp; Concept</a:t>
            </a:r>
            <a:endParaRPr/>
          </a:p>
        </p:txBody>
      </p:sp>
      <p:sp>
        <p:nvSpPr>
          <p:cNvPr id="87" name="Google Shape;87;p5"/>
          <p:cNvSpPr txBox="1">
            <a:spLocks noGrp="1"/>
          </p:cNvSpPr>
          <p:nvPr>
            <p:ph type="body" idx="1"/>
          </p:nvPr>
        </p:nvSpPr>
        <p:spPr>
          <a:xfrm>
            <a:off x="539496" y="2560320"/>
            <a:ext cx="9445752" cy="397764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F3F3F"/>
              </a:buClr>
              <a:buSzPts val="1500"/>
              <a:buNone/>
            </a:pPr>
            <a:r>
              <a:rPr lang="en-US" sz="1500" b="1" dirty="0"/>
              <a:t>Objective</a:t>
            </a:r>
            <a:endParaRPr sz="1500" dirty="0"/>
          </a:p>
          <a:p>
            <a:pPr lvl="0"/>
            <a:r>
              <a:rPr lang="en-CA" sz="1500" dirty="0"/>
              <a:t>Define the acronym VFX</a:t>
            </a:r>
          </a:p>
          <a:p>
            <a:pPr lvl="0"/>
            <a:r>
              <a:rPr lang="en-CA" sz="1500" dirty="0"/>
              <a:t>Explain different applications of VFX in real-time 3D experiences, such as gameplay and environmental effects</a:t>
            </a:r>
          </a:p>
          <a:p>
            <a:pPr lvl="0"/>
            <a:r>
              <a:rPr lang="en-CA" sz="1500" dirty="0"/>
              <a:t>Describe the impact that VFX can have on the level of polish in a project</a:t>
            </a:r>
          </a:p>
          <a:p>
            <a:pPr lvl="0"/>
            <a:r>
              <a:rPr lang="en-CA" sz="1500" dirty="0"/>
              <a:t>Understand the differences between Unity's Built-in Particle System and VFX Graph</a:t>
            </a:r>
          </a:p>
          <a:p>
            <a:pPr marL="0" lvl="0" indent="0">
              <a:buSzPts val="1500"/>
              <a:buNone/>
            </a:pPr>
            <a:r>
              <a:rPr lang="en-US" sz="1500" b="1" dirty="0"/>
              <a:t>Concepts </a:t>
            </a:r>
            <a:endParaRPr dirty="0"/>
          </a:p>
          <a:p>
            <a:pPr marL="228600" lvl="0" indent="-228600">
              <a:buSzPts val="1500"/>
            </a:pPr>
            <a:r>
              <a:rPr lang="en-CA" sz="1400" dirty="0"/>
              <a:t>VFX are simulated motion effects added to enhance a scene, ranging from a subtle splash of water to a massive fiery explosion. In this lecture, you will learn what VFX are, who makes them in the industry, and then you will tinker with a fire effect in Unity.</a:t>
            </a:r>
            <a:endParaRPr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3"/>
          <p:cNvSpPr txBox="1">
            <a:spLocks noGrp="1"/>
          </p:cNvSpPr>
          <p:nvPr>
            <p:ph type="body" idx="1"/>
          </p:nvPr>
        </p:nvSpPr>
        <p:spPr>
          <a:xfrm>
            <a:off x="604433" y="1604211"/>
            <a:ext cx="10983131" cy="4572752"/>
          </a:xfrm>
          <a:prstGeom prst="rect">
            <a:avLst/>
          </a:prstGeom>
          <a:noFill/>
          <a:ln>
            <a:noFill/>
          </a:ln>
        </p:spPr>
        <p:txBody>
          <a:bodyPr spcFirstLastPara="1" wrap="square" lIns="91425" tIns="45700" rIns="91425" bIns="45700" anchor="t" anchorCtr="0">
            <a:normAutofit/>
          </a:bodyPr>
          <a:lstStyle/>
          <a:p>
            <a:r>
              <a:rPr lang="en-CA" b="1" dirty="0"/>
              <a:t>Visual Effects</a:t>
            </a:r>
            <a:r>
              <a:rPr lang="en-CA" dirty="0"/>
              <a:t> (VFX) can be the wow factor in a real-time 3D project, ranging from a subtle splash of water to a massive fiery explosion.</a:t>
            </a:r>
            <a:br>
              <a:rPr lang="en-CA" dirty="0"/>
            </a:br>
            <a:endParaRPr lang="en-CA" dirty="0"/>
          </a:p>
          <a:p>
            <a:r>
              <a:rPr lang="en-CA" dirty="0"/>
              <a:t>Without VFX, an environment can feel dull. These effects introduce movement into an environment, bringing it to life.</a:t>
            </a:r>
          </a:p>
          <a:p>
            <a:endParaRPr dirty="0"/>
          </a:p>
        </p:txBody>
      </p:sp>
      <p:sp>
        <p:nvSpPr>
          <p:cNvPr id="73" name="Google Shape;73;p3"/>
          <p:cNvSpPr txBox="1">
            <a:spLocks noGrp="1"/>
          </p:cNvSpPr>
          <p:nvPr>
            <p:ph type="title"/>
          </p:nvPr>
        </p:nvSpPr>
        <p:spPr>
          <a:xfrm>
            <a:off x="604434" y="448628"/>
            <a:ext cx="10983132" cy="747763"/>
          </a:xfrm>
          <a:prstGeom prst="rect">
            <a:avLst/>
          </a:prstGeom>
          <a:noFill/>
          <a:ln>
            <a:noFill/>
          </a:ln>
        </p:spPr>
        <p:txBody>
          <a:bodyPr spcFirstLastPara="1" wrap="square" lIns="91425" tIns="45700" rIns="91425" bIns="45700" anchor="ctr" anchorCtr="0">
            <a:normAutofit/>
          </a:bodyPr>
          <a:lstStyle/>
          <a:p>
            <a:pPr>
              <a:buSzPts val="2800"/>
            </a:pPr>
            <a:r>
              <a:rPr lang="en-CA" b="1" dirty="0"/>
              <a:t>VFX overview</a:t>
            </a:r>
            <a:endParaRPr dirty="0"/>
          </a:p>
        </p:txBody>
      </p:sp>
      <p:pic>
        <p:nvPicPr>
          <p:cNvPr id="2" name="Picture 1">
            <a:extLst>
              <a:ext uri="{FF2B5EF4-FFF2-40B4-BE49-F238E27FC236}">
                <a16:creationId xmlns:a16="http://schemas.microsoft.com/office/drawing/2014/main" id="{A6164931-5030-2028-4395-1414B53B3FE0}"/>
              </a:ext>
            </a:extLst>
          </p:cNvPr>
          <p:cNvPicPr>
            <a:picLocks noChangeAspect="1"/>
          </p:cNvPicPr>
          <p:nvPr/>
        </p:nvPicPr>
        <p:blipFill>
          <a:blip r:embed="rId3"/>
          <a:stretch>
            <a:fillRect/>
          </a:stretch>
        </p:blipFill>
        <p:spPr>
          <a:xfrm>
            <a:off x="1046019" y="4014355"/>
            <a:ext cx="3844636" cy="2162608"/>
          </a:xfrm>
          <a:prstGeom prst="rect">
            <a:avLst/>
          </a:prstGeom>
        </p:spPr>
      </p:pic>
      <p:pic>
        <p:nvPicPr>
          <p:cNvPr id="3" name="Picture 2">
            <a:extLst>
              <a:ext uri="{FF2B5EF4-FFF2-40B4-BE49-F238E27FC236}">
                <a16:creationId xmlns:a16="http://schemas.microsoft.com/office/drawing/2014/main" id="{29EE7F7C-5268-7040-F637-53C9F8EEB09F}"/>
              </a:ext>
            </a:extLst>
          </p:cNvPr>
          <p:cNvPicPr>
            <a:picLocks noChangeAspect="1"/>
          </p:cNvPicPr>
          <p:nvPr/>
        </p:nvPicPr>
        <p:blipFill>
          <a:blip r:embed="rId4"/>
          <a:stretch>
            <a:fillRect/>
          </a:stretch>
        </p:blipFill>
        <p:spPr>
          <a:xfrm>
            <a:off x="5906655" y="4014355"/>
            <a:ext cx="3844636" cy="21626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215599-8B74-5693-14C6-0C155CBB5286}"/>
              </a:ext>
            </a:extLst>
          </p:cNvPr>
          <p:cNvSpPr>
            <a:spLocks noGrp="1"/>
          </p:cNvSpPr>
          <p:nvPr>
            <p:ph type="body" idx="1"/>
          </p:nvPr>
        </p:nvSpPr>
        <p:spPr/>
        <p:txBody>
          <a:bodyPr/>
          <a:lstStyle/>
          <a:p>
            <a:r>
              <a:rPr lang="en-CA" dirty="0"/>
              <a:t>VFX can be broken down into two categories:</a:t>
            </a:r>
          </a:p>
          <a:p>
            <a:pPr lvl="0"/>
            <a:r>
              <a:rPr lang="en-CA" b="1" dirty="0"/>
              <a:t>Environmental effects </a:t>
            </a:r>
            <a:r>
              <a:rPr lang="en-CA" dirty="0"/>
              <a:t>are meant to represent physical occurrences, such as fire, rain, mist, or explosions.</a:t>
            </a:r>
          </a:p>
          <a:p>
            <a:pPr lvl="0"/>
            <a:r>
              <a:rPr lang="en-CA" b="1" dirty="0"/>
              <a:t>Gameplay effects</a:t>
            </a:r>
            <a:r>
              <a:rPr lang="en-CA" dirty="0"/>
              <a:t> are meant to enhance or draw attention to specific user interactions. For example, you could add a glowing effect when an object is selected, or a celebration effect that accompanies an in-game achievement.</a:t>
            </a:r>
          </a:p>
          <a:p>
            <a:endParaRPr lang="en-US" dirty="0"/>
          </a:p>
        </p:txBody>
      </p:sp>
      <p:sp>
        <p:nvSpPr>
          <p:cNvPr id="3" name="Title 2">
            <a:extLst>
              <a:ext uri="{FF2B5EF4-FFF2-40B4-BE49-F238E27FC236}">
                <a16:creationId xmlns:a16="http://schemas.microsoft.com/office/drawing/2014/main" id="{12B16689-48D1-9893-3A89-F47903BD57EC}"/>
              </a:ext>
            </a:extLst>
          </p:cNvPr>
          <p:cNvSpPr>
            <a:spLocks noGrp="1"/>
          </p:cNvSpPr>
          <p:nvPr>
            <p:ph type="title"/>
          </p:nvPr>
        </p:nvSpPr>
        <p:spPr/>
        <p:txBody>
          <a:bodyPr>
            <a:normAutofit/>
          </a:bodyPr>
          <a:lstStyle/>
          <a:p>
            <a:r>
              <a:rPr lang="en-CA" b="1" dirty="0"/>
              <a:t>What are VFX?</a:t>
            </a:r>
          </a:p>
        </p:txBody>
      </p:sp>
      <p:pic>
        <p:nvPicPr>
          <p:cNvPr id="5" name="Picture 4">
            <a:extLst>
              <a:ext uri="{FF2B5EF4-FFF2-40B4-BE49-F238E27FC236}">
                <a16:creationId xmlns:a16="http://schemas.microsoft.com/office/drawing/2014/main" id="{F8E2192A-8ECE-CED6-11C3-BFB1989616EE}"/>
              </a:ext>
            </a:extLst>
          </p:cNvPr>
          <p:cNvPicPr>
            <a:picLocks noChangeAspect="1"/>
          </p:cNvPicPr>
          <p:nvPr/>
        </p:nvPicPr>
        <p:blipFill>
          <a:blip r:embed="rId2"/>
          <a:stretch>
            <a:fillRect/>
          </a:stretch>
        </p:blipFill>
        <p:spPr>
          <a:xfrm>
            <a:off x="1087582" y="3806296"/>
            <a:ext cx="4105433" cy="2370667"/>
          </a:xfrm>
          <a:prstGeom prst="rect">
            <a:avLst/>
          </a:prstGeom>
        </p:spPr>
      </p:pic>
      <p:pic>
        <p:nvPicPr>
          <p:cNvPr id="6" name="Picture 5">
            <a:extLst>
              <a:ext uri="{FF2B5EF4-FFF2-40B4-BE49-F238E27FC236}">
                <a16:creationId xmlns:a16="http://schemas.microsoft.com/office/drawing/2014/main" id="{28DAEB54-7C98-3243-6046-4BD7D7D0EE1B}"/>
              </a:ext>
            </a:extLst>
          </p:cNvPr>
          <p:cNvPicPr>
            <a:picLocks noChangeAspect="1"/>
          </p:cNvPicPr>
          <p:nvPr/>
        </p:nvPicPr>
        <p:blipFill>
          <a:blip r:embed="rId3"/>
          <a:stretch>
            <a:fillRect/>
          </a:stretch>
        </p:blipFill>
        <p:spPr>
          <a:xfrm>
            <a:off x="5680364" y="3806296"/>
            <a:ext cx="4267200" cy="2370667"/>
          </a:xfrm>
          <a:prstGeom prst="rect">
            <a:avLst/>
          </a:prstGeom>
        </p:spPr>
      </p:pic>
    </p:spTree>
    <p:extLst>
      <p:ext uri="{BB962C8B-B14F-4D97-AF65-F5344CB8AC3E}">
        <p14:creationId xmlns:p14="http://schemas.microsoft.com/office/powerpoint/2010/main" val="328462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C1CA3C-31B7-05D0-BAD0-D357A577CA15}"/>
              </a:ext>
            </a:extLst>
          </p:cNvPr>
          <p:cNvSpPr>
            <a:spLocks noGrp="1"/>
          </p:cNvSpPr>
          <p:nvPr>
            <p:ph type="body" idx="1"/>
          </p:nvPr>
        </p:nvSpPr>
        <p:spPr>
          <a:xfrm>
            <a:off x="652558" y="1507068"/>
            <a:ext cx="10886884" cy="4669896"/>
          </a:xfrm>
        </p:spPr>
        <p:txBody>
          <a:bodyPr>
            <a:normAutofit/>
          </a:bodyPr>
          <a:lstStyle/>
          <a:p>
            <a:pPr lvl="0"/>
            <a:r>
              <a:rPr lang="en-CA" dirty="0"/>
              <a:t>The first image shows an environmental mist effect hovering over the water. This adds an element of mystery and danger to the scene.</a:t>
            </a:r>
          </a:p>
          <a:p>
            <a:pPr lvl="0"/>
            <a:r>
              <a:rPr lang="en-CA" dirty="0"/>
              <a:t>The second image shows a gameplay effect, where a blue slash trail follows the player’s swinging staff. This makes the swinging interaction much more satisfying and noticeable for the player.</a:t>
            </a:r>
          </a:p>
          <a:p>
            <a:pPr lvl="0"/>
            <a:endParaRPr lang="en-CA" dirty="0"/>
          </a:p>
          <a:p>
            <a:pPr lvl="0"/>
            <a:endParaRPr lang="en-CA" dirty="0"/>
          </a:p>
          <a:p>
            <a:pPr lvl="0"/>
            <a:endParaRPr lang="en-CA" dirty="0"/>
          </a:p>
          <a:p>
            <a:pPr lvl="0"/>
            <a:endParaRPr lang="en-CA" dirty="0"/>
          </a:p>
          <a:p>
            <a:pPr lvl="0"/>
            <a:endParaRPr lang="en-CA" dirty="0"/>
          </a:p>
          <a:p>
            <a:pPr lvl="0"/>
            <a:endParaRPr lang="en-CA" dirty="0"/>
          </a:p>
          <a:p>
            <a:pPr lvl="0"/>
            <a:endParaRPr lang="en-CA" dirty="0"/>
          </a:p>
          <a:p>
            <a:br>
              <a:rPr lang="en-CA" dirty="0"/>
            </a:br>
            <a:endParaRPr lang="en-US" dirty="0"/>
          </a:p>
        </p:txBody>
      </p:sp>
      <p:sp>
        <p:nvSpPr>
          <p:cNvPr id="4" name="Text Placeholder 3">
            <a:extLst>
              <a:ext uri="{FF2B5EF4-FFF2-40B4-BE49-F238E27FC236}">
                <a16:creationId xmlns:a16="http://schemas.microsoft.com/office/drawing/2014/main" id="{AAEC3ABC-668F-4581-8FCD-2904D2DF8A63}"/>
              </a:ext>
            </a:extLst>
          </p:cNvPr>
          <p:cNvSpPr>
            <a:spLocks noGrp="1"/>
          </p:cNvSpPr>
          <p:nvPr>
            <p:ph type="body" idx="2"/>
          </p:nvPr>
        </p:nvSpPr>
        <p:spPr>
          <a:xfrm>
            <a:off x="6911163" y="1507068"/>
            <a:ext cx="4628279" cy="4669896"/>
          </a:xfrm>
        </p:spPr>
        <p:txBody>
          <a:bodyPr/>
          <a:lstStyle/>
          <a:p>
            <a:r>
              <a:rPr lang="en-US" dirty="0"/>
              <a:t> </a:t>
            </a:r>
          </a:p>
        </p:txBody>
      </p:sp>
      <p:sp>
        <p:nvSpPr>
          <p:cNvPr id="3" name="Title 2">
            <a:extLst>
              <a:ext uri="{FF2B5EF4-FFF2-40B4-BE49-F238E27FC236}">
                <a16:creationId xmlns:a16="http://schemas.microsoft.com/office/drawing/2014/main" id="{27BF1D4C-6CE5-B34E-9747-FB00808DE388}"/>
              </a:ext>
            </a:extLst>
          </p:cNvPr>
          <p:cNvSpPr>
            <a:spLocks noGrp="1"/>
          </p:cNvSpPr>
          <p:nvPr>
            <p:ph type="title"/>
          </p:nvPr>
        </p:nvSpPr>
        <p:spPr/>
        <p:txBody>
          <a:bodyPr>
            <a:normAutofit/>
          </a:bodyPr>
          <a:lstStyle/>
          <a:p>
            <a:r>
              <a:rPr lang="en-CA" b="1" dirty="0"/>
              <a:t>Identify the VFX</a:t>
            </a:r>
          </a:p>
        </p:txBody>
      </p:sp>
      <p:pic>
        <p:nvPicPr>
          <p:cNvPr id="5" name="Picture 4">
            <a:extLst>
              <a:ext uri="{FF2B5EF4-FFF2-40B4-BE49-F238E27FC236}">
                <a16:creationId xmlns:a16="http://schemas.microsoft.com/office/drawing/2014/main" id="{840D8D1F-357B-A29A-2DE7-78928B76D0CC}"/>
              </a:ext>
            </a:extLst>
          </p:cNvPr>
          <p:cNvPicPr>
            <a:picLocks noChangeAspect="1"/>
          </p:cNvPicPr>
          <p:nvPr/>
        </p:nvPicPr>
        <p:blipFill>
          <a:blip r:embed="rId2"/>
          <a:stretch>
            <a:fillRect/>
          </a:stretch>
        </p:blipFill>
        <p:spPr>
          <a:xfrm>
            <a:off x="1130263" y="3429000"/>
            <a:ext cx="4628279" cy="2599550"/>
          </a:xfrm>
          <a:prstGeom prst="rect">
            <a:avLst/>
          </a:prstGeom>
        </p:spPr>
      </p:pic>
      <p:pic>
        <p:nvPicPr>
          <p:cNvPr id="6" name="Picture 5">
            <a:extLst>
              <a:ext uri="{FF2B5EF4-FFF2-40B4-BE49-F238E27FC236}">
                <a16:creationId xmlns:a16="http://schemas.microsoft.com/office/drawing/2014/main" id="{0253498C-576D-4D83-F564-B75E759830BC}"/>
              </a:ext>
            </a:extLst>
          </p:cNvPr>
          <p:cNvPicPr>
            <a:picLocks noChangeAspect="1"/>
          </p:cNvPicPr>
          <p:nvPr/>
        </p:nvPicPr>
        <p:blipFill>
          <a:blip r:embed="rId3"/>
          <a:stretch>
            <a:fillRect/>
          </a:stretch>
        </p:blipFill>
        <p:spPr>
          <a:xfrm>
            <a:off x="6096000" y="3429000"/>
            <a:ext cx="4620908" cy="2599550"/>
          </a:xfrm>
          <a:prstGeom prst="rect">
            <a:avLst/>
          </a:prstGeom>
        </p:spPr>
      </p:pic>
    </p:spTree>
    <p:extLst>
      <p:ext uri="{BB962C8B-B14F-4D97-AF65-F5344CB8AC3E}">
        <p14:creationId xmlns:p14="http://schemas.microsoft.com/office/powerpoint/2010/main" val="284254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CCBC46-0CD6-8042-1266-326666C7E87D}"/>
              </a:ext>
            </a:extLst>
          </p:cNvPr>
          <p:cNvSpPr>
            <a:spLocks noGrp="1"/>
          </p:cNvSpPr>
          <p:nvPr>
            <p:ph type="body" idx="1"/>
          </p:nvPr>
        </p:nvSpPr>
        <p:spPr>
          <a:xfrm>
            <a:off x="1090862" y="1507068"/>
            <a:ext cx="6502337" cy="4669896"/>
          </a:xfrm>
        </p:spPr>
        <p:txBody>
          <a:bodyPr/>
          <a:lstStyle/>
          <a:p>
            <a:r>
              <a:rPr lang="en-CA" dirty="0"/>
              <a:t>A VFX artist is usually responsible for any </a:t>
            </a:r>
            <a:r>
              <a:rPr lang="en-CA" b="1" dirty="0"/>
              <a:t>computer-generated imagery (CGI)</a:t>
            </a:r>
            <a:r>
              <a:rPr lang="en-CA" dirty="0"/>
              <a:t> that moves but isn’t a character or animal.</a:t>
            </a:r>
          </a:p>
          <a:p>
            <a:pPr lvl="0"/>
            <a:r>
              <a:rPr lang="en-CA" dirty="0"/>
              <a:t>If it doesn’t move (like a tree or building), it’s probably made by a 3D artist, including 3D modelers and texture artists.</a:t>
            </a:r>
          </a:p>
          <a:p>
            <a:pPr lvl="0"/>
            <a:r>
              <a:rPr lang="en-CA" dirty="0"/>
              <a:t>If it’s an animated character, it’s probably the responsibility of a character artist, rigging artist, or animator.</a:t>
            </a:r>
          </a:p>
          <a:p>
            <a:r>
              <a:rPr lang="en-CA" dirty="0"/>
              <a:t>When people think of VFX, they usually think of live action movies, where effects are added on top of real footage.</a:t>
            </a:r>
          </a:p>
          <a:p>
            <a:br>
              <a:rPr lang="en-CA" dirty="0"/>
            </a:br>
            <a:r>
              <a:rPr lang="en-CA" dirty="0"/>
              <a:t>Most VFX artists will have a foundation in traditional art principles, like color, texture, and composition. They will also be familiar with physics and fluid dynamics in order to understand how liquids, types of cloth, or particles behave in different conditions.</a:t>
            </a:r>
            <a:endParaRPr lang="en-CA" b="1" dirty="0"/>
          </a:p>
        </p:txBody>
      </p:sp>
      <p:sp>
        <p:nvSpPr>
          <p:cNvPr id="3" name="Text Placeholder 2">
            <a:extLst>
              <a:ext uri="{FF2B5EF4-FFF2-40B4-BE49-F238E27FC236}">
                <a16:creationId xmlns:a16="http://schemas.microsoft.com/office/drawing/2014/main" id="{D0C25D4B-2E2C-464A-8E79-2C93DAE55AEB}"/>
              </a:ext>
            </a:extLst>
          </p:cNvPr>
          <p:cNvSpPr>
            <a:spLocks noGrp="1"/>
          </p:cNvSpPr>
          <p:nvPr>
            <p:ph type="body" idx="2"/>
          </p:nvPr>
        </p:nvSpPr>
        <p:spPr>
          <a:xfrm>
            <a:off x="7908759" y="1507068"/>
            <a:ext cx="3630683" cy="4669896"/>
          </a:xfrm>
        </p:spPr>
        <p:txBody>
          <a:bodyPr/>
          <a:lstStyle/>
          <a:p>
            <a:r>
              <a:rPr lang="en-US" dirty="0"/>
              <a:t> </a:t>
            </a:r>
          </a:p>
        </p:txBody>
      </p:sp>
      <p:sp>
        <p:nvSpPr>
          <p:cNvPr id="4" name="Title 3">
            <a:extLst>
              <a:ext uri="{FF2B5EF4-FFF2-40B4-BE49-F238E27FC236}">
                <a16:creationId xmlns:a16="http://schemas.microsoft.com/office/drawing/2014/main" id="{223B6CE6-1049-756E-2393-80401A79B0C3}"/>
              </a:ext>
            </a:extLst>
          </p:cNvPr>
          <p:cNvSpPr>
            <a:spLocks noGrp="1"/>
          </p:cNvSpPr>
          <p:nvPr>
            <p:ph type="title"/>
          </p:nvPr>
        </p:nvSpPr>
        <p:spPr/>
        <p:txBody>
          <a:bodyPr>
            <a:normAutofit/>
          </a:bodyPr>
          <a:lstStyle/>
          <a:p>
            <a:r>
              <a:rPr lang="en-CA" b="1" dirty="0"/>
              <a:t>What does a VFX artist do?</a:t>
            </a:r>
          </a:p>
        </p:txBody>
      </p:sp>
    </p:spTree>
    <p:extLst>
      <p:ext uri="{BB962C8B-B14F-4D97-AF65-F5344CB8AC3E}">
        <p14:creationId xmlns:p14="http://schemas.microsoft.com/office/powerpoint/2010/main" val="605186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7F1BC5-D5FC-921D-E602-6BF3BD738F5B}"/>
              </a:ext>
            </a:extLst>
          </p:cNvPr>
          <p:cNvSpPr>
            <a:spLocks noGrp="1"/>
          </p:cNvSpPr>
          <p:nvPr>
            <p:ph type="body" idx="1"/>
          </p:nvPr>
        </p:nvSpPr>
        <p:spPr>
          <a:xfrm>
            <a:off x="604434" y="1507068"/>
            <a:ext cx="10983132" cy="5087370"/>
          </a:xfrm>
        </p:spPr>
        <p:txBody>
          <a:bodyPr>
            <a:normAutofit/>
          </a:bodyPr>
          <a:lstStyle/>
          <a:p>
            <a:r>
              <a:rPr lang="en-CA" dirty="0"/>
              <a:t>In addition to Unity, VFX artists might use or be familiar with other software programs, including the following:</a:t>
            </a:r>
          </a:p>
          <a:p>
            <a:pPr lvl="0"/>
            <a:r>
              <a:rPr lang="en-CA" dirty="0"/>
              <a:t>2D image editing software, such as </a:t>
            </a:r>
            <a:r>
              <a:rPr lang="en-CA" u="sng" dirty="0">
                <a:hlinkClick r:id="rId2"/>
              </a:rPr>
              <a:t>Photoshop</a:t>
            </a:r>
            <a:r>
              <a:rPr lang="en-CA" dirty="0"/>
              <a:t>, to create 2D textures and particles</a:t>
            </a:r>
          </a:p>
          <a:p>
            <a:pPr lvl="0"/>
            <a:r>
              <a:rPr lang="en-CA" dirty="0"/>
              <a:t>3D modeling and animation software, such as </a:t>
            </a:r>
            <a:r>
              <a:rPr lang="en-CA" u="sng" dirty="0">
                <a:hlinkClick r:id="rId3"/>
              </a:rPr>
              <a:t>Maya</a:t>
            </a:r>
            <a:r>
              <a:rPr lang="en-CA" dirty="0"/>
              <a:t>, to create 3D shapes for certain effects</a:t>
            </a:r>
          </a:p>
          <a:p>
            <a:pPr lvl="0"/>
            <a:r>
              <a:rPr lang="en-CA" dirty="0"/>
              <a:t>Software specializing in procedural simulations like fluids and particles, such as </a:t>
            </a:r>
            <a:r>
              <a:rPr lang="en-CA" u="sng" dirty="0">
                <a:hlinkClick r:id="rId4"/>
              </a:rPr>
              <a:t>Houdini</a:t>
            </a:r>
            <a:endParaRPr lang="en-CA" dirty="0"/>
          </a:p>
          <a:p>
            <a:endParaRPr lang="en-US" dirty="0"/>
          </a:p>
        </p:txBody>
      </p:sp>
      <p:sp>
        <p:nvSpPr>
          <p:cNvPr id="3" name="Text Placeholder 2">
            <a:extLst>
              <a:ext uri="{FF2B5EF4-FFF2-40B4-BE49-F238E27FC236}">
                <a16:creationId xmlns:a16="http://schemas.microsoft.com/office/drawing/2014/main" id="{47CEC131-C387-2C2B-D91B-D742DF971D3D}"/>
              </a:ext>
            </a:extLst>
          </p:cNvPr>
          <p:cNvSpPr>
            <a:spLocks noGrp="1"/>
          </p:cNvSpPr>
          <p:nvPr>
            <p:ph type="body" idx="2"/>
          </p:nvPr>
        </p:nvSpPr>
        <p:spPr>
          <a:xfrm>
            <a:off x="8250865" y="1507068"/>
            <a:ext cx="3288577" cy="4669896"/>
          </a:xfrm>
        </p:spPr>
        <p:txBody>
          <a:bodyPr/>
          <a:lstStyle/>
          <a:p>
            <a:r>
              <a:rPr lang="en-US" dirty="0"/>
              <a:t> </a:t>
            </a:r>
          </a:p>
        </p:txBody>
      </p:sp>
      <p:sp>
        <p:nvSpPr>
          <p:cNvPr id="4" name="Title 3">
            <a:extLst>
              <a:ext uri="{FF2B5EF4-FFF2-40B4-BE49-F238E27FC236}">
                <a16:creationId xmlns:a16="http://schemas.microsoft.com/office/drawing/2014/main" id="{1FB15F44-0784-5366-CCBD-2013612EA34D}"/>
              </a:ext>
            </a:extLst>
          </p:cNvPr>
          <p:cNvSpPr>
            <a:spLocks noGrp="1"/>
          </p:cNvSpPr>
          <p:nvPr>
            <p:ph type="title"/>
          </p:nvPr>
        </p:nvSpPr>
        <p:spPr/>
        <p:txBody>
          <a:bodyPr>
            <a:normAutofit/>
          </a:bodyPr>
          <a:lstStyle/>
          <a:p>
            <a:r>
              <a:rPr lang="en-CA" b="1" dirty="0"/>
              <a:t>Tools</a:t>
            </a:r>
          </a:p>
        </p:txBody>
      </p:sp>
    </p:spTree>
    <p:extLst>
      <p:ext uri="{BB962C8B-B14F-4D97-AF65-F5344CB8AC3E}">
        <p14:creationId xmlns:p14="http://schemas.microsoft.com/office/powerpoint/2010/main" val="1621329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E7668CC6-8EB1-7358-0143-3E9C1B354A9C}"/>
              </a:ext>
            </a:extLst>
          </p:cNvPr>
          <p:cNvSpPr>
            <a:spLocks noGrp="1"/>
          </p:cNvSpPr>
          <p:nvPr>
            <p:ph type="body" idx="1"/>
          </p:nvPr>
        </p:nvSpPr>
        <p:spPr/>
        <p:txBody>
          <a:bodyPr>
            <a:normAutofit/>
          </a:bodyPr>
          <a:lstStyle/>
          <a:p>
            <a:pPr marL="209550" indent="0">
              <a:buNone/>
            </a:pPr>
            <a:endParaRPr lang="en-CA" dirty="0">
              <a:solidFill>
                <a:srgbClr val="000000"/>
              </a:solidFill>
              <a:latin typeface="Arial"/>
            </a:endParaRPr>
          </a:p>
          <a:p>
            <a:endParaRPr lang="en-US" dirty="0"/>
          </a:p>
        </p:txBody>
      </p:sp>
      <p:sp>
        <p:nvSpPr>
          <p:cNvPr id="3" name="Text Placeholder 2">
            <a:extLst>
              <a:ext uri="{FF2B5EF4-FFF2-40B4-BE49-F238E27FC236}">
                <a16:creationId xmlns:a16="http://schemas.microsoft.com/office/drawing/2014/main" id="{5797E7C9-4383-F30E-7C92-852A610D73CB}"/>
              </a:ext>
            </a:extLst>
          </p:cNvPr>
          <p:cNvSpPr>
            <a:spLocks noGrp="1"/>
          </p:cNvSpPr>
          <p:nvPr>
            <p:ph type="body" idx="2"/>
          </p:nvPr>
        </p:nvSpPr>
        <p:spPr>
          <a:xfrm>
            <a:off x="604434" y="1507068"/>
            <a:ext cx="4036839" cy="4669896"/>
          </a:xfrm>
        </p:spPr>
        <p:txBody>
          <a:bodyPr/>
          <a:lstStyle/>
          <a:p>
            <a:r>
              <a:rPr lang="en-CA" dirty="0"/>
              <a:t>Unity actually has two separate systems for developing VFX: the Built-in Particle System and VFX Graph.</a:t>
            </a:r>
          </a:p>
          <a:p>
            <a:r>
              <a:rPr lang="en-CA" dirty="0"/>
              <a:t>The Built-in Particle System is Unity’s default component-based system that you will find in most Unity projects. VFX Graph is a newer, node-based system, which is extremely powerful but a bit more difficult to learn.</a:t>
            </a:r>
          </a:p>
          <a:p>
            <a:r>
              <a:rPr lang="en-CA" dirty="0"/>
              <a:t>Here are examples of some highly complex simulations made possible with VFX Graph.</a:t>
            </a:r>
          </a:p>
          <a:p>
            <a:endParaRPr lang="en-US" dirty="0"/>
          </a:p>
        </p:txBody>
      </p:sp>
      <p:sp>
        <p:nvSpPr>
          <p:cNvPr id="10" name="Title 9">
            <a:extLst>
              <a:ext uri="{FF2B5EF4-FFF2-40B4-BE49-F238E27FC236}">
                <a16:creationId xmlns:a16="http://schemas.microsoft.com/office/drawing/2014/main" id="{3B638986-5FEB-086E-CE8B-A9A61A39785E}"/>
              </a:ext>
            </a:extLst>
          </p:cNvPr>
          <p:cNvSpPr>
            <a:spLocks noGrp="1"/>
          </p:cNvSpPr>
          <p:nvPr>
            <p:ph type="title"/>
          </p:nvPr>
        </p:nvSpPr>
        <p:spPr/>
        <p:txBody>
          <a:bodyPr>
            <a:normAutofit fontScale="90000"/>
          </a:bodyPr>
          <a:lstStyle/>
          <a:p>
            <a:r>
              <a:rPr lang="en-CA" b="1" dirty="0"/>
              <a:t>Particle Systems vs VFX Graph</a:t>
            </a:r>
            <a:br>
              <a:rPr lang="en-CA" b="1" dirty="0"/>
            </a:br>
            <a:br>
              <a:rPr lang="en-CA" dirty="0"/>
            </a:br>
            <a:endParaRPr lang="en-US" dirty="0"/>
          </a:p>
        </p:txBody>
      </p:sp>
      <p:pic>
        <p:nvPicPr>
          <p:cNvPr id="2" name="Picture 1">
            <a:extLst>
              <a:ext uri="{FF2B5EF4-FFF2-40B4-BE49-F238E27FC236}">
                <a16:creationId xmlns:a16="http://schemas.microsoft.com/office/drawing/2014/main" id="{49FCFB9A-9177-8211-303E-A6AC57AA48A7}"/>
              </a:ext>
            </a:extLst>
          </p:cNvPr>
          <p:cNvPicPr>
            <a:picLocks noChangeAspect="1"/>
          </p:cNvPicPr>
          <p:nvPr/>
        </p:nvPicPr>
        <p:blipFill>
          <a:blip r:embed="rId2"/>
          <a:stretch>
            <a:fillRect/>
          </a:stretch>
        </p:blipFill>
        <p:spPr>
          <a:xfrm>
            <a:off x="6364402" y="1458842"/>
            <a:ext cx="4036839" cy="2270722"/>
          </a:xfrm>
          <a:prstGeom prst="rect">
            <a:avLst/>
          </a:prstGeom>
        </p:spPr>
      </p:pic>
      <p:pic>
        <p:nvPicPr>
          <p:cNvPr id="4" name="Picture 3">
            <a:extLst>
              <a:ext uri="{FF2B5EF4-FFF2-40B4-BE49-F238E27FC236}">
                <a16:creationId xmlns:a16="http://schemas.microsoft.com/office/drawing/2014/main" id="{E04E3183-C75E-3717-D565-A9B2514E3FC4}"/>
              </a:ext>
            </a:extLst>
          </p:cNvPr>
          <p:cNvPicPr>
            <a:picLocks noChangeAspect="1"/>
          </p:cNvPicPr>
          <p:nvPr/>
        </p:nvPicPr>
        <p:blipFill>
          <a:blip r:embed="rId3"/>
          <a:stretch>
            <a:fillRect/>
          </a:stretch>
        </p:blipFill>
        <p:spPr>
          <a:xfrm>
            <a:off x="6364402" y="3992016"/>
            <a:ext cx="4036839" cy="2270722"/>
          </a:xfrm>
          <a:prstGeom prst="rect">
            <a:avLst/>
          </a:prstGeom>
        </p:spPr>
      </p:pic>
    </p:spTree>
    <p:extLst>
      <p:ext uri="{BB962C8B-B14F-4D97-AF65-F5344CB8AC3E}">
        <p14:creationId xmlns:p14="http://schemas.microsoft.com/office/powerpoint/2010/main" val="162047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11A8B50-5743-EE70-0E96-0553169BBDD1}"/>
              </a:ext>
            </a:extLst>
          </p:cNvPr>
          <p:cNvSpPr>
            <a:spLocks noGrp="1"/>
          </p:cNvSpPr>
          <p:nvPr>
            <p:ph type="body" idx="1"/>
          </p:nvPr>
        </p:nvSpPr>
        <p:spPr/>
        <p:txBody>
          <a:bodyPr/>
          <a:lstStyle/>
          <a:p>
            <a:r>
              <a:rPr lang="en-CA" dirty="0"/>
              <a:t>VFX Graph is a node-based editor for creating effects in Unity. Here is an example of what a VFX Graph might look like for a more complex effect:</a:t>
            </a:r>
          </a:p>
          <a:p>
            <a:endParaRPr lang="en-CA" dirty="0"/>
          </a:p>
          <a:p>
            <a:endParaRPr lang="en-US" dirty="0"/>
          </a:p>
        </p:txBody>
      </p:sp>
      <p:sp>
        <p:nvSpPr>
          <p:cNvPr id="4" name="Text Placeholder 3">
            <a:extLst>
              <a:ext uri="{FF2B5EF4-FFF2-40B4-BE49-F238E27FC236}">
                <a16:creationId xmlns:a16="http://schemas.microsoft.com/office/drawing/2014/main" id="{8FE924B0-DE7D-F562-FB90-A3D4A80D5BE1}"/>
              </a:ext>
            </a:extLst>
          </p:cNvPr>
          <p:cNvSpPr>
            <a:spLocks noGrp="1"/>
          </p:cNvSpPr>
          <p:nvPr>
            <p:ph type="body" idx="2"/>
          </p:nvPr>
        </p:nvSpPr>
        <p:spPr/>
        <p:txBody>
          <a:bodyPr/>
          <a:lstStyle/>
          <a:p>
            <a:r>
              <a:rPr lang="en-US" dirty="0"/>
              <a:t> </a:t>
            </a:r>
          </a:p>
        </p:txBody>
      </p:sp>
      <p:sp>
        <p:nvSpPr>
          <p:cNvPr id="3" name="Title 2">
            <a:extLst>
              <a:ext uri="{FF2B5EF4-FFF2-40B4-BE49-F238E27FC236}">
                <a16:creationId xmlns:a16="http://schemas.microsoft.com/office/drawing/2014/main" id="{C121FCE5-DF30-5D0B-74BD-9AF043C70ADB}"/>
              </a:ext>
            </a:extLst>
          </p:cNvPr>
          <p:cNvSpPr>
            <a:spLocks noGrp="1"/>
          </p:cNvSpPr>
          <p:nvPr>
            <p:ph type="title"/>
          </p:nvPr>
        </p:nvSpPr>
        <p:spPr/>
        <p:txBody>
          <a:bodyPr/>
          <a:lstStyle/>
          <a:p>
            <a:r>
              <a:rPr lang="en-CA" dirty="0"/>
              <a:t>VFX Graph </a:t>
            </a:r>
            <a:endParaRPr lang="en-US" dirty="0"/>
          </a:p>
        </p:txBody>
      </p:sp>
      <p:pic>
        <p:nvPicPr>
          <p:cNvPr id="5" name="Picture 4">
            <a:extLst>
              <a:ext uri="{FF2B5EF4-FFF2-40B4-BE49-F238E27FC236}">
                <a16:creationId xmlns:a16="http://schemas.microsoft.com/office/drawing/2014/main" id="{80DA3FA4-649A-22E2-B297-992F66E0BA1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95842" y="1507068"/>
            <a:ext cx="5943600" cy="4581525"/>
          </a:xfrm>
          <a:prstGeom prst="rect">
            <a:avLst/>
          </a:prstGeom>
          <a:noFill/>
          <a:ln>
            <a:noFill/>
          </a:ln>
        </p:spPr>
      </p:pic>
    </p:spTree>
    <p:extLst>
      <p:ext uri="{BB962C8B-B14F-4D97-AF65-F5344CB8AC3E}">
        <p14:creationId xmlns:p14="http://schemas.microsoft.com/office/powerpoint/2010/main" val="3393397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E1A4B5-C14D-C90B-9DB0-6DCB522B5FDF}"/>
              </a:ext>
            </a:extLst>
          </p:cNvPr>
          <p:cNvSpPr>
            <a:spLocks noGrp="1"/>
          </p:cNvSpPr>
          <p:nvPr>
            <p:ph type="body" idx="1"/>
          </p:nvPr>
        </p:nvSpPr>
        <p:spPr/>
        <p:txBody>
          <a:bodyPr/>
          <a:lstStyle/>
          <a:p>
            <a:r>
              <a:rPr lang="en-CA" b="1" dirty="0"/>
              <a:t>Advantages of VFX Graph</a:t>
            </a:r>
            <a:endParaRPr lang="en-CA" dirty="0"/>
          </a:p>
          <a:p>
            <a:pPr lvl="0"/>
            <a:r>
              <a:rPr lang="en-CA" dirty="0"/>
              <a:t>VFX Graph can process millions of simultaneous particles, while Particle Systems can only process thousands.</a:t>
            </a:r>
          </a:p>
          <a:p>
            <a:pPr lvl="0"/>
            <a:r>
              <a:rPr lang="en-CA" dirty="0"/>
              <a:t>VFX Graph can produce more complex simulations, such as the genie shown above, which would not be feasible using a Particle System.</a:t>
            </a:r>
          </a:p>
          <a:p>
            <a:endParaRPr lang="en-US" dirty="0"/>
          </a:p>
        </p:txBody>
      </p:sp>
      <p:sp>
        <p:nvSpPr>
          <p:cNvPr id="3" name="Text Placeholder 2">
            <a:extLst>
              <a:ext uri="{FF2B5EF4-FFF2-40B4-BE49-F238E27FC236}">
                <a16:creationId xmlns:a16="http://schemas.microsoft.com/office/drawing/2014/main" id="{BA94D9DF-4519-3EEF-409F-4B8B3C38D1B2}"/>
              </a:ext>
            </a:extLst>
          </p:cNvPr>
          <p:cNvSpPr>
            <a:spLocks noGrp="1"/>
          </p:cNvSpPr>
          <p:nvPr>
            <p:ph type="body" idx="2"/>
          </p:nvPr>
        </p:nvSpPr>
        <p:spPr/>
        <p:txBody>
          <a:bodyPr/>
          <a:lstStyle/>
          <a:p>
            <a:r>
              <a:rPr lang="en-CA" b="1" dirty="0"/>
              <a:t>Disadvantages of VFX Graph</a:t>
            </a:r>
            <a:endParaRPr lang="en-CA" dirty="0"/>
          </a:p>
          <a:p>
            <a:pPr lvl="0"/>
            <a:r>
              <a:rPr lang="en-CA" dirty="0"/>
              <a:t>VFX Graph is a bit more challenging for beginners to learn than Particle Systems.</a:t>
            </a:r>
          </a:p>
          <a:p>
            <a:pPr lvl="0"/>
            <a:r>
              <a:rPr lang="en-CA" dirty="0"/>
              <a:t>VFX Graph has stricter </a:t>
            </a:r>
            <a:r>
              <a:rPr lang="en-CA" u="sng" dirty="0">
                <a:hlinkClick r:id="rId2"/>
              </a:rPr>
              <a:t>hardware requirements</a:t>
            </a:r>
            <a:r>
              <a:rPr lang="en-CA" dirty="0"/>
              <a:t> than Particle Systems, preventing it from running successfully on certain target devices.</a:t>
            </a:r>
          </a:p>
          <a:p>
            <a:pPr lvl="0"/>
            <a:r>
              <a:rPr lang="en-CA" dirty="0"/>
              <a:t>Since VFX Graph runs on the GPU and Unity physics calculations are done on the CPU, VFX Graph particles cannot interact with the rest of your app’s physics (collide with the ground, for example). Particle Systems run on the CPU, so they can interact with other physics-based components.</a:t>
            </a:r>
          </a:p>
          <a:p>
            <a:endParaRPr lang="en-US" dirty="0"/>
          </a:p>
        </p:txBody>
      </p:sp>
      <p:sp>
        <p:nvSpPr>
          <p:cNvPr id="4" name="Title 3">
            <a:extLst>
              <a:ext uri="{FF2B5EF4-FFF2-40B4-BE49-F238E27FC236}">
                <a16:creationId xmlns:a16="http://schemas.microsoft.com/office/drawing/2014/main" id="{CFDFC366-C592-CAF1-593C-3E404D97AC94}"/>
              </a:ext>
            </a:extLst>
          </p:cNvPr>
          <p:cNvSpPr>
            <a:spLocks noGrp="1"/>
          </p:cNvSpPr>
          <p:nvPr>
            <p:ph type="title"/>
          </p:nvPr>
        </p:nvSpPr>
        <p:spPr/>
        <p:txBody>
          <a:bodyPr/>
          <a:lstStyle/>
          <a:p>
            <a:r>
              <a:rPr lang="en-US" dirty="0"/>
              <a:t>Advantages vs. Disadvantages</a:t>
            </a:r>
          </a:p>
        </p:txBody>
      </p:sp>
    </p:spTree>
    <p:extLst>
      <p:ext uri="{BB962C8B-B14F-4D97-AF65-F5344CB8AC3E}">
        <p14:creationId xmlns:p14="http://schemas.microsoft.com/office/powerpoint/2010/main" val="2067398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0237956-AED4-B95B-4CCF-AB81872179B8}"/>
              </a:ext>
            </a:extLst>
          </p:cNvPr>
          <p:cNvSpPr>
            <a:spLocks noGrp="1"/>
          </p:cNvSpPr>
          <p:nvPr>
            <p:ph type="body" idx="1"/>
          </p:nvPr>
        </p:nvSpPr>
        <p:spPr/>
        <p:txBody>
          <a:bodyPr/>
          <a:lstStyle/>
          <a:p>
            <a:r>
              <a:rPr lang="en-CA" dirty="0"/>
              <a:t>How do you choose whether to use VFX Graph or the Particle System?</a:t>
            </a:r>
          </a:p>
          <a:p>
            <a:pPr lvl="0"/>
            <a:r>
              <a:rPr lang="en-CA" dirty="0"/>
              <a:t>If you’re pretty experienced and want to create something really complex or something that requires millions of particles, you might want to use VFX Graph.</a:t>
            </a:r>
          </a:p>
          <a:p>
            <a:pPr lvl="0"/>
            <a:r>
              <a:rPr lang="en-CA" dirty="0"/>
              <a:t>If you’re not an expert and want to create something simple, something that runs on all devices, or something that can interact with other physics-based objects in your scene, use a Particle System.</a:t>
            </a:r>
          </a:p>
          <a:p>
            <a:endParaRPr lang="en-US" dirty="0"/>
          </a:p>
        </p:txBody>
      </p:sp>
      <p:sp>
        <p:nvSpPr>
          <p:cNvPr id="4" name="Title 3">
            <a:extLst>
              <a:ext uri="{FF2B5EF4-FFF2-40B4-BE49-F238E27FC236}">
                <a16:creationId xmlns:a16="http://schemas.microsoft.com/office/drawing/2014/main" id="{9CC37AA1-6B2E-A9A0-97A6-788651E8DDAB}"/>
              </a:ext>
            </a:extLst>
          </p:cNvPr>
          <p:cNvSpPr>
            <a:spLocks noGrp="1"/>
          </p:cNvSpPr>
          <p:nvPr>
            <p:ph type="title"/>
          </p:nvPr>
        </p:nvSpPr>
        <p:spPr/>
        <p:txBody>
          <a:bodyPr/>
          <a:lstStyle/>
          <a:p>
            <a:r>
              <a:rPr lang="en-CA" b="1" dirty="0"/>
              <a:t>Choosing between VFX Graph and Particle Systems</a:t>
            </a:r>
            <a:r>
              <a:rPr lang="en-CA" dirty="0"/>
              <a:t> </a:t>
            </a:r>
            <a:endParaRPr lang="en-US" dirty="0"/>
          </a:p>
        </p:txBody>
      </p:sp>
    </p:spTree>
    <p:extLst>
      <p:ext uri="{BB962C8B-B14F-4D97-AF65-F5344CB8AC3E}">
        <p14:creationId xmlns:p14="http://schemas.microsoft.com/office/powerpoint/2010/main" val="3251836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0127348-D8BC-5600-E3D0-22AFF3962ACB}"/>
              </a:ext>
            </a:extLst>
          </p:cNvPr>
          <p:cNvSpPr>
            <a:spLocks noGrp="1"/>
          </p:cNvSpPr>
          <p:nvPr>
            <p:ph type="body" idx="1"/>
          </p:nvPr>
        </p:nvSpPr>
        <p:spPr/>
        <p:txBody>
          <a:bodyPr/>
          <a:lstStyle/>
          <a:p>
            <a:r>
              <a:rPr lang="en-CA" dirty="0"/>
              <a:t>In the case of the weather effect in the scene, we may want a higher number of particles.</a:t>
            </a:r>
          </a:p>
          <a:p>
            <a:r>
              <a:rPr lang="en-CA" dirty="0"/>
              <a:t>Take a look at the two screenshots. The first shows a Particle System simulating one million particles. It has an abysmal frame rate of around 5fps.</a:t>
            </a:r>
          </a:p>
          <a:p>
            <a:endParaRPr lang="en-CA" dirty="0"/>
          </a:p>
          <a:p>
            <a:r>
              <a:rPr lang="en-CA" dirty="0"/>
              <a:t>Compare that to this effect, which uses VFX Graph to simulate one million particles, and still has an excellent frame rate of around 100 frames per second.</a:t>
            </a:r>
          </a:p>
          <a:p>
            <a:endParaRPr lang="en-CA" dirty="0"/>
          </a:p>
          <a:p>
            <a:endParaRPr lang="en-US" dirty="0"/>
          </a:p>
        </p:txBody>
      </p:sp>
      <p:sp>
        <p:nvSpPr>
          <p:cNvPr id="3" name="Title 2">
            <a:extLst>
              <a:ext uri="{FF2B5EF4-FFF2-40B4-BE49-F238E27FC236}">
                <a16:creationId xmlns:a16="http://schemas.microsoft.com/office/drawing/2014/main" id="{708F369F-0C5A-47EB-7763-7CD07B858CCE}"/>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949CB661-5710-6FE0-0DDA-04F09F95FD9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6018" y="3511817"/>
            <a:ext cx="4137028" cy="2287299"/>
          </a:xfrm>
          <a:prstGeom prst="rect">
            <a:avLst/>
          </a:prstGeom>
          <a:noFill/>
          <a:ln>
            <a:noFill/>
          </a:ln>
        </p:spPr>
      </p:pic>
      <p:pic>
        <p:nvPicPr>
          <p:cNvPr id="5" name="Picture 4">
            <a:extLst>
              <a:ext uri="{FF2B5EF4-FFF2-40B4-BE49-F238E27FC236}">
                <a16:creationId xmlns:a16="http://schemas.microsoft.com/office/drawing/2014/main" id="{0C9A698E-8BEC-103B-AB3B-477673F6CE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05382" y="3470408"/>
            <a:ext cx="4767781" cy="2370116"/>
          </a:xfrm>
          <a:prstGeom prst="rect">
            <a:avLst/>
          </a:prstGeom>
          <a:noFill/>
          <a:ln>
            <a:noFill/>
          </a:ln>
        </p:spPr>
      </p:pic>
    </p:spTree>
    <p:extLst>
      <p:ext uri="{BB962C8B-B14F-4D97-AF65-F5344CB8AC3E}">
        <p14:creationId xmlns:p14="http://schemas.microsoft.com/office/powerpoint/2010/main" val="2843744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852CBB-E0A8-B29E-45A3-E71D4B7484E2}"/>
              </a:ext>
            </a:extLst>
          </p:cNvPr>
          <p:cNvSpPr>
            <a:spLocks noGrp="1"/>
          </p:cNvSpPr>
          <p:nvPr>
            <p:ph type="body" idx="1"/>
          </p:nvPr>
        </p:nvSpPr>
        <p:spPr/>
        <p:txBody>
          <a:bodyPr/>
          <a:lstStyle/>
          <a:p>
            <a:r>
              <a:rPr lang="en-US" dirty="0"/>
              <a:t> </a:t>
            </a:r>
          </a:p>
        </p:txBody>
      </p:sp>
      <p:sp>
        <p:nvSpPr>
          <p:cNvPr id="3" name="Title 2">
            <a:extLst>
              <a:ext uri="{FF2B5EF4-FFF2-40B4-BE49-F238E27FC236}">
                <a16:creationId xmlns:a16="http://schemas.microsoft.com/office/drawing/2014/main" id="{343D1B70-9017-611C-0B65-9ACF530B575F}"/>
              </a:ext>
            </a:extLst>
          </p:cNvPr>
          <p:cNvSpPr>
            <a:spLocks noGrp="1"/>
          </p:cNvSpPr>
          <p:nvPr>
            <p:ph type="title"/>
          </p:nvPr>
        </p:nvSpPr>
        <p:spPr/>
        <p:txBody>
          <a:bodyPr/>
          <a:lstStyle/>
          <a:p>
            <a:r>
              <a:rPr lang="en-US" dirty="0"/>
              <a:t>Visual Effect Graph</a:t>
            </a:r>
          </a:p>
        </p:txBody>
      </p:sp>
      <p:pic>
        <p:nvPicPr>
          <p:cNvPr id="4" name="Picture 3">
            <a:extLst>
              <a:ext uri="{FF2B5EF4-FFF2-40B4-BE49-F238E27FC236}">
                <a16:creationId xmlns:a16="http://schemas.microsoft.com/office/drawing/2014/main" id="{6828A834-1588-9BA2-C69A-74984684B922}"/>
              </a:ext>
            </a:extLst>
          </p:cNvPr>
          <p:cNvPicPr>
            <a:picLocks noChangeAspect="1"/>
          </p:cNvPicPr>
          <p:nvPr/>
        </p:nvPicPr>
        <p:blipFill>
          <a:blip r:embed="rId2"/>
          <a:stretch>
            <a:fillRect/>
          </a:stretch>
        </p:blipFill>
        <p:spPr>
          <a:xfrm>
            <a:off x="2296884" y="1196391"/>
            <a:ext cx="6760029" cy="5676842"/>
          </a:xfrm>
          <a:prstGeom prst="rect">
            <a:avLst/>
          </a:prstGeom>
        </p:spPr>
      </p:pic>
    </p:spTree>
    <p:extLst>
      <p:ext uri="{BB962C8B-B14F-4D97-AF65-F5344CB8AC3E}">
        <p14:creationId xmlns:p14="http://schemas.microsoft.com/office/powerpoint/2010/main" val="2926471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E38DB77-098B-1D1D-8E53-95C890DF4303}"/>
              </a:ext>
            </a:extLst>
          </p:cNvPr>
          <p:cNvSpPr>
            <a:spLocks noGrp="1"/>
          </p:cNvSpPr>
          <p:nvPr>
            <p:ph type="body" idx="1"/>
          </p:nvPr>
        </p:nvSpPr>
        <p:spPr/>
        <p:txBody>
          <a:bodyPr/>
          <a:lstStyle/>
          <a:p>
            <a:r>
              <a:rPr lang="en-CA" dirty="0"/>
              <a:t>1. With the VFX Graph object selected, locate the </a:t>
            </a:r>
            <a:r>
              <a:rPr lang="en-CA" b="1" dirty="0"/>
              <a:t>Visual Effect</a:t>
            </a:r>
            <a:r>
              <a:rPr lang="en-CA" dirty="0"/>
              <a:t> component. Notice the little lamp icon next to the component’s name – that is the icon for VFX Graph.</a:t>
            </a:r>
          </a:p>
          <a:p>
            <a:r>
              <a:rPr lang="en-CA" b="1" dirty="0"/>
              <a:t>2. </a:t>
            </a:r>
            <a:r>
              <a:rPr lang="en-CA" dirty="0"/>
              <a:t>Select the </a:t>
            </a:r>
            <a:r>
              <a:rPr lang="en-CA" b="1" dirty="0"/>
              <a:t>Edit</a:t>
            </a:r>
            <a:r>
              <a:rPr lang="en-CA" dirty="0"/>
              <a:t> button to open the VFX Graph editor window.</a:t>
            </a:r>
          </a:p>
          <a:p>
            <a:endParaRPr lang="en-US" dirty="0"/>
          </a:p>
        </p:txBody>
      </p:sp>
      <p:sp>
        <p:nvSpPr>
          <p:cNvPr id="3" name="Title 2">
            <a:extLst>
              <a:ext uri="{FF2B5EF4-FFF2-40B4-BE49-F238E27FC236}">
                <a16:creationId xmlns:a16="http://schemas.microsoft.com/office/drawing/2014/main" id="{BF7C020F-7ACF-6FC0-EAA9-3833D395F72F}"/>
              </a:ext>
            </a:extLst>
          </p:cNvPr>
          <p:cNvSpPr>
            <a:spLocks noGrp="1"/>
          </p:cNvSpPr>
          <p:nvPr>
            <p:ph type="title"/>
          </p:nvPr>
        </p:nvSpPr>
        <p:spPr/>
        <p:txBody>
          <a:bodyPr/>
          <a:lstStyle/>
          <a:p>
            <a:r>
              <a:rPr lang="en-US" dirty="0"/>
              <a:t>Edit Visual Effect Graph</a:t>
            </a:r>
          </a:p>
        </p:txBody>
      </p:sp>
      <p:pic>
        <p:nvPicPr>
          <p:cNvPr id="4" name="Picture 3">
            <a:extLst>
              <a:ext uri="{FF2B5EF4-FFF2-40B4-BE49-F238E27FC236}">
                <a16:creationId xmlns:a16="http://schemas.microsoft.com/office/drawing/2014/main" id="{5AC59EEC-8D71-4D0B-468A-2CB35FBAE4C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43964" y="2811463"/>
            <a:ext cx="5943600" cy="3365500"/>
          </a:xfrm>
          <a:prstGeom prst="rect">
            <a:avLst/>
          </a:prstGeom>
          <a:noFill/>
          <a:ln>
            <a:noFill/>
          </a:ln>
        </p:spPr>
      </p:pic>
      <p:pic>
        <p:nvPicPr>
          <p:cNvPr id="5" name="Picture 4">
            <a:extLst>
              <a:ext uri="{FF2B5EF4-FFF2-40B4-BE49-F238E27FC236}">
                <a16:creationId xmlns:a16="http://schemas.microsoft.com/office/drawing/2014/main" id="{3970AC3E-F57C-90B1-46F7-F269553371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7686" y="3066121"/>
            <a:ext cx="4386943" cy="1429679"/>
          </a:xfrm>
          <a:prstGeom prst="rect">
            <a:avLst/>
          </a:prstGeom>
          <a:noFill/>
          <a:ln>
            <a:noFill/>
          </a:ln>
        </p:spPr>
      </p:pic>
    </p:spTree>
    <p:extLst>
      <p:ext uri="{BB962C8B-B14F-4D97-AF65-F5344CB8AC3E}">
        <p14:creationId xmlns:p14="http://schemas.microsoft.com/office/powerpoint/2010/main" val="2668364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B9DF7F-665C-1ED9-CC08-600745B2257B}"/>
              </a:ext>
            </a:extLst>
          </p:cNvPr>
          <p:cNvSpPr>
            <a:spLocks noGrp="1"/>
          </p:cNvSpPr>
          <p:nvPr>
            <p:ph type="body" idx="1"/>
          </p:nvPr>
        </p:nvSpPr>
        <p:spPr/>
        <p:txBody>
          <a:bodyPr/>
          <a:lstStyle/>
          <a:p>
            <a:pPr lvl="0"/>
            <a:r>
              <a:rPr lang="en-CA" b="1" dirty="0"/>
              <a:t>Pan:</a:t>
            </a:r>
            <a:r>
              <a:rPr lang="en-CA" dirty="0"/>
              <a:t> Middle-click and drag, or hold </a:t>
            </a:r>
            <a:r>
              <a:rPr lang="en-CA" b="1" dirty="0"/>
              <a:t>Alt </a:t>
            </a:r>
            <a:r>
              <a:rPr lang="en-CA" dirty="0"/>
              <a:t>(Windows) or </a:t>
            </a:r>
            <a:r>
              <a:rPr lang="en-CA" b="1" dirty="0"/>
              <a:t>Option </a:t>
            </a:r>
            <a:r>
              <a:rPr lang="en-CA" dirty="0"/>
              <a:t>(macOS) and click and drag.</a:t>
            </a:r>
          </a:p>
          <a:p>
            <a:pPr lvl="0"/>
            <a:r>
              <a:rPr lang="en-CA" b="1" dirty="0"/>
              <a:t>Zoom:</a:t>
            </a:r>
            <a:r>
              <a:rPr lang="en-CA" dirty="0"/>
              <a:t> Rotate the wheel or use your trackpad zoom.</a:t>
            </a:r>
          </a:p>
          <a:p>
            <a:pPr lvl="0"/>
            <a:r>
              <a:rPr lang="en-CA" b="1" dirty="0"/>
              <a:t>Focus and zoom in:</a:t>
            </a:r>
            <a:r>
              <a:rPr lang="en-CA" dirty="0"/>
              <a:t> Select an element and press the </a:t>
            </a:r>
            <a:r>
              <a:rPr lang="en-CA" b="1" dirty="0"/>
              <a:t>F</a:t>
            </a:r>
            <a:r>
              <a:rPr lang="en-CA" dirty="0"/>
              <a:t> key.</a:t>
            </a:r>
          </a:p>
          <a:p>
            <a:pPr lvl="0"/>
            <a:r>
              <a:rPr lang="en-CA" b="1" dirty="0"/>
              <a:t>Fit to window:</a:t>
            </a:r>
            <a:r>
              <a:rPr lang="en-CA" dirty="0"/>
              <a:t> Press the </a:t>
            </a:r>
            <a:r>
              <a:rPr lang="en-CA" b="1" dirty="0"/>
              <a:t>A</a:t>
            </a:r>
            <a:r>
              <a:rPr lang="en-CA" dirty="0"/>
              <a:t> key.</a:t>
            </a:r>
          </a:p>
          <a:p>
            <a:endParaRPr lang="en-US" dirty="0"/>
          </a:p>
        </p:txBody>
      </p:sp>
      <p:sp>
        <p:nvSpPr>
          <p:cNvPr id="3" name="Title 2">
            <a:extLst>
              <a:ext uri="{FF2B5EF4-FFF2-40B4-BE49-F238E27FC236}">
                <a16:creationId xmlns:a16="http://schemas.microsoft.com/office/drawing/2014/main" id="{7FF81B29-C653-BDBC-F47B-E1863805A3E9}"/>
              </a:ext>
            </a:extLst>
          </p:cNvPr>
          <p:cNvSpPr>
            <a:spLocks noGrp="1"/>
          </p:cNvSpPr>
          <p:nvPr>
            <p:ph type="title"/>
          </p:nvPr>
        </p:nvSpPr>
        <p:spPr/>
        <p:txBody>
          <a:bodyPr/>
          <a:lstStyle/>
          <a:p>
            <a:r>
              <a:rPr lang="en-CA" b="1" dirty="0"/>
              <a:t>Navigate the VFX Graph window</a:t>
            </a:r>
            <a:r>
              <a:rPr lang="en-CA" dirty="0"/>
              <a:t> </a:t>
            </a:r>
            <a:endParaRPr lang="en-US" dirty="0"/>
          </a:p>
        </p:txBody>
      </p:sp>
      <p:pic>
        <p:nvPicPr>
          <p:cNvPr id="4" name="Picture 3">
            <a:extLst>
              <a:ext uri="{FF2B5EF4-FFF2-40B4-BE49-F238E27FC236}">
                <a16:creationId xmlns:a16="http://schemas.microsoft.com/office/drawing/2014/main" id="{80A11594-E971-0C69-F46C-9E002B8FD8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35635" y="1479292"/>
            <a:ext cx="2948103" cy="4565350"/>
          </a:xfrm>
          <a:prstGeom prst="rect">
            <a:avLst/>
          </a:prstGeom>
          <a:noFill/>
          <a:ln>
            <a:noFill/>
          </a:ln>
        </p:spPr>
      </p:pic>
    </p:spTree>
    <p:extLst>
      <p:ext uri="{BB962C8B-B14F-4D97-AF65-F5344CB8AC3E}">
        <p14:creationId xmlns:p14="http://schemas.microsoft.com/office/powerpoint/2010/main" val="2544011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3F3EBF-6920-0574-53A0-972C4EF47B7F}"/>
              </a:ext>
            </a:extLst>
          </p:cNvPr>
          <p:cNvSpPr>
            <a:spLocks noGrp="1"/>
          </p:cNvSpPr>
          <p:nvPr>
            <p:ph type="body" idx="1"/>
          </p:nvPr>
        </p:nvSpPr>
        <p:spPr/>
        <p:txBody>
          <a:bodyPr/>
          <a:lstStyle/>
          <a:p>
            <a:r>
              <a:rPr lang="en-CA" dirty="0"/>
              <a:t>With the full VFX Graph in view, the first thing you’ll notice is that it is made up of four main nodes, which are stacked vertically on top of each other.</a:t>
            </a:r>
          </a:p>
          <a:p>
            <a:r>
              <a:rPr lang="en-CA" dirty="0"/>
              <a:t>These four default nodes are called the </a:t>
            </a:r>
            <a:r>
              <a:rPr lang="en-CA" b="1" dirty="0"/>
              <a:t>Context Nodes</a:t>
            </a:r>
            <a:r>
              <a:rPr lang="en-CA" dirty="0"/>
              <a:t> (or “Contexts” for short) and are read from top to bottom. We’ll go through those in detail in the next step.</a:t>
            </a:r>
          </a:p>
          <a:p>
            <a:endParaRPr lang="en-CA" dirty="0"/>
          </a:p>
          <a:p>
            <a:endParaRPr lang="en-US" dirty="0"/>
          </a:p>
        </p:txBody>
      </p:sp>
      <p:sp>
        <p:nvSpPr>
          <p:cNvPr id="5" name="Text Placeholder 4">
            <a:extLst>
              <a:ext uri="{FF2B5EF4-FFF2-40B4-BE49-F238E27FC236}">
                <a16:creationId xmlns:a16="http://schemas.microsoft.com/office/drawing/2014/main" id="{0AC7C4D2-C66A-3DA5-4E65-3FFD0DA72DB9}"/>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1A275E91-5E1C-C9E3-CD4F-9D36373222E8}"/>
              </a:ext>
            </a:extLst>
          </p:cNvPr>
          <p:cNvSpPr>
            <a:spLocks noGrp="1"/>
          </p:cNvSpPr>
          <p:nvPr>
            <p:ph type="title"/>
          </p:nvPr>
        </p:nvSpPr>
        <p:spPr/>
        <p:txBody>
          <a:bodyPr/>
          <a:lstStyle/>
          <a:p>
            <a:r>
              <a:rPr lang="en-US" dirty="0"/>
              <a:t>Nodes</a:t>
            </a:r>
          </a:p>
        </p:txBody>
      </p:sp>
      <p:pic>
        <p:nvPicPr>
          <p:cNvPr id="6" name="Picture 5">
            <a:extLst>
              <a:ext uri="{FF2B5EF4-FFF2-40B4-BE49-F238E27FC236}">
                <a16:creationId xmlns:a16="http://schemas.microsoft.com/office/drawing/2014/main" id="{C7077097-5DB4-677D-0621-DF2EABB98BC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77180" y="1507068"/>
            <a:ext cx="1629665" cy="4746171"/>
          </a:xfrm>
          <a:prstGeom prst="rect">
            <a:avLst/>
          </a:prstGeom>
          <a:noFill/>
          <a:ln>
            <a:noFill/>
          </a:ln>
        </p:spPr>
      </p:pic>
    </p:spTree>
    <p:extLst>
      <p:ext uri="{BB962C8B-B14F-4D97-AF65-F5344CB8AC3E}">
        <p14:creationId xmlns:p14="http://schemas.microsoft.com/office/powerpoint/2010/main" val="808812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F983150-3F85-223D-07ED-40F937EA8204}"/>
              </a:ext>
            </a:extLst>
          </p:cNvPr>
          <p:cNvSpPr>
            <a:spLocks noGrp="1"/>
          </p:cNvSpPr>
          <p:nvPr>
            <p:ph type="body" idx="1"/>
          </p:nvPr>
        </p:nvSpPr>
        <p:spPr/>
        <p:txBody>
          <a:bodyPr>
            <a:normAutofit fontScale="92500" lnSpcReduction="20000"/>
          </a:bodyPr>
          <a:lstStyle/>
          <a:p>
            <a:r>
              <a:rPr lang="en-CA" dirty="0"/>
              <a:t>This first context controls the spawning of particles, similar to the Emission module for a Particle System. To quickly frame the Spawn context in view, select it and press F.</a:t>
            </a:r>
          </a:p>
          <a:p>
            <a:endParaRPr lang="en-CA" dirty="0"/>
          </a:p>
          <a:p>
            <a:r>
              <a:rPr lang="en-CA" dirty="0"/>
              <a:t>By default, a new VFX Graph uses a constant spawn rate, but you can set up variable, periodic, or bursts of particles, just like you did with the smoke burst effect.</a:t>
            </a:r>
          </a:p>
          <a:p>
            <a:r>
              <a:rPr lang="en-CA" b="1" dirty="0"/>
              <a:t>1. </a:t>
            </a:r>
            <a:r>
              <a:rPr lang="en-CA" dirty="0"/>
              <a:t>Adjust the </a:t>
            </a:r>
            <a:r>
              <a:rPr lang="en-CA" b="1" dirty="0"/>
              <a:t>Rate</a:t>
            </a:r>
            <a:r>
              <a:rPr lang="en-CA" dirty="0"/>
              <a:t> property so that the VFX Graph version of the effect matches your original Particle System effect.</a:t>
            </a:r>
          </a:p>
          <a:p>
            <a:r>
              <a:rPr lang="en-CA" dirty="0"/>
              <a:t>You can increase the spawn rate to a very high value without much of an impact on frame rate.</a:t>
            </a:r>
          </a:p>
          <a:p>
            <a:endParaRPr lang="en-US" dirty="0"/>
          </a:p>
        </p:txBody>
      </p:sp>
      <p:sp>
        <p:nvSpPr>
          <p:cNvPr id="3" name="Text Placeholder 2">
            <a:extLst>
              <a:ext uri="{FF2B5EF4-FFF2-40B4-BE49-F238E27FC236}">
                <a16:creationId xmlns:a16="http://schemas.microsoft.com/office/drawing/2014/main" id="{785EAD97-590B-36B0-F52D-413A6909D5A7}"/>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FEEAFA25-EEBC-3C8D-8A9D-068FC63E96DD}"/>
              </a:ext>
            </a:extLst>
          </p:cNvPr>
          <p:cNvSpPr>
            <a:spLocks noGrp="1"/>
          </p:cNvSpPr>
          <p:nvPr>
            <p:ph type="title"/>
          </p:nvPr>
        </p:nvSpPr>
        <p:spPr/>
        <p:txBody>
          <a:bodyPr/>
          <a:lstStyle/>
          <a:p>
            <a:r>
              <a:rPr lang="en-CA" b="1" dirty="0"/>
              <a:t>Spawn Context</a:t>
            </a:r>
            <a:r>
              <a:rPr lang="en-CA" dirty="0"/>
              <a:t> </a:t>
            </a:r>
            <a:endParaRPr lang="en-US" dirty="0"/>
          </a:p>
        </p:txBody>
      </p:sp>
      <p:pic>
        <p:nvPicPr>
          <p:cNvPr id="7" name="Picture 6">
            <a:extLst>
              <a:ext uri="{FF2B5EF4-FFF2-40B4-BE49-F238E27FC236}">
                <a16:creationId xmlns:a16="http://schemas.microsoft.com/office/drawing/2014/main" id="{8BBA4C16-B8D3-5E22-8DD0-C6068F68B13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57538" y="2099899"/>
            <a:ext cx="5943600" cy="3028315"/>
          </a:xfrm>
          <a:prstGeom prst="rect">
            <a:avLst/>
          </a:prstGeom>
          <a:noFill/>
          <a:ln>
            <a:noFill/>
          </a:ln>
        </p:spPr>
      </p:pic>
    </p:spTree>
    <p:extLst>
      <p:ext uri="{BB962C8B-B14F-4D97-AF65-F5344CB8AC3E}">
        <p14:creationId xmlns:p14="http://schemas.microsoft.com/office/powerpoint/2010/main" val="2535071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901677-3862-A119-5AF3-CADC722526A0}"/>
              </a:ext>
            </a:extLst>
          </p:cNvPr>
          <p:cNvSpPr>
            <a:spLocks noGrp="1"/>
          </p:cNvSpPr>
          <p:nvPr>
            <p:ph type="body" idx="1"/>
          </p:nvPr>
        </p:nvSpPr>
        <p:spPr/>
        <p:txBody>
          <a:bodyPr/>
          <a:lstStyle/>
          <a:p>
            <a:r>
              <a:rPr lang="en-CA" dirty="0"/>
              <a:t>The Initialize Particle context controls where and how the particles first appear. </a:t>
            </a:r>
          </a:p>
          <a:p>
            <a:r>
              <a:rPr lang="en-CA" dirty="0"/>
              <a:t>This includes many of the same properties as the Particle System’s main module, including the particles’ initial size, shape, velocity, lifetime, and maximum capacity. </a:t>
            </a:r>
          </a:p>
          <a:p>
            <a:r>
              <a:rPr lang="en-CA" dirty="0"/>
              <a:t>It also includes the equivalent of the </a:t>
            </a:r>
            <a:r>
              <a:rPr lang="en-CA" b="1" dirty="0"/>
              <a:t>Shape</a:t>
            </a:r>
            <a:r>
              <a:rPr lang="en-CA" dirty="0"/>
              <a:t> module, which defines the volume from which the particles are generated.</a:t>
            </a:r>
          </a:p>
          <a:p>
            <a:endParaRPr lang="en-US" dirty="0"/>
          </a:p>
        </p:txBody>
      </p:sp>
      <p:sp>
        <p:nvSpPr>
          <p:cNvPr id="3" name="Text Placeholder 2">
            <a:extLst>
              <a:ext uri="{FF2B5EF4-FFF2-40B4-BE49-F238E27FC236}">
                <a16:creationId xmlns:a16="http://schemas.microsoft.com/office/drawing/2014/main" id="{BDC95C7E-A089-E645-1A25-31209EF86869}"/>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6BABD16A-FA55-8130-4875-83DCF885D8E4}"/>
              </a:ext>
            </a:extLst>
          </p:cNvPr>
          <p:cNvSpPr>
            <a:spLocks noGrp="1"/>
          </p:cNvSpPr>
          <p:nvPr>
            <p:ph type="title"/>
          </p:nvPr>
        </p:nvSpPr>
        <p:spPr/>
        <p:txBody>
          <a:bodyPr>
            <a:normAutofit/>
          </a:bodyPr>
          <a:lstStyle/>
          <a:p>
            <a:r>
              <a:rPr lang="en-CA" b="1" dirty="0"/>
              <a:t>Initialize Particle Context</a:t>
            </a:r>
            <a:endParaRPr lang="en-US" dirty="0"/>
          </a:p>
        </p:txBody>
      </p:sp>
      <p:pic>
        <p:nvPicPr>
          <p:cNvPr id="5" name="Picture 4">
            <a:extLst>
              <a:ext uri="{FF2B5EF4-FFF2-40B4-BE49-F238E27FC236}">
                <a16:creationId xmlns:a16="http://schemas.microsoft.com/office/drawing/2014/main" id="{E46A0D77-6826-955A-6072-CAB04B680E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43818"/>
            <a:ext cx="3160468" cy="4669896"/>
          </a:xfrm>
          <a:prstGeom prst="rect">
            <a:avLst/>
          </a:prstGeom>
          <a:noFill/>
          <a:ln>
            <a:noFill/>
          </a:ln>
        </p:spPr>
      </p:pic>
    </p:spTree>
    <p:extLst>
      <p:ext uri="{BB962C8B-B14F-4D97-AF65-F5344CB8AC3E}">
        <p14:creationId xmlns:p14="http://schemas.microsoft.com/office/powerpoint/2010/main" val="10259643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C0743F4-7190-0585-DAD1-64421A1828A1}"/>
              </a:ext>
            </a:extLst>
          </p:cNvPr>
          <p:cNvSpPr>
            <a:spLocks noGrp="1"/>
          </p:cNvSpPr>
          <p:nvPr>
            <p:ph type="body" idx="1"/>
          </p:nvPr>
        </p:nvSpPr>
        <p:spPr/>
        <p:txBody>
          <a:bodyPr>
            <a:normAutofit fontScale="85000" lnSpcReduction="10000"/>
          </a:bodyPr>
          <a:lstStyle/>
          <a:p>
            <a:r>
              <a:rPr lang="en-CA" dirty="0"/>
              <a:t>The Update Particle context controls any changes to the particles from the moment they are generated until the moment they die (disappear). </a:t>
            </a:r>
          </a:p>
          <a:p>
            <a:r>
              <a:rPr lang="en-CA" dirty="0"/>
              <a:t>This updates the particles and runs each frame. This includes properties similar to the Particle System’s Color over Lifetime, Size over Lifetime, Noise (called Turbulence in VFX Graph), and Texture Sheet Animation (called Flipbook Player in VFX Graph).</a:t>
            </a:r>
          </a:p>
          <a:p>
            <a:r>
              <a:rPr lang="en-CA" dirty="0"/>
              <a:t>Each of these behaviors can be added as a new </a:t>
            </a:r>
            <a:r>
              <a:rPr lang="en-CA" b="1" dirty="0"/>
              <a:t>Block</a:t>
            </a:r>
            <a:r>
              <a:rPr lang="en-CA" dirty="0"/>
              <a:t> in the context. In the screenshot above, for example, </a:t>
            </a:r>
            <a:r>
              <a:rPr lang="en-CA" b="1" dirty="0"/>
              <a:t>Turbulence</a:t>
            </a:r>
            <a:r>
              <a:rPr lang="en-CA" dirty="0"/>
              <a:t> is a Block.</a:t>
            </a:r>
          </a:p>
          <a:p>
            <a:r>
              <a:rPr lang="en-CA" b="1" dirty="0"/>
              <a:t>3. </a:t>
            </a:r>
            <a:r>
              <a:rPr lang="en-CA" dirty="0"/>
              <a:t>Experiment with new Blocks by right-clicking in the Context and selecting </a:t>
            </a:r>
            <a:r>
              <a:rPr lang="en-CA" b="1" dirty="0"/>
              <a:t>Create Block</a:t>
            </a:r>
            <a:r>
              <a:rPr lang="en-CA" dirty="0"/>
              <a:t>. Then either browse through the sub-menus or use the search bar to explore.</a:t>
            </a:r>
          </a:p>
          <a:p>
            <a:endParaRPr lang="en-CA" dirty="0"/>
          </a:p>
          <a:p>
            <a:endParaRPr lang="en-US" dirty="0"/>
          </a:p>
        </p:txBody>
      </p:sp>
      <p:sp>
        <p:nvSpPr>
          <p:cNvPr id="3" name="Text Placeholder 2">
            <a:extLst>
              <a:ext uri="{FF2B5EF4-FFF2-40B4-BE49-F238E27FC236}">
                <a16:creationId xmlns:a16="http://schemas.microsoft.com/office/drawing/2014/main" id="{6D3EC144-1907-557E-3E8A-88614A94C087}"/>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9E162011-6FEB-6E8A-D9AC-7D71B4EABF18}"/>
              </a:ext>
            </a:extLst>
          </p:cNvPr>
          <p:cNvSpPr>
            <a:spLocks noGrp="1"/>
          </p:cNvSpPr>
          <p:nvPr>
            <p:ph type="title"/>
          </p:nvPr>
        </p:nvSpPr>
        <p:spPr/>
        <p:txBody>
          <a:bodyPr>
            <a:normAutofit/>
          </a:bodyPr>
          <a:lstStyle/>
          <a:p>
            <a:r>
              <a:rPr lang="en-CA" b="1" dirty="0"/>
              <a:t>Update Particle Context</a:t>
            </a:r>
            <a:endParaRPr lang="en-US" dirty="0"/>
          </a:p>
        </p:txBody>
      </p:sp>
      <p:pic>
        <p:nvPicPr>
          <p:cNvPr id="5" name="Picture 4">
            <a:extLst>
              <a:ext uri="{FF2B5EF4-FFF2-40B4-BE49-F238E27FC236}">
                <a16:creationId xmlns:a16="http://schemas.microsoft.com/office/drawing/2014/main" id="{D8C5A7F6-B2DB-4979-C4F4-7C3ABF63F49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02949" y="1507068"/>
            <a:ext cx="2729758" cy="4778828"/>
          </a:xfrm>
          <a:prstGeom prst="rect">
            <a:avLst/>
          </a:prstGeom>
          <a:noFill/>
          <a:ln>
            <a:noFill/>
          </a:ln>
        </p:spPr>
      </p:pic>
      <p:pic>
        <p:nvPicPr>
          <p:cNvPr id="6" name="Picture 5">
            <a:extLst>
              <a:ext uri="{FF2B5EF4-FFF2-40B4-BE49-F238E27FC236}">
                <a16:creationId xmlns:a16="http://schemas.microsoft.com/office/drawing/2014/main" id="{6ED1AEC4-884E-7192-B155-A8C18D10AB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45003" y="1905719"/>
            <a:ext cx="3602685" cy="3872593"/>
          </a:xfrm>
          <a:prstGeom prst="rect">
            <a:avLst/>
          </a:prstGeom>
          <a:noFill/>
          <a:ln>
            <a:noFill/>
          </a:ln>
        </p:spPr>
      </p:pic>
    </p:spTree>
    <p:extLst>
      <p:ext uri="{BB962C8B-B14F-4D97-AF65-F5344CB8AC3E}">
        <p14:creationId xmlns:p14="http://schemas.microsoft.com/office/powerpoint/2010/main" val="3350730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10BCD9-61F5-C33D-0931-C634A8DEFE11}"/>
              </a:ext>
            </a:extLst>
          </p:cNvPr>
          <p:cNvSpPr>
            <a:spLocks noGrp="1"/>
          </p:cNvSpPr>
          <p:nvPr>
            <p:ph type="body" idx="1"/>
          </p:nvPr>
        </p:nvSpPr>
        <p:spPr/>
        <p:txBody>
          <a:bodyPr/>
          <a:lstStyle/>
          <a:p>
            <a:r>
              <a:rPr lang="en-CA" dirty="0"/>
              <a:t>The Output Particle context controls the appearance of each of the particles, very similar to the </a:t>
            </a:r>
            <a:r>
              <a:rPr lang="en-CA" b="1" dirty="0"/>
              <a:t>Renderer</a:t>
            </a:r>
            <a:r>
              <a:rPr lang="en-CA" dirty="0"/>
              <a:t> module of a Particle System. This is where you assign a material for your particles.</a:t>
            </a:r>
          </a:p>
          <a:p>
            <a:endParaRPr lang="en-US" dirty="0"/>
          </a:p>
        </p:txBody>
      </p:sp>
      <p:sp>
        <p:nvSpPr>
          <p:cNvPr id="3" name="Text Placeholder 2">
            <a:extLst>
              <a:ext uri="{FF2B5EF4-FFF2-40B4-BE49-F238E27FC236}">
                <a16:creationId xmlns:a16="http://schemas.microsoft.com/office/drawing/2014/main" id="{6C4C6C32-44DF-CE39-75B5-835059953DB6}"/>
              </a:ext>
            </a:extLst>
          </p:cNvPr>
          <p:cNvSpPr>
            <a:spLocks noGrp="1"/>
          </p:cNvSpPr>
          <p:nvPr>
            <p:ph type="body" idx="2"/>
          </p:nvPr>
        </p:nvSpPr>
        <p:spPr/>
        <p:txBody>
          <a:bodyPr/>
          <a:lstStyle/>
          <a:p>
            <a:r>
              <a:rPr lang="en-US" dirty="0"/>
              <a:t> </a:t>
            </a:r>
          </a:p>
        </p:txBody>
      </p:sp>
      <p:sp>
        <p:nvSpPr>
          <p:cNvPr id="4" name="Title 3">
            <a:extLst>
              <a:ext uri="{FF2B5EF4-FFF2-40B4-BE49-F238E27FC236}">
                <a16:creationId xmlns:a16="http://schemas.microsoft.com/office/drawing/2014/main" id="{D6EA01E0-9D7E-06D8-DCCA-50C18FB8A7D1}"/>
              </a:ext>
            </a:extLst>
          </p:cNvPr>
          <p:cNvSpPr>
            <a:spLocks noGrp="1"/>
          </p:cNvSpPr>
          <p:nvPr>
            <p:ph type="title"/>
          </p:nvPr>
        </p:nvSpPr>
        <p:spPr/>
        <p:txBody>
          <a:bodyPr>
            <a:normAutofit/>
          </a:bodyPr>
          <a:lstStyle/>
          <a:p>
            <a:r>
              <a:rPr lang="en-CA" b="1" dirty="0"/>
              <a:t>Output Particle Context</a:t>
            </a:r>
            <a:endParaRPr lang="en-US" dirty="0"/>
          </a:p>
        </p:txBody>
      </p:sp>
      <p:pic>
        <p:nvPicPr>
          <p:cNvPr id="5" name="Picture 4">
            <a:extLst>
              <a:ext uri="{FF2B5EF4-FFF2-40B4-BE49-F238E27FC236}">
                <a16:creationId xmlns:a16="http://schemas.microsoft.com/office/drawing/2014/main" id="{60495375-0132-7627-0B9B-4D59863D52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6398" y="1567700"/>
            <a:ext cx="5142182" cy="4841672"/>
          </a:xfrm>
          <a:prstGeom prst="rect">
            <a:avLst/>
          </a:prstGeom>
          <a:noFill/>
          <a:ln>
            <a:noFill/>
          </a:ln>
        </p:spPr>
      </p:pic>
    </p:spTree>
    <p:extLst>
      <p:ext uri="{BB962C8B-B14F-4D97-AF65-F5344CB8AC3E}">
        <p14:creationId xmlns:p14="http://schemas.microsoft.com/office/powerpoint/2010/main" val="3172902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73E17F4-08F0-37A6-8A18-9F7A34BC9546}"/>
              </a:ext>
            </a:extLst>
          </p:cNvPr>
          <p:cNvSpPr>
            <a:spLocks noGrp="1"/>
          </p:cNvSpPr>
          <p:nvPr>
            <p:ph type="body" idx="1"/>
          </p:nvPr>
        </p:nvSpPr>
        <p:spPr/>
        <p:txBody>
          <a:bodyPr/>
          <a:lstStyle/>
          <a:p>
            <a:r>
              <a:rPr lang="en-US" dirty="0"/>
              <a:t>From the project tab, create a new “Minimal System” VFX Asset.</a:t>
            </a:r>
            <a:endParaRPr lang="en-CA" dirty="0"/>
          </a:p>
        </p:txBody>
      </p:sp>
      <p:sp>
        <p:nvSpPr>
          <p:cNvPr id="3" name="Text Placeholder 2">
            <a:extLst>
              <a:ext uri="{FF2B5EF4-FFF2-40B4-BE49-F238E27FC236}">
                <a16:creationId xmlns:a16="http://schemas.microsoft.com/office/drawing/2014/main" id="{C9D30CB8-582F-6A95-F9DB-59B7C232A6C3}"/>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439DF4FE-AD12-5B92-6EDB-45C711C49D02}"/>
              </a:ext>
            </a:extLst>
          </p:cNvPr>
          <p:cNvSpPr>
            <a:spLocks noGrp="1"/>
          </p:cNvSpPr>
          <p:nvPr>
            <p:ph type="title"/>
          </p:nvPr>
        </p:nvSpPr>
        <p:spPr/>
        <p:txBody>
          <a:bodyPr/>
          <a:lstStyle/>
          <a:p>
            <a:r>
              <a:rPr lang="en-US" dirty="0"/>
              <a:t>Create a minimal graph</a:t>
            </a:r>
            <a:endParaRPr lang="en-CA" dirty="0"/>
          </a:p>
        </p:txBody>
      </p:sp>
      <p:pic>
        <p:nvPicPr>
          <p:cNvPr id="6" name="Picture 5">
            <a:extLst>
              <a:ext uri="{FF2B5EF4-FFF2-40B4-BE49-F238E27FC236}">
                <a16:creationId xmlns:a16="http://schemas.microsoft.com/office/drawing/2014/main" id="{FB8D708E-FB02-6341-D837-BF12F2DFD6BC}"/>
              </a:ext>
            </a:extLst>
          </p:cNvPr>
          <p:cNvPicPr>
            <a:picLocks noChangeAspect="1"/>
          </p:cNvPicPr>
          <p:nvPr/>
        </p:nvPicPr>
        <p:blipFill>
          <a:blip r:embed="rId2"/>
          <a:stretch>
            <a:fillRect/>
          </a:stretch>
        </p:blipFill>
        <p:spPr>
          <a:xfrm>
            <a:off x="4701091" y="1617872"/>
            <a:ext cx="5867446" cy="4448287"/>
          </a:xfrm>
          <a:prstGeom prst="rect">
            <a:avLst/>
          </a:prstGeom>
        </p:spPr>
      </p:pic>
    </p:spTree>
    <p:extLst>
      <p:ext uri="{BB962C8B-B14F-4D97-AF65-F5344CB8AC3E}">
        <p14:creationId xmlns:p14="http://schemas.microsoft.com/office/powerpoint/2010/main" val="1203121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FB74DA-CB34-4329-F97E-715C4376AB33}"/>
              </a:ext>
            </a:extLst>
          </p:cNvPr>
          <p:cNvSpPr>
            <a:spLocks noGrp="1"/>
          </p:cNvSpPr>
          <p:nvPr>
            <p:ph type="body" idx="1"/>
          </p:nvPr>
        </p:nvSpPr>
        <p:spPr/>
        <p:txBody>
          <a:bodyPr/>
          <a:lstStyle/>
          <a:p>
            <a:r>
              <a:rPr lang="en-US" dirty="0"/>
              <a:t> </a:t>
            </a:r>
            <a:endParaRPr lang="en-CA" dirty="0"/>
          </a:p>
        </p:txBody>
      </p:sp>
      <p:sp>
        <p:nvSpPr>
          <p:cNvPr id="3" name="Text Placeholder 2">
            <a:extLst>
              <a:ext uri="{FF2B5EF4-FFF2-40B4-BE49-F238E27FC236}">
                <a16:creationId xmlns:a16="http://schemas.microsoft.com/office/drawing/2014/main" id="{25AC219C-130F-3B2E-6E2D-81FF20371FDD}"/>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ED35651C-D1F9-C529-53CA-07210D7E8A29}"/>
              </a:ext>
            </a:extLst>
          </p:cNvPr>
          <p:cNvSpPr>
            <a:spLocks noGrp="1"/>
          </p:cNvSpPr>
          <p:nvPr>
            <p:ph type="title"/>
          </p:nvPr>
        </p:nvSpPr>
        <p:spPr/>
        <p:txBody>
          <a:bodyPr/>
          <a:lstStyle/>
          <a:p>
            <a:r>
              <a:rPr lang="en-US" dirty="0"/>
              <a:t>Add a “Constant Spawn Rate” block in the “Spawn” context</a:t>
            </a:r>
            <a:endParaRPr lang="en-CA" dirty="0"/>
          </a:p>
        </p:txBody>
      </p:sp>
      <p:pic>
        <p:nvPicPr>
          <p:cNvPr id="6" name="Picture 5">
            <a:extLst>
              <a:ext uri="{FF2B5EF4-FFF2-40B4-BE49-F238E27FC236}">
                <a16:creationId xmlns:a16="http://schemas.microsoft.com/office/drawing/2014/main" id="{90FAB281-380C-B51D-55D7-FAE0B7E68D28}"/>
              </a:ext>
            </a:extLst>
          </p:cNvPr>
          <p:cNvPicPr>
            <a:picLocks noChangeAspect="1"/>
          </p:cNvPicPr>
          <p:nvPr/>
        </p:nvPicPr>
        <p:blipFill>
          <a:blip r:embed="rId2"/>
          <a:stretch>
            <a:fillRect/>
          </a:stretch>
        </p:blipFill>
        <p:spPr>
          <a:xfrm>
            <a:off x="1000460" y="2664489"/>
            <a:ext cx="3911077" cy="3575842"/>
          </a:xfrm>
          <a:prstGeom prst="rect">
            <a:avLst/>
          </a:prstGeom>
        </p:spPr>
      </p:pic>
      <p:pic>
        <p:nvPicPr>
          <p:cNvPr id="8" name="Picture 7">
            <a:extLst>
              <a:ext uri="{FF2B5EF4-FFF2-40B4-BE49-F238E27FC236}">
                <a16:creationId xmlns:a16="http://schemas.microsoft.com/office/drawing/2014/main" id="{9D5EC8E1-B5C4-C72C-C5D2-453EA83CABC6}"/>
              </a:ext>
            </a:extLst>
          </p:cNvPr>
          <p:cNvPicPr>
            <a:picLocks noChangeAspect="1"/>
          </p:cNvPicPr>
          <p:nvPr/>
        </p:nvPicPr>
        <p:blipFill>
          <a:blip r:embed="rId3"/>
          <a:stretch>
            <a:fillRect/>
          </a:stretch>
        </p:blipFill>
        <p:spPr>
          <a:xfrm>
            <a:off x="5045499" y="2664489"/>
            <a:ext cx="6542067" cy="3575842"/>
          </a:xfrm>
          <a:prstGeom prst="rect">
            <a:avLst/>
          </a:prstGeom>
        </p:spPr>
      </p:pic>
    </p:spTree>
    <p:extLst>
      <p:ext uri="{BB962C8B-B14F-4D97-AF65-F5344CB8AC3E}">
        <p14:creationId xmlns:p14="http://schemas.microsoft.com/office/powerpoint/2010/main" val="2185161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29CEAA-5F34-9CEB-E9FF-17BB493D719E}"/>
              </a:ext>
            </a:extLst>
          </p:cNvPr>
          <p:cNvSpPr>
            <a:spLocks noGrp="1"/>
          </p:cNvSpPr>
          <p:nvPr>
            <p:ph type="body" idx="1"/>
          </p:nvPr>
        </p:nvSpPr>
        <p:spPr>
          <a:xfrm>
            <a:off x="1090863" y="1507068"/>
            <a:ext cx="2878710" cy="4669896"/>
          </a:xfrm>
        </p:spPr>
        <p:txBody>
          <a:bodyPr/>
          <a:lstStyle/>
          <a:p>
            <a:r>
              <a:rPr lang="en-US" dirty="0"/>
              <a:t>You should see a grey quad at the location of “minimal VFX”!</a:t>
            </a:r>
            <a:endParaRPr lang="en-CA" dirty="0"/>
          </a:p>
        </p:txBody>
      </p:sp>
      <p:sp>
        <p:nvSpPr>
          <p:cNvPr id="3" name="Text Placeholder 2">
            <a:extLst>
              <a:ext uri="{FF2B5EF4-FFF2-40B4-BE49-F238E27FC236}">
                <a16:creationId xmlns:a16="http://schemas.microsoft.com/office/drawing/2014/main" id="{9DAFDFB2-81DE-7902-70FE-6A724C01C582}"/>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DF4D7BC1-1731-BFB5-CC76-B22E2871AC59}"/>
              </a:ext>
            </a:extLst>
          </p:cNvPr>
          <p:cNvSpPr>
            <a:spLocks noGrp="1"/>
          </p:cNvSpPr>
          <p:nvPr>
            <p:ph type="title"/>
          </p:nvPr>
        </p:nvSpPr>
        <p:spPr/>
        <p:txBody>
          <a:bodyPr/>
          <a:lstStyle/>
          <a:p>
            <a:r>
              <a:rPr lang="en-US" dirty="0"/>
              <a:t>Run</a:t>
            </a:r>
            <a:endParaRPr lang="en-CA" dirty="0"/>
          </a:p>
        </p:txBody>
      </p:sp>
      <p:pic>
        <p:nvPicPr>
          <p:cNvPr id="6" name="Picture 5">
            <a:extLst>
              <a:ext uri="{FF2B5EF4-FFF2-40B4-BE49-F238E27FC236}">
                <a16:creationId xmlns:a16="http://schemas.microsoft.com/office/drawing/2014/main" id="{11979C54-A3DB-1420-0472-7C46D3AF0C45}"/>
              </a:ext>
            </a:extLst>
          </p:cNvPr>
          <p:cNvPicPr>
            <a:picLocks noChangeAspect="1"/>
          </p:cNvPicPr>
          <p:nvPr/>
        </p:nvPicPr>
        <p:blipFill>
          <a:blip r:embed="rId2"/>
          <a:stretch>
            <a:fillRect/>
          </a:stretch>
        </p:blipFill>
        <p:spPr>
          <a:xfrm>
            <a:off x="4099114" y="1507068"/>
            <a:ext cx="7488452" cy="4093129"/>
          </a:xfrm>
          <a:prstGeom prst="rect">
            <a:avLst/>
          </a:prstGeom>
        </p:spPr>
      </p:pic>
    </p:spTree>
    <p:extLst>
      <p:ext uri="{BB962C8B-B14F-4D97-AF65-F5344CB8AC3E}">
        <p14:creationId xmlns:p14="http://schemas.microsoft.com/office/powerpoint/2010/main" val="3669049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79E31C-64F9-A69D-F9FD-658113540BDD}"/>
              </a:ext>
            </a:extLst>
          </p:cNvPr>
          <p:cNvSpPr>
            <a:spLocks noGrp="1"/>
          </p:cNvSpPr>
          <p:nvPr>
            <p:ph type="body" idx="1"/>
          </p:nvPr>
        </p:nvSpPr>
        <p:spPr/>
        <p:txBody>
          <a:bodyPr/>
          <a:lstStyle/>
          <a:p>
            <a:r>
              <a:rPr lang="en-US" dirty="0"/>
              <a:t>In “Output Particle Unlit”, add “Default Particle” texture to “Main Texture”</a:t>
            </a:r>
            <a:endParaRPr lang="en-CA" dirty="0"/>
          </a:p>
        </p:txBody>
      </p:sp>
      <p:sp>
        <p:nvSpPr>
          <p:cNvPr id="3" name="Text Placeholder 2">
            <a:extLst>
              <a:ext uri="{FF2B5EF4-FFF2-40B4-BE49-F238E27FC236}">
                <a16:creationId xmlns:a16="http://schemas.microsoft.com/office/drawing/2014/main" id="{DDEC4E94-F48F-62A5-01EF-6FF03B39040A}"/>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F9B9FA6A-3EBB-CAEF-3B99-EEE96CC8D57A}"/>
              </a:ext>
            </a:extLst>
          </p:cNvPr>
          <p:cNvSpPr>
            <a:spLocks noGrp="1"/>
          </p:cNvSpPr>
          <p:nvPr>
            <p:ph type="title"/>
          </p:nvPr>
        </p:nvSpPr>
        <p:spPr/>
        <p:txBody>
          <a:bodyPr/>
          <a:lstStyle/>
          <a:p>
            <a:r>
              <a:rPr lang="en-US" dirty="0"/>
              <a:t>Add a texture</a:t>
            </a:r>
            <a:endParaRPr lang="en-CA" dirty="0"/>
          </a:p>
        </p:txBody>
      </p:sp>
      <p:pic>
        <p:nvPicPr>
          <p:cNvPr id="6" name="Picture 5">
            <a:extLst>
              <a:ext uri="{FF2B5EF4-FFF2-40B4-BE49-F238E27FC236}">
                <a16:creationId xmlns:a16="http://schemas.microsoft.com/office/drawing/2014/main" id="{1D56CF81-37E5-27CF-39C4-7CEFA7B37AD8}"/>
              </a:ext>
            </a:extLst>
          </p:cNvPr>
          <p:cNvPicPr>
            <a:picLocks noChangeAspect="1"/>
          </p:cNvPicPr>
          <p:nvPr/>
        </p:nvPicPr>
        <p:blipFill>
          <a:blip r:embed="rId2"/>
          <a:stretch>
            <a:fillRect/>
          </a:stretch>
        </p:blipFill>
        <p:spPr>
          <a:xfrm>
            <a:off x="4464423" y="1507068"/>
            <a:ext cx="7313407" cy="4410479"/>
          </a:xfrm>
          <a:prstGeom prst="rect">
            <a:avLst/>
          </a:prstGeom>
        </p:spPr>
      </p:pic>
    </p:spTree>
    <p:extLst>
      <p:ext uri="{BB962C8B-B14F-4D97-AF65-F5344CB8AC3E}">
        <p14:creationId xmlns:p14="http://schemas.microsoft.com/office/powerpoint/2010/main" val="5595393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C16445-3FF6-5F01-D58E-695A832BA06C}"/>
              </a:ext>
            </a:extLst>
          </p:cNvPr>
          <p:cNvSpPr>
            <a:spLocks noGrp="1"/>
          </p:cNvSpPr>
          <p:nvPr>
            <p:ph type="body" idx="1"/>
          </p:nvPr>
        </p:nvSpPr>
        <p:spPr/>
        <p:txBody>
          <a:bodyPr/>
          <a:lstStyle/>
          <a:p>
            <a:r>
              <a:rPr lang="en-US" dirty="0"/>
              <a:t>In “Initialize Particle”, add “Set Velocity” block, and set “y” to 1.</a:t>
            </a:r>
          </a:p>
          <a:p>
            <a:r>
              <a:rPr lang="en-US" dirty="0"/>
              <a:t>Run the application and see particles vertically flying upward.</a:t>
            </a:r>
          </a:p>
          <a:p>
            <a:r>
              <a:rPr lang="en-US" dirty="0"/>
              <a:t>Spawn rate is currently set to 10.</a:t>
            </a:r>
          </a:p>
          <a:p>
            <a:r>
              <a:rPr lang="en-US" dirty="0"/>
              <a:t>Notice that it runs out after it’s hit its capacity at a rate of 10.</a:t>
            </a:r>
            <a:endParaRPr lang="en-CA" dirty="0"/>
          </a:p>
        </p:txBody>
      </p:sp>
      <p:sp>
        <p:nvSpPr>
          <p:cNvPr id="3" name="Text Placeholder 2">
            <a:extLst>
              <a:ext uri="{FF2B5EF4-FFF2-40B4-BE49-F238E27FC236}">
                <a16:creationId xmlns:a16="http://schemas.microsoft.com/office/drawing/2014/main" id="{2D56B4DA-706A-6734-9BC2-22588BDF8778}"/>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A73EFA58-4E9B-5C50-9DCE-A7AE5F060913}"/>
              </a:ext>
            </a:extLst>
          </p:cNvPr>
          <p:cNvSpPr>
            <a:spLocks noGrp="1"/>
          </p:cNvSpPr>
          <p:nvPr>
            <p:ph type="title"/>
          </p:nvPr>
        </p:nvSpPr>
        <p:spPr/>
        <p:txBody>
          <a:bodyPr/>
          <a:lstStyle/>
          <a:p>
            <a:r>
              <a:rPr lang="en-US" dirty="0"/>
              <a:t>Initialize Particle: Set Velocity</a:t>
            </a:r>
            <a:endParaRPr lang="en-CA" dirty="0"/>
          </a:p>
        </p:txBody>
      </p:sp>
      <p:pic>
        <p:nvPicPr>
          <p:cNvPr id="6" name="Picture 5">
            <a:extLst>
              <a:ext uri="{FF2B5EF4-FFF2-40B4-BE49-F238E27FC236}">
                <a16:creationId xmlns:a16="http://schemas.microsoft.com/office/drawing/2014/main" id="{77B78C2C-639C-6169-0564-EDBB780DAF60}"/>
              </a:ext>
            </a:extLst>
          </p:cNvPr>
          <p:cNvPicPr>
            <a:picLocks noChangeAspect="1"/>
          </p:cNvPicPr>
          <p:nvPr/>
        </p:nvPicPr>
        <p:blipFill>
          <a:blip r:embed="rId2"/>
          <a:stretch>
            <a:fillRect/>
          </a:stretch>
        </p:blipFill>
        <p:spPr>
          <a:xfrm>
            <a:off x="4607646" y="1507068"/>
            <a:ext cx="6979920" cy="4669896"/>
          </a:xfrm>
          <a:prstGeom prst="rect">
            <a:avLst/>
          </a:prstGeom>
        </p:spPr>
      </p:pic>
    </p:spTree>
    <p:extLst>
      <p:ext uri="{BB962C8B-B14F-4D97-AF65-F5344CB8AC3E}">
        <p14:creationId xmlns:p14="http://schemas.microsoft.com/office/powerpoint/2010/main" val="27312781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B5EE94-C39E-AFAE-A5AD-F10BD9345191}"/>
              </a:ext>
            </a:extLst>
          </p:cNvPr>
          <p:cNvSpPr>
            <a:spLocks noGrp="1"/>
          </p:cNvSpPr>
          <p:nvPr>
            <p:ph type="body" idx="1"/>
          </p:nvPr>
        </p:nvSpPr>
        <p:spPr/>
        <p:txBody>
          <a:bodyPr/>
          <a:lstStyle/>
          <a:p>
            <a:r>
              <a:rPr lang="en-US" dirty="0"/>
              <a:t> </a:t>
            </a:r>
            <a:endParaRPr lang="en-CA" dirty="0"/>
          </a:p>
        </p:txBody>
      </p:sp>
      <p:sp>
        <p:nvSpPr>
          <p:cNvPr id="3" name="Text Placeholder 2">
            <a:extLst>
              <a:ext uri="{FF2B5EF4-FFF2-40B4-BE49-F238E27FC236}">
                <a16:creationId xmlns:a16="http://schemas.microsoft.com/office/drawing/2014/main" id="{4B6EFA50-3240-49B1-DC13-A0737106585F}"/>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4CF88D94-82B9-762D-C572-165D6315118C}"/>
              </a:ext>
            </a:extLst>
          </p:cNvPr>
          <p:cNvSpPr>
            <a:spLocks noGrp="1"/>
          </p:cNvSpPr>
          <p:nvPr>
            <p:ph type="title"/>
          </p:nvPr>
        </p:nvSpPr>
        <p:spPr/>
        <p:txBody>
          <a:bodyPr/>
          <a:lstStyle/>
          <a:p>
            <a:r>
              <a:rPr lang="en-US" dirty="0"/>
              <a:t>Add an Int Property (Spawn Rate)</a:t>
            </a:r>
            <a:endParaRPr lang="en-CA" dirty="0"/>
          </a:p>
        </p:txBody>
      </p:sp>
      <p:pic>
        <p:nvPicPr>
          <p:cNvPr id="6" name="Picture 5">
            <a:extLst>
              <a:ext uri="{FF2B5EF4-FFF2-40B4-BE49-F238E27FC236}">
                <a16:creationId xmlns:a16="http://schemas.microsoft.com/office/drawing/2014/main" id="{8DA60347-0F10-5FDC-3A86-2CB4F2CC4349}"/>
              </a:ext>
            </a:extLst>
          </p:cNvPr>
          <p:cNvPicPr>
            <a:picLocks noChangeAspect="1"/>
          </p:cNvPicPr>
          <p:nvPr/>
        </p:nvPicPr>
        <p:blipFill>
          <a:blip r:embed="rId2"/>
          <a:stretch>
            <a:fillRect/>
          </a:stretch>
        </p:blipFill>
        <p:spPr>
          <a:xfrm>
            <a:off x="4442908" y="1507068"/>
            <a:ext cx="7566212" cy="4066234"/>
          </a:xfrm>
          <a:prstGeom prst="rect">
            <a:avLst/>
          </a:prstGeom>
        </p:spPr>
      </p:pic>
      <p:pic>
        <p:nvPicPr>
          <p:cNvPr id="8" name="Picture 7">
            <a:extLst>
              <a:ext uri="{FF2B5EF4-FFF2-40B4-BE49-F238E27FC236}">
                <a16:creationId xmlns:a16="http://schemas.microsoft.com/office/drawing/2014/main" id="{F1403E8E-DE13-F0DB-D01B-4C3BBAF8B0B6}"/>
              </a:ext>
            </a:extLst>
          </p:cNvPr>
          <p:cNvPicPr>
            <a:picLocks noChangeAspect="1"/>
          </p:cNvPicPr>
          <p:nvPr/>
        </p:nvPicPr>
        <p:blipFill>
          <a:blip r:embed="rId3"/>
          <a:stretch>
            <a:fillRect/>
          </a:stretch>
        </p:blipFill>
        <p:spPr>
          <a:xfrm>
            <a:off x="604435" y="1507068"/>
            <a:ext cx="3569532" cy="3348077"/>
          </a:xfrm>
          <a:prstGeom prst="rect">
            <a:avLst/>
          </a:prstGeom>
        </p:spPr>
      </p:pic>
    </p:spTree>
    <p:extLst>
      <p:ext uri="{BB962C8B-B14F-4D97-AF65-F5344CB8AC3E}">
        <p14:creationId xmlns:p14="http://schemas.microsoft.com/office/powerpoint/2010/main" val="34652539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A821A94-D6C4-1FEA-B3B3-4172EED6ADC4}"/>
              </a:ext>
            </a:extLst>
          </p:cNvPr>
          <p:cNvSpPr>
            <a:spLocks noGrp="1"/>
          </p:cNvSpPr>
          <p:nvPr>
            <p:ph type="body" idx="1"/>
          </p:nvPr>
        </p:nvSpPr>
        <p:spPr/>
        <p:txBody>
          <a:bodyPr/>
          <a:lstStyle/>
          <a:p>
            <a:r>
              <a:rPr lang="en-US" dirty="0"/>
              <a:t>Drag Spawn Rate to the graph and connect it to the “Rate”</a:t>
            </a:r>
            <a:endParaRPr lang="en-CA" dirty="0"/>
          </a:p>
        </p:txBody>
      </p:sp>
      <p:sp>
        <p:nvSpPr>
          <p:cNvPr id="3" name="Text Placeholder 2">
            <a:extLst>
              <a:ext uri="{FF2B5EF4-FFF2-40B4-BE49-F238E27FC236}">
                <a16:creationId xmlns:a16="http://schemas.microsoft.com/office/drawing/2014/main" id="{EC65F141-17F5-69DE-A669-54534B652178}"/>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1E2FA916-A661-CAEF-097C-1CBEC08D65B6}"/>
              </a:ext>
            </a:extLst>
          </p:cNvPr>
          <p:cNvSpPr>
            <a:spLocks noGrp="1"/>
          </p:cNvSpPr>
          <p:nvPr>
            <p:ph type="title"/>
          </p:nvPr>
        </p:nvSpPr>
        <p:spPr/>
        <p:txBody>
          <a:bodyPr>
            <a:normAutofit fontScale="90000"/>
          </a:bodyPr>
          <a:lstStyle/>
          <a:p>
            <a:r>
              <a:rPr lang="en-US" dirty="0"/>
              <a:t>Connect Spawn Rate to “Spawn” context</a:t>
            </a:r>
            <a:br>
              <a:rPr lang="en-US" dirty="0"/>
            </a:br>
            <a:endParaRPr lang="en-CA" dirty="0"/>
          </a:p>
        </p:txBody>
      </p:sp>
      <p:pic>
        <p:nvPicPr>
          <p:cNvPr id="6" name="Picture 5">
            <a:extLst>
              <a:ext uri="{FF2B5EF4-FFF2-40B4-BE49-F238E27FC236}">
                <a16:creationId xmlns:a16="http://schemas.microsoft.com/office/drawing/2014/main" id="{8A23FB0B-D0A4-8DAA-1847-2A4B1827BB21}"/>
              </a:ext>
            </a:extLst>
          </p:cNvPr>
          <p:cNvPicPr>
            <a:picLocks noChangeAspect="1"/>
          </p:cNvPicPr>
          <p:nvPr/>
        </p:nvPicPr>
        <p:blipFill>
          <a:blip r:embed="rId2"/>
          <a:stretch>
            <a:fillRect/>
          </a:stretch>
        </p:blipFill>
        <p:spPr>
          <a:xfrm>
            <a:off x="4539727" y="1507069"/>
            <a:ext cx="7047840" cy="4669896"/>
          </a:xfrm>
          <a:prstGeom prst="rect">
            <a:avLst/>
          </a:prstGeom>
        </p:spPr>
      </p:pic>
    </p:spTree>
    <p:extLst>
      <p:ext uri="{BB962C8B-B14F-4D97-AF65-F5344CB8AC3E}">
        <p14:creationId xmlns:p14="http://schemas.microsoft.com/office/powerpoint/2010/main" val="2874266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D83E86-D40F-CFB7-4E88-C3503CF63BE8}"/>
              </a:ext>
            </a:extLst>
          </p:cNvPr>
          <p:cNvSpPr>
            <a:spLocks noGrp="1"/>
          </p:cNvSpPr>
          <p:nvPr>
            <p:ph type="body" idx="1"/>
          </p:nvPr>
        </p:nvSpPr>
        <p:spPr/>
        <p:txBody>
          <a:bodyPr/>
          <a:lstStyle/>
          <a:p>
            <a:r>
              <a:rPr lang="en-US" dirty="0"/>
              <a:t>Notice that “Spawn Rate” has been added to the “Properties” section of the “Visual Effect”.</a:t>
            </a:r>
          </a:p>
          <a:p>
            <a:r>
              <a:rPr lang="en-US" dirty="0"/>
              <a:t>Change the “Spawn Rate” value to 50!</a:t>
            </a:r>
          </a:p>
          <a:p>
            <a:r>
              <a:rPr lang="en-US" dirty="0"/>
              <a:t>Change the “Capacity” to 5000.</a:t>
            </a:r>
            <a:endParaRPr lang="en-CA" dirty="0"/>
          </a:p>
        </p:txBody>
      </p:sp>
      <p:sp>
        <p:nvSpPr>
          <p:cNvPr id="3" name="Text Placeholder 2">
            <a:extLst>
              <a:ext uri="{FF2B5EF4-FFF2-40B4-BE49-F238E27FC236}">
                <a16:creationId xmlns:a16="http://schemas.microsoft.com/office/drawing/2014/main" id="{E45636CA-C622-D1A0-DA96-AD9E40367334}"/>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1F7DCBF2-D4F3-1EC3-75F4-6AD0C1C2AD32}"/>
              </a:ext>
            </a:extLst>
          </p:cNvPr>
          <p:cNvSpPr>
            <a:spLocks noGrp="1"/>
          </p:cNvSpPr>
          <p:nvPr>
            <p:ph type="title"/>
          </p:nvPr>
        </p:nvSpPr>
        <p:spPr/>
        <p:txBody>
          <a:bodyPr/>
          <a:lstStyle/>
          <a:p>
            <a:r>
              <a:rPr lang="en-US" dirty="0"/>
              <a:t>Inspector</a:t>
            </a:r>
            <a:endParaRPr lang="en-CA" dirty="0"/>
          </a:p>
        </p:txBody>
      </p:sp>
      <p:pic>
        <p:nvPicPr>
          <p:cNvPr id="6" name="Picture 5">
            <a:extLst>
              <a:ext uri="{FF2B5EF4-FFF2-40B4-BE49-F238E27FC236}">
                <a16:creationId xmlns:a16="http://schemas.microsoft.com/office/drawing/2014/main" id="{B50EB1C8-76BD-BAAF-EC70-1C024CC01FC9}"/>
              </a:ext>
            </a:extLst>
          </p:cNvPr>
          <p:cNvPicPr>
            <a:picLocks noChangeAspect="1"/>
          </p:cNvPicPr>
          <p:nvPr/>
        </p:nvPicPr>
        <p:blipFill>
          <a:blip r:embed="rId2"/>
          <a:stretch>
            <a:fillRect/>
          </a:stretch>
        </p:blipFill>
        <p:spPr>
          <a:xfrm>
            <a:off x="4491318" y="1893346"/>
            <a:ext cx="7143905" cy="4515735"/>
          </a:xfrm>
          <a:prstGeom prst="rect">
            <a:avLst/>
          </a:prstGeom>
        </p:spPr>
      </p:pic>
    </p:spTree>
    <p:extLst>
      <p:ext uri="{BB962C8B-B14F-4D97-AF65-F5344CB8AC3E}">
        <p14:creationId xmlns:p14="http://schemas.microsoft.com/office/powerpoint/2010/main" val="3050032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EAB092-4836-4C8E-2FAE-C267B8835E5C}"/>
              </a:ext>
            </a:extLst>
          </p:cNvPr>
          <p:cNvSpPr>
            <a:spLocks noGrp="1"/>
          </p:cNvSpPr>
          <p:nvPr>
            <p:ph type="body" idx="1"/>
          </p:nvPr>
        </p:nvSpPr>
        <p:spPr>
          <a:xfrm>
            <a:off x="1090863" y="1507068"/>
            <a:ext cx="2830300" cy="649840"/>
          </a:xfrm>
        </p:spPr>
        <p:txBody>
          <a:bodyPr>
            <a:normAutofit fontScale="55000" lnSpcReduction="20000"/>
          </a:bodyPr>
          <a:lstStyle/>
          <a:p>
            <a:r>
              <a:rPr lang="en-US" dirty="0"/>
              <a:t>Add “Color Over Life” block to Output Particle and see how the particles fade away. The reason it’s blending is the “Color Mode” is set to “Color and Alpha”.</a:t>
            </a:r>
            <a:endParaRPr lang="en-CA" dirty="0"/>
          </a:p>
        </p:txBody>
      </p:sp>
      <p:sp>
        <p:nvSpPr>
          <p:cNvPr id="3" name="Text Placeholder 2">
            <a:extLst>
              <a:ext uri="{FF2B5EF4-FFF2-40B4-BE49-F238E27FC236}">
                <a16:creationId xmlns:a16="http://schemas.microsoft.com/office/drawing/2014/main" id="{B44833B7-0963-3A06-1866-6CCB275141DB}"/>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951D4621-0DD9-076E-9B64-4FD4111178E0}"/>
              </a:ext>
            </a:extLst>
          </p:cNvPr>
          <p:cNvSpPr>
            <a:spLocks noGrp="1"/>
          </p:cNvSpPr>
          <p:nvPr>
            <p:ph type="title"/>
          </p:nvPr>
        </p:nvSpPr>
        <p:spPr/>
        <p:txBody>
          <a:bodyPr/>
          <a:lstStyle/>
          <a:p>
            <a:r>
              <a:rPr lang="en-US" dirty="0"/>
              <a:t>Output Particle: Color Over Life</a:t>
            </a:r>
            <a:endParaRPr lang="en-CA" dirty="0"/>
          </a:p>
        </p:txBody>
      </p:sp>
      <p:pic>
        <p:nvPicPr>
          <p:cNvPr id="6" name="Picture 5">
            <a:extLst>
              <a:ext uri="{FF2B5EF4-FFF2-40B4-BE49-F238E27FC236}">
                <a16:creationId xmlns:a16="http://schemas.microsoft.com/office/drawing/2014/main" id="{E5515EC9-8951-D577-B3F9-A87004D5BA9D}"/>
              </a:ext>
            </a:extLst>
          </p:cNvPr>
          <p:cNvPicPr>
            <a:picLocks noChangeAspect="1"/>
          </p:cNvPicPr>
          <p:nvPr/>
        </p:nvPicPr>
        <p:blipFill>
          <a:blip r:embed="rId2"/>
          <a:stretch>
            <a:fillRect/>
          </a:stretch>
        </p:blipFill>
        <p:spPr>
          <a:xfrm>
            <a:off x="1090862" y="2334410"/>
            <a:ext cx="2978537" cy="3448722"/>
          </a:xfrm>
          <a:prstGeom prst="rect">
            <a:avLst/>
          </a:prstGeom>
        </p:spPr>
      </p:pic>
      <p:pic>
        <p:nvPicPr>
          <p:cNvPr id="10" name="Picture 9">
            <a:extLst>
              <a:ext uri="{FF2B5EF4-FFF2-40B4-BE49-F238E27FC236}">
                <a16:creationId xmlns:a16="http://schemas.microsoft.com/office/drawing/2014/main" id="{A31CC8DD-A7F6-FBB2-3A93-93A12F7C6A3F}"/>
              </a:ext>
            </a:extLst>
          </p:cNvPr>
          <p:cNvPicPr>
            <a:picLocks noChangeAspect="1"/>
          </p:cNvPicPr>
          <p:nvPr/>
        </p:nvPicPr>
        <p:blipFill>
          <a:blip r:embed="rId3"/>
          <a:stretch>
            <a:fillRect/>
          </a:stretch>
        </p:blipFill>
        <p:spPr>
          <a:xfrm>
            <a:off x="4838242" y="2334411"/>
            <a:ext cx="6701200" cy="3448722"/>
          </a:xfrm>
          <a:prstGeom prst="rect">
            <a:avLst/>
          </a:prstGeom>
        </p:spPr>
      </p:pic>
    </p:spTree>
    <p:extLst>
      <p:ext uri="{BB962C8B-B14F-4D97-AF65-F5344CB8AC3E}">
        <p14:creationId xmlns:p14="http://schemas.microsoft.com/office/powerpoint/2010/main" val="1421034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BAD808-7441-FC8D-0CAA-037305A05794}"/>
              </a:ext>
            </a:extLst>
          </p:cNvPr>
          <p:cNvSpPr>
            <a:spLocks noGrp="1"/>
          </p:cNvSpPr>
          <p:nvPr>
            <p:ph type="body" idx="1"/>
          </p:nvPr>
        </p:nvSpPr>
        <p:spPr/>
        <p:txBody>
          <a:bodyPr/>
          <a:lstStyle/>
          <a:p>
            <a:r>
              <a:rPr lang="en-US" dirty="0"/>
              <a:t>Remember like “Particles”, the bottom arrows are color and top arrows </a:t>
            </a:r>
            <a:r>
              <a:rPr lang="en-US"/>
              <a:t>are alpha!</a:t>
            </a:r>
            <a:endParaRPr lang="en-CA" dirty="0"/>
          </a:p>
        </p:txBody>
      </p:sp>
      <p:sp>
        <p:nvSpPr>
          <p:cNvPr id="3" name="Text Placeholder 2">
            <a:extLst>
              <a:ext uri="{FF2B5EF4-FFF2-40B4-BE49-F238E27FC236}">
                <a16:creationId xmlns:a16="http://schemas.microsoft.com/office/drawing/2014/main" id="{3C3488AA-B94B-84AF-AE8D-AAC10BEFB336}"/>
              </a:ext>
            </a:extLst>
          </p:cNvPr>
          <p:cNvSpPr>
            <a:spLocks noGrp="1"/>
          </p:cNvSpPr>
          <p:nvPr>
            <p:ph type="body" idx="2"/>
          </p:nvPr>
        </p:nvSpPr>
        <p:spPr>
          <a:xfrm>
            <a:off x="4395537" y="1507068"/>
            <a:ext cx="7143905" cy="3740589"/>
          </a:xfrm>
        </p:spPr>
        <p:txBody>
          <a:bodyPr/>
          <a:lstStyle/>
          <a:p>
            <a:r>
              <a:rPr lang="en-US" dirty="0"/>
              <a:t> </a:t>
            </a:r>
            <a:endParaRPr lang="en-CA" dirty="0"/>
          </a:p>
        </p:txBody>
      </p:sp>
      <p:sp>
        <p:nvSpPr>
          <p:cNvPr id="4" name="Title 3">
            <a:extLst>
              <a:ext uri="{FF2B5EF4-FFF2-40B4-BE49-F238E27FC236}">
                <a16:creationId xmlns:a16="http://schemas.microsoft.com/office/drawing/2014/main" id="{25004793-A060-3F05-B37E-19ADA18F4987}"/>
              </a:ext>
            </a:extLst>
          </p:cNvPr>
          <p:cNvSpPr>
            <a:spLocks noGrp="1"/>
          </p:cNvSpPr>
          <p:nvPr>
            <p:ph type="title"/>
          </p:nvPr>
        </p:nvSpPr>
        <p:spPr/>
        <p:txBody>
          <a:bodyPr/>
          <a:lstStyle/>
          <a:p>
            <a:r>
              <a:rPr lang="en-US" dirty="0"/>
              <a:t>Change the Color and Intensity</a:t>
            </a:r>
            <a:endParaRPr lang="en-CA" dirty="0"/>
          </a:p>
        </p:txBody>
      </p:sp>
      <p:pic>
        <p:nvPicPr>
          <p:cNvPr id="6" name="Picture 5">
            <a:extLst>
              <a:ext uri="{FF2B5EF4-FFF2-40B4-BE49-F238E27FC236}">
                <a16:creationId xmlns:a16="http://schemas.microsoft.com/office/drawing/2014/main" id="{E256C5AA-B75E-B9A0-7BEE-C4661394F50B}"/>
              </a:ext>
            </a:extLst>
          </p:cNvPr>
          <p:cNvPicPr>
            <a:picLocks noChangeAspect="1"/>
          </p:cNvPicPr>
          <p:nvPr/>
        </p:nvPicPr>
        <p:blipFill>
          <a:blip r:embed="rId2"/>
          <a:stretch>
            <a:fillRect/>
          </a:stretch>
        </p:blipFill>
        <p:spPr>
          <a:xfrm>
            <a:off x="5728145" y="1610343"/>
            <a:ext cx="2850201" cy="4566621"/>
          </a:xfrm>
          <a:prstGeom prst="rect">
            <a:avLst/>
          </a:prstGeom>
        </p:spPr>
      </p:pic>
    </p:spTree>
    <p:extLst>
      <p:ext uri="{BB962C8B-B14F-4D97-AF65-F5344CB8AC3E}">
        <p14:creationId xmlns:p14="http://schemas.microsoft.com/office/powerpoint/2010/main" val="3284457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CB8E58-7908-656D-473E-D6BFBB10FFAD}"/>
              </a:ext>
            </a:extLst>
          </p:cNvPr>
          <p:cNvSpPr>
            <a:spLocks noGrp="1"/>
          </p:cNvSpPr>
          <p:nvPr>
            <p:ph type="body" idx="1"/>
          </p:nvPr>
        </p:nvSpPr>
        <p:spPr/>
        <p:txBody>
          <a:bodyPr/>
          <a:lstStyle/>
          <a:p>
            <a:r>
              <a:rPr lang="en-US" dirty="0"/>
              <a:t>Add “Set position Shape sphere ” block to “Initialize Particle”</a:t>
            </a:r>
            <a:endParaRPr lang="en-CA" dirty="0"/>
          </a:p>
        </p:txBody>
      </p:sp>
      <p:sp>
        <p:nvSpPr>
          <p:cNvPr id="3" name="Text Placeholder 2">
            <a:extLst>
              <a:ext uri="{FF2B5EF4-FFF2-40B4-BE49-F238E27FC236}">
                <a16:creationId xmlns:a16="http://schemas.microsoft.com/office/drawing/2014/main" id="{CE411990-7B06-AD73-FF09-FA73BDE7955A}"/>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1B84922F-8EC3-EE92-D333-980EE5847D72}"/>
              </a:ext>
            </a:extLst>
          </p:cNvPr>
          <p:cNvSpPr>
            <a:spLocks noGrp="1"/>
          </p:cNvSpPr>
          <p:nvPr>
            <p:ph type="title"/>
          </p:nvPr>
        </p:nvSpPr>
        <p:spPr/>
        <p:txBody>
          <a:bodyPr/>
          <a:lstStyle/>
          <a:p>
            <a:r>
              <a:rPr lang="en-US" dirty="0"/>
              <a:t>Initialize Particle: Set Position Shape Sphere</a:t>
            </a:r>
            <a:endParaRPr lang="en-CA" dirty="0"/>
          </a:p>
        </p:txBody>
      </p:sp>
      <p:pic>
        <p:nvPicPr>
          <p:cNvPr id="6" name="Picture 5">
            <a:extLst>
              <a:ext uri="{FF2B5EF4-FFF2-40B4-BE49-F238E27FC236}">
                <a16:creationId xmlns:a16="http://schemas.microsoft.com/office/drawing/2014/main" id="{5AD24B78-9F02-BC6E-F3D9-B7EEFA7C6E2E}"/>
              </a:ext>
            </a:extLst>
          </p:cNvPr>
          <p:cNvPicPr>
            <a:picLocks noChangeAspect="1"/>
          </p:cNvPicPr>
          <p:nvPr/>
        </p:nvPicPr>
        <p:blipFill>
          <a:blip r:embed="rId2"/>
          <a:stretch>
            <a:fillRect/>
          </a:stretch>
        </p:blipFill>
        <p:spPr>
          <a:xfrm>
            <a:off x="4468347" y="1748118"/>
            <a:ext cx="7183391" cy="3926385"/>
          </a:xfrm>
          <a:prstGeom prst="rect">
            <a:avLst/>
          </a:prstGeom>
        </p:spPr>
      </p:pic>
    </p:spTree>
    <p:extLst>
      <p:ext uri="{BB962C8B-B14F-4D97-AF65-F5344CB8AC3E}">
        <p14:creationId xmlns:p14="http://schemas.microsoft.com/office/powerpoint/2010/main" val="3255176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10C7BC2-FABE-5A6D-01D3-2A21449EF752}"/>
              </a:ext>
            </a:extLst>
          </p:cNvPr>
          <p:cNvSpPr>
            <a:spLocks noGrp="1"/>
          </p:cNvSpPr>
          <p:nvPr>
            <p:ph type="body" idx="1"/>
          </p:nvPr>
        </p:nvSpPr>
        <p:spPr/>
        <p:txBody>
          <a:bodyPr/>
          <a:lstStyle/>
          <a:p>
            <a:r>
              <a:rPr lang="en-US" dirty="0"/>
              <a:t>Add “Turbulence” force to “Update Particle”.</a:t>
            </a:r>
          </a:p>
          <a:p>
            <a:r>
              <a:rPr lang="en-US" dirty="0"/>
              <a:t>Change some attributes values. For example, change the intensity to 2, change the drag to 5.</a:t>
            </a:r>
            <a:endParaRPr lang="en-CA" dirty="0"/>
          </a:p>
        </p:txBody>
      </p:sp>
      <p:sp>
        <p:nvSpPr>
          <p:cNvPr id="3" name="Text Placeholder 2">
            <a:extLst>
              <a:ext uri="{FF2B5EF4-FFF2-40B4-BE49-F238E27FC236}">
                <a16:creationId xmlns:a16="http://schemas.microsoft.com/office/drawing/2014/main" id="{6F05ED7F-B883-4FDE-56EA-DB986A8BC825}"/>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6200C4DB-99D9-E351-E762-5F45B9BD023A}"/>
              </a:ext>
            </a:extLst>
          </p:cNvPr>
          <p:cNvSpPr>
            <a:spLocks noGrp="1"/>
          </p:cNvSpPr>
          <p:nvPr>
            <p:ph type="title"/>
          </p:nvPr>
        </p:nvSpPr>
        <p:spPr/>
        <p:txBody>
          <a:bodyPr/>
          <a:lstStyle/>
          <a:p>
            <a:r>
              <a:rPr lang="en-US" dirty="0"/>
              <a:t>Update Particle: Turbulence</a:t>
            </a:r>
            <a:endParaRPr lang="en-CA" dirty="0"/>
          </a:p>
        </p:txBody>
      </p:sp>
      <p:pic>
        <p:nvPicPr>
          <p:cNvPr id="6" name="Picture 5">
            <a:extLst>
              <a:ext uri="{FF2B5EF4-FFF2-40B4-BE49-F238E27FC236}">
                <a16:creationId xmlns:a16="http://schemas.microsoft.com/office/drawing/2014/main" id="{BD8E5DCD-E0EA-4726-6E6C-296CDE2212F1}"/>
              </a:ext>
            </a:extLst>
          </p:cNvPr>
          <p:cNvPicPr>
            <a:picLocks noChangeAspect="1"/>
          </p:cNvPicPr>
          <p:nvPr/>
        </p:nvPicPr>
        <p:blipFill>
          <a:blip r:embed="rId2"/>
          <a:stretch>
            <a:fillRect/>
          </a:stretch>
        </p:blipFill>
        <p:spPr>
          <a:xfrm>
            <a:off x="4765638" y="1507068"/>
            <a:ext cx="6893857" cy="4222220"/>
          </a:xfrm>
          <a:prstGeom prst="rect">
            <a:avLst/>
          </a:prstGeom>
        </p:spPr>
      </p:pic>
    </p:spTree>
    <p:extLst>
      <p:ext uri="{BB962C8B-B14F-4D97-AF65-F5344CB8AC3E}">
        <p14:creationId xmlns:p14="http://schemas.microsoft.com/office/powerpoint/2010/main" val="2945107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B973809-44E0-1006-2AB3-7E7C5AFFD904}"/>
              </a:ext>
            </a:extLst>
          </p:cNvPr>
          <p:cNvSpPr>
            <a:spLocks noGrp="1"/>
          </p:cNvSpPr>
          <p:nvPr>
            <p:ph type="body" idx="1"/>
          </p:nvPr>
        </p:nvSpPr>
        <p:spPr/>
        <p:txBody>
          <a:bodyPr/>
          <a:lstStyle/>
          <a:p>
            <a:r>
              <a:rPr lang="en-US" dirty="0"/>
              <a:t>Add “Attractor Shape Sphere” to make sure that particles stay in the sphere shape.</a:t>
            </a:r>
            <a:endParaRPr lang="en-CA" dirty="0"/>
          </a:p>
        </p:txBody>
      </p:sp>
      <p:sp>
        <p:nvSpPr>
          <p:cNvPr id="3" name="Text Placeholder 2">
            <a:extLst>
              <a:ext uri="{FF2B5EF4-FFF2-40B4-BE49-F238E27FC236}">
                <a16:creationId xmlns:a16="http://schemas.microsoft.com/office/drawing/2014/main" id="{AB941A22-5EC0-87A6-1BE5-9428C9CF180E}"/>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5DBF9734-9266-8C15-9812-E7B5070A738B}"/>
              </a:ext>
            </a:extLst>
          </p:cNvPr>
          <p:cNvSpPr>
            <a:spLocks noGrp="1"/>
          </p:cNvSpPr>
          <p:nvPr>
            <p:ph type="title"/>
          </p:nvPr>
        </p:nvSpPr>
        <p:spPr/>
        <p:txBody>
          <a:bodyPr/>
          <a:lstStyle/>
          <a:p>
            <a:r>
              <a:rPr lang="en-US" dirty="0"/>
              <a:t>Update Particle: Attractor Shape Sphere</a:t>
            </a:r>
            <a:endParaRPr lang="en-CA" dirty="0"/>
          </a:p>
        </p:txBody>
      </p:sp>
      <p:pic>
        <p:nvPicPr>
          <p:cNvPr id="6" name="Picture 5">
            <a:extLst>
              <a:ext uri="{FF2B5EF4-FFF2-40B4-BE49-F238E27FC236}">
                <a16:creationId xmlns:a16="http://schemas.microsoft.com/office/drawing/2014/main" id="{9C42869C-E3BB-C3F6-1756-8FFE8D3BD737}"/>
              </a:ext>
            </a:extLst>
          </p:cNvPr>
          <p:cNvPicPr>
            <a:picLocks noChangeAspect="1"/>
          </p:cNvPicPr>
          <p:nvPr/>
        </p:nvPicPr>
        <p:blipFill>
          <a:blip r:embed="rId2"/>
          <a:stretch>
            <a:fillRect/>
          </a:stretch>
        </p:blipFill>
        <p:spPr>
          <a:xfrm>
            <a:off x="4336369" y="1930997"/>
            <a:ext cx="7203073" cy="3937143"/>
          </a:xfrm>
          <a:prstGeom prst="rect">
            <a:avLst/>
          </a:prstGeom>
        </p:spPr>
      </p:pic>
    </p:spTree>
    <p:extLst>
      <p:ext uri="{BB962C8B-B14F-4D97-AF65-F5344CB8AC3E}">
        <p14:creationId xmlns:p14="http://schemas.microsoft.com/office/powerpoint/2010/main" val="3842621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036082E-2FC4-841D-EF43-DD8C040E209B}"/>
              </a:ext>
            </a:extLst>
          </p:cNvPr>
          <p:cNvSpPr>
            <a:spLocks noGrp="1"/>
          </p:cNvSpPr>
          <p:nvPr>
            <p:ph type="body" idx="1"/>
          </p:nvPr>
        </p:nvSpPr>
        <p:spPr/>
        <p:txBody>
          <a:bodyPr/>
          <a:lstStyle/>
          <a:p>
            <a:r>
              <a:rPr lang="en-US" dirty="0"/>
              <a:t>Make sure that the particle always face the camera!</a:t>
            </a:r>
            <a:endParaRPr lang="en-CA" dirty="0"/>
          </a:p>
        </p:txBody>
      </p:sp>
      <p:sp>
        <p:nvSpPr>
          <p:cNvPr id="3" name="Text Placeholder 2">
            <a:extLst>
              <a:ext uri="{FF2B5EF4-FFF2-40B4-BE49-F238E27FC236}">
                <a16:creationId xmlns:a16="http://schemas.microsoft.com/office/drawing/2014/main" id="{8294C29B-9C38-0D2E-EA36-377907E71F50}"/>
              </a:ext>
            </a:extLst>
          </p:cNvPr>
          <p:cNvSpPr>
            <a:spLocks noGrp="1"/>
          </p:cNvSpPr>
          <p:nvPr>
            <p:ph type="body" idx="2"/>
          </p:nvPr>
        </p:nvSpPr>
        <p:spPr/>
        <p:txBody>
          <a:bodyPr/>
          <a:lstStyle/>
          <a:p>
            <a:r>
              <a:rPr lang="en-US" dirty="0"/>
              <a:t> </a:t>
            </a:r>
            <a:endParaRPr lang="en-CA" dirty="0"/>
          </a:p>
        </p:txBody>
      </p:sp>
      <p:sp>
        <p:nvSpPr>
          <p:cNvPr id="4" name="Title 3">
            <a:extLst>
              <a:ext uri="{FF2B5EF4-FFF2-40B4-BE49-F238E27FC236}">
                <a16:creationId xmlns:a16="http://schemas.microsoft.com/office/drawing/2014/main" id="{63EE965E-1AB3-4A33-FEF0-2821598469BD}"/>
              </a:ext>
            </a:extLst>
          </p:cNvPr>
          <p:cNvSpPr>
            <a:spLocks noGrp="1"/>
          </p:cNvSpPr>
          <p:nvPr>
            <p:ph type="title"/>
          </p:nvPr>
        </p:nvSpPr>
        <p:spPr/>
        <p:txBody>
          <a:bodyPr/>
          <a:lstStyle/>
          <a:p>
            <a:r>
              <a:rPr lang="en-US" dirty="0"/>
              <a:t>Output Particle: Orient Face Camera Plane</a:t>
            </a:r>
            <a:endParaRPr lang="en-CA" dirty="0"/>
          </a:p>
        </p:txBody>
      </p:sp>
      <p:pic>
        <p:nvPicPr>
          <p:cNvPr id="6" name="Picture 5">
            <a:extLst>
              <a:ext uri="{FF2B5EF4-FFF2-40B4-BE49-F238E27FC236}">
                <a16:creationId xmlns:a16="http://schemas.microsoft.com/office/drawing/2014/main" id="{4BC75107-B773-741F-3AB4-3ECC756DCCBF}"/>
              </a:ext>
            </a:extLst>
          </p:cNvPr>
          <p:cNvPicPr>
            <a:picLocks noChangeAspect="1"/>
          </p:cNvPicPr>
          <p:nvPr/>
        </p:nvPicPr>
        <p:blipFill>
          <a:blip r:embed="rId2"/>
          <a:stretch>
            <a:fillRect/>
          </a:stretch>
        </p:blipFill>
        <p:spPr>
          <a:xfrm>
            <a:off x="4283241" y="1624405"/>
            <a:ext cx="7304325" cy="4232978"/>
          </a:xfrm>
          <a:prstGeom prst="rect">
            <a:avLst/>
          </a:prstGeom>
        </p:spPr>
      </p:pic>
    </p:spTree>
    <p:extLst>
      <p:ext uri="{BB962C8B-B14F-4D97-AF65-F5344CB8AC3E}">
        <p14:creationId xmlns:p14="http://schemas.microsoft.com/office/powerpoint/2010/main" val="1809165195"/>
      </p:ext>
    </p:extLst>
  </p:cSld>
  <p:clrMapOvr>
    <a:masterClrMapping/>
  </p:clrMapOvr>
</p:sld>
</file>

<file path=ppt/theme/theme1.xml><?xml version="1.0" encoding="utf-8"?>
<a:theme xmlns:a="http://schemas.openxmlformats.org/drawingml/2006/main" name="Get Started with 3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1872</TotalTime>
  <Words>1858</Words>
  <Application>Microsoft Office PowerPoint</Application>
  <PresentationFormat>Widescreen</PresentationFormat>
  <Paragraphs>150</Paragraphs>
  <Slides>34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Calibri</vt:lpstr>
      <vt:lpstr>Quattrocento Sans</vt:lpstr>
      <vt:lpstr>Arial</vt:lpstr>
      <vt:lpstr>Get Started with 3D</vt:lpstr>
      <vt:lpstr>Week 5 Game Engine Development Unity VFX</vt:lpstr>
      <vt:lpstr>Objective &amp; Concept</vt:lpstr>
      <vt:lpstr>VFX overview</vt:lpstr>
      <vt:lpstr>What are VFX?</vt:lpstr>
      <vt:lpstr>Identify the VFX</vt:lpstr>
      <vt:lpstr>What does a VFX artist do?</vt:lpstr>
      <vt:lpstr>Tools</vt:lpstr>
      <vt:lpstr>Particle Systems vs VFX Graph  </vt:lpstr>
      <vt:lpstr>VFX Graph </vt:lpstr>
      <vt:lpstr>Advantages vs. Disadvantages</vt:lpstr>
      <vt:lpstr>Choosing between VFX Graph and Particle Systems </vt:lpstr>
      <vt:lpstr>Example</vt:lpstr>
      <vt:lpstr>Visual Effect Graph</vt:lpstr>
      <vt:lpstr>Edit Visual Effect Graph</vt:lpstr>
      <vt:lpstr>Navigate the VFX Graph window </vt:lpstr>
      <vt:lpstr>Nodes</vt:lpstr>
      <vt:lpstr>Spawn Context </vt:lpstr>
      <vt:lpstr>Initialize Particle Context</vt:lpstr>
      <vt:lpstr>Update Particle Context</vt:lpstr>
      <vt:lpstr>Output Particle Context</vt:lpstr>
      <vt:lpstr>Create a minimal graph</vt:lpstr>
      <vt:lpstr>Add a “Constant Spawn Rate” block in the “Spawn” context</vt:lpstr>
      <vt:lpstr>Run</vt:lpstr>
      <vt:lpstr>Add a texture</vt:lpstr>
      <vt:lpstr>Initialize Particle: Set Velocity</vt:lpstr>
      <vt:lpstr>Add an Int Property (Spawn Rate)</vt:lpstr>
      <vt:lpstr>Connect Spawn Rate to “Spawn” context </vt:lpstr>
      <vt:lpstr>Inspector</vt:lpstr>
      <vt:lpstr>Output Particle: Color Over Life</vt:lpstr>
      <vt:lpstr>Change the Color and Intensity</vt:lpstr>
      <vt:lpstr>Initialize Particle: Set Position Shape Sphere</vt:lpstr>
      <vt:lpstr>Update Particle: Turbulence</vt:lpstr>
      <vt:lpstr>Update Particle: Attractor Shape Sphere</vt:lpstr>
      <vt:lpstr>Output Particle: Orient Face Camera Plane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Hooman Salamat</dc:creator>
  <cp:lastModifiedBy>Hooman Salamat</cp:lastModifiedBy>
  <cp:revision>83</cp:revision>
  <dcterms:created xsi:type="dcterms:W3CDTF">2020-06-08T20:23:19Z</dcterms:created>
  <dcterms:modified xsi:type="dcterms:W3CDTF">2026-10-05T21:50:47Z</dcterms:modified>
</cp:coreProperties>
</file>